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6" r:id="rId2"/>
    <p:sldId id="257" r:id="rId3"/>
    <p:sldId id="258" r:id="rId4"/>
    <p:sldId id="273" r:id="rId5"/>
    <p:sldId id="259" r:id="rId6"/>
    <p:sldId id="260" r:id="rId7"/>
    <p:sldId id="272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7" autoAdjust="0"/>
    <p:restoredTop sz="96135" autoAdjust="0"/>
  </p:normalViewPr>
  <p:slideViewPr>
    <p:cSldViewPr snapToGrid="0">
      <p:cViewPr varScale="1">
        <p:scale>
          <a:sx n="104" d="100"/>
          <a:sy n="104" d="100"/>
        </p:scale>
        <p:origin x="150" y="318"/>
      </p:cViewPr>
      <p:guideLst/>
    </p:cSldViewPr>
  </p:slideViewPr>
  <p:outlineViewPr>
    <p:cViewPr>
      <p:scale>
        <a:sx n="33" d="100"/>
        <a:sy n="33" d="100"/>
      </p:scale>
      <p:origin x="0" y="-159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235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C67289-C0C3-41A1-A886-CF964D4AD0E5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A54209-1F83-4045-B80C-5A4674D10B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3808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47328" y="457200"/>
            <a:ext cx="12090400" cy="6324600"/>
            <a:chOff x="48" y="144"/>
            <a:chExt cx="5712" cy="4128"/>
          </a:xfrm>
        </p:grpSpPr>
        <p:sp>
          <p:nvSpPr>
            <p:cNvPr id="4099" name="AutoShape 3"/>
            <p:cNvSpPr>
              <a:spLocks noChangeArrowheads="1"/>
            </p:cNvSpPr>
            <p:nvPr userDrawn="1"/>
          </p:nvSpPr>
          <p:spPr bwMode="auto">
            <a:xfrm>
              <a:off x="48" y="144"/>
              <a:ext cx="5712" cy="4128"/>
            </a:xfrm>
            <a:prstGeom prst="roundRect">
              <a:avLst>
                <a:gd name="adj" fmla="val 7704"/>
              </a:avLst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1800"/>
            </a:p>
          </p:txBody>
        </p:sp>
        <p:sp>
          <p:nvSpPr>
            <p:cNvPr id="4100" name="Rectangle 4"/>
            <p:cNvSpPr>
              <a:spLocks noChangeArrowheads="1"/>
            </p:cNvSpPr>
            <p:nvPr userDrawn="1"/>
          </p:nvSpPr>
          <p:spPr bwMode="auto">
            <a:xfrm>
              <a:off x="4992" y="144"/>
              <a:ext cx="768" cy="62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1800"/>
            </a:p>
          </p:txBody>
        </p:sp>
        <p:sp>
          <p:nvSpPr>
            <p:cNvPr id="4101" name="Rectangle 5"/>
            <p:cNvSpPr>
              <a:spLocks noChangeArrowheads="1"/>
            </p:cNvSpPr>
            <p:nvPr userDrawn="1"/>
          </p:nvSpPr>
          <p:spPr bwMode="auto">
            <a:xfrm>
              <a:off x="48" y="3648"/>
              <a:ext cx="768" cy="62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1800"/>
            </a:p>
          </p:txBody>
        </p:sp>
      </p:grpSp>
      <p:sp>
        <p:nvSpPr>
          <p:cNvPr id="4102" name="Rectangle 6"/>
          <p:cNvSpPr>
            <a:spLocks noChangeArrowheads="1"/>
          </p:cNvSpPr>
          <p:nvPr/>
        </p:nvSpPr>
        <p:spPr bwMode="auto">
          <a:xfrm>
            <a:off x="0" y="0"/>
            <a:ext cx="12192000" cy="381000"/>
          </a:xfrm>
          <a:prstGeom prst="rect">
            <a:avLst/>
          </a:prstGeom>
          <a:gradFill rotWithShape="0">
            <a:gsLst>
              <a:gs pos="0">
                <a:srgbClr val="021A94">
                  <a:gamma/>
                  <a:shade val="46275"/>
                  <a:invGamma/>
                </a:srgbClr>
              </a:gs>
              <a:gs pos="100000">
                <a:srgbClr val="021A94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r>
              <a:rPr lang="en-US" altLang="ko-KR" sz="1400" b="1" i="1" dirty="0">
                <a:solidFill>
                  <a:srgbClr val="FFFFFF"/>
                </a:solidFill>
              </a:rPr>
              <a:t> </a:t>
            </a:r>
            <a:r>
              <a:rPr lang="ko-KR" altLang="en-US" sz="1400" b="1" i="1" dirty="0">
                <a:solidFill>
                  <a:srgbClr val="FFFFFF"/>
                </a:solidFill>
              </a:rPr>
              <a:t>웹 프로그래밍</a:t>
            </a:r>
            <a:endParaRPr lang="ko-KR" altLang="en-US" sz="1400" b="1" i="1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149600" y="3717032"/>
            <a:ext cx="6096000" cy="1752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0" indent="0" algn="ctr">
              <a:buFont typeface="Wingdings" pitchFamily="2" charset="2"/>
              <a:buNone/>
              <a:defRPr baseline="0">
                <a:solidFill>
                  <a:schemeClr val="accent6"/>
                </a:solidFill>
              </a:defRPr>
            </a:lvl1pPr>
          </a:lstStyle>
          <a:p>
            <a:pPr lvl="0"/>
            <a:r>
              <a:rPr lang="ko-KR" altLang="en-US" noProof="0"/>
              <a:t>클릭하여 마스터 부제목 스타일 편집</a:t>
            </a:r>
            <a:endParaRPr lang="ko-KR" altLang="en-US" noProof="0" dirty="0"/>
          </a:p>
        </p:txBody>
      </p:sp>
      <p:sp>
        <p:nvSpPr>
          <p:cNvPr id="4105" name="Rectangle 9"/>
          <p:cNvSpPr>
            <a:spLocks noGrp="1" noChangeArrowheads="1"/>
          </p:cNvSpPr>
          <p:nvPr>
            <p:ph type="ctrTitle" sz="quarter"/>
          </p:nvPr>
        </p:nvSpPr>
        <p:spPr>
          <a:xfrm>
            <a:off x="1524000" y="2492896"/>
            <a:ext cx="9347200" cy="6396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ctr">
              <a:lnSpc>
                <a:spcPct val="80000"/>
              </a:lnSpc>
              <a:defRPr sz="4400" i="0" baseline="0">
                <a:solidFill>
                  <a:schemeClr val="accent6"/>
                </a:solidFill>
              </a:defRPr>
            </a:lvl1pPr>
          </a:lstStyle>
          <a:p>
            <a:pPr lv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4108" name="Rectangle 12"/>
          <p:cNvSpPr>
            <a:spLocks noChangeArrowheads="1"/>
          </p:cNvSpPr>
          <p:nvPr/>
        </p:nvSpPr>
        <p:spPr bwMode="auto">
          <a:xfrm>
            <a:off x="2678544" y="3356992"/>
            <a:ext cx="7315200" cy="76200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100000">
                <a:srgbClr val="3333CC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800"/>
          </a:p>
        </p:txBody>
      </p:sp>
      <p:sp>
        <p:nvSpPr>
          <p:cNvPr id="4109" name="Line 13"/>
          <p:cNvSpPr>
            <a:spLocks noChangeShapeType="1"/>
          </p:cNvSpPr>
          <p:nvPr/>
        </p:nvSpPr>
        <p:spPr bwMode="auto">
          <a:xfrm>
            <a:off x="10261600" y="457200"/>
            <a:ext cx="1930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ko-KR" altLang="en-US" sz="1800"/>
          </a:p>
        </p:txBody>
      </p:sp>
      <p:pic>
        <p:nvPicPr>
          <p:cNvPr id="4112" name="Picture 16" descr="D:\usr\강의노트\부산대 로고\sanjinee_use020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885" y="620688"/>
            <a:ext cx="1425635" cy="597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9525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392" y="394802"/>
            <a:ext cx="11074400" cy="648072"/>
          </a:xfrm>
        </p:spPr>
        <p:txBody>
          <a:bodyPr/>
          <a:lstStyle>
            <a:lvl1pPr>
              <a:defRPr b="0" i="0" baseline="0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700" b="0" i="0" baseline="0">
                <a:solidFill>
                  <a:schemeClr val="tx1"/>
                </a:solidFill>
                <a:latin typeface="Ebrima" panose="02000000000000000000" pitchFamily="2" charset="0"/>
              </a:defRPr>
            </a:lvl1pPr>
            <a:lvl2pPr>
              <a:defRPr sz="2400" strike="noStrike" baseline="0">
                <a:latin typeface="Ebrima" panose="02000000000000000000" pitchFamily="2" charset="0"/>
                <a:ea typeface="맑은 고딕" panose="020B0503020000020004" pitchFamily="50" charset="-127"/>
              </a:defRPr>
            </a:lvl2pPr>
            <a:lvl3pPr>
              <a:defRPr sz="2000" strike="noStrike" baseline="0">
                <a:latin typeface="Ebrima" panose="02000000000000000000" pitchFamily="2" charset="0"/>
                <a:ea typeface="맑은 고딕" panose="020B0503020000020004" pitchFamily="50" charset="-127"/>
              </a:defRPr>
            </a:lvl3pPr>
            <a:lvl4pPr>
              <a:defRPr sz="2000" strike="noStrike" baseline="0">
                <a:latin typeface="Ebrima" panose="02000000000000000000" pitchFamily="2" charset="0"/>
                <a:ea typeface="맑은 고딕" panose="020B0503020000020004" pitchFamily="50" charset="-127"/>
              </a:defRPr>
            </a:lvl4pPr>
            <a:lvl5pPr>
              <a:defRPr strike="noStrike" baseline="0">
                <a:latin typeface="Ebrima" panose="02000000000000000000" pitchFamily="2" charset="0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8976320" y="621846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29504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4" y="2420889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8976320" y="621846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3930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i="0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6611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i="0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914400" y="1371600"/>
            <a:ext cx="52324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50000" y="1371600"/>
            <a:ext cx="52324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8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8976320" y="621846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0341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 i="0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8976320" y="621846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9903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i="0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6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8976320" y="621846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2747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 i="0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8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8976320" y="621846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5864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7" y="528187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8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8976320" y="621846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3705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i="0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8976320" y="621846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1382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9118600" y="457200"/>
            <a:ext cx="2768600" cy="55626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12800" y="457200"/>
            <a:ext cx="8102600" cy="55626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8976320" y="621846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17200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12800" y="457200"/>
            <a:ext cx="11074400" cy="762000"/>
          </a:xfrm>
        </p:spPr>
        <p:txBody>
          <a:bodyPr/>
          <a:lstStyle>
            <a:lvl1pPr>
              <a:defRPr i="0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914400" y="1371600"/>
            <a:ext cx="10668000" cy="4648200"/>
          </a:xfrm>
        </p:spPr>
        <p:txBody>
          <a:bodyPr/>
          <a:lstStyle/>
          <a:p>
            <a:r>
              <a:rPr lang="ko-KR" altLang="en-US"/>
              <a:t>표를 추가하려면 아이콘을 클릭하십시오</a:t>
            </a:r>
          </a:p>
        </p:txBody>
      </p:sp>
      <p:sp>
        <p:nvSpPr>
          <p:cNvPr id="6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8739" y="6193432"/>
            <a:ext cx="28448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400" b="1"/>
            </a:lvl1pPr>
          </a:lstStyle>
          <a:p>
            <a:endParaRPr lang="ko-KR" altLang="en-US"/>
          </a:p>
        </p:txBody>
      </p:sp>
      <p:sp>
        <p:nvSpPr>
          <p:cNvPr id="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8976320" y="621846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34336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3231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37011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4710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microsoft.com/office/2007/relationships/hdphoto" Target="../media/hdphoto1.wdp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5743B9"/>
            </a:gs>
            <a:gs pos="100000">
              <a:srgbClr val="04D2E8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12192000" cy="228600"/>
          </a:xfrm>
          <a:prstGeom prst="rect">
            <a:avLst/>
          </a:prstGeom>
          <a:gradFill rotWithShape="0">
            <a:gsLst>
              <a:gs pos="0">
                <a:srgbClr val="021A94">
                  <a:gamma/>
                  <a:shade val="46275"/>
                  <a:invGamma/>
                </a:srgbClr>
              </a:gs>
              <a:gs pos="100000">
                <a:srgbClr val="021A94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r>
              <a:rPr lang="ko-KR" altLang="en-US" sz="1400" b="1" i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웹 프로그래밍       </a:t>
            </a:r>
          </a:p>
        </p:txBody>
      </p:sp>
      <p:sp>
        <p:nvSpPr>
          <p:cNvPr id="3075" name="AutoShape 3"/>
          <p:cNvSpPr>
            <a:spLocks noChangeArrowheads="1"/>
          </p:cNvSpPr>
          <p:nvPr/>
        </p:nvSpPr>
        <p:spPr bwMode="auto">
          <a:xfrm>
            <a:off x="150859" y="312860"/>
            <a:ext cx="11947061" cy="6428508"/>
          </a:xfrm>
          <a:prstGeom prst="roundRect">
            <a:avLst>
              <a:gd name="adj" fmla="val 7704"/>
            </a:avLst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80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623392" y="386908"/>
            <a:ext cx="11074400" cy="6480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pic>
        <p:nvPicPr>
          <p:cNvPr id="3089" name="Picture 17" descr="D:\usr\강의노트\부산대 로고\signature01.jpg"/>
          <p:cNvPicPr>
            <a:picLocks noChangeAspect="1" noChangeArrowheads="1"/>
          </p:cNvPicPr>
          <p:nvPr/>
        </p:nvPicPr>
        <p:blipFill>
          <a:blip r:embed="rId17" cstate="print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160" y="6309320"/>
            <a:ext cx="1920213" cy="432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9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3392" y="1124744"/>
            <a:ext cx="11130293" cy="50405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10320469" y="6342782"/>
            <a:ext cx="14046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8" name="Rectangle 9"/>
          <p:cNvSpPr>
            <a:spLocks noChangeArrowheads="1"/>
          </p:cNvSpPr>
          <p:nvPr userDrawn="1"/>
        </p:nvSpPr>
        <p:spPr bwMode="auto">
          <a:xfrm>
            <a:off x="133350" y="1033686"/>
            <a:ext cx="12012195" cy="75342"/>
          </a:xfrm>
          <a:prstGeom prst="rect">
            <a:avLst/>
          </a:prstGeom>
          <a:gradFill rotWithShape="0">
            <a:gsLst>
              <a:gs pos="0">
                <a:srgbClr val="3F59C7"/>
              </a:gs>
              <a:gs pos="100000">
                <a:srgbClr val="91DBE5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2241916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hdr="0" ftr="0" dt="0"/>
  <p:txStyles>
    <p:titleStyle>
      <a:lvl1pPr algn="l" rtl="0" eaLnBrk="1" fontAlgn="base" latinLnBrk="1" hangingPunct="1">
        <a:lnSpc>
          <a:spcPct val="70000"/>
        </a:lnSpc>
        <a:spcBef>
          <a:spcPct val="0"/>
        </a:spcBef>
        <a:spcAft>
          <a:spcPct val="0"/>
        </a:spcAft>
        <a:defRPr kumimoji="1" sz="3200" b="1" i="0">
          <a:solidFill>
            <a:srgbClr val="47309C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lnSpc>
          <a:spcPct val="70000"/>
        </a:lnSpc>
        <a:spcBef>
          <a:spcPct val="0"/>
        </a:spcBef>
        <a:spcAft>
          <a:spcPct val="0"/>
        </a:spcAft>
        <a:defRPr kumimoji="1" sz="3200" b="1" i="1">
          <a:solidFill>
            <a:srgbClr val="47309C"/>
          </a:solidFill>
          <a:latin typeface="Times New Roman" pitchFamily="18" charset="0"/>
          <a:ea typeface="HY헤드라인M" pitchFamily="18" charset="-127"/>
        </a:defRPr>
      </a:lvl2pPr>
      <a:lvl3pPr algn="l" rtl="0" eaLnBrk="1" fontAlgn="base" latinLnBrk="1" hangingPunct="1">
        <a:lnSpc>
          <a:spcPct val="70000"/>
        </a:lnSpc>
        <a:spcBef>
          <a:spcPct val="0"/>
        </a:spcBef>
        <a:spcAft>
          <a:spcPct val="0"/>
        </a:spcAft>
        <a:defRPr kumimoji="1" sz="3200" b="1" i="1">
          <a:solidFill>
            <a:srgbClr val="47309C"/>
          </a:solidFill>
          <a:latin typeface="Times New Roman" pitchFamily="18" charset="0"/>
          <a:ea typeface="HY헤드라인M" pitchFamily="18" charset="-127"/>
        </a:defRPr>
      </a:lvl3pPr>
      <a:lvl4pPr algn="l" rtl="0" eaLnBrk="1" fontAlgn="base" latinLnBrk="1" hangingPunct="1">
        <a:lnSpc>
          <a:spcPct val="70000"/>
        </a:lnSpc>
        <a:spcBef>
          <a:spcPct val="0"/>
        </a:spcBef>
        <a:spcAft>
          <a:spcPct val="0"/>
        </a:spcAft>
        <a:defRPr kumimoji="1" sz="3200" b="1" i="1">
          <a:solidFill>
            <a:srgbClr val="47309C"/>
          </a:solidFill>
          <a:latin typeface="Times New Roman" pitchFamily="18" charset="0"/>
          <a:ea typeface="HY헤드라인M" pitchFamily="18" charset="-127"/>
        </a:defRPr>
      </a:lvl4pPr>
      <a:lvl5pPr algn="l" rtl="0" eaLnBrk="1" fontAlgn="base" latinLnBrk="1" hangingPunct="1">
        <a:lnSpc>
          <a:spcPct val="70000"/>
        </a:lnSpc>
        <a:spcBef>
          <a:spcPct val="0"/>
        </a:spcBef>
        <a:spcAft>
          <a:spcPct val="0"/>
        </a:spcAft>
        <a:defRPr kumimoji="1" sz="3200" b="1" i="1">
          <a:solidFill>
            <a:srgbClr val="47309C"/>
          </a:solidFill>
          <a:latin typeface="Times New Roman" pitchFamily="18" charset="0"/>
          <a:ea typeface="HY헤드라인M" pitchFamily="18" charset="-127"/>
        </a:defRPr>
      </a:lvl5pPr>
      <a:lvl6pPr marL="457200" algn="l" rtl="0" eaLnBrk="1" fontAlgn="base" latinLnBrk="1" hangingPunct="1">
        <a:lnSpc>
          <a:spcPct val="70000"/>
        </a:lnSpc>
        <a:spcBef>
          <a:spcPct val="0"/>
        </a:spcBef>
        <a:spcAft>
          <a:spcPct val="0"/>
        </a:spcAft>
        <a:defRPr kumimoji="1" sz="3200" b="1" i="1">
          <a:solidFill>
            <a:srgbClr val="47309C"/>
          </a:solidFill>
          <a:latin typeface="Times New Roman" pitchFamily="18" charset="0"/>
          <a:ea typeface="HY헤드라인M" pitchFamily="18" charset="-127"/>
        </a:defRPr>
      </a:lvl6pPr>
      <a:lvl7pPr marL="914400" algn="l" rtl="0" eaLnBrk="1" fontAlgn="base" latinLnBrk="1" hangingPunct="1">
        <a:lnSpc>
          <a:spcPct val="70000"/>
        </a:lnSpc>
        <a:spcBef>
          <a:spcPct val="0"/>
        </a:spcBef>
        <a:spcAft>
          <a:spcPct val="0"/>
        </a:spcAft>
        <a:defRPr kumimoji="1" sz="3200" b="1" i="1">
          <a:solidFill>
            <a:srgbClr val="47309C"/>
          </a:solidFill>
          <a:latin typeface="Times New Roman" pitchFamily="18" charset="0"/>
          <a:ea typeface="HY헤드라인M" pitchFamily="18" charset="-127"/>
        </a:defRPr>
      </a:lvl7pPr>
      <a:lvl8pPr marL="1371600" algn="l" rtl="0" eaLnBrk="1" fontAlgn="base" latinLnBrk="1" hangingPunct="1">
        <a:lnSpc>
          <a:spcPct val="70000"/>
        </a:lnSpc>
        <a:spcBef>
          <a:spcPct val="0"/>
        </a:spcBef>
        <a:spcAft>
          <a:spcPct val="0"/>
        </a:spcAft>
        <a:defRPr kumimoji="1" sz="3200" b="1" i="1">
          <a:solidFill>
            <a:srgbClr val="47309C"/>
          </a:solidFill>
          <a:latin typeface="Times New Roman" pitchFamily="18" charset="0"/>
          <a:ea typeface="HY헤드라인M" pitchFamily="18" charset="-127"/>
        </a:defRPr>
      </a:lvl8pPr>
      <a:lvl9pPr marL="1828800" algn="l" rtl="0" eaLnBrk="1" fontAlgn="base" latinLnBrk="1" hangingPunct="1">
        <a:lnSpc>
          <a:spcPct val="70000"/>
        </a:lnSpc>
        <a:spcBef>
          <a:spcPct val="0"/>
        </a:spcBef>
        <a:spcAft>
          <a:spcPct val="0"/>
        </a:spcAft>
        <a:defRPr kumimoji="1" sz="3200" b="1" i="1">
          <a:solidFill>
            <a:srgbClr val="47309C"/>
          </a:solidFill>
          <a:latin typeface="Times New Roman" pitchFamily="18" charset="0"/>
          <a:ea typeface="HY헤드라인M" pitchFamily="18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itchFamily="2" charset="2"/>
        <a:buChar char="q"/>
        <a:defRPr kumimoji="1" sz="2800" b="0" i="0" baseline="0">
          <a:solidFill>
            <a:schemeClr val="bg1"/>
          </a:solidFill>
          <a:latin typeface="Arial" panose="020B0604020202020204" pitchFamily="34" charset="0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lr>
          <a:schemeClr val="tx2"/>
        </a:buClr>
        <a:buFont typeface="Wingdings" pitchFamily="2" charset="2"/>
        <a:buChar char="§"/>
        <a:defRPr kumimoji="1" sz="2600" baseline="0">
          <a:solidFill>
            <a:schemeClr val="bg1"/>
          </a:solidFill>
          <a:latin typeface="Arial" panose="020B0604020202020204" pitchFamily="34" charset="0"/>
          <a:ea typeface="맑은 고딕" panose="020B0503020000020004" pitchFamily="50" charset="-127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FF5050"/>
        </a:buClr>
        <a:buSzPct val="80000"/>
        <a:buChar char="o"/>
        <a:defRPr kumimoji="1" sz="2400">
          <a:solidFill>
            <a:schemeClr val="bg1"/>
          </a:solidFill>
          <a:latin typeface="Arial" panose="020B0604020202020204" pitchFamily="34" charset="0"/>
          <a:ea typeface="+mn-ea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00FF"/>
        </a:buClr>
        <a:buSzPct val="100000"/>
        <a:buChar char="•"/>
        <a:defRPr kumimoji="1" sz="2400">
          <a:solidFill>
            <a:schemeClr val="bg1"/>
          </a:solidFill>
          <a:latin typeface="Arial" panose="020B0604020202020204" pitchFamily="34" charset="0"/>
          <a:ea typeface="+mn-ea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FF99"/>
        </a:buClr>
        <a:buSzPct val="100000"/>
        <a:buFont typeface="Wingdings" pitchFamily="2" charset="2"/>
        <a:buChar char="ü"/>
        <a:defRPr kumimoji="1" sz="2000">
          <a:solidFill>
            <a:schemeClr val="bg1"/>
          </a:solidFill>
          <a:latin typeface="Arial" panose="020B0604020202020204" pitchFamily="34" charset="0"/>
          <a:ea typeface="+mn-ea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FF99"/>
        </a:buClr>
        <a:buSzPct val="100000"/>
        <a:buFont typeface="Wingdings" pitchFamily="2" charset="2"/>
        <a:buChar char="ü"/>
        <a:defRPr kumimoji="1" sz="2000">
          <a:solidFill>
            <a:schemeClr val="bg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FF99"/>
        </a:buClr>
        <a:buSzPct val="100000"/>
        <a:buFont typeface="Wingdings" pitchFamily="2" charset="2"/>
        <a:buChar char="ü"/>
        <a:defRPr kumimoji="1" sz="2000">
          <a:solidFill>
            <a:schemeClr val="bg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FF99"/>
        </a:buClr>
        <a:buSzPct val="100000"/>
        <a:buFont typeface="Wingdings" pitchFamily="2" charset="2"/>
        <a:buChar char="ü"/>
        <a:defRPr kumimoji="1" sz="2000">
          <a:solidFill>
            <a:schemeClr val="bg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FF99"/>
        </a:buClr>
        <a:buSzPct val="100000"/>
        <a:buFont typeface="Wingdings" pitchFamily="2" charset="2"/>
        <a:buChar char="ü"/>
        <a:defRPr kumimoji="1" sz="2000">
          <a:solidFill>
            <a:schemeClr val="bg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r>
              <a:rPr lang="en-US" altLang="ko-KR" dirty="0"/>
              <a:t>IT</a:t>
            </a:r>
            <a:r>
              <a:rPr lang="ko-KR" altLang="en-US" dirty="0"/>
              <a:t>응용공학과</a:t>
            </a:r>
            <a:endParaRPr lang="en-US" altLang="ko-KR" dirty="0"/>
          </a:p>
          <a:p>
            <a:r>
              <a:rPr lang="ko-KR" altLang="en-US" dirty="0"/>
              <a:t>허석렬</a:t>
            </a:r>
            <a:endParaRPr lang="en-US" altLang="ko-KR" dirty="0"/>
          </a:p>
          <a:p>
            <a:r>
              <a:rPr lang="en-US" altLang="ko-KR" dirty="0"/>
              <a:t>syheo@pusan.ac.kr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rPr lang="en-US" altLang="ko-KR" dirty="0"/>
              <a:t>Node.js </a:t>
            </a:r>
            <a:r>
              <a:rPr lang="ko-KR" altLang="en-US" dirty="0"/>
              <a:t>함수형 프로그래밍</a:t>
            </a:r>
          </a:p>
        </p:txBody>
      </p:sp>
    </p:spTree>
    <p:extLst>
      <p:ext uri="{BB962C8B-B14F-4D97-AF65-F5344CB8AC3E}">
        <p14:creationId xmlns:p14="http://schemas.microsoft.com/office/powerpoint/2010/main" val="361445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재귀 함수로 합계</a:t>
            </a:r>
            <a:r>
              <a:rPr lang="en-US" altLang="ko-KR" dirty="0"/>
              <a:t>/</a:t>
            </a:r>
            <a:r>
              <a:rPr lang="ko-KR" altLang="en-US" dirty="0"/>
              <a:t>평균 구하기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3392" y="1461077"/>
            <a:ext cx="11130293" cy="4584154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               합계 구하기                                       평균 구하기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sz="2400" dirty="0"/>
              <a:t>위와 같은 재귀를 </a:t>
            </a:r>
            <a:r>
              <a:rPr lang="ko-KR" altLang="en-US" sz="2400" dirty="0" err="1"/>
              <a:t>꼬리재귀</a:t>
            </a:r>
            <a:r>
              <a:rPr lang="en-US" altLang="ko-KR" sz="2400" dirty="0"/>
              <a:t>(tail recursion)</a:t>
            </a:r>
            <a:r>
              <a:rPr lang="ko-KR" altLang="en-US" sz="2400" dirty="0"/>
              <a:t>라 함</a:t>
            </a:r>
            <a:endParaRPr lang="en-US" altLang="ko-KR" sz="2400" dirty="0"/>
          </a:p>
          <a:p>
            <a:r>
              <a:rPr lang="ko-KR" altLang="en-US" sz="2400" dirty="0" err="1"/>
              <a:t>꼬리재귀를</a:t>
            </a:r>
            <a:r>
              <a:rPr lang="ko-KR" altLang="en-US" sz="2400" dirty="0"/>
              <a:t> 사용하면 재귀호출에서 발생하는 </a:t>
            </a:r>
            <a:r>
              <a:rPr lang="ko-KR" altLang="en-US" sz="2400" dirty="0" err="1"/>
              <a:t>스택누적</a:t>
            </a:r>
            <a:r>
              <a:rPr lang="ko-KR" altLang="en-US" sz="2400" dirty="0"/>
              <a:t> 문제를 회피할 수 있다고 </a:t>
            </a:r>
            <a:r>
              <a:rPr lang="ko-KR" altLang="en-US" sz="2400" dirty="0" smtClean="0"/>
              <a:t>한다</a:t>
            </a:r>
            <a:r>
              <a:rPr lang="en-US" altLang="ko-KR" sz="2400" dirty="0" smtClean="0"/>
              <a:t>. </a:t>
            </a:r>
            <a:r>
              <a:rPr lang="ko-KR" altLang="en-US" sz="2400" dirty="0" smtClean="0"/>
              <a:t>그러나</a:t>
            </a:r>
            <a:r>
              <a:rPr lang="en-US" altLang="ko-KR" sz="2400" dirty="0" smtClean="0"/>
              <a:t> </a:t>
            </a:r>
            <a:r>
              <a:rPr lang="en-US" altLang="ko-KR" sz="2400" dirty="0"/>
              <a:t>V8</a:t>
            </a:r>
            <a:r>
              <a:rPr lang="ko-KR" altLang="en-US" sz="2400" dirty="0"/>
              <a:t>엔진</a:t>
            </a:r>
            <a:r>
              <a:rPr lang="en-US" altLang="ko-KR" sz="2400" dirty="0"/>
              <a:t>(</a:t>
            </a:r>
            <a:r>
              <a:rPr lang="ko-KR" altLang="en-US" sz="2400" dirty="0"/>
              <a:t>사파리 등</a:t>
            </a:r>
            <a:r>
              <a:rPr lang="en-US" altLang="ko-KR" sz="2400" dirty="0"/>
              <a:t>)</a:t>
            </a:r>
            <a:r>
              <a:rPr lang="ko-KR" altLang="en-US" sz="2400" dirty="0"/>
              <a:t>이 스택최적화를 지원하는지를 불명확함</a:t>
            </a:r>
            <a:r>
              <a:rPr lang="en-US" altLang="ko-KR" sz="2400" dirty="0"/>
              <a:t>(</a:t>
            </a:r>
            <a:r>
              <a:rPr lang="ko-KR" altLang="en-US" sz="2400" dirty="0"/>
              <a:t>자바 스크립트 환경에서 재귀함수보다 </a:t>
            </a:r>
            <a:r>
              <a:rPr lang="en-US" altLang="ko-KR" sz="2400" dirty="0" err="1"/>
              <a:t>for+reduce</a:t>
            </a:r>
            <a:r>
              <a:rPr lang="en-US" altLang="ko-KR" sz="2400" dirty="0"/>
              <a:t> </a:t>
            </a:r>
            <a:r>
              <a:rPr lang="ko-KR" altLang="en-US" sz="2400" dirty="0"/>
              <a:t>구조를 더 권장함</a:t>
            </a:r>
            <a:r>
              <a:rPr lang="en-US" altLang="ko-KR" sz="2400" dirty="0"/>
              <a:t>.</a:t>
            </a:r>
            <a:endParaRPr lang="ko-KR" altLang="en-US" sz="24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2</a:t>
            </a:fld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451" y="2044824"/>
            <a:ext cx="5366012" cy="2108076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8525" y="2044824"/>
            <a:ext cx="5832775" cy="2108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708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클로저</a:t>
            </a:r>
            <a:r>
              <a:rPr lang="en-US" altLang="ko-KR" dirty="0"/>
              <a:t>(closer) </a:t>
            </a:r>
            <a:r>
              <a:rPr lang="ko-KR" altLang="en-US" dirty="0"/>
              <a:t>함수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600" dirty="0" err="1"/>
              <a:t>클로저는</a:t>
            </a:r>
            <a:r>
              <a:rPr lang="ko-KR" altLang="en-US" sz="2600" dirty="0"/>
              <a:t> 함수가 자신이 선언될 당시의 </a:t>
            </a:r>
            <a:r>
              <a:rPr lang="ko-KR" altLang="en-US" sz="2600" dirty="0" err="1"/>
              <a:t>렉시컬</a:t>
            </a:r>
            <a:r>
              <a:rPr lang="ko-KR" altLang="en-US" sz="2600" dirty="0"/>
              <a:t> 환경을 기억하여</a:t>
            </a:r>
            <a:r>
              <a:rPr lang="en-US" altLang="ko-KR" sz="2600" dirty="0"/>
              <a:t>, </a:t>
            </a:r>
            <a:r>
              <a:rPr lang="ko-KR" altLang="en-US" sz="2600" dirty="0"/>
              <a:t>외부 함수의 실행이 끝난 뒤에도 그 환경의 변수에 접근할 수 있는 함수이다</a:t>
            </a:r>
            <a:r>
              <a:rPr lang="en-US" altLang="ko-KR" sz="2600" dirty="0"/>
              <a:t>.</a:t>
            </a:r>
          </a:p>
          <a:p>
            <a:r>
              <a:rPr lang="ko-KR" altLang="en-US" sz="2600" spc="-100" dirty="0"/>
              <a:t>함수를 일급객체로 취급하는 프로그래밍 언어에서 자주 사용되는 특성임</a:t>
            </a:r>
            <a:r>
              <a:rPr lang="en-US" altLang="ko-KR" sz="2600" spc="-100" dirty="0"/>
              <a:t> </a:t>
            </a:r>
          </a:p>
          <a:p>
            <a:pPr lvl="1"/>
            <a:r>
              <a:rPr lang="ko-KR" altLang="en-US" dirty="0" err="1"/>
              <a:t>일급객체</a:t>
            </a:r>
            <a:r>
              <a:rPr lang="en-US" altLang="ko-KR" dirty="0"/>
              <a:t>: </a:t>
            </a:r>
            <a:r>
              <a:rPr lang="ko-KR" altLang="en-US" dirty="0"/>
              <a:t>변수에 저장하거나</a:t>
            </a:r>
            <a:r>
              <a:rPr lang="en-US" altLang="ko-KR" dirty="0"/>
              <a:t>, </a:t>
            </a:r>
            <a:r>
              <a:rPr lang="ko-KR" altLang="en-US" dirty="0"/>
              <a:t>함수의 인자로 전달하거나</a:t>
            </a:r>
            <a:r>
              <a:rPr lang="en-US" altLang="ko-KR" dirty="0"/>
              <a:t>, </a:t>
            </a:r>
            <a:r>
              <a:rPr lang="ko-KR" altLang="en-US" dirty="0"/>
              <a:t>함수의 반환 값으로 사용할 수 있는 값</a:t>
            </a:r>
            <a:r>
              <a:rPr lang="en-US" altLang="ko-KR" dirty="0"/>
              <a:t>(</a:t>
            </a:r>
            <a:r>
              <a:rPr lang="ko-KR" altLang="en-US" dirty="0"/>
              <a:t>다음 페이지 내용 참조</a:t>
            </a:r>
            <a:r>
              <a:rPr lang="en-US" altLang="ko-KR" dirty="0"/>
              <a:t>)</a:t>
            </a:r>
            <a:endParaRPr lang="en-US" altLang="ko-KR" sz="2600" dirty="0"/>
          </a:p>
          <a:p>
            <a:r>
              <a:rPr lang="ko-KR" altLang="en-US" sz="2600" dirty="0"/>
              <a:t>클로저 함수는 </a:t>
            </a:r>
            <a:r>
              <a:rPr lang="ko-KR" altLang="en-US" sz="2600" dirty="0" err="1"/>
              <a:t>렉시컬</a:t>
            </a:r>
            <a:r>
              <a:rPr lang="ko-KR" altLang="en-US" sz="2600" dirty="0"/>
              <a:t> </a:t>
            </a:r>
            <a:r>
              <a:rPr lang="ko-KR" altLang="en-US" sz="2600" dirty="0" err="1"/>
              <a:t>스코프를</a:t>
            </a:r>
            <a:r>
              <a:rPr lang="ko-KR" altLang="en-US" sz="2600" dirty="0"/>
              <a:t> 기억하는 함수이다</a:t>
            </a:r>
            <a:r>
              <a:rPr lang="en-US" altLang="ko-KR" sz="2600" dirty="0"/>
              <a:t>.</a:t>
            </a:r>
          </a:p>
          <a:p>
            <a:pPr lvl="1"/>
            <a:r>
              <a:rPr lang="ko-KR" altLang="en-US" dirty="0" err="1"/>
              <a:t>렉시컬</a:t>
            </a:r>
            <a:r>
              <a:rPr lang="ko-KR" altLang="en-US" dirty="0"/>
              <a:t> </a:t>
            </a:r>
            <a:r>
              <a:rPr lang="ko-KR" altLang="en-US" dirty="0" err="1"/>
              <a:t>스코프</a:t>
            </a:r>
            <a:r>
              <a:rPr lang="en-US" altLang="ko-KR" dirty="0"/>
              <a:t>: </a:t>
            </a:r>
            <a:r>
              <a:rPr lang="ko-KR" altLang="en-US" dirty="0"/>
              <a:t>함수가 선언된 위치에 따라 변수의 </a:t>
            </a:r>
            <a:r>
              <a:rPr lang="ko-KR" altLang="en-US" dirty="0" err="1"/>
              <a:t>스코프</a:t>
            </a:r>
            <a:r>
              <a:rPr lang="en-US" altLang="ko-KR" dirty="0"/>
              <a:t>(</a:t>
            </a:r>
            <a:r>
              <a:rPr lang="ko-KR" altLang="en-US" dirty="0"/>
              <a:t>유효 범위</a:t>
            </a:r>
            <a:r>
              <a:rPr lang="en-US" altLang="ko-KR" dirty="0"/>
              <a:t>)</a:t>
            </a:r>
            <a:r>
              <a:rPr lang="ko-KR" altLang="en-US" dirty="0"/>
              <a:t>가 결정된다</a:t>
            </a:r>
            <a:r>
              <a:rPr lang="en-US" altLang="ko-KR" dirty="0"/>
              <a:t>. </a:t>
            </a:r>
            <a:r>
              <a:rPr lang="ko-KR" altLang="en-US" dirty="0"/>
              <a:t>이 </a:t>
            </a:r>
            <a:r>
              <a:rPr lang="ko-KR" altLang="en-US" dirty="0" err="1"/>
              <a:t>스코프를</a:t>
            </a:r>
            <a:r>
              <a:rPr lang="ko-KR" altLang="en-US" dirty="0"/>
              <a:t> </a:t>
            </a:r>
            <a:r>
              <a:rPr lang="ko-KR" altLang="en-US" dirty="0" err="1"/>
              <a:t>렉시컬</a:t>
            </a:r>
            <a:r>
              <a:rPr lang="ko-KR" altLang="en-US" dirty="0"/>
              <a:t> </a:t>
            </a:r>
            <a:r>
              <a:rPr lang="ko-KR" altLang="en-US" dirty="0" err="1"/>
              <a:t>스코프라고</a:t>
            </a:r>
            <a:r>
              <a:rPr lang="ko-KR" altLang="en-US" dirty="0"/>
              <a:t> 한다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 err="1"/>
              <a:t>스코프체인</a:t>
            </a:r>
            <a:r>
              <a:rPr lang="en-US" altLang="ko-KR" dirty="0"/>
              <a:t>: </a:t>
            </a:r>
            <a:r>
              <a:rPr lang="ko-KR" altLang="en-US" dirty="0"/>
              <a:t>변수를 찾을 때</a:t>
            </a:r>
            <a:r>
              <a:rPr lang="en-US" altLang="ko-KR" dirty="0"/>
              <a:t>, </a:t>
            </a:r>
            <a:r>
              <a:rPr lang="ko-KR" altLang="en-US" dirty="0"/>
              <a:t>자신의 </a:t>
            </a:r>
            <a:r>
              <a:rPr lang="ko-KR" altLang="en-US" dirty="0" err="1"/>
              <a:t>스코프에서</a:t>
            </a:r>
            <a:r>
              <a:rPr lang="ko-KR" altLang="en-US" dirty="0"/>
              <a:t> 찾고 변수가 없으면 </a:t>
            </a:r>
            <a:r>
              <a:rPr lang="ko-KR" altLang="en-US" dirty="0" err="1"/>
              <a:t>외부함수의</a:t>
            </a:r>
            <a:r>
              <a:rPr lang="ko-KR" altLang="en-US" dirty="0"/>
              <a:t> 변수</a:t>
            </a:r>
            <a:r>
              <a:rPr lang="en-US" altLang="ko-KR" dirty="0"/>
              <a:t>, </a:t>
            </a:r>
            <a:r>
              <a:rPr lang="ko-KR" altLang="en-US" dirty="0"/>
              <a:t>전역 변수 순서로 찾는다</a:t>
            </a:r>
            <a:r>
              <a:rPr lang="en-US" altLang="ko-KR" dirty="0"/>
              <a:t>.</a:t>
            </a:r>
          </a:p>
          <a:p>
            <a:r>
              <a:rPr lang="ko-KR" altLang="en-US" sz="2600" dirty="0" err="1"/>
              <a:t>클로저는</a:t>
            </a:r>
            <a:r>
              <a:rPr lang="ko-KR" altLang="en-US" sz="2600" dirty="0"/>
              <a:t> </a:t>
            </a:r>
            <a:r>
              <a:rPr lang="ko-KR" altLang="en-US" sz="2600" dirty="0" err="1"/>
              <a:t>스코프</a:t>
            </a:r>
            <a:r>
              <a:rPr lang="ko-KR" altLang="en-US" sz="2600" dirty="0"/>
              <a:t> 체인을 통해 자신의 지역 변수</a:t>
            </a:r>
            <a:r>
              <a:rPr lang="en-US" altLang="ko-KR" sz="2600" dirty="0"/>
              <a:t>, </a:t>
            </a:r>
            <a:r>
              <a:rPr lang="ko-KR" altLang="en-US" sz="2600" dirty="0"/>
              <a:t>외부 함수의 변수</a:t>
            </a:r>
            <a:r>
              <a:rPr lang="en-US" altLang="ko-KR" sz="2600" dirty="0"/>
              <a:t>, </a:t>
            </a:r>
            <a:r>
              <a:rPr lang="ko-KR" altLang="en-US" sz="2600" dirty="0"/>
              <a:t>전역 변수에 접근할 수 있다</a:t>
            </a:r>
            <a:r>
              <a:rPr lang="en-US" altLang="ko-KR" sz="2600" dirty="0"/>
              <a:t>.</a:t>
            </a:r>
            <a:endParaRPr lang="ko-KR" altLang="en-US" sz="2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11696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152815-BFCB-4F35-BDC9-D47A87ACE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일급 객체 예</a:t>
            </a:r>
            <a:r>
              <a:rPr lang="en-US" altLang="ko-KR" dirty="0"/>
              <a:t>(</a:t>
            </a:r>
            <a:r>
              <a:rPr lang="ko-KR" altLang="en-US" dirty="0"/>
              <a:t>함수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96D2B8-3D9B-4C4A-ACD2-B30CE3A6662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ko-KR" altLang="en-US" sz="2400" dirty="0"/>
              <a:t>변수에 저장 가능</a:t>
            </a:r>
            <a:endParaRPr lang="en-US" altLang="ko-KR" sz="2400" dirty="0"/>
          </a:p>
          <a:p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                                     </a:t>
            </a:r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endParaRPr lang="en-US" altLang="ko-KR" sz="2400" dirty="0"/>
          </a:p>
          <a:p>
            <a:r>
              <a:rPr lang="ko-KR" altLang="en-US" sz="2400" dirty="0"/>
              <a:t>함수의 인자로 전달 가능</a:t>
            </a:r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pPr marL="0" indent="0">
              <a:buNone/>
            </a:pPr>
            <a:endParaRPr lang="ko-KR" altLang="en-US" sz="2400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03ECCAFB-80EC-4329-8804-5253AE8CFD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466675"/>
            <a:ext cx="5232400" cy="4648200"/>
          </a:xfrm>
        </p:spPr>
        <p:txBody>
          <a:bodyPr/>
          <a:lstStyle/>
          <a:p>
            <a:r>
              <a:rPr lang="ko-KR" altLang="en-US" sz="2400" dirty="0"/>
              <a:t>함수의 반환 값으로 사용 가능</a:t>
            </a:r>
            <a:endParaRPr lang="en-US" altLang="ko-KR" sz="2400" dirty="0"/>
          </a:p>
          <a:p>
            <a:endParaRPr lang="en-US" altLang="ko-KR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sz="2400" dirty="0"/>
              <a:t>객체나 배열에 저장 가능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EE112D-3FB6-47CC-9688-D267FA13E6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4</a:t>
            </a:fld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F07E601-F88E-4AF3-9D43-8056172F7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762" y="1838750"/>
            <a:ext cx="2590511" cy="124858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622EBBD-6D41-488F-B3F0-079470FBD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994" y="4145607"/>
            <a:ext cx="2076450" cy="17430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C1EA8B0-ADFB-4016-A68E-78806B0EDE10}"/>
              </a:ext>
            </a:extLst>
          </p:cNvPr>
          <p:cNvSpPr txBox="1"/>
          <p:nvPr/>
        </p:nvSpPr>
        <p:spPr>
          <a:xfrm>
            <a:off x="3879273" y="1838750"/>
            <a:ext cx="18195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함수가 </a:t>
            </a:r>
            <a:r>
              <a:rPr lang="en-US" altLang="ko-KR" dirty="0" err="1"/>
              <a:t>sayHello</a:t>
            </a:r>
            <a:r>
              <a:rPr lang="en-US" altLang="ko-KR" dirty="0"/>
              <a:t> </a:t>
            </a:r>
            <a:r>
              <a:rPr lang="ko-KR" altLang="en-US" dirty="0"/>
              <a:t>변수에 저장됨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2E3A1C-53E9-4071-BF0E-A2933572012E}"/>
              </a:ext>
            </a:extLst>
          </p:cNvPr>
          <p:cNvSpPr txBox="1"/>
          <p:nvPr/>
        </p:nvSpPr>
        <p:spPr>
          <a:xfrm>
            <a:off x="3508086" y="4243356"/>
            <a:ext cx="21595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hello </a:t>
            </a:r>
            <a:r>
              <a:rPr lang="ko-KR" altLang="en-US" dirty="0"/>
              <a:t>함수가 </a:t>
            </a:r>
            <a:r>
              <a:rPr lang="en-US" altLang="ko-KR" dirty="0"/>
              <a:t>run()</a:t>
            </a:r>
            <a:r>
              <a:rPr lang="ko-KR" altLang="en-US" dirty="0"/>
              <a:t>함수의 인자로 전달</a:t>
            </a:r>
            <a:endParaRPr lang="en-US" altLang="ko-KR" dirty="0"/>
          </a:p>
          <a:p>
            <a:endParaRPr lang="ko-KR" altLang="en-US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FC57D87A-9E63-452F-85E7-39B7E7C99A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6127" y="2009600"/>
            <a:ext cx="2057400" cy="17811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D824524-BC92-4EFE-B0DB-28F36805E508}"/>
              </a:ext>
            </a:extLst>
          </p:cNvPr>
          <p:cNvSpPr txBox="1"/>
          <p:nvPr/>
        </p:nvSpPr>
        <p:spPr>
          <a:xfrm>
            <a:off x="8460528" y="3676922"/>
            <a:ext cx="3360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makeAdder</a:t>
            </a:r>
            <a:r>
              <a:rPr lang="en-US" altLang="ko-KR" dirty="0"/>
              <a:t>()</a:t>
            </a:r>
            <a:r>
              <a:rPr lang="ko-KR" altLang="en-US" dirty="0"/>
              <a:t>는 함수를 반환함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318470CD-98AE-4856-BD50-81F7AF3771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5954" y="4688662"/>
            <a:ext cx="2705100" cy="20097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CE99383-5E2D-4D1C-899F-38E88227ED18}"/>
              </a:ext>
            </a:extLst>
          </p:cNvPr>
          <p:cNvSpPr txBox="1"/>
          <p:nvPr/>
        </p:nvSpPr>
        <p:spPr>
          <a:xfrm>
            <a:off x="9255631" y="4843520"/>
            <a:ext cx="19381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함수</a:t>
            </a:r>
            <a:r>
              <a:rPr lang="en-US" altLang="ko-KR" dirty="0" smtClean="0"/>
              <a:t>(function())</a:t>
            </a:r>
            <a:r>
              <a:rPr lang="ko-KR" altLang="en-US" dirty="0" smtClean="0"/>
              <a:t>가 </a:t>
            </a:r>
            <a:r>
              <a:rPr lang="ko-KR" altLang="en-US" dirty="0"/>
              <a:t>객체의 값으로 저장됨</a:t>
            </a: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81582833-8703-48F9-8E72-DF234F6641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7837" y="2009600"/>
            <a:ext cx="3124200" cy="1628775"/>
          </a:xfrm>
          <a:prstGeom prst="rect">
            <a:avLst/>
          </a:prstGeom>
          <a:ln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4071924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클로저</a:t>
            </a:r>
            <a:r>
              <a:rPr lang="en-US" altLang="ko-KR" dirty="0"/>
              <a:t>(closer) </a:t>
            </a:r>
            <a:r>
              <a:rPr lang="ko-KR" altLang="en-US" dirty="0"/>
              <a:t>함수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276850" y="1314450"/>
            <a:ext cx="6476835" cy="4850854"/>
          </a:xfrm>
        </p:spPr>
        <p:txBody>
          <a:bodyPr/>
          <a:lstStyle/>
          <a:p>
            <a:r>
              <a:rPr lang="en-US" altLang="ko-KR" sz="2000" dirty="0" err="1"/>
              <a:t>innerFunc</a:t>
            </a:r>
            <a:r>
              <a:rPr lang="en-US" altLang="ko-KR" sz="2000" dirty="0"/>
              <a:t>()</a:t>
            </a:r>
            <a:r>
              <a:rPr lang="ko-KR" altLang="en-US" sz="2000" dirty="0"/>
              <a:t>에서 </a:t>
            </a:r>
            <a:r>
              <a:rPr lang="en-US" altLang="ko-KR" sz="2000" dirty="0"/>
              <a:t>x</a:t>
            </a:r>
            <a:r>
              <a:rPr lang="ko-KR" altLang="en-US" sz="2000" dirty="0"/>
              <a:t>가 선언되지 않았음에도</a:t>
            </a:r>
            <a:r>
              <a:rPr lang="en-US" altLang="ko-KR" sz="2000" dirty="0"/>
              <a:t>, </a:t>
            </a:r>
            <a:r>
              <a:rPr lang="en-US" altLang="ko-KR" sz="2000" dirty="0" err="1"/>
              <a:t>innerFunc</a:t>
            </a:r>
            <a:r>
              <a:rPr lang="en-US" altLang="ko-KR" sz="2000" dirty="0"/>
              <a:t>()</a:t>
            </a:r>
            <a:r>
              <a:rPr lang="ko-KR" altLang="en-US" sz="2000" dirty="0"/>
              <a:t>은 </a:t>
            </a:r>
            <a:r>
              <a:rPr lang="en-US" altLang="ko-KR" sz="2000" dirty="0" err="1"/>
              <a:t>outerFnc</a:t>
            </a:r>
            <a:r>
              <a:rPr lang="en-US" altLang="ko-KR" sz="2000" dirty="0"/>
              <a:t>()</a:t>
            </a:r>
            <a:r>
              <a:rPr lang="ko-KR" altLang="en-US" sz="2000" dirty="0"/>
              <a:t>에 있는 변수 </a:t>
            </a:r>
            <a:r>
              <a:rPr lang="en-US" altLang="ko-KR" sz="2000" dirty="0"/>
              <a:t>x</a:t>
            </a:r>
            <a:r>
              <a:rPr lang="ko-KR" altLang="en-US" sz="2000" dirty="0"/>
              <a:t>에 접근할 수 있다</a:t>
            </a:r>
            <a:r>
              <a:rPr lang="en-US" altLang="ko-KR" sz="2000" dirty="0"/>
              <a:t>. </a:t>
            </a:r>
          </a:p>
          <a:p>
            <a:r>
              <a:rPr lang="ko-KR" altLang="en-US" sz="2000" dirty="0"/>
              <a:t>이 예제에서 </a:t>
            </a:r>
            <a:r>
              <a:rPr lang="en-US" altLang="ko-KR" sz="2000" dirty="0" err="1"/>
              <a:t>innerFunc</a:t>
            </a:r>
            <a:r>
              <a:rPr lang="en-US" altLang="ko-KR" sz="2000" dirty="0"/>
              <a:t>()</a:t>
            </a:r>
            <a:r>
              <a:rPr lang="ko-KR" altLang="en-US" sz="2000" dirty="0"/>
              <a:t>의 </a:t>
            </a:r>
            <a:r>
              <a:rPr lang="ko-KR" altLang="en-US" sz="2000" dirty="0" err="1"/>
              <a:t>렉시컬</a:t>
            </a:r>
            <a:r>
              <a:rPr lang="ko-KR" altLang="en-US" sz="2000" dirty="0"/>
              <a:t> </a:t>
            </a:r>
            <a:r>
              <a:rPr lang="ko-KR" altLang="en-US" sz="2000" dirty="0" err="1"/>
              <a:t>스코프는</a:t>
            </a:r>
            <a:r>
              <a:rPr lang="ko-KR" altLang="en-US" sz="2000" dirty="0"/>
              <a:t> </a:t>
            </a:r>
            <a:r>
              <a:rPr lang="en-US" altLang="ko-KR" sz="2000" dirty="0" err="1"/>
              <a:t>outerFnc</a:t>
            </a:r>
            <a:r>
              <a:rPr lang="en-US" altLang="ko-KR" sz="2000" dirty="0"/>
              <a:t>()</a:t>
            </a:r>
            <a:r>
              <a:rPr lang="ko-KR" altLang="en-US" sz="2000" dirty="0" err="1"/>
              <a:t>라고할</a:t>
            </a:r>
            <a:r>
              <a:rPr lang="ko-KR" altLang="en-US" sz="2000" dirty="0"/>
              <a:t> 수 있다</a:t>
            </a:r>
            <a:r>
              <a:rPr lang="en-US" altLang="ko-KR" sz="2000" dirty="0"/>
              <a:t>.</a:t>
            </a:r>
          </a:p>
          <a:p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r>
              <a:rPr lang="en-US" altLang="ko-KR" sz="2000" dirty="0" err="1"/>
              <a:t>const</a:t>
            </a:r>
            <a:r>
              <a:rPr lang="en-US" altLang="ko-KR" sz="2000" dirty="0"/>
              <a:t> inner = </a:t>
            </a:r>
            <a:r>
              <a:rPr lang="en-US" altLang="ko-KR" sz="2000" dirty="0" err="1"/>
              <a:t>outerFnc</a:t>
            </a:r>
            <a:r>
              <a:rPr lang="en-US" altLang="ko-KR" sz="2000" dirty="0"/>
              <a:t>();//</a:t>
            </a:r>
            <a:r>
              <a:rPr lang="en-US" altLang="ko-KR" sz="2000" dirty="0" err="1"/>
              <a:t>outerFnc</a:t>
            </a:r>
            <a:r>
              <a:rPr lang="en-US" altLang="ko-KR" sz="2000" dirty="0"/>
              <a:t> </a:t>
            </a:r>
            <a:r>
              <a:rPr lang="ko-KR" altLang="en-US" sz="2000" dirty="0"/>
              <a:t>호출</a:t>
            </a:r>
            <a:endParaRPr lang="en-US" altLang="ko-KR" sz="2000" dirty="0"/>
          </a:p>
          <a:p>
            <a:pPr lvl="1"/>
            <a:r>
              <a:rPr lang="en-US" altLang="ko-KR" sz="1700" dirty="0" err="1"/>
              <a:t>innerFunc</a:t>
            </a:r>
            <a:r>
              <a:rPr lang="en-US" altLang="ko-KR" sz="1700" dirty="0"/>
              <a:t>()</a:t>
            </a:r>
            <a:r>
              <a:rPr lang="ko-KR" altLang="en-US" sz="1700" dirty="0"/>
              <a:t>이 변수 </a:t>
            </a:r>
            <a:r>
              <a:rPr lang="en-US" altLang="ko-KR" sz="1700" dirty="0"/>
              <a:t>inner</a:t>
            </a:r>
            <a:r>
              <a:rPr lang="ko-KR" altLang="en-US" sz="1700" dirty="0"/>
              <a:t>에 담긴다</a:t>
            </a:r>
            <a:r>
              <a:rPr lang="en-US" altLang="ko-KR" sz="1700" dirty="0"/>
              <a:t>(</a:t>
            </a:r>
            <a:r>
              <a:rPr lang="en-US" altLang="ko-KR" sz="1700" dirty="0" err="1"/>
              <a:t>outerFnc</a:t>
            </a:r>
            <a:r>
              <a:rPr lang="en-US" altLang="ko-KR" sz="1700" dirty="0"/>
              <a:t> </a:t>
            </a:r>
            <a:r>
              <a:rPr lang="ko-KR" altLang="en-US" sz="1700" dirty="0"/>
              <a:t>는 사라짐</a:t>
            </a:r>
            <a:r>
              <a:rPr lang="en-US" altLang="ko-KR" sz="1700" dirty="0"/>
              <a:t>)</a:t>
            </a:r>
          </a:p>
          <a:p>
            <a:r>
              <a:rPr lang="en-US" altLang="ko-KR" sz="2000" dirty="0"/>
              <a:t>inner(); //</a:t>
            </a:r>
            <a:r>
              <a:rPr lang="en-US" altLang="ko-KR" sz="2000" dirty="0" err="1"/>
              <a:t>innerFunc</a:t>
            </a:r>
            <a:r>
              <a:rPr lang="en-US" altLang="ko-KR" sz="2000" dirty="0"/>
              <a:t>()</a:t>
            </a:r>
            <a:r>
              <a:rPr lang="ko-KR" altLang="en-US" sz="2000" dirty="0"/>
              <a:t>호출</a:t>
            </a:r>
            <a:r>
              <a:rPr lang="en-US" altLang="ko-KR" sz="2000" dirty="0"/>
              <a:t>.  </a:t>
            </a:r>
            <a:r>
              <a:rPr lang="en-US" altLang="ko-KR" sz="2000" dirty="0" err="1"/>
              <a:t>outerFnc</a:t>
            </a:r>
            <a:r>
              <a:rPr lang="en-US" altLang="ko-KR" sz="2000" dirty="0"/>
              <a:t> </a:t>
            </a:r>
            <a:r>
              <a:rPr lang="ko-KR" altLang="en-US" sz="2000" dirty="0"/>
              <a:t>함수는 실행이 끝났으므로 지역변수</a:t>
            </a:r>
            <a:r>
              <a:rPr lang="en-US" altLang="ko-KR" sz="2000" dirty="0"/>
              <a:t>(x)</a:t>
            </a:r>
            <a:r>
              <a:rPr lang="ko-KR" altLang="en-US" sz="2000" dirty="0"/>
              <a:t>는 </a:t>
            </a:r>
            <a:r>
              <a:rPr lang="ko-KR" altLang="en-US" sz="2000" dirty="0" err="1"/>
              <a:t>소멸되어야</a:t>
            </a:r>
            <a:r>
              <a:rPr lang="ko-KR" altLang="en-US" sz="2000" dirty="0"/>
              <a:t> 한다</a:t>
            </a:r>
            <a:r>
              <a:rPr lang="en-US" altLang="ko-KR" sz="2000" dirty="0"/>
              <a:t>. </a:t>
            </a:r>
            <a:r>
              <a:rPr lang="ko-KR" altLang="en-US" sz="2000" dirty="0"/>
              <a:t>그러나 코드 실행 결과는 </a:t>
            </a:r>
            <a:r>
              <a:rPr lang="en-US" altLang="ko-KR" sz="2000" dirty="0"/>
              <a:t>10</a:t>
            </a:r>
            <a:r>
              <a:rPr lang="ko-KR" altLang="en-US" sz="2000" dirty="0"/>
              <a:t>이다</a:t>
            </a:r>
            <a:r>
              <a:rPr lang="en-US" altLang="ko-KR" sz="2000" dirty="0"/>
              <a:t>. </a:t>
            </a:r>
          </a:p>
          <a:p>
            <a:endParaRPr lang="ko-KR" altLang="en-US" sz="20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5</a:t>
            </a:fld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124744"/>
            <a:ext cx="3810000" cy="2267857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3645024"/>
            <a:ext cx="3810000" cy="2626420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 bwMode="auto">
          <a:xfrm>
            <a:off x="5276850" y="1314450"/>
            <a:ext cx="6544270" cy="146685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8" name="직사각형 7"/>
          <p:cNvSpPr/>
          <p:nvPr/>
        </p:nvSpPr>
        <p:spPr bwMode="auto">
          <a:xfrm>
            <a:off x="5276850" y="3645024"/>
            <a:ext cx="6210300" cy="187472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1010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클로저 함수 사용</a:t>
            </a:r>
            <a:r>
              <a:rPr lang="en-US" altLang="ko-KR" dirty="0"/>
              <a:t>-</a:t>
            </a:r>
            <a:r>
              <a:rPr lang="ko-KR" altLang="en-US" dirty="0"/>
              <a:t>예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43525" y="1333500"/>
            <a:ext cx="6410160" cy="4831804"/>
          </a:xfrm>
        </p:spPr>
        <p:txBody>
          <a:bodyPr/>
          <a:lstStyle/>
          <a:p>
            <a:r>
              <a:rPr lang="en-US" altLang="ko-KR" sz="2400" dirty="0"/>
              <a:t>counter</a:t>
            </a:r>
            <a:r>
              <a:rPr lang="ko-KR" altLang="en-US" sz="2400" dirty="0"/>
              <a:t>는 외부에서 직접 접근할 수도 없고</a:t>
            </a:r>
            <a:r>
              <a:rPr lang="en-US" altLang="ko-KR" sz="2400" dirty="0"/>
              <a:t>(</a:t>
            </a:r>
            <a:r>
              <a:rPr lang="ko-KR" altLang="en-US" sz="2400" dirty="0"/>
              <a:t>이미 사라졌기 때문에 외부에서 접근하려고 하면 참조 에러가 발생</a:t>
            </a:r>
            <a:r>
              <a:rPr lang="en-US" altLang="ko-KR" sz="2400" dirty="0"/>
              <a:t>), increaser</a:t>
            </a:r>
            <a:r>
              <a:rPr lang="ko-KR" altLang="en-US" sz="2400" dirty="0"/>
              <a:t>를 사용해서만 접근할 수 있는 </a:t>
            </a:r>
            <a:r>
              <a:rPr lang="en-US" altLang="ko-KR" sz="2400" dirty="0"/>
              <a:t>private </a:t>
            </a:r>
            <a:r>
              <a:rPr lang="ko-KR" altLang="en-US" sz="2400" dirty="0"/>
              <a:t>변수이다</a:t>
            </a:r>
            <a:r>
              <a:rPr lang="en-US" altLang="ko-KR" sz="2400" dirty="0"/>
              <a:t>.</a:t>
            </a:r>
          </a:p>
          <a:p>
            <a:endParaRPr lang="en-US" altLang="ko-KR" sz="2400" dirty="0"/>
          </a:p>
          <a:p>
            <a:endParaRPr lang="en-US" altLang="ko-KR" sz="2400" dirty="0"/>
          </a:p>
          <a:p>
            <a:r>
              <a:rPr lang="en-US" altLang="ko-KR" sz="2400" dirty="0"/>
              <a:t>counter </a:t>
            </a:r>
            <a:r>
              <a:rPr lang="ko-KR" altLang="en-US" sz="2400" dirty="0"/>
              <a:t>함수 내에서 사용된 변수 </a:t>
            </a:r>
            <a:r>
              <a:rPr lang="en-US" altLang="ko-KR" sz="2400" dirty="0"/>
              <a:t>counter</a:t>
            </a:r>
            <a:r>
              <a:rPr lang="ko-KR" altLang="en-US" sz="2400" dirty="0"/>
              <a:t>는 </a:t>
            </a:r>
            <a:r>
              <a:rPr lang="en-US" altLang="ko-KR" sz="2400" dirty="0"/>
              <a:t>private </a:t>
            </a:r>
            <a:r>
              <a:rPr lang="ko-KR" altLang="en-US" sz="2400" dirty="0"/>
              <a:t>변수이므로 외부에서 직접 변경할 수 없다</a:t>
            </a:r>
            <a:r>
              <a:rPr lang="en-US" altLang="ko-KR" sz="2400" dirty="0"/>
              <a:t>. counter=count(0)</a:t>
            </a:r>
            <a:r>
              <a:rPr lang="ko-KR" altLang="en-US" sz="2400" dirty="0"/>
              <a:t>에 사용된 변수 </a:t>
            </a:r>
            <a:r>
              <a:rPr lang="en-US" altLang="ko-KR" sz="2400" dirty="0"/>
              <a:t>counter</a:t>
            </a:r>
            <a:r>
              <a:rPr lang="ko-KR" altLang="en-US" sz="2400" dirty="0"/>
              <a:t>는 </a:t>
            </a:r>
            <a:r>
              <a:rPr lang="ko-KR" altLang="en-US" sz="2400" dirty="0" err="1"/>
              <a:t>내부함수와</a:t>
            </a:r>
            <a:r>
              <a:rPr lang="ko-KR" altLang="en-US" sz="2400" dirty="0"/>
              <a:t> 관계 없는 변수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6</a:t>
            </a:fld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200150"/>
            <a:ext cx="4724400" cy="207645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433876"/>
            <a:ext cx="3829050" cy="2590800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 bwMode="auto">
          <a:xfrm>
            <a:off x="5400675" y="1381125"/>
            <a:ext cx="6297117" cy="16764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8" name="직사각형 7"/>
          <p:cNvSpPr/>
          <p:nvPr/>
        </p:nvSpPr>
        <p:spPr bwMode="auto">
          <a:xfrm>
            <a:off x="5343525" y="3739877"/>
            <a:ext cx="6354267" cy="165735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69490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클로저</a:t>
            </a:r>
            <a:r>
              <a:rPr lang="ko-KR" altLang="en-US" dirty="0"/>
              <a:t> 함수가 필요한 상황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함수가 외부 변수를 기억하게 하기 위해</a:t>
            </a:r>
            <a:endParaRPr lang="en-US" altLang="ko-KR" dirty="0"/>
          </a:p>
          <a:p>
            <a:r>
              <a:rPr lang="ko-KR" altLang="en-US" dirty="0"/>
              <a:t>상태를 유지하기 위해</a:t>
            </a:r>
            <a:endParaRPr lang="en-US" altLang="ko-KR" dirty="0"/>
          </a:p>
          <a:p>
            <a:r>
              <a:rPr lang="en-US" altLang="ko-KR" dirty="0"/>
              <a:t>private </a:t>
            </a:r>
            <a:r>
              <a:rPr lang="ko-KR" altLang="en-US" dirty="0"/>
              <a:t>변수처럼 데이터를 숨기기 위해</a:t>
            </a:r>
            <a:endParaRPr lang="en-US" altLang="ko-KR" dirty="0"/>
          </a:p>
          <a:p>
            <a:r>
              <a:rPr lang="ko-KR" altLang="en-US" dirty="0"/>
              <a:t>특정 설정 값을 가진 함수를 만들기 위해</a:t>
            </a:r>
            <a:endParaRPr lang="en-US" altLang="ko-KR" dirty="0"/>
          </a:p>
          <a:p>
            <a:r>
              <a:rPr lang="ko-KR" altLang="en-US" dirty="0"/>
              <a:t>이벤트</a:t>
            </a:r>
            <a:r>
              <a:rPr lang="en-US" altLang="ko-KR" dirty="0"/>
              <a:t>, </a:t>
            </a:r>
            <a:r>
              <a:rPr lang="ko-KR" altLang="en-US" dirty="0" err="1"/>
              <a:t>콜백</a:t>
            </a:r>
            <a:r>
              <a:rPr lang="en-US" altLang="ko-KR" dirty="0"/>
              <a:t>, </a:t>
            </a:r>
            <a:r>
              <a:rPr lang="ko-KR" altLang="en-US" dirty="0"/>
              <a:t>비동기 코드에서 값을 보존하기 위해</a:t>
            </a:r>
            <a:endParaRPr lang="en-US" altLang="ko-KR" dirty="0"/>
          </a:p>
          <a:p>
            <a:pPr lvl="1"/>
            <a:r>
              <a:rPr lang="ko-KR" altLang="en-US" dirty="0"/>
              <a:t>자세한 내용은 같이 첨부된 워드 문서 참조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8348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커링</a:t>
            </a:r>
            <a:r>
              <a:rPr lang="en-US" altLang="ko-KR" dirty="0"/>
              <a:t>(</a:t>
            </a:r>
            <a:r>
              <a:rPr lang="en-US" altLang="ko-KR" dirty="0" err="1"/>
              <a:t>curring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여러 개의 </a:t>
            </a:r>
            <a:r>
              <a:rPr lang="ko-KR" altLang="en-US" sz="2400" dirty="0" err="1"/>
              <a:t>파라미터를</a:t>
            </a:r>
            <a:r>
              <a:rPr lang="ko-KR" altLang="en-US" sz="2400" dirty="0"/>
              <a:t> 갖는 함수가 있을 때</a:t>
            </a:r>
            <a:r>
              <a:rPr lang="en-US" altLang="ko-KR" sz="2400" dirty="0"/>
              <a:t>, </a:t>
            </a:r>
            <a:r>
              <a:rPr lang="ko-KR" altLang="en-US" sz="2400" dirty="0"/>
              <a:t>그 중 일부의 </a:t>
            </a:r>
            <a:r>
              <a:rPr lang="ko-KR" altLang="en-US" sz="2400" dirty="0" err="1"/>
              <a:t>파라미터만</a:t>
            </a:r>
            <a:r>
              <a:rPr lang="ko-KR" altLang="en-US" sz="2400" dirty="0"/>
              <a:t> 필요로 하는 함수를 만드는 기법</a:t>
            </a:r>
            <a:endParaRPr lang="en-US" altLang="ko-KR" sz="2400" dirty="0"/>
          </a:p>
          <a:p>
            <a:r>
              <a:rPr lang="en-US" altLang="ko-KR" sz="2400" dirty="0"/>
              <a:t>Node.js</a:t>
            </a:r>
            <a:r>
              <a:rPr lang="ko-KR" altLang="en-US" sz="2400" dirty="0"/>
              <a:t>는 비동기 실행에서 </a:t>
            </a:r>
            <a:r>
              <a:rPr lang="en-US" altLang="ko-KR" sz="2400" dirty="0"/>
              <a:t>return </a:t>
            </a:r>
            <a:r>
              <a:rPr lang="ko-KR" altLang="en-US" sz="2400" dirty="0"/>
              <a:t>값이 없는 대신 </a:t>
            </a:r>
            <a:r>
              <a:rPr lang="en-US" altLang="ko-KR" sz="2400" dirty="0"/>
              <a:t>callback</a:t>
            </a:r>
            <a:r>
              <a:rPr lang="ko-KR" altLang="en-US" sz="2400" dirty="0"/>
              <a:t>을 인자로 넘기는 경우가 있음</a:t>
            </a:r>
            <a:r>
              <a:rPr lang="en-US" altLang="ko-KR" sz="2400" dirty="0"/>
              <a:t>. </a:t>
            </a:r>
            <a:r>
              <a:rPr lang="ko-KR" altLang="en-US" sz="2400" dirty="0"/>
              <a:t>이 때 </a:t>
            </a:r>
            <a:r>
              <a:rPr lang="ko-KR" altLang="en-US" sz="2400" dirty="0" err="1"/>
              <a:t>커링기법을</a:t>
            </a:r>
            <a:r>
              <a:rPr lang="ko-KR" altLang="en-US" sz="2400" dirty="0"/>
              <a:t> 이용하면 중복을 최소화 할 수 있음</a:t>
            </a:r>
            <a:r>
              <a:rPr lang="en-US" altLang="ko-KR" sz="2400" dirty="0"/>
              <a:t>.</a:t>
            </a:r>
          </a:p>
          <a:p>
            <a:r>
              <a:rPr lang="ko-KR" altLang="en-US" sz="2400" dirty="0"/>
              <a:t>자바 스크립트에만 있는 것은 아님</a:t>
            </a:r>
            <a:r>
              <a:rPr lang="en-US" altLang="ko-KR" sz="2400" dirty="0"/>
              <a:t>.</a:t>
            </a:r>
          </a:p>
          <a:p>
            <a:r>
              <a:rPr lang="ko-KR" altLang="en-US" sz="2400" dirty="0" err="1"/>
              <a:t>커링은</a:t>
            </a:r>
            <a:r>
              <a:rPr lang="ko-KR" altLang="en-US" sz="2400" dirty="0"/>
              <a:t> </a:t>
            </a:r>
            <a:r>
              <a:rPr lang="en-US" altLang="ko-KR" sz="2400" dirty="0"/>
              <a:t>f(a, b, c)</a:t>
            </a:r>
            <a:r>
              <a:rPr lang="ko-KR" altLang="en-US" sz="2400" dirty="0"/>
              <a:t>처럼 단일 호출로 처리하는 함수를 </a:t>
            </a:r>
            <a:r>
              <a:rPr lang="en-US" altLang="ko-KR" sz="2400" dirty="0"/>
              <a:t>f(a)(b)(c)</a:t>
            </a:r>
            <a:r>
              <a:rPr lang="ko-KR" altLang="en-US" sz="2400" dirty="0"/>
              <a:t>와 같이 각각의 인수가 호출 가능한 프로세서로 호출된 후 병합 되도록 변환 함</a:t>
            </a:r>
            <a:endParaRPr lang="en-US" altLang="ko-KR" sz="2400" dirty="0"/>
          </a:p>
          <a:p>
            <a:r>
              <a:rPr lang="ko-KR" altLang="en-US" sz="2400" dirty="0" err="1"/>
              <a:t>커링은</a:t>
            </a:r>
            <a:r>
              <a:rPr lang="ko-KR" altLang="en-US" sz="2400" dirty="0"/>
              <a:t> 함수를 호출하지 않고 단지 변환 함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8</a:t>
            </a:fld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4525" y="4613789"/>
            <a:ext cx="3505000" cy="1455466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0633" y="4613789"/>
            <a:ext cx="1871450" cy="5917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97286" y="5395863"/>
            <a:ext cx="437651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C00000"/>
                </a:solidFill>
              </a:rPr>
              <a:t>주의</a:t>
            </a:r>
            <a:r>
              <a:rPr lang="en-US" altLang="ko-KR" sz="1600" b="1" dirty="0">
                <a:solidFill>
                  <a:srgbClr val="C00000"/>
                </a:solidFill>
              </a:rPr>
              <a:t>) </a:t>
            </a:r>
            <a:r>
              <a:rPr lang="en-US" altLang="ko-KR" sz="1600" b="1" dirty="0" err="1">
                <a:solidFill>
                  <a:srgbClr val="C00000"/>
                </a:solidFill>
              </a:rPr>
              <a:t>const</a:t>
            </a:r>
            <a:r>
              <a:rPr lang="en-US" altLang="ko-KR" sz="1600" b="1" dirty="0">
                <a:solidFill>
                  <a:srgbClr val="C00000"/>
                </a:solidFill>
              </a:rPr>
              <a:t> add =(x, y) =&gt;x +y; </a:t>
            </a:r>
            <a:r>
              <a:rPr lang="ko-KR" altLang="en-US" sz="1600" b="1" dirty="0">
                <a:solidFill>
                  <a:srgbClr val="C00000"/>
                </a:solidFill>
              </a:rPr>
              <a:t>와는 다르다</a:t>
            </a:r>
            <a:r>
              <a:rPr lang="en-US" altLang="ko-KR" sz="1600" b="1" dirty="0">
                <a:solidFill>
                  <a:srgbClr val="C00000"/>
                </a:solidFill>
              </a:rPr>
              <a:t>.</a:t>
            </a:r>
          </a:p>
          <a:p>
            <a:r>
              <a:rPr lang="en-US" altLang="ko-KR" sz="1600" b="1" dirty="0">
                <a:solidFill>
                  <a:srgbClr val="C00000"/>
                </a:solidFill>
              </a:rPr>
              <a:t>        </a:t>
            </a:r>
            <a:r>
              <a:rPr lang="ko-KR" altLang="en-US" sz="1600" b="1" dirty="0">
                <a:solidFill>
                  <a:srgbClr val="C00000"/>
                </a:solidFill>
              </a:rPr>
              <a:t> 이것은 </a:t>
            </a:r>
            <a:r>
              <a:rPr lang="en-US" altLang="ko-KR" sz="1600" b="1" dirty="0">
                <a:solidFill>
                  <a:srgbClr val="C00000"/>
                </a:solidFill>
              </a:rPr>
              <a:t>add(10, 20) </a:t>
            </a:r>
            <a:r>
              <a:rPr lang="ko-KR" altLang="en-US" sz="1600" b="1" dirty="0">
                <a:solidFill>
                  <a:srgbClr val="C00000"/>
                </a:solidFill>
              </a:rPr>
              <a:t>으로 호출해서 사용</a:t>
            </a:r>
            <a:r>
              <a:rPr lang="en-US" altLang="ko-KR" sz="1600" b="1" dirty="0">
                <a:solidFill>
                  <a:srgbClr val="C00000"/>
                </a:solidFill>
              </a:rPr>
              <a:t>.</a:t>
            </a:r>
          </a:p>
          <a:p>
            <a:r>
              <a:rPr lang="en-US" altLang="ko-KR" sz="1600" b="1" dirty="0" err="1">
                <a:solidFill>
                  <a:srgbClr val="C00000"/>
                </a:solidFill>
              </a:rPr>
              <a:t>curring</a:t>
            </a:r>
            <a:r>
              <a:rPr lang="ko-KR" altLang="en-US" sz="1600" b="1" dirty="0">
                <a:solidFill>
                  <a:srgbClr val="C00000"/>
                </a:solidFill>
              </a:rPr>
              <a:t>은 </a:t>
            </a:r>
            <a:r>
              <a:rPr lang="en-US" altLang="ko-KR" sz="1600" b="1" dirty="0">
                <a:solidFill>
                  <a:srgbClr val="C00000"/>
                </a:solidFill>
              </a:rPr>
              <a:t>add(10)(20) </a:t>
            </a:r>
            <a:r>
              <a:rPr lang="ko-KR" altLang="en-US" sz="1600" b="1" dirty="0">
                <a:solidFill>
                  <a:srgbClr val="C00000"/>
                </a:solidFill>
              </a:rPr>
              <a:t>형식으로 사용한다</a:t>
            </a:r>
            <a:r>
              <a:rPr lang="en-US" altLang="ko-KR" dirty="0">
                <a:solidFill>
                  <a:srgbClr val="C00000"/>
                </a:solidFill>
              </a:rPr>
              <a:t>. </a:t>
            </a:r>
            <a:endParaRPr lang="ko-KR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9908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커링 </a:t>
            </a:r>
            <a:r>
              <a:rPr lang="en-US" altLang="ko-KR" dirty="0" err="1"/>
              <a:t>curring</a:t>
            </a:r>
            <a:r>
              <a:rPr lang="en-US" altLang="ko-KR" dirty="0"/>
              <a:t> </a:t>
            </a:r>
            <a:r>
              <a:rPr lang="ko-KR" altLang="en-US" dirty="0"/>
              <a:t>예제 </a:t>
            </a:r>
            <a:r>
              <a:rPr lang="ko-KR" altLang="en-US" dirty="0">
                <a:latin typeface="굴림" panose="020B0600000101010101" pitchFamily="34" charset="-127"/>
                <a:ea typeface="굴림" panose="020B0600000101010101" pitchFamily="34" charset="-127"/>
              </a:rPr>
              <a:t>①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 err="1"/>
              <a:t>커링은</a:t>
            </a:r>
            <a:r>
              <a:rPr lang="ko-KR" altLang="en-US" sz="2400" dirty="0"/>
              <a:t> </a:t>
            </a:r>
            <a:r>
              <a:rPr lang="ko-KR" altLang="en-US" sz="2400" dirty="0" err="1"/>
              <a:t>파라미터를</a:t>
            </a:r>
            <a:r>
              <a:rPr lang="ko-KR" altLang="en-US" sz="2400" dirty="0"/>
              <a:t> 여러 개 받는 함수를 분리해서 </a:t>
            </a:r>
            <a:r>
              <a:rPr lang="ko-KR" altLang="en-US" sz="2400" dirty="0" err="1"/>
              <a:t>파라미터로</a:t>
            </a:r>
            <a:r>
              <a:rPr lang="ko-KR" altLang="en-US" sz="2400" dirty="0"/>
              <a:t> 값이 모두 들어오면 값을 반환하고</a:t>
            </a:r>
            <a:r>
              <a:rPr lang="en-US" altLang="ko-KR" sz="2400" dirty="0"/>
              <a:t>, </a:t>
            </a:r>
            <a:r>
              <a:rPr lang="ko-KR" altLang="en-US" sz="2400" dirty="0"/>
              <a:t>부족하게 들어오면 함수를 반환한다</a:t>
            </a:r>
            <a:r>
              <a:rPr lang="en-US" altLang="ko-KR" sz="2400" dirty="0"/>
              <a:t>.</a:t>
            </a:r>
          </a:p>
          <a:p>
            <a:pPr lvl="1"/>
            <a:r>
              <a:rPr lang="en-US" altLang="ko-KR" sz="2100" dirty="0"/>
              <a:t>plus(val1)(val2): plus(10) </a:t>
            </a:r>
            <a:r>
              <a:rPr lang="ko-KR" altLang="en-US" sz="2100" dirty="0"/>
              <a:t>처럼 값을 하나만 넘기면 함수가 반환되고 </a:t>
            </a:r>
            <a:r>
              <a:rPr lang="en-US" altLang="ko-KR" sz="2100" dirty="0"/>
              <a:t>plus(10)(20) </a:t>
            </a:r>
            <a:r>
              <a:rPr lang="ko-KR" altLang="en-US" sz="2100" dirty="0"/>
              <a:t>처럼 두 개를 넘기면 값이 반환</a:t>
            </a:r>
            <a:endParaRPr lang="en-US" altLang="ko-KR" sz="21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sz="2400" dirty="0"/>
              <a:t>출력 </a:t>
            </a:r>
            <a:endParaRPr lang="en-US" altLang="ko-KR" sz="24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9</a:t>
            </a:fld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25" y="2901234"/>
            <a:ext cx="5915026" cy="2092166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7350" y="5672032"/>
            <a:ext cx="1839771" cy="493272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 bwMode="auto">
          <a:xfrm>
            <a:off x="7021017" y="2956762"/>
            <a:ext cx="4676775" cy="203132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1450" marR="0" indent="-17145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1" lang="ko-KR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rPr>
              <a:t>커피머신에</a:t>
            </a:r>
            <a:r>
              <a:rPr kumimoji="1" lang="ko-K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rPr>
              <a:t> </a:t>
            </a:r>
            <a:r>
              <a:rPr kumimoji="1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rPr>
              <a:t>water</a:t>
            </a:r>
            <a:r>
              <a:rPr kumimoji="1" lang="ko-K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rPr>
              <a:t>를 </a:t>
            </a:r>
            <a:r>
              <a:rPr kumimoji="1" lang="ko-KR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rPr>
              <a:t>넎으면</a:t>
            </a:r>
            <a:r>
              <a:rPr kumimoji="1" lang="ko-K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rPr>
              <a:t> </a:t>
            </a:r>
            <a:r>
              <a:rPr kumimoji="1" lang="ko-KR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rPr>
              <a:t>아메리카노</a:t>
            </a:r>
            <a:r>
              <a:rPr kumimoji="1" lang="ko-K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rPr>
              <a:t> </a:t>
            </a:r>
            <a:r>
              <a:rPr kumimoji="1" lang="ko-KR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rPr>
              <a:t>머신이</a:t>
            </a:r>
            <a:r>
              <a:rPr kumimoji="1" lang="ko-K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rPr>
              <a:t> 되고 </a:t>
            </a:r>
            <a:r>
              <a:rPr kumimoji="1" lang="en-US" altLang="ko-KR" sz="1400" dirty="0">
                <a:latin typeface="굴림" pitchFamily="50" charset="-127"/>
                <a:ea typeface="굴림" pitchFamily="50" charset="-127"/>
              </a:rPr>
              <a:t>milk</a:t>
            </a:r>
            <a:r>
              <a:rPr kumimoji="1" lang="ko-KR" altLang="en-US" sz="1400" dirty="0">
                <a:latin typeface="굴림" pitchFamily="50" charset="-127"/>
                <a:ea typeface="굴림" pitchFamily="50" charset="-127"/>
              </a:rPr>
              <a:t>를 넣으면 </a:t>
            </a:r>
            <a:r>
              <a:rPr kumimoji="1" lang="ko-KR" altLang="en-US" sz="1400" dirty="0" err="1">
                <a:latin typeface="굴림" pitchFamily="50" charset="-127"/>
                <a:ea typeface="굴림" pitchFamily="50" charset="-127"/>
              </a:rPr>
              <a:t>라떼머신이</a:t>
            </a:r>
            <a:r>
              <a:rPr kumimoji="1" lang="ko-KR" altLang="en-US" sz="1400" dirty="0">
                <a:latin typeface="굴림" pitchFamily="50" charset="-127"/>
                <a:ea typeface="굴림" pitchFamily="50" charset="-127"/>
              </a:rPr>
              <a:t> 된다</a:t>
            </a:r>
            <a:r>
              <a:rPr kumimoji="1" lang="en-US" altLang="ko-KR" sz="1400" dirty="0">
                <a:latin typeface="굴림" pitchFamily="50" charset="-127"/>
                <a:ea typeface="굴림" pitchFamily="50" charset="-127"/>
              </a:rPr>
              <a:t>.</a:t>
            </a:r>
          </a:p>
          <a:p>
            <a:pPr marL="171450" marR="0" indent="-17145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1" lang="ko-KR" altLang="en-US" sz="1400" dirty="0">
                <a:latin typeface="굴림" pitchFamily="50" charset="-127"/>
                <a:ea typeface="굴림" pitchFamily="50" charset="-127"/>
              </a:rPr>
              <a:t>두 개의 인자 </a:t>
            </a:r>
            <a:r>
              <a:rPr kumimoji="1" lang="en-US" altLang="ko-KR" sz="1400" dirty="0">
                <a:latin typeface="굴림" pitchFamily="50" charset="-127"/>
                <a:ea typeface="굴림" pitchFamily="50" charset="-127"/>
              </a:rPr>
              <a:t>liquid, espresso </a:t>
            </a:r>
            <a:r>
              <a:rPr kumimoji="1" lang="ko-KR" altLang="en-US" sz="1400" dirty="0">
                <a:latin typeface="굴림" pitchFamily="50" charset="-127"/>
                <a:ea typeface="굴림" pitchFamily="50" charset="-127"/>
              </a:rPr>
              <a:t>중 </a:t>
            </a:r>
            <a:r>
              <a:rPr kumimoji="1" lang="en-US" altLang="ko-KR" sz="1400" dirty="0">
                <a:latin typeface="굴림" pitchFamily="50" charset="-127"/>
                <a:ea typeface="굴림" pitchFamily="50" charset="-127"/>
              </a:rPr>
              <a:t>‘water’ </a:t>
            </a:r>
            <a:r>
              <a:rPr kumimoji="1" lang="ko-KR" altLang="en-US" sz="1400" dirty="0">
                <a:latin typeface="굴림" pitchFamily="50" charset="-127"/>
                <a:ea typeface="굴림" pitchFamily="50" charset="-127"/>
              </a:rPr>
              <a:t>또는 </a:t>
            </a:r>
            <a:r>
              <a:rPr kumimoji="1" lang="en-US" altLang="ko-KR" sz="1400" dirty="0">
                <a:latin typeface="굴림" pitchFamily="50" charset="-127"/>
                <a:ea typeface="굴림" pitchFamily="50" charset="-127"/>
              </a:rPr>
              <a:t>‘milk’</a:t>
            </a:r>
            <a:r>
              <a:rPr kumimoji="1" lang="ko-KR" altLang="en-US" sz="1400" dirty="0">
                <a:latin typeface="굴림" pitchFamily="50" charset="-127"/>
                <a:ea typeface="굴림" pitchFamily="50" charset="-127"/>
              </a:rPr>
              <a:t>만 넘겼기 때문에 값을 </a:t>
            </a:r>
            <a:r>
              <a:rPr kumimoji="1" lang="ko-KR" altLang="en-US" sz="1400" dirty="0" err="1">
                <a:latin typeface="굴림" pitchFamily="50" charset="-127"/>
                <a:ea typeface="굴림" pitchFamily="50" charset="-127"/>
              </a:rPr>
              <a:t>리턴하지</a:t>
            </a:r>
            <a:r>
              <a:rPr kumimoji="1" lang="ko-KR" altLang="en-US" sz="1400" dirty="0">
                <a:latin typeface="굴림" pitchFamily="50" charset="-127"/>
                <a:ea typeface="굴림" pitchFamily="50" charset="-127"/>
              </a:rPr>
              <a:t> 않고 함수를 </a:t>
            </a:r>
            <a:r>
              <a:rPr kumimoji="1" lang="ko-KR" altLang="en-US" sz="1400" dirty="0" err="1">
                <a:latin typeface="굴림" pitchFamily="50" charset="-127"/>
                <a:ea typeface="굴림" pitchFamily="50" charset="-127"/>
              </a:rPr>
              <a:t>리턴한다</a:t>
            </a:r>
            <a:r>
              <a:rPr kumimoji="1" lang="en-US" altLang="ko-KR" sz="1400" dirty="0">
                <a:latin typeface="굴림" pitchFamily="50" charset="-127"/>
                <a:ea typeface="굴림" pitchFamily="50" charset="-127"/>
              </a:rPr>
              <a:t>.</a:t>
            </a:r>
          </a:p>
          <a:p>
            <a:pPr marL="171450" marR="0" indent="-17145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1" lang="ko-KR" altLang="en-US" sz="1400" dirty="0">
                <a:latin typeface="굴림" pitchFamily="50" charset="-127"/>
                <a:ea typeface="굴림" pitchFamily="50" charset="-127"/>
              </a:rPr>
              <a:t> </a:t>
            </a:r>
            <a:r>
              <a:rPr kumimoji="1" lang="en-US" altLang="ko-KR" sz="1400" dirty="0" err="1">
                <a:latin typeface="굴림" pitchFamily="50" charset="-127"/>
                <a:ea typeface="굴림" pitchFamily="50" charset="-127"/>
              </a:rPr>
              <a:t>americano</a:t>
            </a:r>
            <a:r>
              <a:rPr kumimoji="1" lang="ko-KR" altLang="en-US" sz="1400" dirty="0">
                <a:latin typeface="굴림" pitchFamily="50" charset="-127"/>
                <a:ea typeface="굴림" pitchFamily="50" charset="-127"/>
              </a:rPr>
              <a:t>와 </a:t>
            </a:r>
            <a:r>
              <a:rPr kumimoji="1" lang="en-US" altLang="ko-KR" sz="1400" dirty="0">
                <a:latin typeface="굴림" pitchFamily="50" charset="-127"/>
                <a:ea typeface="굴림" pitchFamily="50" charset="-127"/>
              </a:rPr>
              <a:t>latte</a:t>
            </a:r>
            <a:r>
              <a:rPr kumimoji="1" lang="ko-KR" altLang="en-US" sz="1400" dirty="0">
                <a:latin typeface="굴림" pitchFamily="50" charset="-127"/>
                <a:ea typeface="굴림" pitchFamily="50" charset="-127"/>
              </a:rPr>
              <a:t>는 함수가 아니고 값이다</a:t>
            </a:r>
            <a:r>
              <a:rPr kumimoji="1" lang="en-US" altLang="ko-KR" sz="1400" dirty="0">
                <a:latin typeface="굴림" pitchFamily="50" charset="-127"/>
                <a:ea typeface="굴림" pitchFamily="50" charset="-127"/>
              </a:rPr>
              <a:t>. </a:t>
            </a:r>
          </a:p>
          <a:p>
            <a:pPr marL="171450" marR="0" indent="-17145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1" lang="ko-KR" altLang="en-US" sz="1400" dirty="0">
                <a:latin typeface="굴림" pitchFamily="50" charset="-127"/>
                <a:ea typeface="굴림" pitchFamily="50" charset="-127"/>
              </a:rPr>
              <a:t>앞에서 선언한 </a:t>
            </a:r>
            <a:r>
              <a:rPr kumimoji="1" lang="en-US" altLang="ko-KR" sz="1400" dirty="0" err="1">
                <a:latin typeface="굴림" pitchFamily="50" charset="-127"/>
                <a:ea typeface="굴림" pitchFamily="50" charset="-127"/>
              </a:rPr>
              <a:t>americanoMachine</a:t>
            </a:r>
            <a:r>
              <a:rPr kumimoji="1" lang="en-US" altLang="ko-KR" sz="1400" dirty="0">
                <a:latin typeface="굴림" pitchFamily="50" charset="-127"/>
                <a:ea typeface="굴림" pitchFamily="50" charset="-127"/>
              </a:rPr>
              <a:t>(</a:t>
            </a:r>
            <a:r>
              <a:rPr kumimoji="1" lang="en-US" altLang="ko-KR" sz="1400" dirty="0" err="1">
                <a:latin typeface="굴림" pitchFamily="50" charset="-127"/>
                <a:ea typeface="굴림" pitchFamily="50" charset="-127"/>
              </a:rPr>
              <a:t>latteMachine</a:t>
            </a:r>
            <a:r>
              <a:rPr kumimoji="1" lang="en-US" altLang="ko-KR" sz="1400" dirty="0">
                <a:latin typeface="굴림" pitchFamily="50" charset="-127"/>
                <a:ea typeface="굴림" pitchFamily="50" charset="-127"/>
              </a:rPr>
              <a:t>)</a:t>
            </a:r>
            <a:r>
              <a:rPr kumimoji="1" lang="ko-KR" altLang="en-US" sz="1400" dirty="0">
                <a:latin typeface="굴림" pitchFamily="50" charset="-127"/>
                <a:ea typeface="굴림" pitchFamily="50" charset="-127"/>
              </a:rPr>
              <a:t>에 </a:t>
            </a:r>
            <a:r>
              <a:rPr kumimoji="1" lang="en-US" altLang="ko-KR" sz="1400" dirty="0">
                <a:latin typeface="굴림" pitchFamily="50" charset="-127"/>
                <a:ea typeface="굴림" pitchFamily="50" charset="-127"/>
              </a:rPr>
              <a:t>‘coffee bean’</a:t>
            </a:r>
            <a:r>
              <a:rPr kumimoji="1" lang="ko-KR" altLang="en-US" sz="1400" dirty="0">
                <a:latin typeface="굴림" pitchFamily="50" charset="-127"/>
                <a:ea typeface="굴림" pitchFamily="50" charset="-127"/>
              </a:rPr>
              <a:t>을 넘겨서 미리 넣어놓은 </a:t>
            </a:r>
            <a:r>
              <a:rPr kumimoji="1" lang="en-US" altLang="ko-KR" sz="1400" dirty="0">
                <a:latin typeface="굴림" pitchFamily="50" charset="-127"/>
                <a:ea typeface="굴림" pitchFamily="50" charset="-127"/>
              </a:rPr>
              <a:t>‘water(milk)’</a:t>
            </a:r>
            <a:r>
              <a:rPr kumimoji="1" lang="ko-KR" altLang="en-US" sz="1400" dirty="0">
                <a:latin typeface="굴림" pitchFamily="50" charset="-127"/>
                <a:ea typeface="굴림" pitchFamily="50" charset="-127"/>
              </a:rPr>
              <a:t>와 합쳐 </a:t>
            </a:r>
            <a:r>
              <a:rPr kumimoji="1" lang="ko-KR" altLang="en-US" sz="1400" dirty="0" err="1">
                <a:latin typeface="굴림" pitchFamily="50" charset="-127"/>
                <a:ea typeface="굴림" pitchFamily="50" charset="-127"/>
              </a:rPr>
              <a:t>아메리카노</a:t>
            </a:r>
            <a:r>
              <a:rPr kumimoji="1" lang="en-US" altLang="ko-KR" sz="1400" dirty="0">
                <a:latin typeface="굴림" pitchFamily="50" charset="-127"/>
                <a:ea typeface="굴림" pitchFamily="50" charset="-127"/>
              </a:rPr>
              <a:t>(</a:t>
            </a:r>
            <a:r>
              <a:rPr kumimoji="1" lang="ko-KR" altLang="en-US" sz="1400" dirty="0" err="1">
                <a:latin typeface="굴림" pitchFamily="50" charset="-127"/>
                <a:ea typeface="굴림" pitchFamily="50" charset="-127"/>
              </a:rPr>
              <a:t>라떼</a:t>
            </a:r>
            <a:r>
              <a:rPr kumimoji="1" lang="en-US" altLang="ko-KR" sz="1400" dirty="0">
                <a:latin typeface="굴림" pitchFamily="50" charset="-127"/>
                <a:ea typeface="굴림" pitchFamily="50" charset="-127"/>
              </a:rPr>
              <a:t>)</a:t>
            </a:r>
            <a:r>
              <a:rPr kumimoji="1" lang="ko-KR" altLang="en-US" sz="1400" dirty="0">
                <a:latin typeface="굴림" pitchFamily="50" charset="-127"/>
                <a:ea typeface="굴림" pitchFamily="50" charset="-127"/>
              </a:rPr>
              <a:t>를 만든다</a:t>
            </a:r>
            <a:r>
              <a:rPr kumimoji="1" lang="en-US" altLang="ko-KR" sz="1400" dirty="0">
                <a:latin typeface="굴림" pitchFamily="50" charset="-127"/>
                <a:ea typeface="굴림" pitchFamily="50" charset="-127"/>
              </a:rPr>
              <a:t>.</a:t>
            </a:r>
            <a:endParaRPr kumimoji="1" lang="ko-KR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cxnSp>
        <p:nvCxnSpPr>
          <p:cNvPr id="9" name="직선 화살표 연결선 8"/>
          <p:cNvCxnSpPr/>
          <p:nvPr/>
        </p:nvCxnSpPr>
        <p:spPr bwMode="auto">
          <a:xfrm flipH="1" flipV="1">
            <a:off x="3497121" y="3067050"/>
            <a:ext cx="1170129" cy="304800"/>
          </a:xfrm>
          <a:prstGeom prst="straightConnector1">
            <a:avLst/>
          </a:prstGeom>
          <a:noFill/>
          <a:ln w="9525" cap="flat" cmpd="sng" algn="ctr">
            <a:solidFill>
              <a:srgbClr val="F8F8F8"/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직선 화살표 연결선 10"/>
          <p:cNvCxnSpPr/>
          <p:nvPr/>
        </p:nvCxnSpPr>
        <p:spPr bwMode="auto">
          <a:xfrm flipH="1" flipV="1">
            <a:off x="3333750" y="3143250"/>
            <a:ext cx="876300" cy="428625"/>
          </a:xfrm>
          <a:prstGeom prst="straightConnector1">
            <a:avLst/>
          </a:prstGeom>
          <a:noFill/>
          <a:ln w="9525" cap="flat" cmpd="sng" algn="ctr">
            <a:solidFill>
              <a:srgbClr val="F8F8F8"/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407008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커링 </a:t>
            </a:r>
            <a:r>
              <a:rPr lang="en-US" altLang="ko-KR" dirty="0" err="1"/>
              <a:t>curring</a:t>
            </a:r>
            <a:r>
              <a:rPr lang="en-US" altLang="ko-KR" dirty="0"/>
              <a:t> </a:t>
            </a:r>
            <a:r>
              <a:rPr lang="ko-KR" altLang="en-US" dirty="0"/>
              <a:t>예제 </a:t>
            </a:r>
            <a:r>
              <a:rPr lang="ko-KR" altLang="en-US" dirty="0">
                <a:latin typeface="굴림" panose="020B0600000101010101" pitchFamily="34" charset="-127"/>
                <a:ea typeface="굴림" panose="020B0600000101010101" pitchFamily="34" charset="-127"/>
              </a:rPr>
              <a:t>②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95445" y="1152525"/>
            <a:ext cx="11130293" cy="5112199"/>
          </a:xfrm>
        </p:spPr>
        <p:txBody>
          <a:bodyPr/>
          <a:lstStyle/>
          <a:p>
            <a:r>
              <a:rPr lang="ko-KR" altLang="en-US" sz="2400" dirty="0" err="1"/>
              <a:t>커링함수를</a:t>
            </a:r>
            <a:r>
              <a:rPr lang="ko-KR" altLang="en-US" sz="2400" dirty="0"/>
              <a:t> 이용해 파일을 읽어와 출력하는 예제</a:t>
            </a:r>
            <a:endParaRPr lang="en-US" altLang="ko-KR" sz="2400" dirty="0"/>
          </a:p>
          <a:p>
            <a:pPr marL="216000"/>
            <a:endParaRPr lang="en-US" altLang="ko-KR" sz="2400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sz="2000" dirty="0"/>
              <a:t>결과</a:t>
            </a: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/>
              <a:t> </a:t>
            </a:r>
            <a:r>
              <a:rPr lang="en-US" altLang="ko-KR" sz="1400" dirty="0"/>
              <a:t>{ “name”:  “nodejs_example_200”,</a:t>
            </a:r>
          </a:p>
          <a:p>
            <a:pPr marL="0" indent="0">
              <a:buNone/>
            </a:pPr>
            <a:r>
              <a:rPr lang="en-US" altLang="ko-KR" sz="1400" dirty="0"/>
              <a:t>    “version”: “1.0.0”,</a:t>
            </a:r>
          </a:p>
          <a:p>
            <a:pPr marL="0" indent="0">
              <a:buNone/>
            </a:pPr>
            <a:r>
              <a:rPr lang="en-US" altLang="ko-KR" sz="1400" dirty="0"/>
              <a:t>    “description”:  “”,</a:t>
            </a:r>
          </a:p>
          <a:p>
            <a:pPr marL="0" indent="0">
              <a:buNone/>
            </a:pPr>
            <a:r>
              <a:rPr lang="en-US" altLang="ko-KR" sz="1400" dirty="0"/>
              <a:t>    “main”:  “index.js”,</a:t>
            </a:r>
          </a:p>
          <a:p>
            <a:pPr marL="0" indent="0">
              <a:buNone/>
            </a:pPr>
            <a:r>
              <a:rPr lang="en-US" altLang="ko-KR" sz="1400" dirty="0"/>
              <a:t>    “dependencies”: {</a:t>
            </a:r>
          </a:p>
          <a:p>
            <a:pPr marL="0" indent="0">
              <a:buNone/>
            </a:pPr>
            <a:r>
              <a:rPr lang="en-US" altLang="ko-KR" sz="1400" dirty="0"/>
              <a:t>    … </a:t>
            </a:r>
            <a:r>
              <a:rPr lang="ko-KR" altLang="en-US" sz="1400" dirty="0"/>
              <a:t>중략 </a:t>
            </a:r>
            <a:r>
              <a:rPr lang="en-US" altLang="ko-KR" sz="1400" dirty="0"/>
              <a:t>…</a:t>
            </a:r>
          </a:p>
          <a:p>
            <a:pPr marL="0" indent="0">
              <a:buNone/>
            </a:pPr>
            <a:r>
              <a:rPr lang="en-US" altLang="ko-KR" sz="1400" dirty="0"/>
              <a:t>    console.log(latte);</a:t>
            </a:r>
            <a:endParaRPr lang="ko-KR" altLang="en-US" sz="1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10</a:t>
            </a:fld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92" y="1581150"/>
            <a:ext cx="6923474" cy="2457450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 bwMode="auto">
          <a:xfrm>
            <a:off x="7574813" y="1581150"/>
            <a:ext cx="4246307" cy="344709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R="0" indent="-18000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1" lang="en-US" altLang="ko-KR" sz="1600" b="1" dirty="0">
                <a:latin typeface="굴림" pitchFamily="50" charset="-127"/>
                <a:ea typeface="굴림" pitchFamily="50" charset="-127"/>
              </a:rPr>
              <a:t>openFileAndPrint</a:t>
            </a:r>
            <a:r>
              <a:rPr kumimoji="1" lang="ko-KR" altLang="en-US" sz="1600" dirty="0">
                <a:latin typeface="굴림" pitchFamily="50" charset="-127"/>
                <a:ea typeface="굴림" pitchFamily="50" charset="-127"/>
              </a:rPr>
              <a:t>는 </a:t>
            </a:r>
            <a:r>
              <a:rPr kumimoji="1" lang="en-US" altLang="ko-KR" sz="1600" dirty="0">
                <a:latin typeface="굴림" pitchFamily="50" charset="-127"/>
                <a:ea typeface="굴림" pitchFamily="50" charset="-127"/>
              </a:rPr>
              <a:t>path</a:t>
            </a:r>
            <a:r>
              <a:rPr kumimoji="1" lang="ko-KR" altLang="en-US" sz="1600" dirty="0">
                <a:latin typeface="굴림" pitchFamily="50" charset="-127"/>
                <a:ea typeface="굴림" pitchFamily="50" charset="-127"/>
              </a:rPr>
              <a:t>와 </a:t>
            </a:r>
            <a:r>
              <a:rPr kumimoji="1" lang="en-US" altLang="ko-KR" sz="1600" dirty="0">
                <a:latin typeface="굴림" pitchFamily="50" charset="-127"/>
                <a:ea typeface="굴림" pitchFamily="50" charset="-127"/>
              </a:rPr>
              <a:t>filename</a:t>
            </a:r>
            <a:r>
              <a:rPr kumimoji="1" lang="ko-KR" altLang="en-US" sz="1600" dirty="0">
                <a:latin typeface="굴림" pitchFamily="50" charset="-127"/>
                <a:ea typeface="굴림" pitchFamily="50" charset="-127"/>
              </a:rPr>
              <a:t>을 </a:t>
            </a:r>
            <a:r>
              <a:rPr kumimoji="1" lang="ko-KR" altLang="en-US" sz="1600" dirty="0" err="1">
                <a:latin typeface="굴림" pitchFamily="50" charset="-127"/>
                <a:ea typeface="굴림" pitchFamily="50" charset="-127"/>
              </a:rPr>
              <a:t>파라미터로</a:t>
            </a:r>
            <a:r>
              <a:rPr kumimoji="1" lang="ko-KR" altLang="en-US" sz="1600" dirty="0">
                <a:latin typeface="굴림" pitchFamily="50" charset="-127"/>
                <a:ea typeface="굴림" pitchFamily="50" charset="-127"/>
              </a:rPr>
              <a:t> 넘기는 </a:t>
            </a:r>
            <a:r>
              <a:rPr kumimoji="1" lang="ko-KR" altLang="en-US" sz="1600" dirty="0" err="1">
                <a:latin typeface="굴림" pitchFamily="50" charset="-127"/>
                <a:ea typeface="굴림" pitchFamily="50" charset="-127"/>
              </a:rPr>
              <a:t>커링함수이다</a:t>
            </a:r>
            <a:r>
              <a:rPr kumimoji="1" lang="en-US" altLang="ko-KR" sz="1600" dirty="0">
                <a:latin typeface="굴림" pitchFamily="50" charset="-127"/>
                <a:ea typeface="굴림" pitchFamily="50" charset="-127"/>
              </a:rPr>
              <a:t>.</a:t>
            </a:r>
          </a:p>
          <a:p>
            <a:pPr marR="0" indent="-18000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1" lang="en-US" altLang="ko-KR" sz="1600" b="1" dirty="0" err="1">
                <a:latin typeface="굴림" pitchFamily="50" charset="-127"/>
                <a:ea typeface="굴림" pitchFamily="50" charset="-127"/>
              </a:rPr>
              <a:t>thisDirOpenFileAndPring</a:t>
            </a:r>
            <a:r>
              <a:rPr kumimoji="1" lang="ko-KR" altLang="en-US" sz="1600" dirty="0">
                <a:latin typeface="굴림" pitchFamily="50" charset="-127"/>
                <a:ea typeface="굴림" pitchFamily="50" charset="-127"/>
              </a:rPr>
              <a:t>는 위에서 정의한 </a:t>
            </a:r>
            <a:r>
              <a:rPr kumimoji="1" lang="ko-KR" altLang="en-US" sz="1600" dirty="0" err="1">
                <a:latin typeface="굴림" pitchFamily="50" charset="-127"/>
                <a:ea typeface="굴림" pitchFamily="50" charset="-127"/>
              </a:rPr>
              <a:t>커링함수</a:t>
            </a:r>
            <a:r>
              <a:rPr kumimoji="1" lang="ko-KR" altLang="en-US" sz="1600" dirty="0">
                <a:latin typeface="굴림" pitchFamily="50" charset="-127"/>
                <a:ea typeface="굴림" pitchFamily="50" charset="-127"/>
              </a:rPr>
              <a:t> </a:t>
            </a:r>
            <a:r>
              <a:rPr kumimoji="1" lang="en-US" altLang="ko-KR" sz="1600" dirty="0">
                <a:latin typeface="굴림" pitchFamily="50" charset="-127"/>
                <a:ea typeface="굴림" pitchFamily="50" charset="-127"/>
              </a:rPr>
              <a:t>openFileAndPrint</a:t>
            </a:r>
            <a:r>
              <a:rPr kumimoji="1" lang="ko-KR" altLang="en-US" sz="1600" dirty="0">
                <a:latin typeface="굴림" pitchFamily="50" charset="-127"/>
                <a:ea typeface="굴림" pitchFamily="50" charset="-127"/>
              </a:rPr>
              <a:t>로 현재 위치를 나타내는 </a:t>
            </a:r>
            <a:r>
              <a:rPr kumimoji="1" lang="en-US" altLang="ko-KR" sz="1600" dirty="0">
                <a:latin typeface="굴림" pitchFamily="50" charset="-127"/>
                <a:ea typeface="굴림" pitchFamily="50" charset="-127"/>
              </a:rPr>
              <a:t>“/”</a:t>
            </a:r>
            <a:r>
              <a:rPr kumimoji="1" lang="ko-KR" altLang="en-US" sz="1600" dirty="0">
                <a:latin typeface="굴림" pitchFamily="50" charset="-127"/>
                <a:ea typeface="굴림" pitchFamily="50" charset="-127"/>
              </a:rPr>
              <a:t>을 </a:t>
            </a:r>
            <a:r>
              <a:rPr kumimoji="1" lang="ko-KR" altLang="en-US" sz="1600" dirty="0" err="1">
                <a:latin typeface="굴림" pitchFamily="50" charset="-127"/>
                <a:ea typeface="굴림" pitchFamily="50" charset="-127"/>
              </a:rPr>
              <a:t>파라미터로</a:t>
            </a:r>
            <a:r>
              <a:rPr kumimoji="1" lang="ko-KR" altLang="en-US" sz="1600" dirty="0">
                <a:latin typeface="굴림" pitchFamily="50" charset="-127"/>
                <a:ea typeface="굴림" pitchFamily="50" charset="-127"/>
              </a:rPr>
              <a:t> 받아 </a:t>
            </a:r>
            <a:r>
              <a:rPr kumimoji="1" lang="en-US" altLang="ko-KR" sz="1600" dirty="0" err="1">
                <a:latin typeface="굴림" pitchFamily="50" charset="-127"/>
                <a:ea typeface="굴림" pitchFamily="50" charset="-127"/>
              </a:rPr>
              <a:t>fs.readFile</a:t>
            </a:r>
            <a:r>
              <a:rPr kumimoji="1" lang="en-US" altLang="ko-KR" sz="1600" dirty="0">
                <a:latin typeface="굴림" pitchFamily="50" charset="-127"/>
                <a:ea typeface="굴림" pitchFamily="50" charset="-127"/>
              </a:rPr>
              <a:t>(./+filename, (</a:t>
            </a:r>
            <a:r>
              <a:rPr kumimoji="1" lang="en-US" altLang="ko-KR" sz="1600" dirty="0" err="1">
                <a:latin typeface="굴림" pitchFamily="50" charset="-127"/>
                <a:ea typeface="굴림" pitchFamily="50" charset="-127"/>
              </a:rPr>
              <a:t>err,data</a:t>
            </a:r>
            <a:r>
              <a:rPr kumimoji="1" lang="en-US" altLang="ko-KR" sz="1600" dirty="0">
                <a:latin typeface="굴림" pitchFamily="50" charset="-127"/>
                <a:ea typeface="굴림" pitchFamily="50" charset="-127"/>
              </a:rPr>
              <a:t>) =&gt;{ } </a:t>
            </a:r>
            <a:r>
              <a:rPr kumimoji="1" lang="ko-KR" altLang="en-US" sz="1600" dirty="0">
                <a:latin typeface="굴림" pitchFamily="50" charset="-127"/>
                <a:ea typeface="굴림" pitchFamily="50" charset="-127"/>
              </a:rPr>
              <a:t>함수가 만들어 진다</a:t>
            </a:r>
            <a:r>
              <a:rPr kumimoji="1" lang="en-US" altLang="ko-KR" sz="1600" dirty="0">
                <a:latin typeface="굴림" pitchFamily="50" charset="-127"/>
                <a:ea typeface="굴림" pitchFamily="50" charset="-127"/>
              </a:rPr>
              <a:t>.</a:t>
            </a:r>
          </a:p>
          <a:p>
            <a:pPr indent="-180000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ko-KR" sz="1600" b="1" dirty="0" err="1">
                <a:latin typeface="굴림" pitchFamily="50" charset="-127"/>
                <a:ea typeface="굴림" pitchFamily="50" charset="-127"/>
              </a:rPr>
              <a:t>thisDirOpenFileAndPring</a:t>
            </a:r>
            <a:r>
              <a:rPr kumimoji="1" lang="ko-KR" altLang="en-US" sz="1600" b="1" dirty="0">
                <a:latin typeface="굴림" pitchFamily="50" charset="-127"/>
                <a:ea typeface="굴림" pitchFamily="50" charset="-127"/>
              </a:rPr>
              <a:t>에 </a:t>
            </a:r>
            <a:r>
              <a:rPr kumimoji="1" lang="en-US" altLang="ko-KR" sz="1600" dirty="0">
                <a:latin typeface="굴림" pitchFamily="50" charset="-127"/>
                <a:ea typeface="굴림" pitchFamily="50" charset="-127"/>
              </a:rPr>
              <a:t>‘104_curring_example.js’</a:t>
            </a:r>
            <a:r>
              <a:rPr kumimoji="1" lang="ko-KR" altLang="en-US" sz="1600" dirty="0">
                <a:latin typeface="굴림" pitchFamily="50" charset="-127"/>
                <a:ea typeface="굴림" pitchFamily="50" charset="-127"/>
              </a:rPr>
              <a:t>파일명을 넘겨주면 </a:t>
            </a:r>
            <a:r>
              <a:rPr kumimoji="1" lang="en-US" altLang="ko-KR" sz="1600" dirty="0" err="1">
                <a:latin typeface="굴림" pitchFamily="50" charset="-127"/>
                <a:ea typeface="굴림" pitchFamily="50" charset="-127"/>
              </a:rPr>
              <a:t>fs.readFile</a:t>
            </a:r>
            <a:r>
              <a:rPr kumimoji="1" lang="en-US" altLang="ko-KR" sz="1600" dirty="0">
                <a:latin typeface="굴림" pitchFamily="50" charset="-127"/>
                <a:ea typeface="굴림" pitchFamily="50" charset="-127"/>
              </a:rPr>
              <a:t>(./+104_curring_example.js, (</a:t>
            </a:r>
            <a:r>
              <a:rPr kumimoji="1" lang="en-US" altLang="ko-KR" sz="1600" dirty="0" err="1">
                <a:latin typeface="굴림" pitchFamily="50" charset="-127"/>
                <a:ea typeface="굴림" pitchFamily="50" charset="-127"/>
              </a:rPr>
              <a:t>err,data</a:t>
            </a:r>
            <a:r>
              <a:rPr kumimoji="1" lang="en-US" altLang="ko-KR" sz="1600" dirty="0">
                <a:latin typeface="굴림" pitchFamily="50" charset="-127"/>
                <a:ea typeface="굴림" pitchFamily="50" charset="-127"/>
              </a:rPr>
              <a:t>) =&gt;{</a:t>
            </a:r>
            <a:r>
              <a:rPr kumimoji="1" lang="ko-KR" altLang="en-US" sz="1600" dirty="0" err="1">
                <a:latin typeface="굴림" pitchFamily="50" charset="-127"/>
                <a:ea typeface="굴림" pitchFamily="50" charset="-127"/>
              </a:rPr>
              <a:t>내용생략</a:t>
            </a:r>
            <a:r>
              <a:rPr kumimoji="1" lang="en-US" altLang="ko-KR" sz="1600" dirty="0">
                <a:latin typeface="굴림" pitchFamily="50" charset="-127"/>
                <a:ea typeface="굴림" pitchFamily="50" charset="-127"/>
              </a:rPr>
              <a:t>} </a:t>
            </a:r>
            <a:r>
              <a:rPr kumimoji="1" lang="ko-KR" altLang="en-US" sz="1600" dirty="0">
                <a:latin typeface="굴림" pitchFamily="50" charset="-127"/>
                <a:ea typeface="굴림" pitchFamily="50" charset="-127"/>
              </a:rPr>
              <a:t>으로 바뀌어 </a:t>
            </a:r>
            <a:r>
              <a:rPr kumimoji="1" lang="en-US" altLang="ko-KR" sz="1600" dirty="0" err="1">
                <a:latin typeface="굴림" pitchFamily="50" charset="-127"/>
                <a:ea typeface="굴림" pitchFamily="50" charset="-127"/>
              </a:rPr>
              <a:t>fs.readFile</a:t>
            </a:r>
            <a:r>
              <a:rPr kumimoji="1" lang="en-US" altLang="ko-KR" sz="1600" dirty="0">
                <a:latin typeface="굴림" pitchFamily="50" charset="-127"/>
                <a:ea typeface="굴림" pitchFamily="50" charset="-127"/>
              </a:rPr>
              <a:t> </a:t>
            </a:r>
            <a:r>
              <a:rPr kumimoji="1" lang="ko-KR" altLang="en-US" sz="1600" dirty="0">
                <a:latin typeface="굴림" pitchFamily="50" charset="-127"/>
                <a:ea typeface="굴림" pitchFamily="50" charset="-127"/>
              </a:rPr>
              <a:t>함수를 실행해 데이터를 읽어 온다</a:t>
            </a:r>
            <a:r>
              <a:rPr kumimoji="1" lang="en-US" altLang="ko-KR" sz="1600" dirty="0">
                <a:latin typeface="굴림" pitchFamily="50" charset="-127"/>
                <a:ea typeface="굴림" pitchFamily="50" charset="-127"/>
              </a:rPr>
              <a:t>.</a:t>
            </a:r>
            <a:endParaRPr kumimoji="1" lang="ko-KR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28941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filter( ) </a:t>
            </a:r>
            <a:r>
              <a:rPr lang="ko-KR" altLang="en-US" dirty="0"/>
              <a:t>함수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배열에서 특정 조건을 가진 데이터 또는 </a:t>
            </a:r>
            <a:r>
              <a:rPr lang="en-US" altLang="ko-KR" dirty="0"/>
              <a:t>object</a:t>
            </a:r>
            <a:r>
              <a:rPr lang="ko-KR" altLang="en-US" dirty="0"/>
              <a:t>를 추출할 때 사용</a:t>
            </a:r>
            <a:endParaRPr lang="en-US" altLang="ko-KR" dirty="0"/>
          </a:p>
          <a:p>
            <a:r>
              <a:rPr lang="en-US" altLang="ko-KR" dirty="0"/>
              <a:t>.filter(item =&gt;</a:t>
            </a:r>
            <a:r>
              <a:rPr lang="ko-KR" altLang="en-US" dirty="0"/>
              <a:t>조건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11</a:t>
            </a:fld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4" y="2301998"/>
            <a:ext cx="6952888" cy="3393952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 bwMode="auto">
          <a:xfrm>
            <a:off x="8077200" y="2983304"/>
            <a:ext cx="3114675" cy="132343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R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rPr>
              <a:t>filter() </a:t>
            </a:r>
            <a:r>
              <a:rPr kumimoji="1" lang="ko-KR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rPr>
              <a:t>함수를 이용해 </a:t>
            </a:r>
            <a:endParaRPr kumimoji="1" lang="en-US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  <a:p>
            <a:pPr marL="171450" marR="0" indent="-17145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1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rPr>
              <a:t>수학점수가 </a:t>
            </a:r>
            <a:r>
              <a:rPr kumimoji="1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rPr>
              <a:t>80</a:t>
            </a:r>
            <a:r>
              <a:rPr kumimoji="1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rPr>
              <a:t>점보다 큰 학생</a:t>
            </a:r>
            <a:endParaRPr kumimoji="1" lang="en-US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  <a:p>
            <a:pPr marL="171450" marR="0" indent="-17145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1" lang="ko-KR" altLang="en-US" sz="1600" dirty="0">
                <a:latin typeface="굴림" pitchFamily="50" charset="-127"/>
                <a:ea typeface="굴림" pitchFamily="50" charset="-127"/>
              </a:rPr>
              <a:t>수학점수가 </a:t>
            </a:r>
            <a:r>
              <a:rPr kumimoji="1" lang="en-US" altLang="ko-KR" sz="1600" dirty="0">
                <a:latin typeface="굴림" pitchFamily="50" charset="-127"/>
                <a:ea typeface="굴림" pitchFamily="50" charset="-127"/>
              </a:rPr>
              <a:t>90</a:t>
            </a:r>
            <a:r>
              <a:rPr kumimoji="1" lang="ko-KR" altLang="en-US" sz="1600" dirty="0">
                <a:latin typeface="굴림" pitchFamily="50" charset="-127"/>
                <a:ea typeface="굴림" pitchFamily="50" charset="-127"/>
              </a:rPr>
              <a:t>점 이상</a:t>
            </a:r>
            <a:r>
              <a:rPr kumimoji="1" lang="en-US" altLang="ko-KR" sz="1600" dirty="0">
                <a:latin typeface="굴림" pitchFamily="50" charset="-127"/>
                <a:ea typeface="굴림" pitchFamily="50" charset="-127"/>
              </a:rPr>
              <a:t>, </a:t>
            </a:r>
            <a:r>
              <a:rPr kumimoji="1" lang="ko-KR" altLang="en-US" sz="1600" dirty="0">
                <a:latin typeface="굴림" pitchFamily="50" charset="-127"/>
                <a:ea typeface="굴림" pitchFamily="50" charset="-127"/>
              </a:rPr>
              <a:t>영어점수가 </a:t>
            </a:r>
            <a:r>
              <a:rPr kumimoji="1" lang="en-US" altLang="ko-KR" sz="1600" dirty="0">
                <a:latin typeface="굴림" pitchFamily="50" charset="-127"/>
                <a:ea typeface="굴림" pitchFamily="50" charset="-127"/>
              </a:rPr>
              <a:t>70</a:t>
            </a:r>
            <a:r>
              <a:rPr kumimoji="1" lang="ko-KR" altLang="en-US" sz="1600" dirty="0">
                <a:latin typeface="굴림" pitchFamily="50" charset="-127"/>
                <a:ea typeface="굴림" pitchFamily="50" charset="-127"/>
              </a:rPr>
              <a:t>점 보다 큰 학생</a:t>
            </a:r>
            <a:endParaRPr kumimoji="1" lang="en-US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  <a:p>
            <a:pPr marL="171450" marR="0" indent="-17145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1" lang="ko-KR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11975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map() </a:t>
            </a:r>
            <a:r>
              <a:rPr lang="ko-KR" altLang="en-US" dirty="0"/>
              <a:t>함수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.map() </a:t>
            </a:r>
            <a:r>
              <a:rPr lang="ko-KR" altLang="en-US" dirty="0"/>
              <a:t>함수는 배열</a:t>
            </a:r>
            <a:r>
              <a:rPr lang="en-US" altLang="ko-KR" dirty="0"/>
              <a:t>(array)</a:t>
            </a:r>
            <a:r>
              <a:rPr lang="ko-KR" altLang="en-US" dirty="0"/>
              <a:t>에 있는 모든 </a:t>
            </a:r>
            <a:r>
              <a:rPr lang="en-US" altLang="ko-KR" dirty="0"/>
              <a:t>item</a:t>
            </a:r>
            <a:r>
              <a:rPr lang="ko-KR" altLang="en-US" dirty="0"/>
              <a:t>에 </a:t>
            </a:r>
            <a:r>
              <a:rPr lang="en-US" altLang="ko-KR" dirty="0"/>
              <a:t>.map(function)</a:t>
            </a:r>
            <a:r>
              <a:rPr lang="ko-KR" altLang="en-US" dirty="0"/>
              <a:t>함수의 </a:t>
            </a:r>
            <a:r>
              <a:rPr lang="ko-KR" altLang="en-US" dirty="0" err="1"/>
              <a:t>파라미터로</a:t>
            </a:r>
            <a:r>
              <a:rPr lang="ko-KR" altLang="en-US" dirty="0"/>
              <a:t> 받은 </a:t>
            </a:r>
            <a:r>
              <a:rPr lang="en-US" altLang="ko-KR" dirty="0"/>
              <a:t>function</a:t>
            </a:r>
            <a:r>
              <a:rPr lang="ko-KR" altLang="en-US" dirty="0"/>
              <a:t>를 적용시킨 배열</a:t>
            </a:r>
            <a:r>
              <a:rPr lang="en-US" altLang="ko-KR" dirty="0"/>
              <a:t>(array)</a:t>
            </a:r>
            <a:r>
              <a:rPr lang="ko-KR" altLang="en-US" dirty="0"/>
              <a:t>을 </a:t>
            </a:r>
            <a:r>
              <a:rPr lang="ko-KR" altLang="en-US" dirty="0" err="1"/>
              <a:t>리턴한다</a:t>
            </a:r>
            <a:r>
              <a:rPr lang="en-US" altLang="ko-KR" dirty="0"/>
              <a:t>.</a:t>
            </a:r>
          </a:p>
          <a:p>
            <a:pPr>
              <a:spcBef>
                <a:spcPts val="0"/>
              </a:spcBef>
            </a:pPr>
            <a:r>
              <a:rPr lang="en-US" altLang="ko-KR" sz="2400" dirty="0" err="1"/>
              <a:t>const</a:t>
            </a:r>
            <a:r>
              <a:rPr lang="en-US" altLang="ko-KR" sz="2400" dirty="0"/>
              <a:t> list = [1, 2, 3]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2400" dirty="0"/>
              <a:t>    </a:t>
            </a:r>
            <a:r>
              <a:rPr lang="en-US" altLang="ko-KR" sz="2400" dirty="0" err="1"/>
              <a:t>const</a:t>
            </a:r>
            <a:r>
              <a:rPr lang="en-US" altLang="ko-KR" sz="2400" dirty="0"/>
              <a:t> </a:t>
            </a:r>
            <a:r>
              <a:rPr lang="en-US" altLang="ko-KR" sz="2400" dirty="0" err="1"/>
              <a:t>multipledList</a:t>
            </a:r>
            <a:r>
              <a:rPr lang="en-US" altLang="ko-KR" sz="2400" dirty="0"/>
              <a:t> = </a:t>
            </a:r>
            <a:r>
              <a:rPr lang="en-US" altLang="ko-KR" sz="2400" dirty="0" err="1"/>
              <a:t>list.map</a:t>
            </a:r>
            <a:r>
              <a:rPr lang="en-US" altLang="ko-KR" sz="2400" dirty="0"/>
              <a:t>(</a:t>
            </a:r>
            <a:r>
              <a:rPr lang="en-US" altLang="ko-KR" sz="2400" dirty="0">
                <a:solidFill>
                  <a:srgbClr val="C00000"/>
                </a:solidFill>
              </a:rPr>
              <a:t>item =&gt;item*10</a:t>
            </a:r>
            <a:r>
              <a:rPr lang="en-US" altLang="ko-KR" sz="2400" dirty="0"/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2400" dirty="0"/>
              <a:t>    </a:t>
            </a:r>
            <a:r>
              <a:rPr lang="en-US" altLang="ko-KR" sz="2400" dirty="0" err="1"/>
              <a:t>multipledList.forEach</a:t>
            </a:r>
            <a:r>
              <a:rPr lang="en-US" altLang="ko-KR" sz="2400" dirty="0"/>
              <a:t>(item =&gt;console.log(item);</a:t>
            </a:r>
          </a:p>
          <a:p>
            <a:pPr lvl="1"/>
            <a:r>
              <a:rPr lang="en-US" altLang="ko-KR" dirty="0"/>
              <a:t>map()</a:t>
            </a:r>
            <a:r>
              <a:rPr lang="ko-KR" altLang="en-US" dirty="0"/>
              <a:t>에 전달된 </a:t>
            </a:r>
            <a:r>
              <a:rPr lang="en-US" altLang="ko-KR" dirty="0"/>
              <a:t>‘item=&gt;item*10’</a:t>
            </a:r>
            <a:r>
              <a:rPr lang="ko-KR" altLang="en-US" dirty="0"/>
              <a:t>은 함수</a:t>
            </a:r>
            <a:endParaRPr lang="en-US" altLang="ko-KR" dirty="0"/>
          </a:p>
          <a:p>
            <a:pPr lvl="1"/>
            <a:r>
              <a:rPr lang="en-US" altLang="ko-KR" dirty="0"/>
              <a:t>list</a:t>
            </a:r>
            <a:r>
              <a:rPr lang="ko-KR" altLang="en-US" dirty="0"/>
              <a:t>라는 배열 값을 하나씩 뽑아서 </a:t>
            </a:r>
            <a:r>
              <a:rPr lang="en-US" altLang="ko-KR" dirty="0"/>
              <a:t>item</a:t>
            </a:r>
            <a:r>
              <a:rPr lang="ko-KR" altLang="en-US" dirty="0"/>
              <a:t>으로 전달하고 각각을 </a:t>
            </a:r>
            <a:r>
              <a:rPr lang="en-US" altLang="ko-KR" dirty="0"/>
              <a:t>*10 </a:t>
            </a:r>
            <a:r>
              <a:rPr lang="ko-KR" altLang="en-US" dirty="0"/>
              <a:t>한 값을 생성하여 배열 형태로 </a:t>
            </a:r>
            <a:r>
              <a:rPr lang="ko-KR" altLang="en-US" dirty="0" err="1"/>
              <a:t>리턴한다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12</a:t>
            </a:fld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148" y="4425222"/>
            <a:ext cx="7755170" cy="1929396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 bwMode="auto">
          <a:xfrm>
            <a:off x="9088687" y="4414982"/>
            <a:ext cx="2694998" cy="132343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rPr>
              <a:t>listEmployee</a:t>
            </a:r>
            <a:r>
              <a:rPr kumimoji="1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rPr>
              <a:t>의 </a:t>
            </a:r>
            <a:r>
              <a:rPr kumimoji="1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rPr>
              <a:t>employee</a:t>
            </a:r>
            <a:r>
              <a:rPr kumimoji="1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rPr>
              <a:t>에 대해서 </a:t>
            </a:r>
            <a:r>
              <a:rPr kumimoji="1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rPr>
              <a:t>salary</a:t>
            </a:r>
            <a:r>
              <a:rPr kumimoji="1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rPr>
              <a:t>를 </a:t>
            </a:r>
            <a:r>
              <a:rPr kumimoji="1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rPr>
              <a:t>10% </a:t>
            </a:r>
            <a:r>
              <a:rPr kumimoji="1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rPr>
              <a:t>올린 결과를 배열로 </a:t>
            </a:r>
            <a:r>
              <a:rPr kumimoji="1" lang="ko-KR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rPr>
              <a:t>리턴해서</a:t>
            </a:r>
            <a:r>
              <a:rPr kumimoji="1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rPr>
              <a:t> </a:t>
            </a:r>
            <a:r>
              <a:rPr kumimoji="1" lang="en-US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rPr>
              <a:t>raisedSalaryList</a:t>
            </a:r>
            <a:r>
              <a:rPr kumimoji="1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rPr>
              <a:t>에 저장한다</a:t>
            </a:r>
            <a:r>
              <a:rPr kumimoji="1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rPr>
              <a:t>.</a:t>
            </a:r>
            <a:r>
              <a:rPr kumimoji="1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rPr>
              <a:t> </a:t>
            </a:r>
            <a:r>
              <a:rPr kumimoji="1" lang="en-US" altLang="ko-KR" sz="16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rPr>
              <a:t> </a:t>
            </a:r>
            <a:endParaRPr kumimoji="1" lang="ko-KR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80253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reduce() </a:t>
            </a:r>
            <a:r>
              <a:rPr lang="ko-KR" altLang="en-US" dirty="0"/>
              <a:t>함수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reduce()</a:t>
            </a:r>
            <a:r>
              <a:rPr lang="ko-KR" altLang="en-US" sz="2400" dirty="0"/>
              <a:t>함수는 해당 배열의  첫 번째 인덱스부터 마지막 인덱스까지 값에 </a:t>
            </a:r>
            <a:r>
              <a:rPr lang="ko-KR" altLang="en-US" sz="2400" dirty="0" smtClean="0"/>
              <a:t>대해 이전 반환 값을 누적 값으로 넘기면서 배열 요소를 하나씩 처리하는 함수</a:t>
            </a:r>
            <a:endParaRPr lang="en-US" altLang="ko-KR" sz="2400" dirty="0"/>
          </a:p>
          <a:p>
            <a:r>
              <a:rPr lang="en-US" altLang="ko-KR" sz="2400" dirty="0"/>
              <a:t>.reduce((</a:t>
            </a:r>
            <a:r>
              <a:rPr lang="en-US" altLang="ko-KR" sz="2400" dirty="0" err="1"/>
              <a:t>a,b</a:t>
            </a:r>
            <a:r>
              <a:rPr lang="en-US" altLang="ko-KR" sz="2400" dirty="0"/>
              <a:t>)</a:t>
            </a:r>
            <a:r>
              <a:rPr lang="ko-KR" altLang="en-US" sz="2400" dirty="0"/>
              <a:t> </a:t>
            </a:r>
            <a:r>
              <a:rPr lang="en-US" altLang="ko-KR" sz="2400" dirty="0"/>
              <a:t>=&gt;(</a:t>
            </a:r>
            <a:r>
              <a:rPr lang="en-US" altLang="ko-KR" sz="2400" dirty="0" err="1"/>
              <a:t>a+b</a:t>
            </a:r>
            <a:r>
              <a:rPr lang="en-US" altLang="ko-KR" sz="2400" dirty="0"/>
              <a:t>));</a:t>
            </a:r>
          </a:p>
          <a:p>
            <a:pPr lvl="1"/>
            <a:r>
              <a:rPr lang="en-US" altLang="ko-KR" sz="2100" dirty="0"/>
              <a:t>reduce </a:t>
            </a:r>
            <a:r>
              <a:rPr lang="ko-KR" altLang="en-US" sz="2100" dirty="0"/>
              <a:t>함수에 전달된 함수는 두 파라미터를 받아 그 </a:t>
            </a:r>
            <a:r>
              <a:rPr lang="ko-KR" altLang="en-US" sz="2100" dirty="0" smtClean="0"/>
              <a:t>합</a:t>
            </a:r>
            <a:r>
              <a:rPr lang="ko-KR" altLang="en-US" sz="2100" dirty="0" smtClean="0"/>
              <a:t>을</a:t>
            </a:r>
            <a:r>
              <a:rPr lang="ko-KR" altLang="en-US" sz="2100" dirty="0" smtClean="0"/>
              <a:t> </a:t>
            </a:r>
            <a:r>
              <a:rPr lang="ko-KR" altLang="en-US" sz="2100" dirty="0" err="1"/>
              <a:t>리턴하는</a:t>
            </a:r>
            <a:r>
              <a:rPr lang="ko-KR" altLang="en-US" sz="2100" dirty="0"/>
              <a:t> 함수</a:t>
            </a:r>
            <a:endParaRPr lang="en-US" altLang="ko-KR" sz="2100" dirty="0"/>
          </a:p>
          <a:p>
            <a:pPr lvl="1"/>
            <a:r>
              <a:rPr lang="ko-KR" altLang="en-US" sz="2100" dirty="0"/>
              <a:t>배열의 값을 하나씩 넣어 파라미터로 사용</a:t>
            </a:r>
            <a:endParaRPr lang="en-US" altLang="ko-KR" sz="2100" dirty="0"/>
          </a:p>
          <a:p>
            <a:pPr lvl="1"/>
            <a:r>
              <a:rPr lang="ko-KR" altLang="en-US" sz="2100" dirty="0"/>
              <a:t>예</a:t>
            </a:r>
            <a:r>
              <a:rPr lang="en-US" altLang="ko-KR" sz="2100" dirty="0"/>
              <a:t>) A=[</a:t>
            </a:r>
            <a:r>
              <a:rPr lang="en-US" altLang="ko-KR" sz="2100" dirty="0" err="1"/>
              <a:t>a,b,c,d</a:t>
            </a:r>
            <a:r>
              <a:rPr lang="en-US" altLang="ko-KR" sz="2100" dirty="0"/>
              <a:t>]</a:t>
            </a:r>
            <a:r>
              <a:rPr lang="ko-KR" altLang="en-US" sz="2100" dirty="0"/>
              <a:t>에 위 함수를 적용하면 </a:t>
            </a:r>
            <a:r>
              <a:rPr lang="en-US" altLang="ko-KR" sz="2100" dirty="0"/>
              <a:t>(</a:t>
            </a:r>
            <a:r>
              <a:rPr lang="en-US" altLang="ko-KR" sz="2100" dirty="0" err="1"/>
              <a:t>a,b</a:t>
            </a:r>
            <a:r>
              <a:rPr lang="en-US" altLang="ko-KR" sz="2100" dirty="0"/>
              <a:t>)=&gt;((</a:t>
            </a:r>
            <a:r>
              <a:rPr lang="en-US" altLang="ko-KR" sz="2100" dirty="0" err="1"/>
              <a:t>a+b</a:t>
            </a:r>
            <a:r>
              <a:rPr lang="en-US" altLang="ko-KR" sz="2100" dirty="0"/>
              <a:t>),c)=&gt;((</a:t>
            </a:r>
            <a:r>
              <a:rPr lang="en-US" altLang="ko-KR" sz="2100" dirty="0" err="1"/>
              <a:t>a+b+c</a:t>
            </a:r>
            <a:r>
              <a:rPr lang="en-US" altLang="ko-KR" sz="2100" dirty="0"/>
              <a:t>),d) </a:t>
            </a:r>
            <a:r>
              <a:rPr lang="ko-KR" altLang="en-US" sz="2100" dirty="0"/>
              <a:t>순으로 계산한 뒤 최종적으로 </a:t>
            </a:r>
            <a:r>
              <a:rPr lang="en-US" altLang="ko-KR" sz="2100" dirty="0" err="1"/>
              <a:t>a+b+c+d</a:t>
            </a:r>
            <a:r>
              <a:rPr lang="ko-KR" altLang="en-US" sz="2100" dirty="0"/>
              <a:t>를 </a:t>
            </a:r>
            <a:r>
              <a:rPr lang="ko-KR" altLang="en-US" sz="2100" dirty="0" err="1"/>
              <a:t>리턴한다</a:t>
            </a:r>
            <a:r>
              <a:rPr lang="en-US" altLang="ko-KR" sz="2100" dirty="0"/>
              <a:t>.</a:t>
            </a:r>
            <a:endParaRPr lang="ko-KR" altLang="en-US" sz="21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13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00D9E2A-0551-481A-B405-E01216639C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963" y="4132750"/>
            <a:ext cx="6239044" cy="18616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0E31F2B-F2CE-4B18-AF69-67F2D47D9D92}"/>
              </a:ext>
            </a:extLst>
          </p:cNvPr>
          <p:cNvSpPr txBox="1"/>
          <p:nvPr/>
        </p:nvSpPr>
        <p:spPr>
          <a:xfrm>
            <a:off x="7675323" y="4079591"/>
            <a:ext cx="260199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결과</a:t>
            </a:r>
            <a:endParaRPr lang="en-US" altLang="ko-KR" dirty="0"/>
          </a:p>
          <a:p>
            <a:r>
              <a:rPr lang="en-US" altLang="ko-KR" dirty="0"/>
              <a:t>--------------------------</a:t>
            </a:r>
          </a:p>
          <a:p>
            <a:r>
              <a:rPr lang="en-US" altLang="ko-KR" dirty="0"/>
              <a:t>sum : 150</a:t>
            </a:r>
          </a:p>
          <a:p>
            <a:r>
              <a:rPr lang="en-US" altLang="ko-KR" dirty="0" err="1"/>
              <a:t>sumWithInitValue</a:t>
            </a:r>
            <a:r>
              <a:rPr lang="en-US" altLang="ko-KR" dirty="0"/>
              <a:t> : 160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7552221" y="5552547"/>
            <a:ext cx="43156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초깃값 유무에 따라 </a:t>
            </a:r>
            <a:r>
              <a:rPr lang="en-US" altLang="ko-KR" dirty="0" smtClean="0"/>
              <a:t>1</a:t>
            </a:r>
            <a:r>
              <a:rPr lang="ko-KR" altLang="en-US" dirty="0" err="1" smtClean="0"/>
              <a:t>회차</a:t>
            </a:r>
            <a:r>
              <a:rPr lang="ko-KR" altLang="en-US" dirty="0" smtClean="0"/>
              <a:t> 요소가 달라짐</a:t>
            </a:r>
            <a:endParaRPr lang="en-US" altLang="ko-KR" dirty="0" smtClean="0"/>
          </a:p>
          <a:p>
            <a:r>
              <a:rPr lang="en-US" altLang="ko-KR" dirty="0" smtClean="0"/>
              <a:t>(</a:t>
            </a:r>
            <a:r>
              <a:rPr lang="ko-KR" altLang="en-US" dirty="0" smtClean="0"/>
              <a:t>이 경우는 </a:t>
            </a:r>
            <a:r>
              <a:rPr lang="en-US" altLang="ko-KR" dirty="0" smtClean="0"/>
              <a:t>(10, 10)</a:t>
            </a:r>
            <a:r>
              <a:rPr lang="ko-KR" altLang="en-US" dirty="0" smtClean="0"/>
              <a:t>이 됨</a:t>
            </a:r>
            <a:r>
              <a:rPr lang="en-US" altLang="ko-KR" dirty="0" smtClean="0"/>
              <a:t>)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sp>
        <p:nvSpPr>
          <p:cNvPr id="8" name="모서리가 둥근 직사각형 7"/>
          <p:cNvSpPr/>
          <p:nvPr/>
        </p:nvSpPr>
        <p:spPr bwMode="auto">
          <a:xfrm>
            <a:off x="5965322" y="4771692"/>
            <a:ext cx="1265693" cy="484026"/>
          </a:xfrm>
          <a:prstGeom prst="roundRect">
            <a:avLst/>
          </a:prstGeom>
          <a:noFill/>
          <a:ln w="952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9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cxnSp>
        <p:nvCxnSpPr>
          <p:cNvPr id="10" name="직선 화살표 연결선 9"/>
          <p:cNvCxnSpPr/>
          <p:nvPr/>
        </p:nvCxnSpPr>
        <p:spPr bwMode="auto">
          <a:xfrm>
            <a:off x="7232073" y="5279920"/>
            <a:ext cx="549505" cy="272627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398268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7862AE-426B-4BEF-912A-87AACE7D7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reduce() </a:t>
            </a:r>
            <a:r>
              <a:rPr lang="ko-KR" altLang="en-US" dirty="0"/>
              <a:t>함수 예제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D8A153-FF32-4452-8A0C-BD85645BDD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392" y="1124744"/>
            <a:ext cx="11130293" cy="5093718"/>
          </a:xfrm>
        </p:spPr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sz="1600" dirty="0"/>
          </a:p>
          <a:p>
            <a:r>
              <a:rPr lang="en-US" altLang="ko-KR" sz="2400" dirty="0"/>
              <a:t>map() </a:t>
            </a:r>
            <a:r>
              <a:rPr lang="ko-KR" altLang="en-US" sz="2400" dirty="0"/>
              <a:t>함수는 원본 데이터에서 처리 대상 데이터를 분리하여 새로운 데이터 셋을 만들어주며</a:t>
            </a:r>
            <a:r>
              <a:rPr lang="en-US" altLang="ko-KR" sz="2400" dirty="0"/>
              <a:t>, reduce() </a:t>
            </a:r>
            <a:r>
              <a:rPr lang="ko-KR" altLang="en-US" sz="2400" dirty="0"/>
              <a:t>함수는 새로운 데이터 셋을 전달된 함수를 이용하여 계산하고 결과를 추출한다</a:t>
            </a:r>
            <a:r>
              <a:rPr lang="en-US" altLang="ko-KR" sz="2400" dirty="0"/>
              <a:t>.</a:t>
            </a:r>
          </a:p>
          <a:p>
            <a:r>
              <a:rPr lang="ko-KR" altLang="en-US" sz="2400" dirty="0"/>
              <a:t>원본 데이터를 그대로 계산에 이용한다면</a:t>
            </a:r>
            <a:r>
              <a:rPr lang="en-US" altLang="ko-KR" sz="2400" dirty="0"/>
              <a:t>, </a:t>
            </a:r>
            <a:r>
              <a:rPr lang="ko-KR" altLang="en-US" sz="2400" dirty="0"/>
              <a:t>데이터에 대한 복잡한 접근</a:t>
            </a:r>
            <a:r>
              <a:rPr lang="en-US" altLang="ko-KR" sz="2400" dirty="0"/>
              <a:t>, </a:t>
            </a:r>
            <a:r>
              <a:rPr lang="ko-KR" altLang="en-US" sz="2400" dirty="0"/>
              <a:t>원본 데이터 손실 가능성 등 여러 문제가 있을 수 있으므로 위와 같이 </a:t>
            </a:r>
            <a:r>
              <a:rPr lang="en-US" altLang="ko-KR" sz="2400" dirty="0"/>
              <a:t>map, reduce</a:t>
            </a:r>
            <a:r>
              <a:rPr lang="ko-KR" altLang="en-US" sz="2400" dirty="0"/>
              <a:t>를 이용하는 것이 바람직하다</a:t>
            </a:r>
            <a:r>
              <a:rPr lang="en-US" altLang="ko-KR" sz="2400" dirty="0"/>
              <a:t>.</a:t>
            </a:r>
            <a:endParaRPr lang="ko-KR" altLang="en-US" sz="24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EF6351-1A16-4F16-97B3-E39CF0376C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14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C895DD7-A3CE-4741-A043-573D6C2DA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801" y="1271299"/>
            <a:ext cx="5607167" cy="25710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DB6955-C0EC-4F70-B857-C4181773283F}"/>
              </a:ext>
            </a:extLst>
          </p:cNvPr>
          <p:cNvSpPr txBox="1"/>
          <p:nvPr/>
        </p:nvSpPr>
        <p:spPr>
          <a:xfrm>
            <a:off x="7047345" y="1376218"/>
            <a:ext cx="11608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결과</a:t>
            </a:r>
            <a:endParaRPr lang="en-US" altLang="ko-KR" dirty="0"/>
          </a:p>
          <a:p>
            <a:r>
              <a:rPr lang="en-US" altLang="ko-KR" dirty="0"/>
              <a:t>sum : 256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01152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E01938-B76B-4618-A7C1-BF223515E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.filter(), .map(), .reduce() </a:t>
            </a:r>
            <a:r>
              <a:rPr lang="ko-KR" altLang="en-US" dirty="0"/>
              <a:t>함수 예제</a:t>
            </a:r>
            <a:r>
              <a:rPr lang="en-US" altLang="ko-KR" dirty="0"/>
              <a:t>-</a:t>
            </a:r>
            <a:r>
              <a:rPr lang="ko-KR" altLang="en-US" dirty="0"/>
              <a:t>평균 구하기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2B3C25-CCD0-4400-A28E-184023D4EC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392" y="1143216"/>
            <a:ext cx="11130293" cy="5040560"/>
          </a:xfrm>
        </p:spPr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spcBef>
                <a:spcPts val="0"/>
              </a:spcBef>
            </a:pPr>
            <a:r>
              <a:rPr lang="en-US" altLang="ko-KR" sz="2000" dirty="0"/>
              <a:t>21</a:t>
            </a:r>
            <a:r>
              <a:rPr lang="ko-KR" altLang="en-US" sz="2000" dirty="0"/>
              <a:t>세 이상 </a:t>
            </a:r>
            <a:r>
              <a:rPr lang="en-US" altLang="ko-KR" sz="2000" dirty="0"/>
              <a:t>30</a:t>
            </a:r>
            <a:r>
              <a:rPr lang="ko-KR" altLang="en-US" sz="2000" dirty="0"/>
              <a:t>세 미만인 학생 점수의 평균을 구하는 예제</a:t>
            </a:r>
            <a:endParaRPr lang="en-US" altLang="ko-KR" sz="2000" dirty="0"/>
          </a:p>
          <a:p>
            <a:pPr>
              <a:spcBef>
                <a:spcPts val="0"/>
              </a:spcBef>
            </a:pPr>
            <a:r>
              <a:rPr lang="en-US" altLang="ko-KR" sz="2000" dirty="0"/>
              <a:t>filter()</a:t>
            </a:r>
            <a:r>
              <a:rPr lang="ko-KR" altLang="en-US" sz="2000" dirty="0"/>
              <a:t>함수적용</a:t>
            </a:r>
            <a:r>
              <a:rPr lang="en-US" altLang="ko-KR" sz="2000" dirty="0"/>
              <a:t>: 3</a:t>
            </a:r>
            <a:r>
              <a:rPr lang="ko-KR" altLang="en-US" sz="2000" dirty="0"/>
              <a:t>개 항목 선택</a:t>
            </a:r>
            <a:endParaRPr lang="en-US" altLang="ko-KR" sz="2000" dirty="0"/>
          </a:p>
          <a:p>
            <a:pPr>
              <a:spcBef>
                <a:spcPts val="0"/>
              </a:spcBef>
            </a:pPr>
            <a:r>
              <a:rPr lang="en-US" altLang="ko-KR" sz="2000" dirty="0"/>
              <a:t>map()</a:t>
            </a:r>
            <a:r>
              <a:rPr lang="ko-KR" altLang="en-US" sz="2000" dirty="0"/>
              <a:t>함수 적용</a:t>
            </a:r>
            <a:r>
              <a:rPr lang="en-US" altLang="ko-KR" sz="2000" dirty="0"/>
              <a:t>: </a:t>
            </a:r>
            <a:r>
              <a:rPr lang="ko-KR" altLang="en-US" sz="2000" dirty="0"/>
              <a:t>선택 </a:t>
            </a:r>
            <a:r>
              <a:rPr lang="en-US" altLang="ko-KR" sz="2000" dirty="0"/>
              <a:t>3</a:t>
            </a:r>
            <a:r>
              <a:rPr lang="ko-KR" altLang="en-US" sz="2000" dirty="0"/>
              <a:t>개 항목에서 </a:t>
            </a:r>
            <a:r>
              <a:rPr lang="en-US" altLang="ko-KR" sz="2000" dirty="0"/>
              <a:t>score</a:t>
            </a:r>
            <a:r>
              <a:rPr lang="ko-KR" altLang="en-US" sz="2000" dirty="0"/>
              <a:t>만 추출해서 배열로 생성 </a:t>
            </a:r>
            <a:r>
              <a:rPr lang="en-US" altLang="ko-KR" sz="2000" dirty="0"/>
              <a:t>[84, 54, 34]</a:t>
            </a:r>
          </a:p>
          <a:p>
            <a:pPr>
              <a:spcBef>
                <a:spcPts val="0"/>
              </a:spcBef>
            </a:pPr>
            <a:r>
              <a:rPr lang="en-US" altLang="ko-KR" sz="2000" dirty="0"/>
              <a:t>reduce </a:t>
            </a:r>
            <a:r>
              <a:rPr lang="ko-KR" altLang="en-US" sz="2000" dirty="0"/>
              <a:t>함수 적용</a:t>
            </a:r>
            <a:r>
              <a:rPr lang="en-US" altLang="ko-KR" sz="2000" dirty="0"/>
              <a:t>: callback </a:t>
            </a:r>
            <a:r>
              <a:rPr lang="ko-KR" altLang="en-US" sz="2000" dirty="0"/>
              <a:t>함수의 파라미터로 </a:t>
            </a:r>
            <a:r>
              <a:rPr lang="en-US" altLang="ko-KR" sz="2000" dirty="0"/>
              <a:t>4</a:t>
            </a:r>
            <a:r>
              <a:rPr lang="ko-KR" altLang="en-US" sz="2000" dirty="0"/>
              <a:t>개 설정</a:t>
            </a:r>
            <a:endParaRPr lang="en-US" altLang="ko-KR" sz="2000" dirty="0"/>
          </a:p>
          <a:p>
            <a:pPr lvl="1">
              <a:spcBef>
                <a:spcPts val="0"/>
              </a:spcBef>
            </a:pPr>
            <a:r>
              <a:rPr lang="en-US" altLang="ko-KR" sz="1700" dirty="0"/>
              <a:t>previous:</a:t>
            </a:r>
            <a:r>
              <a:rPr lang="ko-KR" altLang="en-US" sz="1700" dirty="0"/>
              <a:t> 배열의 첫 번째 파라미터 또는 </a:t>
            </a:r>
            <a:r>
              <a:rPr lang="ko-KR" altLang="en-US" sz="1700" dirty="0" err="1"/>
              <a:t>누적값</a:t>
            </a:r>
            <a:r>
              <a:rPr lang="en-US" altLang="ko-KR" sz="1700" dirty="0"/>
              <a:t>(</a:t>
            </a:r>
            <a:r>
              <a:rPr lang="ko-KR" altLang="en-US" sz="1700" dirty="0"/>
              <a:t>이 경우 </a:t>
            </a:r>
            <a:r>
              <a:rPr lang="en-US" altLang="ko-KR" sz="1700" dirty="0"/>
              <a:t>0)</a:t>
            </a:r>
          </a:p>
          <a:p>
            <a:pPr lvl="1">
              <a:spcBef>
                <a:spcPts val="0"/>
              </a:spcBef>
            </a:pPr>
            <a:r>
              <a:rPr lang="en-US" altLang="ko-KR" sz="1700" dirty="0"/>
              <a:t>current: </a:t>
            </a:r>
            <a:r>
              <a:rPr lang="ko-KR" altLang="en-US" sz="1700" dirty="0"/>
              <a:t>배열내 현재 처리되는 값</a:t>
            </a:r>
            <a:endParaRPr lang="en-US" altLang="ko-KR" sz="1700" dirty="0"/>
          </a:p>
          <a:p>
            <a:pPr lvl="1">
              <a:spcBef>
                <a:spcPts val="0"/>
              </a:spcBef>
            </a:pPr>
            <a:r>
              <a:rPr lang="en-US" altLang="ko-KR" sz="1700" dirty="0" err="1"/>
              <a:t>indes</a:t>
            </a:r>
            <a:r>
              <a:rPr lang="en-US" altLang="ko-KR" sz="1700" dirty="0"/>
              <a:t>: </a:t>
            </a:r>
            <a:r>
              <a:rPr lang="ko-KR" altLang="en-US" sz="1700" dirty="0"/>
              <a:t>현재 처리되는 값의 </a:t>
            </a:r>
            <a:r>
              <a:rPr lang="en-US" altLang="ko-KR" sz="1700" dirty="0"/>
              <a:t>index</a:t>
            </a:r>
          </a:p>
          <a:p>
            <a:pPr lvl="1">
              <a:spcBef>
                <a:spcPts val="0"/>
              </a:spcBef>
            </a:pPr>
            <a:r>
              <a:rPr lang="en-US" altLang="ko-KR" sz="1700" dirty="0"/>
              <a:t>array:</a:t>
            </a:r>
            <a:r>
              <a:rPr lang="ko-KR" altLang="en-US" sz="1700" dirty="0"/>
              <a:t> 현재 사용되는 배열 </a:t>
            </a:r>
            <a:endParaRPr lang="en-US" altLang="ko-KR" sz="1700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4E138E-2C4B-4E7B-91CD-202F05A2D1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15</a:t>
            </a:fld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D62835-20CC-445C-9E61-2780360D4083}"/>
              </a:ext>
            </a:extLst>
          </p:cNvPr>
          <p:cNvSpPr txBox="1"/>
          <p:nvPr/>
        </p:nvSpPr>
        <p:spPr>
          <a:xfrm>
            <a:off x="7202688" y="1521906"/>
            <a:ext cx="33986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결과</a:t>
            </a:r>
            <a:endParaRPr lang="en-US" altLang="ko-KR" dirty="0"/>
          </a:p>
          <a:p>
            <a:r>
              <a:rPr lang="en-US" altLang="ko-KR" dirty="0"/>
              <a:t>average: 57.3333333333333336</a:t>
            </a:r>
            <a:endParaRPr lang="ko-KR" altLang="en-US" dirty="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E4556965-E21C-4CBB-93E8-4B9EB77700D6}"/>
              </a:ext>
            </a:extLst>
          </p:cNvPr>
          <p:cNvGrpSpPr/>
          <p:nvPr/>
        </p:nvGrpSpPr>
        <p:grpSpPr>
          <a:xfrm>
            <a:off x="863538" y="1124744"/>
            <a:ext cx="6313117" cy="2863682"/>
            <a:chOff x="863538" y="1124744"/>
            <a:chExt cx="6313117" cy="2863682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4CE0B710-2AEC-460A-8209-42FC60C06E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3538" y="1124744"/>
              <a:ext cx="6313117" cy="2863682"/>
            </a:xfrm>
            <a:prstGeom prst="rect">
              <a:avLst/>
            </a:prstGeom>
          </p:spPr>
        </p:pic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443ABBA7-EA7D-4D2F-A8CA-170799054CAF}"/>
                </a:ext>
              </a:extLst>
            </p:cNvPr>
            <p:cNvSpPr/>
            <p:nvPr/>
          </p:nvSpPr>
          <p:spPr bwMode="auto">
            <a:xfrm>
              <a:off x="2198258" y="1838038"/>
              <a:ext cx="954387" cy="590114"/>
            </a:xfrm>
            <a:prstGeom prst="roundRect">
              <a:avLst/>
            </a:prstGeom>
            <a:noFill/>
            <a:ln w="9525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endParaRPr>
            </a:p>
          </p:txBody>
        </p:sp>
      </p:grp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FD1068D9-8691-4CE1-BAA5-B1E6C71B3D20}"/>
              </a:ext>
            </a:extLst>
          </p:cNvPr>
          <p:cNvSpPr/>
          <p:nvPr/>
        </p:nvSpPr>
        <p:spPr bwMode="auto">
          <a:xfrm>
            <a:off x="4876800" y="5578764"/>
            <a:ext cx="6604000" cy="1055608"/>
          </a:xfrm>
          <a:prstGeom prst="round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400" dirty="0">
                <a:latin typeface="굴림" pitchFamily="50" charset="-127"/>
                <a:ea typeface="굴림" pitchFamily="50" charset="-127"/>
              </a:rPr>
              <a:t>reduce </a:t>
            </a:r>
            <a:r>
              <a:rPr kumimoji="1" lang="ko-KR" altLang="en-US" sz="1400" dirty="0">
                <a:latin typeface="굴림" pitchFamily="50" charset="-127"/>
                <a:ea typeface="굴림" pitchFamily="50" charset="-127"/>
              </a:rPr>
              <a:t>함수의 동작은 각각의 파라미터를 받아서 </a:t>
            </a:r>
            <a:r>
              <a:rPr kumimoji="1" lang="en-US" altLang="ko-KR" sz="1400" dirty="0">
                <a:latin typeface="굴림" pitchFamily="50" charset="-127"/>
                <a:ea typeface="굴림" pitchFamily="50" charset="-127"/>
              </a:rPr>
              <a:t>array</a:t>
            </a:r>
            <a:r>
              <a:rPr kumimoji="1" lang="ko-KR" altLang="en-US" sz="1400" dirty="0">
                <a:latin typeface="굴림" pitchFamily="50" charset="-127"/>
                <a:ea typeface="굴림" pitchFamily="50" charset="-127"/>
              </a:rPr>
              <a:t>의 길이 </a:t>
            </a:r>
            <a:r>
              <a:rPr kumimoji="1" lang="en-US" altLang="ko-KR" sz="1400" dirty="0">
                <a:latin typeface="굴림" pitchFamily="50" charset="-127"/>
                <a:ea typeface="굴림" pitchFamily="50" charset="-127"/>
              </a:rPr>
              <a:t>3</a:t>
            </a:r>
            <a:r>
              <a:rPr kumimoji="1" lang="ko-KR" altLang="en-US" sz="1400" dirty="0">
                <a:latin typeface="굴림" pitchFamily="50" charset="-127"/>
                <a:ea typeface="굴림" pitchFamily="50" charset="-127"/>
              </a:rPr>
              <a:t>으로 나눈 값들을 합한다</a:t>
            </a:r>
            <a:r>
              <a:rPr kumimoji="1" lang="en-US" altLang="ko-KR" sz="1400" dirty="0">
                <a:latin typeface="굴림" pitchFamily="50" charset="-127"/>
                <a:ea typeface="굴림" pitchFamily="50" charset="-127"/>
              </a:rPr>
              <a:t>.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dirty="0">
                <a:latin typeface="굴림" pitchFamily="50" charset="-127"/>
                <a:ea typeface="굴림" pitchFamily="50" charset="-127"/>
              </a:rPr>
              <a:t>0 + 84/3 -&gt;</a:t>
            </a:r>
            <a:r>
              <a:rPr kumimoji="1" lang="ko-KR" altLang="en-US" sz="1400" dirty="0">
                <a:latin typeface="굴림" pitchFamily="50" charset="-127"/>
                <a:ea typeface="굴림" pitchFamily="50" charset="-127"/>
              </a:rPr>
              <a:t> </a:t>
            </a:r>
            <a:r>
              <a:rPr kumimoji="1" lang="en-US" altLang="ko-KR" sz="1400" dirty="0">
                <a:latin typeface="굴림" pitchFamily="50" charset="-127"/>
                <a:ea typeface="굴림" pitchFamily="50" charset="-127"/>
              </a:rPr>
              <a:t>28 + 54/3 -&gt; 46 + 34/3, </a:t>
            </a:r>
            <a:r>
              <a:rPr kumimoji="1" lang="ko-KR" altLang="en-US" sz="1400" dirty="0">
                <a:latin typeface="굴림" pitchFamily="50" charset="-127"/>
                <a:ea typeface="굴림" pitchFamily="50" charset="-127"/>
              </a:rPr>
              <a:t>계산 결과 </a:t>
            </a:r>
            <a:r>
              <a:rPr kumimoji="1" lang="en-US" altLang="ko-KR" sz="1400" dirty="0">
                <a:latin typeface="굴림" pitchFamily="50" charset="-127"/>
                <a:ea typeface="굴림" pitchFamily="50" charset="-127"/>
              </a:rPr>
              <a:t>57.33333</a:t>
            </a:r>
            <a:r>
              <a:rPr kumimoji="1" lang="ko-KR" altLang="en-US" sz="1400" dirty="0">
                <a:latin typeface="굴림" pitchFamily="50" charset="-127"/>
                <a:ea typeface="굴림" pitchFamily="50" charset="-127"/>
              </a:rPr>
              <a:t>을 </a:t>
            </a:r>
            <a:r>
              <a:rPr kumimoji="1" lang="en-US" altLang="ko-KR" sz="1100" dirty="0">
                <a:latin typeface="굴림" pitchFamily="50" charset="-127"/>
                <a:ea typeface="굴림" pitchFamily="50" charset="-127"/>
              </a:rPr>
              <a:t> </a:t>
            </a:r>
            <a:r>
              <a:rPr lang="en-US" altLang="ko-KR" sz="1400" dirty="0"/>
              <a:t>between21to30StudentsAverage </a:t>
            </a:r>
            <a:r>
              <a:rPr lang="ko-KR" altLang="en-US" sz="1400" dirty="0">
                <a:latin typeface="굴림" panose="020B0600000101010101" pitchFamily="50" charset="-127"/>
                <a:ea typeface="굴림" panose="020B0600000101010101" pitchFamily="50" charset="-127"/>
              </a:rPr>
              <a:t>변수에 넣는다</a:t>
            </a:r>
            <a:r>
              <a:rPr lang="en-US" altLang="ko-KR" sz="140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kumimoji="1" lang="ko-KR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75262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8642B0-6A5D-4BEA-9344-F2106E5E6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프로미스</a:t>
            </a:r>
            <a:r>
              <a:rPr lang="en-US" altLang="ko-KR" dirty="0"/>
              <a:t>-Promise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5902D4-6700-40A0-BDAF-623AE019C2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392" y="1124744"/>
            <a:ext cx="11383881" cy="5040560"/>
          </a:xfrm>
        </p:spPr>
        <p:txBody>
          <a:bodyPr/>
          <a:lstStyle/>
          <a:p>
            <a:r>
              <a:rPr lang="ko-KR" altLang="en-US" sz="2400" dirty="0"/>
              <a:t>비동기 처리는 자원을 효율적으로 사용하고 속도를 높이는 방법으로 많이 사용됨</a:t>
            </a:r>
            <a:endParaRPr lang="en-US" altLang="ko-KR" sz="2400" dirty="0"/>
          </a:p>
          <a:p>
            <a:pPr lvl="1"/>
            <a:r>
              <a:rPr lang="ko-KR" altLang="en-US" dirty="0"/>
              <a:t>비동기로 실행할 때는 리턴 값이 없는 콜백함수를 많이 사용</a:t>
            </a:r>
            <a:endParaRPr lang="en-US" altLang="ko-KR" dirty="0"/>
          </a:p>
          <a:p>
            <a:pPr lvl="1"/>
            <a:r>
              <a:rPr lang="ko-KR" altLang="en-US" dirty="0"/>
              <a:t>이 방식은 함수형 프로그래밍과 유사</a:t>
            </a:r>
            <a:endParaRPr lang="en-US" altLang="ko-KR" dirty="0"/>
          </a:p>
          <a:p>
            <a:pPr lvl="1"/>
            <a:r>
              <a:rPr lang="ko-KR" altLang="en-US" dirty="0"/>
              <a:t>함수형 프로그래밍을 </a:t>
            </a:r>
            <a:r>
              <a:rPr lang="en-US" altLang="ko-KR" dirty="0"/>
              <a:t>return </a:t>
            </a:r>
            <a:r>
              <a:rPr lang="ko-KR" altLang="en-US" dirty="0"/>
              <a:t>값이 없는 프로그래밍 방식으로 생각하면 접근하기 쉬움</a:t>
            </a:r>
            <a:endParaRPr lang="en-US" altLang="ko-KR" dirty="0"/>
          </a:p>
          <a:p>
            <a:pPr lvl="1"/>
            <a:r>
              <a:rPr lang="ko-KR" altLang="en-US" spc="-100" dirty="0" err="1"/>
              <a:t>콜백</a:t>
            </a:r>
            <a:r>
              <a:rPr lang="ko-KR" altLang="en-US" spc="-100" dirty="0"/>
              <a:t> 함수를 사용해서 다음에 실행할 함수를 파라미터로 넘겨주는 방식을 사용</a:t>
            </a:r>
            <a:endParaRPr lang="en-US" altLang="ko-KR" spc="-100" dirty="0"/>
          </a:p>
          <a:p>
            <a:r>
              <a:rPr lang="ko-KR" altLang="en-US" sz="2400" dirty="0" err="1"/>
              <a:t>콜백을</a:t>
            </a:r>
            <a:r>
              <a:rPr lang="ko-KR" altLang="en-US" sz="2400" dirty="0"/>
              <a:t> 이용해서 파라미터로 넘기는 방식은 여러 가지 함수를 사용하면 </a:t>
            </a:r>
            <a:r>
              <a:rPr lang="ko-KR" altLang="en-US" sz="2400" dirty="0" err="1"/>
              <a:t>콜백에</a:t>
            </a:r>
            <a:r>
              <a:rPr lang="ko-KR" altLang="en-US" sz="2400" dirty="0"/>
              <a:t> </a:t>
            </a:r>
            <a:r>
              <a:rPr lang="ko-KR" altLang="en-US" sz="2400" dirty="0" err="1"/>
              <a:t>콜백이</a:t>
            </a:r>
            <a:r>
              <a:rPr lang="ko-KR" altLang="en-US" sz="2400" dirty="0"/>
              <a:t> 계속 이어져 코드의 가독성이 떨어지고 개발에 어려움이 있음</a:t>
            </a:r>
            <a:endParaRPr lang="en-US" altLang="ko-KR" sz="2400" dirty="0"/>
          </a:p>
          <a:p>
            <a:r>
              <a:rPr lang="ko-KR" altLang="en-US" sz="2400" dirty="0"/>
              <a:t>프로미스는 </a:t>
            </a:r>
            <a:r>
              <a:rPr lang="ko-KR" altLang="en-US" sz="2400" dirty="0" err="1"/>
              <a:t>콜백이</a:t>
            </a:r>
            <a:r>
              <a:rPr lang="ko-KR" altLang="en-US" sz="2400" dirty="0"/>
              <a:t> 연속적으로 이어지는 문제를 해결하기 위해 나옴</a:t>
            </a:r>
            <a:endParaRPr lang="en-US" altLang="ko-KR" sz="2400" dirty="0"/>
          </a:p>
          <a:p>
            <a:pPr lvl="1"/>
            <a:r>
              <a:rPr lang="ko-KR" altLang="en-US" dirty="0"/>
              <a:t>코드의 가독성을 높이고</a:t>
            </a:r>
            <a:r>
              <a:rPr lang="en-US" altLang="ko-KR" dirty="0"/>
              <a:t>, </a:t>
            </a:r>
            <a:r>
              <a:rPr lang="ko-KR" altLang="en-US" dirty="0"/>
              <a:t>에러처리와 디버깅 작업이 수월해 짐</a:t>
            </a:r>
            <a:endParaRPr lang="en-US" altLang="ko-KR" dirty="0"/>
          </a:p>
          <a:p>
            <a:pPr lvl="1"/>
            <a:endParaRPr lang="en-US" altLang="ko-KR" sz="1800" dirty="0"/>
          </a:p>
          <a:p>
            <a:pPr lvl="1"/>
            <a:endParaRPr lang="en-US" altLang="ko-KR" sz="1200" dirty="0"/>
          </a:p>
          <a:p>
            <a:pPr lvl="1"/>
            <a:endParaRPr lang="ko-KR" altLang="en-US" sz="21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A5E0BA-23CE-4A6B-BABC-2224AB3AC7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27419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D7CA72-6D34-4F9C-88A1-D45B781D1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프로미스</a:t>
            </a:r>
            <a:r>
              <a:rPr lang="en-US" altLang="ko-KR" dirty="0"/>
              <a:t>-Promise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2CD070-4A15-40ED-8E05-A7DB091C2B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sz="1600" dirty="0"/>
          </a:p>
          <a:p>
            <a:r>
              <a:rPr lang="en-US" altLang="ko-KR" sz="2000" dirty="0"/>
              <a:t>resolve()</a:t>
            </a:r>
            <a:r>
              <a:rPr lang="ko-KR" altLang="en-US" sz="2000" dirty="0"/>
              <a:t>에 값을 넣는 것이 </a:t>
            </a:r>
            <a:r>
              <a:rPr lang="en-US" altLang="ko-KR" sz="2000" dirty="0"/>
              <a:t>return</a:t>
            </a:r>
            <a:r>
              <a:rPr lang="ko-KR" altLang="en-US" sz="2000" dirty="0"/>
              <a:t>이라고 생각하면 됨</a:t>
            </a:r>
            <a:r>
              <a:rPr lang="en-US" altLang="ko-KR" sz="2000" dirty="0"/>
              <a:t>.</a:t>
            </a:r>
          </a:p>
          <a:p>
            <a:r>
              <a:rPr lang="en-US" altLang="ko-KR" sz="2000" dirty="0"/>
              <a:t>resolve(1)</a:t>
            </a:r>
            <a:r>
              <a:rPr lang="ko-KR" altLang="en-US" sz="2000" dirty="0"/>
              <a:t>이라고 넣으면 그 다음에 실행되는 코드가 </a:t>
            </a:r>
            <a:r>
              <a:rPr lang="en-US" altLang="ko-KR" sz="2000" dirty="0"/>
              <a:t>.then</a:t>
            </a:r>
            <a:r>
              <a:rPr lang="ko-KR" altLang="en-US" sz="2000" dirty="0"/>
              <a:t>임</a:t>
            </a:r>
            <a:endParaRPr lang="en-US" altLang="ko-KR" sz="2000" dirty="0"/>
          </a:p>
          <a:p>
            <a:pPr lvl="1"/>
            <a:r>
              <a:rPr lang="en-US" altLang="ko-KR" sz="1700" dirty="0"/>
              <a:t>result</a:t>
            </a:r>
            <a:r>
              <a:rPr lang="ko-KR" altLang="en-US" sz="1700" dirty="0"/>
              <a:t>에 </a:t>
            </a:r>
            <a:r>
              <a:rPr lang="en-US" altLang="ko-KR" sz="1700" dirty="0"/>
              <a:t>resolve()</a:t>
            </a:r>
            <a:r>
              <a:rPr lang="ko-KR" altLang="en-US" sz="1700" dirty="0"/>
              <a:t>에서 넣어준 </a:t>
            </a:r>
            <a:r>
              <a:rPr lang="en-US" altLang="ko-KR" sz="1700" dirty="0"/>
              <a:t>1</a:t>
            </a:r>
            <a:r>
              <a:rPr lang="ko-KR" altLang="en-US" sz="1700" dirty="0"/>
              <a:t>이 들어옴</a:t>
            </a:r>
            <a:endParaRPr lang="en-US" altLang="ko-KR" sz="1700" dirty="0"/>
          </a:p>
          <a:p>
            <a:pPr lvl="1"/>
            <a:r>
              <a:rPr lang="en-US" altLang="ko-KR" sz="1700" dirty="0"/>
              <a:t>return </a:t>
            </a:r>
            <a:r>
              <a:rPr lang="ko-KR" altLang="en-US" sz="1700" dirty="0"/>
              <a:t>값 뒤에 </a:t>
            </a:r>
            <a:r>
              <a:rPr lang="en-US" altLang="ko-KR" sz="1700" dirty="0"/>
              <a:t>hello</a:t>
            </a:r>
            <a:r>
              <a:rPr lang="ko-KR" altLang="en-US" sz="1700" dirty="0"/>
              <a:t>를 붙이는 연산을 수행</a:t>
            </a:r>
            <a:r>
              <a:rPr lang="en-US" altLang="ko-KR" sz="1700" dirty="0"/>
              <a:t>, </a:t>
            </a:r>
            <a:r>
              <a:rPr lang="ko-KR" altLang="en-US" sz="1700" dirty="0"/>
              <a:t>이하 같음</a:t>
            </a:r>
            <a:endParaRPr lang="en-US" altLang="ko-KR" sz="1700" dirty="0"/>
          </a:p>
          <a:p>
            <a:r>
              <a:rPr lang="en-US" altLang="ko-KR" sz="2000" dirty="0"/>
              <a:t>promise</a:t>
            </a:r>
            <a:r>
              <a:rPr lang="ko-KR" altLang="en-US" sz="2000" dirty="0"/>
              <a:t>는 또 다른 </a:t>
            </a:r>
            <a:r>
              <a:rPr lang="en-US" altLang="ko-KR" sz="2000" dirty="0"/>
              <a:t>promise</a:t>
            </a:r>
            <a:r>
              <a:rPr lang="ko-KR" altLang="en-US" sz="2000" dirty="0"/>
              <a:t> 오브젝트를 반환하기 때문에 마지막에 연산한 값을 </a:t>
            </a:r>
            <a:r>
              <a:rPr lang="en-US" altLang="ko-KR" sz="2000" dirty="0"/>
              <a:t>.then(result =&gt;console.log(result))</a:t>
            </a:r>
            <a:r>
              <a:rPr lang="ko-KR" altLang="en-US" sz="2000" dirty="0"/>
              <a:t>로 출력 함</a:t>
            </a:r>
            <a:r>
              <a:rPr lang="en-US" altLang="ko-KR" sz="2000" dirty="0"/>
              <a:t>(1hellonello</a:t>
            </a:r>
            <a:r>
              <a:rPr lang="ko-KR" altLang="en-US" sz="2000" dirty="0"/>
              <a:t>출력</a:t>
            </a:r>
            <a:r>
              <a:rPr lang="en-US" altLang="ko-KR" sz="2000" dirty="0"/>
              <a:t>)</a:t>
            </a:r>
            <a:endParaRPr lang="ko-KR" altLang="en-US" sz="2000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20CF9A-59C2-4FCB-9859-82F8FEEEDC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17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1100BC9-7F25-49A4-892B-EE9C90733F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237" y="1124744"/>
            <a:ext cx="5120036" cy="26643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DF2408E-29B7-40CD-8492-69CAF985EEB9}"/>
              </a:ext>
            </a:extLst>
          </p:cNvPr>
          <p:cNvSpPr txBox="1"/>
          <p:nvPr/>
        </p:nvSpPr>
        <p:spPr>
          <a:xfrm>
            <a:off x="6160592" y="1208672"/>
            <a:ext cx="164500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결과</a:t>
            </a:r>
            <a:endParaRPr lang="en-US" altLang="ko-KR" dirty="0"/>
          </a:p>
          <a:p>
            <a:r>
              <a:rPr lang="en-US" altLang="ko-KR" dirty="0"/>
              <a:t>first: 1</a:t>
            </a:r>
          </a:p>
          <a:p>
            <a:r>
              <a:rPr lang="en-US" altLang="ko-KR" dirty="0"/>
              <a:t>second: 1hello</a:t>
            </a:r>
          </a:p>
          <a:p>
            <a:r>
              <a:rPr lang="en-US" altLang="ko-KR" dirty="0"/>
              <a:t>1hellonello</a:t>
            </a:r>
            <a:endParaRPr lang="ko-KR" altLang="en-US" dirty="0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1AC64792-7DBA-40D7-B9A4-B002F8144E79}"/>
              </a:ext>
            </a:extLst>
          </p:cNvPr>
          <p:cNvCxnSpPr/>
          <p:nvPr/>
        </p:nvCxnSpPr>
        <p:spPr bwMode="auto">
          <a:xfrm flipV="1">
            <a:off x="1588655" y="1808836"/>
            <a:ext cx="424872" cy="2892473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" name="TextBox 4"/>
          <p:cNvSpPr txBox="1"/>
          <p:nvPr/>
        </p:nvSpPr>
        <p:spPr>
          <a:xfrm>
            <a:off x="8236056" y="1347171"/>
            <a:ext cx="3651474" cy="20313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resolve(1)</a:t>
            </a:r>
            <a:r>
              <a:rPr lang="ko-KR" altLang="en-US" dirty="0"/>
              <a:t>은 </a:t>
            </a:r>
            <a:r>
              <a:rPr lang="en-US" altLang="ko-KR" dirty="0"/>
              <a:t>resolve() </a:t>
            </a:r>
            <a:r>
              <a:rPr lang="ko-KR" altLang="en-US" dirty="0"/>
              <a:t>함수의결과가 </a:t>
            </a:r>
            <a:r>
              <a:rPr lang="en-US" altLang="ko-KR" dirty="0"/>
              <a:t>1</a:t>
            </a:r>
            <a:r>
              <a:rPr lang="ko-KR" altLang="en-US" dirty="0"/>
              <a:t>이라는 의미임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resolve(</a:t>
            </a:r>
            <a:r>
              <a:rPr lang="ko-KR" altLang="en-US" dirty="0"/>
              <a:t>함수</a:t>
            </a:r>
            <a:r>
              <a:rPr lang="en-US" altLang="ko-KR" dirty="0"/>
              <a:t>) </a:t>
            </a:r>
            <a:r>
              <a:rPr lang="ko-KR" altLang="en-US" dirty="0"/>
              <a:t>형식으로도 가능</a:t>
            </a:r>
            <a:endParaRPr lang="en-US" altLang="ko-KR" dirty="0"/>
          </a:p>
          <a:p>
            <a:r>
              <a:rPr lang="ko-KR" altLang="en-US" dirty="0"/>
              <a:t>예</a:t>
            </a:r>
            <a:r>
              <a:rPr lang="en-US" altLang="ko-KR" dirty="0"/>
              <a:t>) resolve(function() {</a:t>
            </a:r>
          </a:p>
          <a:p>
            <a:r>
              <a:rPr lang="en-US" altLang="ko-KR" dirty="0"/>
              <a:t>        return “hello”;</a:t>
            </a:r>
          </a:p>
          <a:p>
            <a:r>
              <a:rPr lang="en-US" altLang="ko-KR" dirty="0"/>
              <a:t>     }()); </a:t>
            </a:r>
            <a:r>
              <a:rPr lang="ko-KR" altLang="en-US" dirty="0"/>
              <a:t>이면 </a:t>
            </a:r>
            <a:r>
              <a:rPr lang="en-US" altLang="ko-KR" dirty="0"/>
              <a:t>“hello”</a:t>
            </a:r>
            <a:r>
              <a:rPr lang="ko-KR" altLang="en-US" dirty="0"/>
              <a:t>를 </a:t>
            </a:r>
            <a:r>
              <a:rPr lang="en-US" altLang="ko-KR" dirty="0"/>
              <a:t>then</a:t>
            </a:r>
            <a:r>
              <a:rPr lang="ko-KR" altLang="en-US" dirty="0"/>
              <a:t>에 넘김</a:t>
            </a:r>
            <a:endParaRPr lang="en-US" altLang="ko-KR" dirty="0"/>
          </a:p>
          <a:p>
            <a:r>
              <a:rPr lang="en-US" altLang="ko-KR" dirty="0"/>
              <a:t>   </a:t>
            </a:r>
            <a:r>
              <a:rPr lang="ko-KR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80147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9DFDFD-64CE-45D3-97D0-948264AFC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Promise.all</a:t>
            </a:r>
            <a:r>
              <a:rPr lang="ko-KR" altLang="en-US" dirty="0"/>
              <a:t>을 이용해서 후처리하기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60E92A-CD6A-449F-8454-BEE7ABB6C4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sz="2400" dirty="0"/>
              <a:t>여러 개의 비동기 처리가 모두 끝난 후에 특정 로직을 실행하고 싶다면 </a:t>
            </a:r>
            <a:r>
              <a:rPr lang="en-US" altLang="ko-KR" sz="2400" dirty="0" err="1"/>
              <a:t>Promise.all</a:t>
            </a:r>
            <a:r>
              <a:rPr lang="en-US" altLang="ko-KR" sz="2400" dirty="0"/>
              <a:t>()</a:t>
            </a:r>
            <a:r>
              <a:rPr lang="ko-KR" altLang="en-US" sz="2400" dirty="0"/>
              <a:t>을 사용한다</a:t>
            </a:r>
            <a:r>
              <a:rPr lang="en-US" altLang="ko-KR" sz="2400" dirty="0"/>
              <a:t>.</a:t>
            </a:r>
          </a:p>
          <a:p>
            <a:pPr lvl="1"/>
            <a:r>
              <a:rPr lang="ko-KR" altLang="en-US" sz="2100" dirty="0"/>
              <a:t>먼저 처리할 작업들은 </a:t>
            </a:r>
            <a:r>
              <a:rPr lang="en-US" altLang="ko-KR" sz="2100" dirty="0"/>
              <a:t>promise(1), promise(2) </a:t>
            </a:r>
            <a:r>
              <a:rPr lang="ko-KR" altLang="en-US" sz="2100" dirty="0"/>
              <a:t>안쪽으로 넣는다</a:t>
            </a:r>
            <a:endParaRPr lang="en-US" altLang="ko-KR" sz="2100" dirty="0"/>
          </a:p>
          <a:p>
            <a:pPr lvl="1"/>
            <a:r>
              <a:rPr lang="en-US" altLang="ko-KR" sz="2100" dirty="0"/>
              <a:t>promise(1)</a:t>
            </a:r>
            <a:r>
              <a:rPr lang="ko-KR" altLang="en-US" sz="2100" dirty="0"/>
              <a:t>과 </a:t>
            </a:r>
            <a:r>
              <a:rPr lang="en-US" altLang="ko-KR" sz="2100" dirty="0"/>
              <a:t>promise(2) </a:t>
            </a:r>
            <a:r>
              <a:rPr lang="ko-KR" altLang="en-US" sz="2100" dirty="0"/>
              <a:t>작업이 끝난 후에 </a:t>
            </a:r>
            <a:r>
              <a:rPr lang="en-US" altLang="ko-KR" sz="2100" dirty="0"/>
              <a:t>‘</a:t>
            </a:r>
            <a:r>
              <a:rPr lang="en-US" altLang="ko-KR" sz="2100" dirty="0" err="1"/>
              <a:t>Promise.all</a:t>
            </a:r>
            <a:r>
              <a:rPr lang="en-US" altLang="ko-KR" sz="2100" dirty="0"/>
              <a:t>().then()’ </a:t>
            </a:r>
            <a:r>
              <a:rPr lang="ko-KR" altLang="en-US" sz="2100" dirty="0"/>
              <a:t>뒤에 처리할 작업을 넣어주면 </a:t>
            </a:r>
            <a:r>
              <a:rPr lang="en-US" altLang="ko-KR" sz="2100" dirty="0"/>
              <a:t>promise(1)</a:t>
            </a:r>
            <a:r>
              <a:rPr lang="ko-KR" altLang="en-US" sz="2100" dirty="0"/>
              <a:t>과 </a:t>
            </a:r>
            <a:r>
              <a:rPr lang="en-US" altLang="ko-KR" sz="2100" dirty="0"/>
              <a:t>promise(2)</a:t>
            </a:r>
            <a:r>
              <a:rPr lang="ko-KR" altLang="en-US" sz="2100" dirty="0"/>
              <a:t>가 모두 끝난 후 </a:t>
            </a:r>
            <a:r>
              <a:rPr lang="en-US" altLang="ko-KR" sz="2100" dirty="0"/>
              <a:t>‘</a:t>
            </a:r>
            <a:r>
              <a:rPr lang="ko-KR" altLang="en-US" sz="2100" dirty="0"/>
              <a:t>뒤에 처리할 작업</a:t>
            </a:r>
            <a:r>
              <a:rPr lang="en-US" altLang="ko-KR" sz="2100" dirty="0"/>
              <a:t>’</a:t>
            </a:r>
            <a:r>
              <a:rPr lang="ko-KR" altLang="en-US" sz="2100" dirty="0"/>
              <a:t>을 실행한다</a:t>
            </a:r>
            <a:r>
              <a:rPr lang="en-US" altLang="ko-KR" sz="2100" dirty="0"/>
              <a:t>.</a:t>
            </a:r>
            <a:endParaRPr lang="ko-KR" altLang="en-US" sz="21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17C94D-4199-46E2-B634-4CEE759E1C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18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47B028D-F2EB-40ED-9C4F-E1FC30C43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685" y="1124744"/>
            <a:ext cx="6354041" cy="25766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839810-71B4-48FD-8B62-DF9648373F67}"/>
              </a:ext>
            </a:extLst>
          </p:cNvPr>
          <p:cNvSpPr txBox="1"/>
          <p:nvPr/>
        </p:nvSpPr>
        <p:spPr>
          <a:xfrm>
            <a:off x="7887855" y="1468582"/>
            <a:ext cx="194636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결과</a:t>
            </a:r>
            <a:endParaRPr lang="en-US" altLang="ko-KR" dirty="0"/>
          </a:p>
          <a:p>
            <a:r>
              <a:rPr lang="en-US" altLang="ko-KR" dirty="0"/>
              <a:t>result: [ ‘11’, ‘22’ ]</a:t>
            </a:r>
          </a:p>
          <a:p>
            <a:r>
              <a:rPr lang="en-US" altLang="ko-KR" dirty="0"/>
              <a:t>sum: 33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03516842"/>
      </p:ext>
    </p:extLst>
  </p:cSld>
  <p:clrMapOvr>
    <a:masterClrMapping/>
  </p:clrMapOvr>
</p:sld>
</file>

<file path=ppt/theme/theme1.xml><?xml version="1.0" encoding="utf-8"?>
<a:theme xmlns:a="http://schemas.openxmlformats.org/drawingml/2006/main" name="KISA">
  <a:themeElements>
    <a:clrScheme name="">
      <a:dk1>
        <a:srgbClr val="800000"/>
      </a:dk1>
      <a:lt1>
        <a:srgbClr val="000066"/>
      </a:lt1>
      <a:dk2>
        <a:srgbClr val="000000"/>
      </a:dk2>
      <a:lt2>
        <a:srgbClr val="333399"/>
      </a:lt2>
      <a:accent1>
        <a:srgbClr val="777777"/>
      </a:accent1>
      <a:accent2>
        <a:srgbClr val="0033CC"/>
      </a:accent2>
      <a:accent3>
        <a:srgbClr val="AAAAAA"/>
      </a:accent3>
      <a:accent4>
        <a:srgbClr val="000056"/>
      </a:accent4>
      <a:accent5>
        <a:srgbClr val="BDBDBD"/>
      </a:accent5>
      <a:accent6>
        <a:srgbClr val="002DB9"/>
      </a:accent6>
      <a:hlink>
        <a:srgbClr val="800000"/>
      </a:hlink>
      <a:folHlink>
        <a:srgbClr val="660066"/>
      </a:folHlink>
    </a:clrScheme>
    <a:fontScheme name="사용자 지정 1">
      <a:majorFont>
        <a:latin typeface="Tahoma"/>
        <a:ea typeface="HY헤드라인M"/>
        <a:cs typeface=""/>
      </a:majorFont>
      <a:minorFont>
        <a:latin typeface="Ebrima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lnDef>
  </a:objectDefaults>
  <a:extraClrSchemeLst>
    <a:extraClrScheme>
      <a:clrScheme name="KISA 1">
        <a:dk1>
          <a:srgbClr val="800000"/>
        </a:dk1>
        <a:lt1>
          <a:srgbClr val="FFFFFF"/>
        </a:lt1>
        <a:dk2>
          <a:srgbClr val="000000"/>
        </a:dk2>
        <a:lt2>
          <a:srgbClr val="FFFFCC"/>
        </a:lt2>
        <a:accent1>
          <a:srgbClr val="777777"/>
        </a:accent1>
        <a:accent2>
          <a:srgbClr val="0033CC"/>
        </a:accent2>
        <a:accent3>
          <a:srgbClr val="AAAAAA"/>
        </a:accent3>
        <a:accent4>
          <a:srgbClr val="DADADA"/>
        </a:accent4>
        <a:accent5>
          <a:srgbClr val="BDBDBD"/>
        </a:accent5>
        <a:accent6>
          <a:srgbClr val="002DB9"/>
        </a:accent6>
        <a:hlink>
          <a:srgbClr val="800000"/>
        </a:hlink>
        <a:folHlink>
          <a:srgbClr val="6600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ISA 2">
        <a:dk1>
          <a:srgbClr val="009999"/>
        </a:dk1>
        <a:lt1>
          <a:srgbClr val="FFFFFF"/>
        </a:lt1>
        <a:dk2>
          <a:srgbClr val="336699"/>
        </a:dk2>
        <a:lt2>
          <a:srgbClr val="010000"/>
        </a:lt2>
        <a:accent1>
          <a:srgbClr val="CCECFF"/>
        </a:accent1>
        <a:accent2>
          <a:srgbClr val="FFFFCC"/>
        </a:accent2>
        <a:accent3>
          <a:srgbClr val="FFFFFF"/>
        </a:accent3>
        <a:accent4>
          <a:srgbClr val="008282"/>
        </a:accent4>
        <a:accent5>
          <a:srgbClr val="E2F4FF"/>
        </a:accent5>
        <a:accent6>
          <a:srgbClr val="E7E7B9"/>
        </a:accent6>
        <a:hlink>
          <a:srgbClr val="FF9966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ISA 3">
        <a:dk1>
          <a:srgbClr val="000000"/>
        </a:dk1>
        <a:lt1>
          <a:srgbClr val="FFFFFF"/>
        </a:lt1>
        <a:dk2>
          <a:srgbClr val="000000"/>
        </a:dk2>
        <a:lt2>
          <a:srgbClr val="CBCBCB"/>
        </a:lt2>
        <a:accent1>
          <a:srgbClr val="C0C0C0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C8C8C8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프레젠테이션1" id="{45F2447D-7158-46E6-B6C4-CF81D1C3F7F5}" vid="{29091D22-48FE-4F42-AF9D-382A9480F00E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강의교안 기본서식</Template>
  <TotalTime>1170</TotalTime>
  <Words>1506</Words>
  <Application>Microsoft Office PowerPoint</Application>
  <PresentationFormat>와이드스크린</PresentationFormat>
  <Paragraphs>221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7" baseType="lpstr">
      <vt:lpstr>HY헤드라인M</vt:lpstr>
      <vt:lpstr>굴림</vt:lpstr>
      <vt:lpstr>맑은 고딕</vt:lpstr>
      <vt:lpstr>Arial</vt:lpstr>
      <vt:lpstr>Ebrima</vt:lpstr>
      <vt:lpstr>Tahoma</vt:lpstr>
      <vt:lpstr>Times New Roman</vt:lpstr>
      <vt:lpstr>Wingdings</vt:lpstr>
      <vt:lpstr>KISA</vt:lpstr>
      <vt:lpstr>Node.js 함수형 프로그래밍</vt:lpstr>
      <vt:lpstr>재귀 함수로 합계/평균 구하기</vt:lpstr>
      <vt:lpstr>클로저(closer) 함수</vt:lpstr>
      <vt:lpstr>일급 객체 예(함수)</vt:lpstr>
      <vt:lpstr>클로저(closer) 함수</vt:lpstr>
      <vt:lpstr>클로저 함수 사용-예</vt:lpstr>
      <vt:lpstr>클로저 함수가 필요한 상황</vt:lpstr>
      <vt:lpstr>커링(curring)</vt:lpstr>
      <vt:lpstr>커링 curring 예제 ①</vt:lpstr>
      <vt:lpstr>커링 curring 예제 ②</vt:lpstr>
      <vt:lpstr>filter( ) 함수</vt:lpstr>
      <vt:lpstr>map() 함수</vt:lpstr>
      <vt:lpstr>reduce() 함수</vt:lpstr>
      <vt:lpstr>reduce() 함수 예제</vt:lpstr>
      <vt:lpstr>.filter(), .map(), .reduce() 함수 예제-평균 구하기</vt:lpstr>
      <vt:lpstr>프로미스-Promise</vt:lpstr>
      <vt:lpstr>프로미스-Promise</vt:lpstr>
      <vt:lpstr>Promise.all을 이용해서 후처리하기</vt:lpstr>
    </vt:vector>
  </TitlesOfParts>
  <Company>PNU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Node.js 함수형 프로그래밍</dc:title>
  <dc:creator>user</dc:creator>
  <cp:lastModifiedBy>user</cp:lastModifiedBy>
  <cp:revision>65</cp:revision>
  <dcterms:created xsi:type="dcterms:W3CDTF">2021-11-06T04:13:58Z</dcterms:created>
  <dcterms:modified xsi:type="dcterms:W3CDTF">2026-05-17T13:57:11Z</dcterms:modified>
</cp:coreProperties>
</file>