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37"/>
  </p:notesMasterIdLst>
  <p:handoutMasterIdLst>
    <p:handoutMasterId r:id="rId38"/>
  </p:handoutMasterIdLst>
  <p:sldIdLst>
    <p:sldId id="257" r:id="rId2"/>
    <p:sldId id="409" r:id="rId3"/>
    <p:sldId id="393" r:id="rId4"/>
    <p:sldId id="360" r:id="rId5"/>
    <p:sldId id="394" r:id="rId6"/>
    <p:sldId id="410" r:id="rId7"/>
    <p:sldId id="395" r:id="rId8"/>
    <p:sldId id="396" r:id="rId9"/>
    <p:sldId id="397" r:id="rId10"/>
    <p:sldId id="411" r:id="rId11"/>
    <p:sldId id="374" r:id="rId12"/>
    <p:sldId id="375" r:id="rId13"/>
    <p:sldId id="398" r:id="rId14"/>
    <p:sldId id="399" r:id="rId15"/>
    <p:sldId id="366" r:id="rId16"/>
    <p:sldId id="400" r:id="rId17"/>
    <p:sldId id="367" r:id="rId18"/>
    <p:sldId id="401" r:id="rId19"/>
    <p:sldId id="371" r:id="rId20"/>
    <p:sldId id="412" r:id="rId21"/>
    <p:sldId id="402" r:id="rId22"/>
    <p:sldId id="388" r:id="rId23"/>
    <p:sldId id="403" r:id="rId24"/>
    <p:sldId id="372" r:id="rId25"/>
    <p:sldId id="404" r:id="rId26"/>
    <p:sldId id="391" r:id="rId27"/>
    <p:sldId id="405" r:id="rId28"/>
    <p:sldId id="385" r:id="rId29"/>
    <p:sldId id="406" r:id="rId30"/>
    <p:sldId id="381" r:id="rId31"/>
    <p:sldId id="387" r:id="rId32"/>
    <p:sldId id="407" r:id="rId33"/>
    <p:sldId id="383" r:id="rId34"/>
    <p:sldId id="408" r:id="rId35"/>
    <p:sldId id="386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F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6" autoAdjust="0"/>
    <p:restoredTop sz="94660"/>
  </p:normalViewPr>
  <p:slideViewPr>
    <p:cSldViewPr>
      <p:cViewPr varScale="1">
        <p:scale>
          <a:sx n="101" d="100"/>
          <a:sy n="101" d="100"/>
        </p:scale>
        <p:origin x="127" y="7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153C526-B67E-4AFC-8D07-56450C1861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AEEA37-26DF-46A4-AF0A-D050D4AA1E1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DA6AA-8AED-4D29-98FE-083BDEE994C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A3BB6C-4F89-4ABD-9DF5-5AE9868CEBD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6A7925-92DA-4DEF-92A9-4D3B7142A9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A6C5E-D595-4499-A256-AABA494CC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6814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BB476-87BE-450D-8BA4-08251F86185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33C7B-E8FB-464F-999B-A5F06F5683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8943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47328" y="457200"/>
            <a:ext cx="12090400" cy="6324600"/>
            <a:chOff x="48" y="144"/>
            <a:chExt cx="5712" cy="4128"/>
          </a:xfrm>
        </p:grpSpPr>
        <p:sp>
          <p:nvSpPr>
            <p:cNvPr id="4099" name="AutoShape 3"/>
            <p:cNvSpPr>
              <a:spLocks noChangeArrowheads="1"/>
            </p:cNvSpPr>
            <p:nvPr userDrawn="1"/>
          </p:nvSpPr>
          <p:spPr bwMode="auto">
            <a:xfrm>
              <a:off x="48" y="144"/>
              <a:ext cx="5712" cy="4128"/>
            </a:xfrm>
            <a:prstGeom prst="roundRect">
              <a:avLst>
                <a:gd name="adj" fmla="val 7704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  <p:sp>
          <p:nvSpPr>
            <p:cNvPr id="4100" name="Rectangle 4"/>
            <p:cNvSpPr>
              <a:spLocks noChangeArrowheads="1"/>
            </p:cNvSpPr>
            <p:nvPr userDrawn="1"/>
          </p:nvSpPr>
          <p:spPr bwMode="auto">
            <a:xfrm>
              <a:off x="4992" y="144"/>
              <a:ext cx="768" cy="6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  <p:sp>
          <p:nvSpPr>
            <p:cNvPr id="4101" name="Rectangle 5"/>
            <p:cNvSpPr>
              <a:spLocks noChangeArrowheads="1"/>
            </p:cNvSpPr>
            <p:nvPr userDrawn="1"/>
          </p:nvSpPr>
          <p:spPr bwMode="auto">
            <a:xfrm>
              <a:off x="48" y="3648"/>
              <a:ext cx="768" cy="6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</p:grp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0" y="0"/>
            <a:ext cx="12192000" cy="381000"/>
          </a:xfrm>
          <a:prstGeom prst="rect">
            <a:avLst/>
          </a:prstGeom>
          <a:gradFill rotWithShape="0">
            <a:gsLst>
              <a:gs pos="0">
                <a:srgbClr val="021A94">
                  <a:gamma/>
                  <a:shade val="46275"/>
                  <a:invGamma/>
                </a:srgbClr>
              </a:gs>
              <a:gs pos="100000">
                <a:srgbClr val="021A94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ko-KR" sz="1400" b="1" i="1" dirty="0">
                <a:solidFill>
                  <a:srgbClr val="FFFFFF"/>
                </a:solidFill>
              </a:rPr>
              <a:t> </a:t>
            </a:r>
            <a:r>
              <a:rPr lang="ko-KR" altLang="en-US" sz="1400" b="1" i="1" dirty="0">
                <a:solidFill>
                  <a:srgbClr val="FFFFFF"/>
                </a:solidFill>
              </a:rPr>
              <a:t>웹 프로그래밍</a:t>
            </a:r>
            <a:endParaRPr lang="ko-KR" altLang="en-US" sz="1400" b="1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149600" y="3717032"/>
            <a:ext cx="6096000" cy="1752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>
              <a:buFont typeface="Wingdings" pitchFamily="2" charset="2"/>
              <a:buNone/>
              <a:defRPr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ko-KR" altLang="en-US" noProof="0" dirty="0"/>
              <a:t>마스터 부제목 스타일 편집</a:t>
            </a:r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1524000" y="2492896"/>
            <a:ext cx="9347200" cy="6396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lnSpc>
                <a:spcPct val="80000"/>
              </a:lnSpc>
              <a:defRPr sz="4400" i="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4108" name="Rectangle 12"/>
          <p:cNvSpPr>
            <a:spLocks noChangeArrowheads="1"/>
          </p:cNvSpPr>
          <p:nvPr/>
        </p:nvSpPr>
        <p:spPr bwMode="auto">
          <a:xfrm>
            <a:off x="2678544" y="3356992"/>
            <a:ext cx="7315200" cy="762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3333CC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800"/>
          </a:p>
        </p:txBody>
      </p:sp>
      <p:sp>
        <p:nvSpPr>
          <p:cNvPr id="4109" name="Line 13"/>
          <p:cNvSpPr>
            <a:spLocks noChangeShapeType="1"/>
          </p:cNvSpPr>
          <p:nvPr/>
        </p:nvSpPr>
        <p:spPr bwMode="auto">
          <a:xfrm>
            <a:off x="10261600" y="457200"/>
            <a:ext cx="193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800"/>
          </a:p>
        </p:txBody>
      </p:sp>
      <p:pic>
        <p:nvPicPr>
          <p:cNvPr id="4112" name="Picture 16" descr="D:\usr\강의노트\부산대 로고\sanjinee_use02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85" y="620688"/>
            <a:ext cx="1425635" cy="59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392" y="394802"/>
            <a:ext cx="11074400" cy="648072"/>
          </a:xfrm>
        </p:spPr>
        <p:txBody>
          <a:bodyPr/>
          <a:lstStyle>
            <a:lvl1pPr>
              <a:defRPr b="0" i="0" baseline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700" b="0" i="0" baseline="0">
                <a:solidFill>
                  <a:schemeClr val="tx1"/>
                </a:solidFill>
              </a:defRPr>
            </a:lvl1pPr>
            <a:lvl2pPr>
              <a:defRPr sz="2400" baseline="0">
                <a:latin typeface="Microsoft YaHei" panose="020B0503020204020204" pitchFamily="34" charset="-122"/>
                <a:ea typeface="맑은 고딕" panose="020B0503020000020004" pitchFamily="50" charset="-127"/>
              </a:defRPr>
            </a:lvl2pPr>
            <a:lvl3pPr>
              <a:defRPr sz="2000" baseline="0">
                <a:latin typeface="Microsoft YaHei" panose="020B0503020204020204" pitchFamily="34" charset="-122"/>
                <a:ea typeface="맑은 고딕" panose="020B0503020000020004" pitchFamily="50" charset="-127"/>
              </a:defRPr>
            </a:lvl3pPr>
            <a:lvl4pPr>
              <a:defRPr sz="2000" baseline="0">
                <a:latin typeface="Microsoft YaHei" panose="020B0503020204020204" pitchFamily="34" charset="-122"/>
                <a:ea typeface="맑은 고딕" panose="020B0503020000020004" pitchFamily="50" charset="-127"/>
              </a:defRPr>
            </a:lvl4pPr>
            <a:lvl5pPr>
              <a:defRPr baseline="0">
                <a:latin typeface="Microsoft YaHei" panose="020B0503020204020204" pitchFamily="34" charset="-122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0578159" y="6218462"/>
            <a:ext cx="11196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0070C0"/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840157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420889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70C0"/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229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7122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914400" y="1371600"/>
            <a:ext cx="52324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50000" y="1371600"/>
            <a:ext cx="52324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0471814" y="6218462"/>
            <a:ext cx="10967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141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10488488" y="6218462"/>
            <a:ext cx="10967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602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6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0759846" y="6218462"/>
            <a:ext cx="10967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70C0"/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3654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1136560" y="6218462"/>
            <a:ext cx="684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177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28187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1136560" y="6218462"/>
            <a:ext cx="684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654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1064552" y="6218462"/>
            <a:ext cx="7565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25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18600" y="457200"/>
            <a:ext cx="2768600" cy="55626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12800" y="457200"/>
            <a:ext cx="8102600" cy="55626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1136560" y="6218462"/>
            <a:ext cx="684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554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12800" y="457200"/>
            <a:ext cx="11074400" cy="762000"/>
          </a:xfrm>
        </p:spPr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914400" y="1371600"/>
            <a:ext cx="10668000" cy="4648200"/>
          </a:xfrm>
        </p:spPr>
        <p:txBody>
          <a:bodyPr/>
          <a:lstStyle/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8739" y="6193432"/>
            <a:ext cx="2844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 b="1"/>
            </a:lvl1pPr>
          </a:lstStyle>
          <a:p>
            <a:endParaRPr lang="ko-KR" altLang="en-US"/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1273260" y="6218462"/>
            <a:ext cx="5478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38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208567" y="6342782"/>
            <a:ext cx="516541" cy="365125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335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2085257" y="63586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5735960" y="635952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208567" y="6342782"/>
            <a:ext cx="516541" cy="365125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376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216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2">
            <a:extLst>
              <a:ext uri="{FF2B5EF4-FFF2-40B4-BE49-F238E27FC236}">
                <a16:creationId xmlns:a16="http://schemas.microsoft.com/office/drawing/2014/main" id="{6B64E972-9236-4801-A2B3-A7C1D95466AD}"/>
              </a:ext>
            </a:extLst>
          </p:cNvPr>
          <p:cNvSpPr txBox="1">
            <a:spLocks/>
          </p:cNvSpPr>
          <p:nvPr userDrawn="1"/>
        </p:nvSpPr>
        <p:spPr>
          <a:xfrm>
            <a:off x="11184565" y="6566460"/>
            <a:ext cx="711200" cy="244476"/>
          </a:xfrm>
          <a:prstGeom prst="rect">
            <a:avLst/>
          </a:prstGeom>
        </p:spPr>
        <p:txBody>
          <a:bodyPr vert="horz" anchor="ctr" anchorCtr="0">
            <a:normAutofit fontScale="55000" lnSpcReduction="20000"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z="2200" smtClean="0">
                <a:solidFill>
                  <a:srgbClr val="247ABF"/>
                </a:solidFill>
              </a:rPr>
              <a:pPr/>
              <a:t>‹#›</a:t>
            </a:fld>
            <a:endParaRPr lang="ko-KR" altLang="en-US" sz="1800" dirty="0">
              <a:solidFill>
                <a:srgbClr val="247AB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037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5743B9"/>
            </a:gs>
            <a:gs pos="100000">
              <a:srgbClr val="04D2E8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12192000" cy="228600"/>
          </a:xfrm>
          <a:prstGeom prst="rect">
            <a:avLst/>
          </a:prstGeom>
          <a:gradFill rotWithShape="0">
            <a:gsLst>
              <a:gs pos="0">
                <a:srgbClr val="021A94">
                  <a:gamma/>
                  <a:shade val="46275"/>
                  <a:invGamma/>
                </a:srgbClr>
              </a:gs>
              <a:gs pos="100000">
                <a:srgbClr val="021A94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ko-KR" altLang="en-US" sz="14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웹 프로그래밍       </a:t>
            </a:r>
          </a:p>
        </p:txBody>
      </p:sp>
      <p:sp>
        <p:nvSpPr>
          <p:cNvPr id="3075" name="AutoShape 3"/>
          <p:cNvSpPr>
            <a:spLocks noChangeArrowheads="1"/>
          </p:cNvSpPr>
          <p:nvPr/>
        </p:nvSpPr>
        <p:spPr bwMode="auto">
          <a:xfrm>
            <a:off x="150859" y="312860"/>
            <a:ext cx="11947061" cy="6428508"/>
          </a:xfrm>
          <a:prstGeom prst="roundRect">
            <a:avLst>
              <a:gd name="adj" fmla="val 7704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80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23392" y="386908"/>
            <a:ext cx="11074400" cy="648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pic>
        <p:nvPicPr>
          <p:cNvPr id="3089" name="Picture 17" descr="D:\usr\강의노트\부산대 로고\signature01.jpg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60" y="6309320"/>
            <a:ext cx="1920213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3392" y="1124744"/>
            <a:ext cx="11130293" cy="50405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0320469" y="6342782"/>
            <a:ext cx="14046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70C0"/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60" r:id="rId13"/>
    <p:sldLayoutId id="2147483661" r:id="rId14"/>
    <p:sldLayoutId id="2147483662" r:id="rId15"/>
    <p:sldLayoutId id="2147483676" r:id="rId16"/>
  </p:sldLayoutIdLst>
  <p:hf hdr="0" ftr="0" dt="0"/>
  <p:txStyles>
    <p:titleStyle>
      <a:lvl1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000" b="1" i="0">
          <a:solidFill>
            <a:srgbClr val="47309C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2pPr>
      <a:lvl3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3pPr>
      <a:lvl4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4pPr>
      <a:lvl5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5pPr>
      <a:lvl6pPr marL="4572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6pPr>
      <a:lvl7pPr marL="9144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7pPr>
      <a:lvl8pPr marL="13716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8pPr>
      <a:lvl9pPr marL="18288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q"/>
        <a:defRPr kumimoji="1" sz="2700" b="0" i="0" baseline="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kumimoji="1" sz="2500" baseline="0">
          <a:solidFill>
            <a:schemeClr val="bg1"/>
          </a:solidFill>
          <a:latin typeface="+mn-lt"/>
          <a:ea typeface="맑은 고딕" panose="020B0503020000020004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FF5050"/>
        </a:buClr>
        <a:buSzPct val="80000"/>
        <a:buChar char="o"/>
        <a:defRPr kumimoji="1" sz="22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00FF"/>
        </a:buClr>
        <a:buSzPct val="100000"/>
        <a:buChar char="•"/>
        <a:defRPr kumimoji="1"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1800">
          <a:solidFill>
            <a:schemeClr val="bg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ebprogramming.co.kr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n-US" altLang="ko-KR" dirty="0"/>
              <a:t>IT</a:t>
            </a:r>
            <a:r>
              <a:rPr lang="ko-KR" altLang="en-US" dirty="0"/>
              <a:t>응용공학과</a:t>
            </a:r>
            <a:endParaRPr lang="en-US" altLang="ko-KR" dirty="0"/>
          </a:p>
          <a:p>
            <a:r>
              <a:rPr lang="ko-KR" altLang="en-US" dirty="0"/>
              <a:t>허석렬</a:t>
            </a:r>
            <a:endParaRPr lang="en-US" altLang="ko-KR" dirty="0"/>
          </a:p>
          <a:p>
            <a:r>
              <a:rPr lang="en-US" altLang="ko-KR" dirty="0"/>
              <a:t>syheo@pusan.ac.kr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윈도우와 브라우저 관련 객체</a:t>
            </a:r>
          </a:p>
        </p:txBody>
      </p:sp>
    </p:spTree>
    <p:extLst>
      <p:ext uri="{BB962C8B-B14F-4D97-AF65-F5344CB8AC3E}">
        <p14:creationId xmlns:p14="http://schemas.microsoft.com/office/powerpoint/2010/main" val="3976991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>
          <a:xfrm>
            <a:off x="1343472" y="1916832"/>
            <a:ext cx="9571112" cy="374441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BOM, </a:t>
            </a:r>
            <a:r>
              <a:rPr lang="ko-KR" altLang="en-US" dirty="0"/>
              <a:t>즉 브라우저 관련 객체 종류를 안다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window </a:t>
            </a:r>
            <a:r>
              <a:rPr lang="ko-KR" altLang="en-US" dirty="0"/>
              <a:t>객체를 이해하고 윈도우 열기</a:t>
            </a:r>
            <a:r>
              <a:rPr lang="en-US" altLang="ko-KR" dirty="0"/>
              <a:t>, </a:t>
            </a:r>
            <a:r>
              <a:rPr lang="ko-KR" altLang="en-US" dirty="0"/>
              <a:t>닫기</a:t>
            </a:r>
            <a:r>
              <a:rPr lang="en-US" altLang="ko-KR" dirty="0"/>
              <a:t> </a:t>
            </a:r>
            <a:r>
              <a:rPr lang="ko-KR" altLang="en-US" dirty="0"/>
              <a:t>등을 제어할 수 있다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window </a:t>
            </a:r>
            <a:r>
              <a:rPr lang="ko-KR" altLang="en-US" dirty="0"/>
              <a:t>객체의</a:t>
            </a:r>
            <a:r>
              <a:rPr lang="en-US" altLang="ko-KR" dirty="0"/>
              <a:t> </a:t>
            </a:r>
            <a:r>
              <a:rPr lang="ko-KR" altLang="en-US" dirty="0"/>
              <a:t>타이머 기능을 활용할 수 있다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window </a:t>
            </a:r>
            <a:r>
              <a:rPr lang="ko-KR" altLang="en-US" dirty="0"/>
              <a:t>객체를 이용하여 프린트</a:t>
            </a:r>
            <a:r>
              <a:rPr lang="en-US" altLang="ko-KR" dirty="0"/>
              <a:t>, </a:t>
            </a:r>
            <a:r>
              <a:rPr lang="ko-KR" altLang="en-US" dirty="0"/>
              <a:t>윈도우 움직이기 등 다양한 제어를 할 수 있다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location </a:t>
            </a:r>
            <a:r>
              <a:rPr lang="ko-KR" altLang="en-US" dirty="0"/>
              <a:t>객체로 윈도우에 </a:t>
            </a:r>
            <a:r>
              <a:rPr lang="ko-KR" altLang="en-US" dirty="0" err="1"/>
              <a:t>로드된</a:t>
            </a:r>
            <a:r>
              <a:rPr lang="ko-KR" altLang="en-US" dirty="0"/>
              <a:t> 문서의 주소를 알고 새 문서를 </a:t>
            </a:r>
            <a:r>
              <a:rPr lang="ko-KR" altLang="en-US" dirty="0" err="1"/>
              <a:t>로드할</a:t>
            </a:r>
            <a:r>
              <a:rPr lang="ko-KR" altLang="en-US" dirty="0"/>
              <a:t> 수 있다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navigator </a:t>
            </a:r>
            <a:r>
              <a:rPr lang="ko-KR" altLang="en-US" dirty="0"/>
              <a:t>객체를 통해 현재 브라우저의 관한 정보를 알아낼 수 있다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screen </a:t>
            </a:r>
            <a:r>
              <a:rPr lang="ko-KR" altLang="en-US" dirty="0"/>
              <a:t>객체를 통해 현재 스크린 장치의 해상도를 알아 낼 수 있다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history </a:t>
            </a:r>
            <a:r>
              <a:rPr lang="ko-KR" altLang="en-US" dirty="0"/>
              <a:t>객체를 이용하여 지금까지 윈도우에 </a:t>
            </a:r>
            <a:r>
              <a:rPr lang="ko-KR" altLang="en-US" dirty="0" err="1"/>
              <a:t>로드된</a:t>
            </a:r>
            <a:r>
              <a:rPr lang="ko-KR" altLang="en-US" dirty="0"/>
              <a:t> 웹 페이지로 이동할 수 있다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551384" y="908721"/>
            <a:ext cx="10363200" cy="648072"/>
          </a:xfrm>
        </p:spPr>
        <p:txBody>
          <a:bodyPr/>
          <a:lstStyle/>
          <a:p>
            <a:r>
              <a:rPr lang="ko-KR" altLang="en-US" dirty="0"/>
              <a:t>강의 목표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1B217672-ED71-4490-AB08-414602C0B426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1833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브라우저 관련 객체 개요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BOM(Browser Object Model) </a:t>
            </a:r>
            <a:r>
              <a:rPr lang="ko-KR" altLang="en-US" dirty="0"/>
              <a:t>객체들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자바스크립트로 브라우저를 제어하기 위해 지원되는 객체들</a:t>
            </a:r>
            <a:endParaRPr lang="en-US" altLang="ko-KR" dirty="0"/>
          </a:p>
          <a:p>
            <a:pPr lvl="2"/>
            <a:r>
              <a:rPr lang="en-US" altLang="ko-KR" dirty="0"/>
              <a:t>HTML </a:t>
            </a:r>
            <a:r>
              <a:rPr lang="ko-KR" altLang="en-US" dirty="0"/>
              <a:t>페이지의 내용과 관계없음</a:t>
            </a:r>
            <a:endParaRPr lang="en-US" altLang="ko-KR" dirty="0"/>
          </a:p>
          <a:p>
            <a:pPr lvl="1"/>
            <a:r>
              <a:rPr lang="ko-KR" altLang="en-US" dirty="0"/>
              <a:t>브라우저 공통 </a:t>
            </a:r>
            <a:r>
              <a:rPr lang="en-US" altLang="ko-KR" dirty="0"/>
              <a:t>BOM </a:t>
            </a:r>
            <a:r>
              <a:rPr lang="ko-KR" altLang="en-US" dirty="0"/>
              <a:t>객체들과 기능</a:t>
            </a:r>
            <a:endParaRPr lang="en-US" altLang="ko-KR" dirty="0"/>
          </a:p>
          <a:p>
            <a:pPr lvl="2"/>
            <a:r>
              <a:rPr lang="en-US" altLang="ko-KR" dirty="0"/>
              <a:t>window – </a:t>
            </a:r>
            <a:r>
              <a:rPr lang="ko-KR" altLang="en-US" dirty="0"/>
              <a:t>브라우저 윈도우 모양 제어</a:t>
            </a:r>
            <a:r>
              <a:rPr lang="en-US" altLang="ko-KR" dirty="0"/>
              <a:t>. </a:t>
            </a:r>
            <a:r>
              <a:rPr lang="ko-KR" altLang="en-US" dirty="0"/>
              <a:t>새 윈도우 열기</a:t>
            </a:r>
            <a:r>
              <a:rPr lang="en-US" altLang="ko-KR" dirty="0"/>
              <a:t>/</a:t>
            </a:r>
            <a:r>
              <a:rPr lang="ko-KR" altLang="en-US" dirty="0"/>
              <a:t>닫기</a:t>
            </a:r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navigator – </a:t>
            </a:r>
            <a:r>
              <a:rPr lang="ko-KR" altLang="en-US" dirty="0"/>
              <a:t>브라우저에 대한 다양한 정보 제공</a:t>
            </a:r>
          </a:p>
          <a:p>
            <a:pPr lvl="2"/>
            <a:r>
              <a:rPr lang="en-US" altLang="ko-KR" dirty="0"/>
              <a:t>history  - </a:t>
            </a:r>
            <a:r>
              <a:rPr lang="ko-KR" altLang="en-US" dirty="0"/>
              <a:t>브라우저 윈도우에</a:t>
            </a:r>
            <a:r>
              <a:rPr lang="en-US" altLang="ko-KR" dirty="0"/>
              <a:t> </a:t>
            </a:r>
            <a:r>
              <a:rPr lang="ko-KR" altLang="en-US" dirty="0" err="1"/>
              <a:t>로드한</a:t>
            </a:r>
            <a:r>
              <a:rPr lang="ko-KR" altLang="en-US" dirty="0"/>
              <a:t> </a:t>
            </a:r>
            <a:r>
              <a:rPr lang="en-US" altLang="ko-KR" dirty="0"/>
              <a:t>URL </a:t>
            </a:r>
            <a:r>
              <a:rPr lang="ko-KR" altLang="en-US" dirty="0"/>
              <a:t>리스트의 </a:t>
            </a:r>
            <a:r>
              <a:rPr lang="ko-KR" altLang="en-US" dirty="0" err="1"/>
              <a:t>히스토리</a:t>
            </a:r>
            <a:r>
              <a:rPr lang="ko-KR" altLang="en-US" dirty="0"/>
              <a:t> 관리</a:t>
            </a:r>
            <a:endParaRPr lang="en-US" altLang="ko-KR" dirty="0"/>
          </a:p>
          <a:p>
            <a:pPr lvl="2"/>
            <a:r>
              <a:rPr lang="en-US" altLang="ko-KR" dirty="0"/>
              <a:t>location – </a:t>
            </a:r>
            <a:r>
              <a:rPr lang="ko-KR" altLang="en-US" dirty="0"/>
              <a:t>브라우저 윈도우에 </a:t>
            </a:r>
            <a:r>
              <a:rPr lang="ko-KR" altLang="en-US" dirty="0" err="1"/>
              <a:t>로드된</a:t>
            </a:r>
            <a:r>
              <a:rPr lang="ko-KR" altLang="en-US" dirty="0"/>
              <a:t> </a:t>
            </a:r>
            <a:r>
              <a:rPr lang="en-US" altLang="ko-KR" dirty="0"/>
              <a:t>HTML </a:t>
            </a:r>
            <a:r>
              <a:rPr lang="ko-KR" altLang="en-US" dirty="0"/>
              <a:t>페이지의 </a:t>
            </a:r>
            <a:r>
              <a:rPr lang="en-US" altLang="ko-KR" dirty="0"/>
              <a:t>URL </a:t>
            </a:r>
            <a:r>
              <a:rPr lang="ko-KR" altLang="en-US" dirty="0"/>
              <a:t>관리</a:t>
            </a:r>
            <a:endParaRPr lang="en-US" altLang="ko-KR" dirty="0"/>
          </a:p>
          <a:p>
            <a:pPr lvl="2"/>
            <a:r>
              <a:rPr lang="en-US" altLang="ko-KR" dirty="0"/>
              <a:t>screen – </a:t>
            </a:r>
            <a:r>
              <a:rPr lang="ko-KR" altLang="en-US" dirty="0"/>
              <a:t>브라우저가 실행되고 있는 스크린 장치에 대한 정보 제공</a:t>
            </a:r>
            <a:endParaRPr lang="en-US" altLang="ko-KR" dirty="0"/>
          </a:p>
          <a:p>
            <a:r>
              <a:rPr lang="en-US" altLang="ko-KR" dirty="0"/>
              <a:t>BOM</a:t>
            </a:r>
            <a:r>
              <a:rPr lang="ko-KR" altLang="en-US" dirty="0"/>
              <a:t>의 국제 표준이 없다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브라우저마다 </a:t>
            </a:r>
            <a:r>
              <a:rPr lang="en-US" altLang="ko-KR" dirty="0"/>
              <a:t>BOM</a:t>
            </a:r>
            <a:r>
              <a:rPr lang="ko-KR" altLang="en-US" dirty="0"/>
              <a:t> 객체들이 조금씩 다름</a:t>
            </a:r>
            <a:endParaRPr lang="en-US" altLang="ko-KR" dirty="0"/>
          </a:p>
          <a:p>
            <a:pPr lvl="1"/>
            <a:r>
              <a:rPr lang="ko-KR" altLang="en-US" dirty="0"/>
              <a:t>브라우저마다 이름이 같은 </a:t>
            </a:r>
            <a:r>
              <a:rPr lang="en-US" altLang="ko-KR" dirty="0"/>
              <a:t>BOM </a:t>
            </a:r>
            <a:r>
              <a:rPr lang="ko-KR" altLang="en-US" dirty="0"/>
              <a:t>객체의 프로퍼티와 메소드의 기능이 다름</a:t>
            </a:r>
            <a:endParaRPr lang="en-US" altLang="ko-KR" dirty="0"/>
          </a:p>
          <a:p>
            <a:pPr lvl="2"/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F3BF710F-D02A-44BD-B459-BCDEA0C3F5DD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997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8D1FC38-5FD7-4CBF-AA37-79C4EC5FA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944" y="1437043"/>
            <a:ext cx="2556498" cy="1812484"/>
          </a:xfrm>
          <a:prstGeom prst="rect">
            <a:avLst/>
          </a:prstGeom>
          <a:ln w="6350">
            <a:solidFill>
              <a:srgbClr val="0070C0"/>
            </a:solidFill>
          </a:ln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5087889" y="2429262"/>
            <a:ext cx="5184577" cy="38191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5087889" y="507896"/>
            <a:ext cx="5184576" cy="17689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0" name="직선 화살표 연결선 9"/>
          <p:cNvCxnSpPr>
            <a:cxnSpLocks/>
            <a:endCxn id="17" idx="1"/>
          </p:cNvCxnSpPr>
          <p:nvPr/>
        </p:nvCxnSpPr>
        <p:spPr>
          <a:xfrm flipV="1">
            <a:off x="4526910" y="1043214"/>
            <a:ext cx="2682658" cy="46889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endCxn id="24" idx="1"/>
          </p:cNvCxnSpPr>
          <p:nvPr/>
        </p:nvCxnSpPr>
        <p:spPr>
          <a:xfrm>
            <a:off x="4435915" y="2501792"/>
            <a:ext cx="1808666" cy="267217"/>
          </a:xfrm>
          <a:prstGeom prst="straightConnector1">
            <a:avLst/>
          </a:prstGeom>
          <a:ln w="28575">
            <a:solidFill>
              <a:srgbClr val="0070C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413"/>
          <p:cNvSpPr>
            <a:spLocks noChangeArrowheads="1"/>
          </p:cNvSpPr>
          <p:nvPr/>
        </p:nvSpPr>
        <p:spPr bwMode="auto">
          <a:xfrm>
            <a:off x="7031464" y="1685439"/>
            <a:ext cx="856903" cy="308495"/>
          </a:xfrm>
          <a:prstGeom prst="rect">
            <a:avLst/>
          </a:prstGeom>
          <a:solidFill>
            <a:srgbClr val="FFFF00"/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history</a:t>
            </a:r>
          </a:p>
        </p:txBody>
      </p:sp>
      <p:sp>
        <p:nvSpPr>
          <p:cNvPr id="13" name="Rectangle 414"/>
          <p:cNvSpPr>
            <a:spLocks noChangeArrowheads="1"/>
          </p:cNvSpPr>
          <p:nvPr/>
        </p:nvSpPr>
        <p:spPr bwMode="auto">
          <a:xfrm>
            <a:off x="5551667" y="1688605"/>
            <a:ext cx="990600" cy="308495"/>
          </a:xfrm>
          <a:prstGeom prst="rect">
            <a:avLst/>
          </a:prstGeom>
          <a:solidFill>
            <a:srgbClr val="FFFF00"/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navigator</a:t>
            </a:r>
          </a:p>
        </p:txBody>
      </p:sp>
      <p:sp>
        <p:nvSpPr>
          <p:cNvPr id="14" name="Rectangle 415"/>
          <p:cNvSpPr>
            <a:spLocks noChangeArrowheads="1"/>
          </p:cNvSpPr>
          <p:nvPr/>
        </p:nvSpPr>
        <p:spPr bwMode="auto">
          <a:xfrm>
            <a:off x="9184634" y="1682273"/>
            <a:ext cx="803460" cy="308495"/>
          </a:xfrm>
          <a:prstGeom prst="rect">
            <a:avLst/>
          </a:prstGeom>
          <a:solidFill>
            <a:srgbClr val="FFFF00"/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screen</a:t>
            </a:r>
          </a:p>
        </p:txBody>
      </p:sp>
      <p:sp>
        <p:nvSpPr>
          <p:cNvPr id="15" name="Rectangle 416"/>
          <p:cNvSpPr>
            <a:spLocks noChangeArrowheads="1"/>
          </p:cNvSpPr>
          <p:nvPr/>
        </p:nvSpPr>
        <p:spPr bwMode="auto">
          <a:xfrm>
            <a:off x="8053492" y="1682273"/>
            <a:ext cx="914400" cy="308495"/>
          </a:xfrm>
          <a:prstGeom prst="rect">
            <a:avLst/>
          </a:prstGeom>
          <a:solidFill>
            <a:srgbClr val="FFFF00"/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location</a:t>
            </a:r>
          </a:p>
        </p:txBody>
      </p:sp>
      <p:sp>
        <p:nvSpPr>
          <p:cNvPr id="16" name="Line 420"/>
          <p:cNvSpPr>
            <a:spLocks noChangeShapeType="1"/>
          </p:cNvSpPr>
          <p:nvPr/>
        </p:nvSpPr>
        <p:spPr bwMode="auto">
          <a:xfrm flipV="1">
            <a:off x="6046967" y="1451721"/>
            <a:ext cx="3533078" cy="3166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17" name="Rectangle 410"/>
          <p:cNvSpPr>
            <a:spLocks noChangeArrowheads="1"/>
          </p:cNvSpPr>
          <p:nvPr/>
        </p:nvSpPr>
        <p:spPr bwMode="auto">
          <a:xfrm>
            <a:off x="7209569" y="899197"/>
            <a:ext cx="1046673" cy="288032"/>
          </a:xfrm>
          <a:prstGeom prst="rect">
            <a:avLst/>
          </a:prstGeom>
          <a:solidFill>
            <a:srgbClr val="FFFF00"/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window</a:t>
            </a:r>
          </a:p>
        </p:txBody>
      </p:sp>
      <p:cxnSp>
        <p:nvCxnSpPr>
          <p:cNvPr id="18" name="직선 연결선 17"/>
          <p:cNvCxnSpPr>
            <a:stCxn id="17" idx="2"/>
          </p:cNvCxnSpPr>
          <p:nvPr/>
        </p:nvCxnSpPr>
        <p:spPr>
          <a:xfrm flipH="1">
            <a:off x="7727617" y="1187229"/>
            <a:ext cx="5288" cy="264492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>
            <a:endCxn id="15" idx="0"/>
          </p:cNvCxnSpPr>
          <p:nvPr/>
        </p:nvCxnSpPr>
        <p:spPr>
          <a:xfrm>
            <a:off x="8510692" y="1451722"/>
            <a:ext cx="0" cy="230551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>
            <a:stCxn id="16" idx="1"/>
            <a:endCxn id="14" idx="0"/>
          </p:cNvCxnSpPr>
          <p:nvPr/>
        </p:nvCxnSpPr>
        <p:spPr>
          <a:xfrm>
            <a:off x="9580046" y="1451722"/>
            <a:ext cx="6319" cy="230551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endCxn id="12" idx="0"/>
          </p:cNvCxnSpPr>
          <p:nvPr/>
        </p:nvCxnSpPr>
        <p:spPr>
          <a:xfrm flipH="1">
            <a:off x="7459915" y="1454888"/>
            <a:ext cx="3552" cy="230551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endCxn id="13" idx="0"/>
          </p:cNvCxnSpPr>
          <p:nvPr/>
        </p:nvCxnSpPr>
        <p:spPr>
          <a:xfrm>
            <a:off x="6046967" y="1458054"/>
            <a:ext cx="0" cy="230551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>
            <a:endCxn id="24" idx="0"/>
          </p:cNvCxnSpPr>
          <p:nvPr/>
        </p:nvCxnSpPr>
        <p:spPr>
          <a:xfrm>
            <a:off x="6811439" y="1454888"/>
            <a:ext cx="4642" cy="1170105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411"/>
          <p:cNvSpPr>
            <a:spLocks noChangeArrowheads="1"/>
          </p:cNvSpPr>
          <p:nvPr/>
        </p:nvSpPr>
        <p:spPr bwMode="auto">
          <a:xfrm>
            <a:off x="6244581" y="2624992"/>
            <a:ext cx="1143000" cy="2880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document</a:t>
            </a:r>
          </a:p>
        </p:txBody>
      </p:sp>
      <p:sp>
        <p:nvSpPr>
          <p:cNvPr id="25" name="Rectangle 411"/>
          <p:cNvSpPr>
            <a:spLocks noChangeArrowheads="1"/>
          </p:cNvSpPr>
          <p:nvPr/>
        </p:nvSpPr>
        <p:spPr bwMode="auto">
          <a:xfrm>
            <a:off x="6244581" y="3117641"/>
            <a:ext cx="1143000" cy="3126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html</a:t>
            </a:r>
          </a:p>
        </p:txBody>
      </p:sp>
      <p:cxnSp>
        <p:nvCxnSpPr>
          <p:cNvPr id="26" name="직선 연결선 25"/>
          <p:cNvCxnSpPr>
            <a:stCxn id="24" idx="2"/>
            <a:endCxn id="25" idx="0"/>
          </p:cNvCxnSpPr>
          <p:nvPr/>
        </p:nvCxnSpPr>
        <p:spPr>
          <a:xfrm>
            <a:off x="6816081" y="2913025"/>
            <a:ext cx="0" cy="204617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411"/>
          <p:cNvSpPr>
            <a:spLocks noChangeArrowheads="1"/>
          </p:cNvSpPr>
          <p:nvPr/>
        </p:nvSpPr>
        <p:spPr bwMode="auto">
          <a:xfrm>
            <a:off x="5429248" y="3860866"/>
            <a:ext cx="770691" cy="3248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head</a:t>
            </a:r>
          </a:p>
        </p:txBody>
      </p:sp>
      <p:cxnSp>
        <p:nvCxnSpPr>
          <p:cNvPr id="28" name="직선 연결선 27"/>
          <p:cNvCxnSpPr>
            <a:endCxn id="27" idx="0"/>
          </p:cNvCxnSpPr>
          <p:nvPr/>
        </p:nvCxnSpPr>
        <p:spPr>
          <a:xfrm>
            <a:off x="5814593" y="3642983"/>
            <a:ext cx="0" cy="217882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411"/>
          <p:cNvSpPr>
            <a:spLocks noChangeArrowheads="1"/>
          </p:cNvSpPr>
          <p:nvPr/>
        </p:nvSpPr>
        <p:spPr bwMode="auto">
          <a:xfrm>
            <a:off x="7766123" y="3852710"/>
            <a:ext cx="765182" cy="32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body</a:t>
            </a:r>
          </a:p>
        </p:txBody>
      </p:sp>
      <p:cxnSp>
        <p:nvCxnSpPr>
          <p:cNvPr id="30" name="직선 연결선 29"/>
          <p:cNvCxnSpPr>
            <a:endCxn id="29" idx="0"/>
          </p:cNvCxnSpPr>
          <p:nvPr/>
        </p:nvCxnSpPr>
        <p:spPr>
          <a:xfrm flipH="1">
            <a:off x="8148715" y="3615444"/>
            <a:ext cx="735" cy="237266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411"/>
          <p:cNvSpPr>
            <a:spLocks noChangeArrowheads="1"/>
          </p:cNvSpPr>
          <p:nvPr/>
        </p:nvSpPr>
        <p:spPr bwMode="auto">
          <a:xfrm>
            <a:off x="5407444" y="4589621"/>
            <a:ext cx="831953" cy="3193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title</a:t>
            </a:r>
          </a:p>
        </p:txBody>
      </p:sp>
      <p:cxnSp>
        <p:nvCxnSpPr>
          <p:cNvPr id="32" name="직선 연결선 31"/>
          <p:cNvCxnSpPr>
            <a:stCxn id="27" idx="2"/>
            <a:endCxn id="31" idx="0"/>
          </p:cNvCxnSpPr>
          <p:nvPr/>
        </p:nvCxnSpPr>
        <p:spPr>
          <a:xfrm>
            <a:off x="5814594" y="4185744"/>
            <a:ext cx="8827" cy="403876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411"/>
          <p:cNvSpPr>
            <a:spLocks noChangeArrowheads="1"/>
          </p:cNvSpPr>
          <p:nvPr/>
        </p:nvSpPr>
        <p:spPr bwMode="auto">
          <a:xfrm>
            <a:off x="6828144" y="4589622"/>
            <a:ext cx="562790" cy="3193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p</a:t>
            </a:r>
          </a:p>
        </p:txBody>
      </p:sp>
      <p:sp>
        <p:nvSpPr>
          <p:cNvPr id="34" name="Line 420"/>
          <p:cNvSpPr>
            <a:spLocks noChangeShapeType="1"/>
          </p:cNvSpPr>
          <p:nvPr/>
        </p:nvSpPr>
        <p:spPr bwMode="auto">
          <a:xfrm flipV="1">
            <a:off x="5833438" y="3615444"/>
            <a:ext cx="2326396" cy="7645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ko-KR" altLang="en-US">
              <a:solidFill>
                <a:srgbClr val="0070C0"/>
              </a:solidFill>
            </a:endParaRPr>
          </a:p>
        </p:txBody>
      </p:sp>
      <p:cxnSp>
        <p:nvCxnSpPr>
          <p:cNvPr id="35" name="직선 연결선 34"/>
          <p:cNvCxnSpPr/>
          <p:nvPr/>
        </p:nvCxnSpPr>
        <p:spPr>
          <a:xfrm flipH="1">
            <a:off x="6832336" y="3437233"/>
            <a:ext cx="4642" cy="20575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>
            <a:stCxn id="38" idx="0"/>
            <a:endCxn id="33" idx="0"/>
          </p:cNvCxnSpPr>
          <p:nvPr/>
        </p:nvCxnSpPr>
        <p:spPr>
          <a:xfrm>
            <a:off x="7097937" y="4374321"/>
            <a:ext cx="11602" cy="21530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>
            <a:endCxn id="40" idx="0"/>
          </p:cNvCxnSpPr>
          <p:nvPr/>
        </p:nvCxnSpPr>
        <p:spPr>
          <a:xfrm>
            <a:off x="9063903" y="4386497"/>
            <a:ext cx="0" cy="232643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Line 420"/>
          <p:cNvSpPr>
            <a:spLocks noChangeShapeType="1"/>
          </p:cNvSpPr>
          <p:nvPr/>
        </p:nvSpPr>
        <p:spPr bwMode="auto">
          <a:xfrm>
            <a:off x="7097938" y="4374321"/>
            <a:ext cx="1965965" cy="0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ko-KR" altLang="en-US">
              <a:solidFill>
                <a:srgbClr val="0070C0"/>
              </a:solidFill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8159835" y="4190512"/>
            <a:ext cx="1" cy="203664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411"/>
          <p:cNvSpPr>
            <a:spLocks noChangeArrowheads="1"/>
          </p:cNvSpPr>
          <p:nvPr/>
        </p:nvSpPr>
        <p:spPr bwMode="auto">
          <a:xfrm>
            <a:off x="8775871" y="4619139"/>
            <a:ext cx="576064" cy="3019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form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67576" y="530156"/>
            <a:ext cx="2192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BOM(Browser Object Model)</a:t>
            </a:r>
            <a:endParaRPr lang="ko-KR" altLang="en-US" sz="12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967577" y="2655520"/>
            <a:ext cx="22926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DOM(Document Object Model)</a:t>
            </a:r>
            <a:endParaRPr lang="ko-KR" altLang="en-US" sz="12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4" name="자유형 43"/>
          <p:cNvSpPr/>
          <p:nvPr/>
        </p:nvSpPr>
        <p:spPr>
          <a:xfrm>
            <a:off x="1954263" y="1988083"/>
            <a:ext cx="2481652" cy="1048304"/>
          </a:xfrm>
          <a:custGeom>
            <a:avLst/>
            <a:gdLst>
              <a:gd name="connsiteX0" fmla="*/ 787400 w 3064933"/>
              <a:gd name="connsiteY0" fmla="*/ 16934 h 1041400"/>
              <a:gd name="connsiteX1" fmla="*/ 211666 w 3064933"/>
              <a:gd name="connsiteY1" fmla="*/ 42334 h 1041400"/>
              <a:gd name="connsiteX2" fmla="*/ 76200 w 3064933"/>
              <a:gd name="connsiteY2" fmla="*/ 67734 h 1041400"/>
              <a:gd name="connsiteX3" fmla="*/ 50800 w 3064933"/>
              <a:gd name="connsiteY3" fmla="*/ 76200 h 1041400"/>
              <a:gd name="connsiteX4" fmla="*/ 25400 w 3064933"/>
              <a:gd name="connsiteY4" fmla="*/ 406400 h 1041400"/>
              <a:gd name="connsiteX5" fmla="*/ 8466 w 3064933"/>
              <a:gd name="connsiteY5" fmla="*/ 533400 h 1041400"/>
              <a:gd name="connsiteX6" fmla="*/ 0 w 3064933"/>
              <a:gd name="connsiteY6" fmla="*/ 609600 h 1041400"/>
              <a:gd name="connsiteX7" fmla="*/ 8466 w 3064933"/>
              <a:gd name="connsiteY7" fmla="*/ 821267 h 1041400"/>
              <a:gd name="connsiteX8" fmla="*/ 25400 w 3064933"/>
              <a:gd name="connsiteY8" fmla="*/ 880534 h 1041400"/>
              <a:gd name="connsiteX9" fmla="*/ 42333 w 3064933"/>
              <a:gd name="connsiteY9" fmla="*/ 973667 h 1041400"/>
              <a:gd name="connsiteX10" fmla="*/ 50800 w 3064933"/>
              <a:gd name="connsiteY10" fmla="*/ 999067 h 1041400"/>
              <a:gd name="connsiteX11" fmla="*/ 118533 w 3064933"/>
              <a:gd name="connsiteY11" fmla="*/ 1007534 h 1041400"/>
              <a:gd name="connsiteX12" fmla="*/ 237066 w 3064933"/>
              <a:gd name="connsiteY12" fmla="*/ 1016000 h 1041400"/>
              <a:gd name="connsiteX13" fmla="*/ 313266 w 3064933"/>
              <a:gd name="connsiteY13" fmla="*/ 1024467 h 1041400"/>
              <a:gd name="connsiteX14" fmla="*/ 1727200 w 3064933"/>
              <a:gd name="connsiteY14" fmla="*/ 1032934 h 1041400"/>
              <a:gd name="connsiteX15" fmla="*/ 1896533 w 3064933"/>
              <a:gd name="connsiteY15" fmla="*/ 1041400 h 1041400"/>
              <a:gd name="connsiteX16" fmla="*/ 2641600 w 3064933"/>
              <a:gd name="connsiteY16" fmla="*/ 1024467 h 1041400"/>
              <a:gd name="connsiteX17" fmla="*/ 2717800 w 3064933"/>
              <a:gd name="connsiteY17" fmla="*/ 1016000 h 1041400"/>
              <a:gd name="connsiteX18" fmla="*/ 2743200 w 3064933"/>
              <a:gd name="connsiteY18" fmla="*/ 1007534 h 1041400"/>
              <a:gd name="connsiteX19" fmla="*/ 2971800 w 3064933"/>
              <a:gd name="connsiteY19" fmla="*/ 999067 h 1041400"/>
              <a:gd name="connsiteX20" fmla="*/ 2997200 w 3064933"/>
              <a:gd name="connsiteY20" fmla="*/ 982134 h 1041400"/>
              <a:gd name="connsiteX21" fmla="*/ 3005666 w 3064933"/>
              <a:gd name="connsiteY21" fmla="*/ 956734 h 1041400"/>
              <a:gd name="connsiteX22" fmla="*/ 3022600 w 3064933"/>
              <a:gd name="connsiteY22" fmla="*/ 939800 h 1041400"/>
              <a:gd name="connsiteX23" fmla="*/ 3031066 w 3064933"/>
              <a:gd name="connsiteY23" fmla="*/ 914400 h 1041400"/>
              <a:gd name="connsiteX24" fmla="*/ 3048000 w 3064933"/>
              <a:gd name="connsiteY24" fmla="*/ 821267 h 1041400"/>
              <a:gd name="connsiteX25" fmla="*/ 3056466 w 3064933"/>
              <a:gd name="connsiteY25" fmla="*/ 795867 h 1041400"/>
              <a:gd name="connsiteX26" fmla="*/ 3064933 w 3064933"/>
              <a:gd name="connsiteY26" fmla="*/ 745067 h 1041400"/>
              <a:gd name="connsiteX27" fmla="*/ 3056466 w 3064933"/>
              <a:gd name="connsiteY27" fmla="*/ 347134 h 1041400"/>
              <a:gd name="connsiteX28" fmla="*/ 3039533 w 3064933"/>
              <a:gd name="connsiteY28" fmla="*/ 279400 h 1041400"/>
              <a:gd name="connsiteX29" fmla="*/ 3031066 w 3064933"/>
              <a:gd name="connsiteY29" fmla="*/ 245534 h 1041400"/>
              <a:gd name="connsiteX30" fmla="*/ 2997200 w 3064933"/>
              <a:gd name="connsiteY30" fmla="*/ 143934 h 1041400"/>
              <a:gd name="connsiteX31" fmla="*/ 2988733 w 3064933"/>
              <a:gd name="connsiteY31" fmla="*/ 118534 h 1041400"/>
              <a:gd name="connsiteX32" fmla="*/ 2980266 w 3064933"/>
              <a:gd name="connsiteY32" fmla="*/ 93134 h 1041400"/>
              <a:gd name="connsiteX33" fmla="*/ 2887133 w 3064933"/>
              <a:gd name="connsiteY33" fmla="*/ 67734 h 1041400"/>
              <a:gd name="connsiteX34" fmla="*/ 2810933 w 3064933"/>
              <a:gd name="connsiteY34" fmla="*/ 50800 h 1041400"/>
              <a:gd name="connsiteX35" fmla="*/ 2413000 w 3064933"/>
              <a:gd name="connsiteY35" fmla="*/ 42334 h 1041400"/>
              <a:gd name="connsiteX36" fmla="*/ 1981200 w 3064933"/>
              <a:gd name="connsiteY36" fmla="*/ 50800 h 1041400"/>
              <a:gd name="connsiteX37" fmla="*/ 1921933 w 3064933"/>
              <a:gd name="connsiteY37" fmla="*/ 59267 h 1041400"/>
              <a:gd name="connsiteX38" fmla="*/ 1854200 w 3064933"/>
              <a:gd name="connsiteY38" fmla="*/ 67734 h 1041400"/>
              <a:gd name="connsiteX39" fmla="*/ 1752600 w 3064933"/>
              <a:gd name="connsiteY39" fmla="*/ 84667 h 1041400"/>
              <a:gd name="connsiteX40" fmla="*/ 1676400 w 3064933"/>
              <a:gd name="connsiteY40" fmla="*/ 93134 h 1041400"/>
              <a:gd name="connsiteX41" fmla="*/ 1126066 w 3064933"/>
              <a:gd name="connsiteY41" fmla="*/ 84667 h 1041400"/>
              <a:gd name="connsiteX42" fmla="*/ 1083733 w 3064933"/>
              <a:gd name="connsiteY42" fmla="*/ 76200 h 1041400"/>
              <a:gd name="connsiteX43" fmla="*/ 956733 w 3064933"/>
              <a:gd name="connsiteY43" fmla="*/ 59267 h 1041400"/>
              <a:gd name="connsiteX44" fmla="*/ 922866 w 3064933"/>
              <a:gd name="connsiteY44" fmla="*/ 50800 h 1041400"/>
              <a:gd name="connsiteX45" fmla="*/ 872066 w 3064933"/>
              <a:gd name="connsiteY45" fmla="*/ 33867 h 1041400"/>
              <a:gd name="connsiteX46" fmla="*/ 821266 w 3064933"/>
              <a:gd name="connsiteY46" fmla="*/ 16934 h 1041400"/>
              <a:gd name="connsiteX47" fmla="*/ 770466 w 3064933"/>
              <a:gd name="connsiteY47" fmla="*/ 0 h 1041400"/>
              <a:gd name="connsiteX48" fmla="*/ 787400 w 3064933"/>
              <a:gd name="connsiteY48" fmla="*/ 16934 h 104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3064933" h="1041400">
                <a:moveTo>
                  <a:pt x="787400" y="16934"/>
                </a:moveTo>
                <a:cubicBezTo>
                  <a:pt x="403701" y="39504"/>
                  <a:pt x="595613" y="31041"/>
                  <a:pt x="211666" y="42334"/>
                </a:cubicBezTo>
                <a:cubicBezTo>
                  <a:pt x="180900" y="47461"/>
                  <a:pt x="96515" y="60963"/>
                  <a:pt x="76200" y="67734"/>
                </a:cubicBezTo>
                <a:lnTo>
                  <a:pt x="50800" y="76200"/>
                </a:lnTo>
                <a:cubicBezTo>
                  <a:pt x="3250" y="218845"/>
                  <a:pt x="40412" y="91144"/>
                  <a:pt x="25400" y="406400"/>
                </a:cubicBezTo>
                <a:cubicBezTo>
                  <a:pt x="22153" y="474589"/>
                  <a:pt x="16355" y="474234"/>
                  <a:pt x="8466" y="533400"/>
                </a:cubicBezTo>
                <a:cubicBezTo>
                  <a:pt x="5088" y="558732"/>
                  <a:pt x="2822" y="584200"/>
                  <a:pt x="0" y="609600"/>
                </a:cubicBezTo>
                <a:cubicBezTo>
                  <a:pt x="2822" y="680156"/>
                  <a:pt x="3608" y="750822"/>
                  <a:pt x="8466" y="821267"/>
                </a:cubicBezTo>
                <a:cubicBezTo>
                  <a:pt x="9974" y="843139"/>
                  <a:pt x="20250" y="859935"/>
                  <a:pt x="25400" y="880534"/>
                </a:cubicBezTo>
                <a:cubicBezTo>
                  <a:pt x="40804" y="942149"/>
                  <a:pt x="27240" y="905752"/>
                  <a:pt x="42333" y="973667"/>
                </a:cubicBezTo>
                <a:cubicBezTo>
                  <a:pt x="44269" y="982379"/>
                  <a:pt x="42645" y="995442"/>
                  <a:pt x="50800" y="999067"/>
                </a:cubicBezTo>
                <a:cubicBezTo>
                  <a:pt x="71592" y="1008308"/>
                  <a:pt x="95873" y="1005474"/>
                  <a:pt x="118533" y="1007534"/>
                </a:cubicBezTo>
                <a:cubicBezTo>
                  <a:pt x="157982" y="1011120"/>
                  <a:pt x="197603" y="1012569"/>
                  <a:pt x="237066" y="1016000"/>
                </a:cubicBezTo>
                <a:cubicBezTo>
                  <a:pt x="262526" y="1018214"/>
                  <a:pt x="287711" y="1024177"/>
                  <a:pt x="313266" y="1024467"/>
                </a:cubicBezTo>
                <a:lnTo>
                  <a:pt x="1727200" y="1032934"/>
                </a:lnTo>
                <a:cubicBezTo>
                  <a:pt x="1783644" y="1035756"/>
                  <a:pt x="1840018" y="1041400"/>
                  <a:pt x="1896533" y="1041400"/>
                </a:cubicBezTo>
                <a:cubicBezTo>
                  <a:pt x="2326755" y="1041400"/>
                  <a:pt x="2336516" y="1038995"/>
                  <a:pt x="2641600" y="1024467"/>
                </a:cubicBezTo>
                <a:cubicBezTo>
                  <a:pt x="2667000" y="1021645"/>
                  <a:pt x="2692591" y="1020201"/>
                  <a:pt x="2717800" y="1016000"/>
                </a:cubicBezTo>
                <a:cubicBezTo>
                  <a:pt x="2726603" y="1014533"/>
                  <a:pt x="2734295" y="1008128"/>
                  <a:pt x="2743200" y="1007534"/>
                </a:cubicBezTo>
                <a:cubicBezTo>
                  <a:pt x="2819283" y="1002462"/>
                  <a:pt x="2895600" y="1001889"/>
                  <a:pt x="2971800" y="999067"/>
                </a:cubicBezTo>
                <a:cubicBezTo>
                  <a:pt x="2980267" y="993423"/>
                  <a:pt x="2990843" y="990080"/>
                  <a:pt x="2997200" y="982134"/>
                </a:cubicBezTo>
                <a:cubicBezTo>
                  <a:pt x="3002775" y="975165"/>
                  <a:pt x="3001074" y="964387"/>
                  <a:pt x="3005666" y="956734"/>
                </a:cubicBezTo>
                <a:cubicBezTo>
                  <a:pt x="3009773" y="949889"/>
                  <a:pt x="3016955" y="945445"/>
                  <a:pt x="3022600" y="939800"/>
                </a:cubicBezTo>
                <a:cubicBezTo>
                  <a:pt x="3025422" y="931333"/>
                  <a:pt x="3028902" y="923058"/>
                  <a:pt x="3031066" y="914400"/>
                </a:cubicBezTo>
                <a:cubicBezTo>
                  <a:pt x="3046476" y="852761"/>
                  <a:pt x="3032902" y="889211"/>
                  <a:pt x="3048000" y="821267"/>
                </a:cubicBezTo>
                <a:cubicBezTo>
                  <a:pt x="3049936" y="812555"/>
                  <a:pt x="3054530" y="804579"/>
                  <a:pt x="3056466" y="795867"/>
                </a:cubicBezTo>
                <a:cubicBezTo>
                  <a:pt x="3060190" y="779109"/>
                  <a:pt x="3062111" y="762000"/>
                  <a:pt x="3064933" y="745067"/>
                </a:cubicBezTo>
                <a:cubicBezTo>
                  <a:pt x="3062111" y="612423"/>
                  <a:pt x="3063692" y="479611"/>
                  <a:pt x="3056466" y="347134"/>
                </a:cubicBezTo>
                <a:cubicBezTo>
                  <a:pt x="3055198" y="323896"/>
                  <a:pt x="3045177" y="301978"/>
                  <a:pt x="3039533" y="279400"/>
                </a:cubicBezTo>
                <a:cubicBezTo>
                  <a:pt x="3036711" y="268111"/>
                  <a:pt x="3034746" y="256573"/>
                  <a:pt x="3031066" y="245534"/>
                </a:cubicBezTo>
                <a:lnTo>
                  <a:pt x="2997200" y="143934"/>
                </a:lnTo>
                <a:lnTo>
                  <a:pt x="2988733" y="118534"/>
                </a:lnTo>
                <a:cubicBezTo>
                  <a:pt x="2985911" y="110067"/>
                  <a:pt x="2988733" y="95956"/>
                  <a:pt x="2980266" y="93134"/>
                </a:cubicBezTo>
                <a:cubicBezTo>
                  <a:pt x="2871283" y="56805"/>
                  <a:pt x="2982871" y="91668"/>
                  <a:pt x="2887133" y="67734"/>
                </a:cubicBezTo>
                <a:cubicBezTo>
                  <a:pt x="2847901" y="57926"/>
                  <a:pt x="2865817" y="52871"/>
                  <a:pt x="2810933" y="50800"/>
                </a:cubicBezTo>
                <a:cubicBezTo>
                  <a:pt x="2678353" y="45797"/>
                  <a:pt x="2545644" y="45156"/>
                  <a:pt x="2413000" y="42334"/>
                </a:cubicBezTo>
                <a:lnTo>
                  <a:pt x="1981200" y="50800"/>
                </a:lnTo>
                <a:cubicBezTo>
                  <a:pt x="1961256" y="51488"/>
                  <a:pt x="1941714" y="56629"/>
                  <a:pt x="1921933" y="59267"/>
                </a:cubicBezTo>
                <a:cubicBezTo>
                  <a:pt x="1899379" y="62274"/>
                  <a:pt x="1876702" y="64359"/>
                  <a:pt x="1854200" y="67734"/>
                </a:cubicBezTo>
                <a:cubicBezTo>
                  <a:pt x="1820246" y="72827"/>
                  <a:pt x="1786724" y="80875"/>
                  <a:pt x="1752600" y="84667"/>
                </a:cubicBezTo>
                <a:lnTo>
                  <a:pt x="1676400" y="93134"/>
                </a:lnTo>
                <a:lnTo>
                  <a:pt x="1126066" y="84667"/>
                </a:lnTo>
                <a:cubicBezTo>
                  <a:pt x="1111681" y="84256"/>
                  <a:pt x="1097891" y="78774"/>
                  <a:pt x="1083733" y="76200"/>
                </a:cubicBezTo>
                <a:cubicBezTo>
                  <a:pt x="1024025" y="65344"/>
                  <a:pt x="1025729" y="66933"/>
                  <a:pt x="956733" y="59267"/>
                </a:cubicBezTo>
                <a:cubicBezTo>
                  <a:pt x="945444" y="56445"/>
                  <a:pt x="934012" y="54144"/>
                  <a:pt x="922866" y="50800"/>
                </a:cubicBezTo>
                <a:cubicBezTo>
                  <a:pt x="905769" y="45671"/>
                  <a:pt x="888999" y="39511"/>
                  <a:pt x="872066" y="33867"/>
                </a:cubicBezTo>
                <a:lnTo>
                  <a:pt x="821266" y="16934"/>
                </a:lnTo>
                <a:lnTo>
                  <a:pt x="770466" y="0"/>
                </a:lnTo>
                <a:lnTo>
                  <a:pt x="787400" y="16934"/>
                </a:lnTo>
                <a:close/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Rectangle 411"/>
          <p:cNvSpPr>
            <a:spLocks noChangeArrowheads="1"/>
          </p:cNvSpPr>
          <p:nvPr/>
        </p:nvSpPr>
        <p:spPr bwMode="auto">
          <a:xfrm>
            <a:off x="6832336" y="5381206"/>
            <a:ext cx="562790" cy="3193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span</a:t>
            </a:r>
          </a:p>
        </p:txBody>
      </p:sp>
      <p:cxnSp>
        <p:nvCxnSpPr>
          <p:cNvPr id="46" name="직선 연결선 45"/>
          <p:cNvCxnSpPr>
            <a:stCxn id="33" idx="2"/>
            <a:endCxn id="45" idx="0"/>
          </p:cNvCxnSpPr>
          <p:nvPr/>
        </p:nvCxnSpPr>
        <p:spPr>
          <a:xfrm>
            <a:off x="7109539" y="4908931"/>
            <a:ext cx="4192" cy="472275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11"/>
          <p:cNvSpPr>
            <a:spLocks noChangeArrowheads="1"/>
          </p:cNvSpPr>
          <p:nvPr/>
        </p:nvSpPr>
        <p:spPr bwMode="auto">
          <a:xfrm>
            <a:off x="8133682" y="5381206"/>
            <a:ext cx="562790" cy="3193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input</a:t>
            </a:r>
          </a:p>
        </p:txBody>
      </p:sp>
      <p:cxnSp>
        <p:nvCxnSpPr>
          <p:cNvPr id="48" name="직선 연결선 47"/>
          <p:cNvCxnSpPr>
            <a:endCxn id="47" idx="0"/>
          </p:cNvCxnSpPr>
          <p:nvPr/>
        </p:nvCxnSpPr>
        <p:spPr>
          <a:xfrm flipH="1">
            <a:off x="8415078" y="5145333"/>
            <a:ext cx="5793" cy="235873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11"/>
          <p:cNvSpPr>
            <a:spLocks noChangeArrowheads="1"/>
          </p:cNvSpPr>
          <p:nvPr/>
        </p:nvSpPr>
        <p:spPr bwMode="auto">
          <a:xfrm>
            <a:off x="8830367" y="5385182"/>
            <a:ext cx="562790" cy="3193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input</a:t>
            </a:r>
          </a:p>
        </p:txBody>
      </p:sp>
      <p:cxnSp>
        <p:nvCxnSpPr>
          <p:cNvPr id="50" name="직선 연결선 49"/>
          <p:cNvCxnSpPr/>
          <p:nvPr/>
        </p:nvCxnSpPr>
        <p:spPr>
          <a:xfrm flipH="1">
            <a:off x="9077541" y="5141354"/>
            <a:ext cx="688" cy="234482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Line 420"/>
          <p:cNvSpPr>
            <a:spLocks noChangeShapeType="1"/>
          </p:cNvSpPr>
          <p:nvPr/>
        </p:nvSpPr>
        <p:spPr bwMode="auto">
          <a:xfrm>
            <a:off x="8428919" y="5141354"/>
            <a:ext cx="1298621" cy="3978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ko-KR" altLang="en-US">
              <a:solidFill>
                <a:srgbClr val="0070C0"/>
              </a:solidFill>
            </a:endParaRPr>
          </a:p>
        </p:txBody>
      </p:sp>
      <p:cxnSp>
        <p:nvCxnSpPr>
          <p:cNvPr id="52" name="직선 연결선 51"/>
          <p:cNvCxnSpPr/>
          <p:nvPr/>
        </p:nvCxnSpPr>
        <p:spPr>
          <a:xfrm flipH="1">
            <a:off x="9719491" y="5145333"/>
            <a:ext cx="5792" cy="239849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411"/>
          <p:cNvSpPr>
            <a:spLocks noChangeArrowheads="1"/>
          </p:cNvSpPr>
          <p:nvPr/>
        </p:nvSpPr>
        <p:spPr bwMode="auto">
          <a:xfrm>
            <a:off x="9580045" y="5381204"/>
            <a:ext cx="361264" cy="3193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 err="1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hr</a:t>
            </a:r>
            <a:endParaRPr lang="en-US" altLang="ko-KR" sz="1400" dirty="0">
              <a:solidFill>
                <a:srgbClr val="0070C0"/>
              </a:solidFill>
              <a:latin typeface="Helvetica" pitchFamily="34" charset="0"/>
              <a:ea typeface="돋움" pitchFamily="50" charset="-127"/>
            </a:endParaRPr>
          </a:p>
        </p:txBody>
      </p:sp>
      <p:cxnSp>
        <p:nvCxnSpPr>
          <p:cNvPr id="54" name="직선 연결선 53"/>
          <p:cNvCxnSpPr>
            <a:stCxn id="40" idx="2"/>
          </p:cNvCxnSpPr>
          <p:nvPr/>
        </p:nvCxnSpPr>
        <p:spPr>
          <a:xfrm>
            <a:off x="9063903" y="4921105"/>
            <a:ext cx="0" cy="231654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835927" y="6153154"/>
            <a:ext cx="1470045" cy="442674"/>
          </a:xfrm>
          <a:prstGeom prst="wedgeRoundRectCallout">
            <a:avLst>
              <a:gd name="adj1" fmla="val 48134"/>
              <a:gd name="adj2" fmla="val -73835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HTML </a:t>
            </a:r>
            <a:r>
              <a:rPr lang="ko-KR" altLang="en-US" sz="1000" dirty="0"/>
              <a:t>문서의 내용과 </a:t>
            </a:r>
            <a:endParaRPr lang="en-US" altLang="ko-KR" sz="1000" dirty="0"/>
          </a:p>
          <a:p>
            <a:r>
              <a:rPr lang="ko-KR" altLang="en-US" sz="1000" dirty="0"/>
              <a:t>관련된 객체들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1961427" y="3328644"/>
            <a:ext cx="2405935" cy="24468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rIns="36000">
            <a:spAutoFit/>
          </a:bodyPr>
          <a:lstStyle/>
          <a:p>
            <a:r>
              <a:rPr lang="en-US" altLang="ko-KR" sz="900" dirty="0"/>
              <a:t>&lt;!DOCTYPE html&gt;</a:t>
            </a:r>
          </a:p>
          <a:p>
            <a:r>
              <a:rPr lang="en-US" altLang="ko-KR" sz="900" dirty="0"/>
              <a:t>&lt;html&gt;</a:t>
            </a:r>
          </a:p>
          <a:p>
            <a:r>
              <a:rPr lang="en-US" altLang="ko-KR" sz="900" dirty="0"/>
              <a:t>&lt;head&gt;</a:t>
            </a:r>
          </a:p>
          <a:p>
            <a:r>
              <a:rPr lang="en-US" altLang="ko-KR" sz="900" dirty="0"/>
              <a:t>    &lt;title&gt;HTML DOM </a:t>
            </a:r>
            <a:r>
              <a:rPr lang="ko-KR" altLang="en-US" sz="900" dirty="0"/>
              <a:t>트리</a:t>
            </a:r>
            <a:r>
              <a:rPr lang="en-US" altLang="ko-KR" sz="900" dirty="0"/>
              <a:t>&lt;/title&gt;</a:t>
            </a:r>
          </a:p>
          <a:p>
            <a:r>
              <a:rPr lang="en-US" altLang="ko-KR" sz="900" dirty="0"/>
              <a:t>&lt;/head&gt;</a:t>
            </a:r>
          </a:p>
          <a:p>
            <a:r>
              <a:rPr lang="en-US" altLang="ko-KR" sz="900" dirty="0"/>
              <a:t>&lt;body&gt;</a:t>
            </a:r>
          </a:p>
          <a:p>
            <a:r>
              <a:rPr lang="en-US" altLang="ko-KR" sz="900" dirty="0"/>
              <a:t>&lt;p style="</a:t>
            </a:r>
            <a:r>
              <a:rPr lang="en-US" altLang="ko-KR" sz="900" dirty="0" err="1"/>
              <a:t>color:blue</a:t>
            </a:r>
            <a:r>
              <a:rPr lang="en-US" altLang="ko-KR" sz="900" dirty="0"/>
              <a:t>" &gt;</a:t>
            </a:r>
            <a:r>
              <a:rPr lang="ko-KR" altLang="en-US" sz="900" dirty="0"/>
              <a:t>이것은 </a:t>
            </a:r>
          </a:p>
          <a:p>
            <a:r>
              <a:rPr lang="en-US" altLang="ko-KR" sz="900" dirty="0"/>
              <a:t>    &lt;span style="</a:t>
            </a:r>
            <a:r>
              <a:rPr lang="en-US" altLang="ko-KR" sz="900" dirty="0" err="1"/>
              <a:t>color:red</a:t>
            </a:r>
            <a:r>
              <a:rPr lang="en-US" altLang="ko-KR" sz="900" dirty="0"/>
              <a:t>"&gt;</a:t>
            </a:r>
            <a:r>
              <a:rPr lang="ko-KR" altLang="en-US" sz="900" dirty="0"/>
              <a:t>문장입니다</a:t>
            </a:r>
            <a:r>
              <a:rPr lang="en-US" altLang="ko-KR" sz="900" dirty="0"/>
              <a:t>.</a:t>
            </a:r>
          </a:p>
          <a:p>
            <a:r>
              <a:rPr lang="en-US" altLang="ko-KR" sz="900" dirty="0"/>
              <a:t>    &lt;/span&gt;</a:t>
            </a:r>
          </a:p>
          <a:p>
            <a:r>
              <a:rPr lang="en-US" altLang="ko-KR" sz="900" dirty="0"/>
              <a:t>&lt;/p&gt;</a:t>
            </a:r>
          </a:p>
          <a:p>
            <a:r>
              <a:rPr lang="en-US" altLang="ko-KR" sz="900" dirty="0"/>
              <a:t>&lt;form&gt;</a:t>
            </a:r>
          </a:p>
          <a:p>
            <a:r>
              <a:rPr lang="en-US" altLang="ko-KR" sz="900" dirty="0"/>
              <a:t>    &lt;input type="text" name="s"&gt;</a:t>
            </a:r>
          </a:p>
          <a:p>
            <a:r>
              <a:rPr lang="en-US" altLang="ko-KR" sz="900" dirty="0"/>
              <a:t>    &lt;input type="button" value="</a:t>
            </a:r>
            <a:r>
              <a:rPr lang="ko-KR" altLang="en-US" sz="900" dirty="0"/>
              <a:t>테스트</a:t>
            </a:r>
            <a:r>
              <a:rPr lang="en-US" altLang="ko-KR" sz="900" dirty="0"/>
              <a:t>"&gt;</a:t>
            </a:r>
            <a:endParaRPr lang="ko-KR" altLang="en-US" sz="900" dirty="0"/>
          </a:p>
          <a:p>
            <a:r>
              <a:rPr lang="en-US" altLang="ko-KR" sz="900" dirty="0"/>
              <a:t>    &lt;</a:t>
            </a:r>
            <a:r>
              <a:rPr lang="en-US" altLang="ko-KR" sz="900" dirty="0" err="1"/>
              <a:t>hr</a:t>
            </a:r>
            <a:r>
              <a:rPr lang="en-US" altLang="ko-KR" sz="900" dirty="0"/>
              <a:t>&gt;</a:t>
            </a:r>
          </a:p>
          <a:p>
            <a:r>
              <a:rPr lang="en-US" altLang="ko-KR" sz="900" dirty="0"/>
              <a:t>&lt;/form&gt;</a:t>
            </a:r>
          </a:p>
          <a:p>
            <a:r>
              <a:rPr lang="en-US" altLang="ko-KR" sz="900" dirty="0"/>
              <a:t>&lt;/body&gt;</a:t>
            </a:r>
          </a:p>
          <a:p>
            <a:r>
              <a:rPr lang="en-US" altLang="ko-KR" sz="900" dirty="0"/>
              <a:t>&lt;/html&gt;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75721" y="532447"/>
            <a:ext cx="1442412" cy="272415"/>
          </a:xfrm>
          <a:prstGeom prst="wedgeRoundRectCallout">
            <a:avLst>
              <a:gd name="adj1" fmla="val 59471"/>
              <a:gd name="adj2" fmla="val -1122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브라우저 관련 객체들</a:t>
            </a:r>
            <a:endParaRPr lang="ko-KR" altLang="en-US" sz="1000" dirty="0"/>
          </a:p>
        </p:txBody>
      </p:sp>
      <p:sp>
        <p:nvSpPr>
          <p:cNvPr id="60" name="자유형: 도형 59">
            <a:extLst>
              <a:ext uri="{FF2B5EF4-FFF2-40B4-BE49-F238E27FC236}">
                <a16:creationId xmlns:a16="http://schemas.microsoft.com/office/drawing/2014/main" id="{BAF0ABF0-0C06-4EBA-9BA4-E44FA5D62617}"/>
              </a:ext>
            </a:extLst>
          </p:cNvPr>
          <p:cNvSpPr/>
          <p:nvPr/>
        </p:nvSpPr>
        <p:spPr>
          <a:xfrm>
            <a:off x="1871731" y="1601426"/>
            <a:ext cx="2659487" cy="1579656"/>
          </a:xfrm>
          <a:custGeom>
            <a:avLst/>
            <a:gdLst>
              <a:gd name="connsiteX0" fmla="*/ 64394 w 2659487"/>
              <a:gd name="connsiteY0" fmla="*/ 51516 h 1822361"/>
              <a:gd name="connsiteX1" fmla="*/ 57955 w 2659487"/>
              <a:gd name="connsiteY1" fmla="*/ 643944 h 1822361"/>
              <a:gd name="connsiteX2" fmla="*/ 51515 w 2659487"/>
              <a:gd name="connsiteY2" fmla="*/ 676141 h 1822361"/>
              <a:gd name="connsiteX3" fmla="*/ 45076 w 2659487"/>
              <a:gd name="connsiteY3" fmla="*/ 740535 h 1822361"/>
              <a:gd name="connsiteX4" fmla="*/ 32197 w 2659487"/>
              <a:gd name="connsiteY4" fmla="*/ 882203 h 1822361"/>
              <a:gd name="connsiteX5" fmla="*/ 25757 w 2659487"/>
              <a:gd name="connsiteY5" fmla="*/ 1010992 h 1822361"/>
              <a:gd name="connsiteX6" fmla="*/ 12878 w 2659487"/>
              <a:gd name="connsiteY6" fmla="*/ 1056068 h 1822361"/>
              <a:gd name="connsiteX7" fmla="*/ 6439 w 2659487"/>
              <a:gd name="connsiteY7" fmla="*/ 1210614 h 1822361"/>
              <a:gd name="connsiteX8" fmla="*/ 0 w 2659487"/>
              <a:gd name="connsiteY8" fmla="*/ 1294327 h 1822361"/>
              <a:gd name="connsiteX9" fmla="*/ 12878 w 2659487"/>
              <a:gd name="connsiteY9" fmla="*/ 1596980 h 1822361"/>
              <a:gd name="connsiteX10" fmla="*/ 19318 w 2659487"/>
              <a:gd name="connsiteY10" fmla="*/ 1616299 h 1822361"/>
              <a:gd name="connsiteX11" fmla="*/ 25757 w 2659487"/>
              <a:gd name="connsiteY11" fmla="*/ 1642056 h 1822361"/>
              <a:gd name="connsiteX12" fmla="*/ 38636 w 2659487"/>
              <a:gd name="connsiteY12" fmla="*/ 1732209 h 1822361"/>
              <a:gd name="connsiteX13" fmla="*/ 45076 w 2659487"/>
              <a:gd name="connsiteY13" fmla="*/ 1764406 h 1822361"/>
              <a:gd name="connsiteX14" fmla="*/ 103031 w 2659487"/>
              <a:gd name="connsiteY14" fmla="*/ 1783724 h 1822361"/>
              <a:gd name="connsiteX15" fmla="*/ 122349 w 2659487"/>
              <a:gd name="connsiteY15" fmla="*/ 1790164 h 1822361"/>
              <a:gd name="connsiteX16" fmla="*/ 173864 w 2659487"/>
              <a:gd name="connsiteY16" fmla="*/ 1803042 h 1822361"/>
              <a:gd name="connsiteX17" fmla="*/ 206062 w 2659487"/>
              <a:gd name="connsiteY17" fmla="*/ 1815921 h 1822361"/>
              <a:gd name="connsiteX18" fmla="*/ 270456 w 2659487"/>
              <a:gd name="connsiteY18" fmla="*/ 1822361 h 1822361"/>
              <a:gd name="connsiteX19" fmla="*/ 2086377 w 2659487"/>
              <a:gd name="connsiteY19" fmla="*/ 1809482 h 1822361"/>
              <a:gd name="connsiteX20" fmla="*/ 2266681 w 2659487"/>
              <a:gd name="connsiteY20" fmla="*/ 1783724 h 1822361"/>
              <a:gd name="connsiteX21" fmla="*/ 2498501 w 2659487"/>
              <a:gd name="connsiteY21" fmla="*/ 1770845 h 1822361"/>
              <a:gd name="connsiteX22" fmla="*/ 2562895 w 2659487"/>
              <a:gd name="connsiteY22" fmla="*/ 1757966 h 1822361"/>
              <a:gd name="connsiteX23" fmla="*/ 2582214 w 2659487"/>
              <a:gd name="connsiteY23" fmla="*/ 1751527 h 1822361"/>
              <a:gd name="connsiteX24" fmla="*/ 2620850 w 2659487"/>
              <a:gd name="connsiteY24" fmla="*/ 1745087 h 1822361"/>
              <a:gd name="connsiteX25" fmla="*/ 2627290 w 2659487"/>
              <a:gd name="connsiteY25" fmla="*/ 1719330 h 1822361"/>
              <a:gd name="connsiteX26" fmla="*/ 2633729 w 2659487"/>
              <a:gd name="connsiteY26" fmla="*/ 1674254 h 1822361"/>
              <a:gd name="connsiteX27" fmla="*/ 2646608 w 2659487"/>
              <a:gd name="connsiteY27" fmla="*/ 1571223 h 1822361"/>
              <a:gd name="connsiteX28" fmla="*/ 2653047 w 2659487"/>
              <a:gd name="connsiteY28" fmla="*/ 1532586 h 1822361"/>
              <a:gd name="connsiteX29" fmla="*/ 2646608 w 2659487"/>
              <a:gd name="connsiteY29" fmla="*/ 1210614 h 1822361"/>
              <a:gd name="connsiteX30" fmla="*/ 2659487 w 2659487"/>
              <a:gd name="connsiteY30" fmla="*/ 264017 h 1822361"/>
              <a:gd name="connsiteX31" fmla="*/ 2653047 w 2659487"/>
              <a:gd name="connsiteY31" fmla="*/ 25758 h 1822361"/>
              <a:gd name="connsiteX32" fmla="*/ 2633729 w 2659487"/>
              <a:gd name="connsiteY32" fmla="*/ 19318 h 1822361"/>
              <a:gd name="connsiteX33" fmla="*/ 2614411 w 2659487"/>
              <a:gd name="connsiteY33" fmla="*/ 25758 h 1822361"/>
              <a:gd name="connsiteX34" fmla="*/ 2530698 w 2659487"/>
              <a:gd name="connsiteY34" fmla="*/ 12879 h 1822361"/>
              <a:gd name="connsiteX35" fmla="*/ 2331076 w 2659487"/>
              <a:gd name="connsiteY35" fmla="*/ 0 h 1822361"/>
              <a:gd name="connsiteX36" fmla="*/ 2105695 w 2659487"/>
              <a:gd name="connsiteY36" fmla="*/ 25758 h 1822361"/>
              <a:gd name="connsiteX37" fmla="*/ 1841678 w 2659487"/>
              <a:gd name="connsiteY37" fmla="*/ 38637 h 1822361"/>
              <a:gd name="connsiteX38" fmla="*/ 1178416 w 2659487"/>
              <a:gd name="connsiteY38" fmla="*/ 64394 h 1822361"/>
              <a:gd name="connsiteX39" fmla="*/ 1004552 w 2659487"/>
              <a:gd name="connsiteY39" fmla="*/ 109471 h 1822361"/>
              <a:gd name="connsiteX40" fmla="*/ 154546 w 2659487"/>
              <a:gd name="connsiteY40" fmla="*/ 103031 h 1822361"/>
              <a:gd name="connsiteX41" fmla="*/ 128788 w 2659487"/>
              <a:gd name="connsiteY41" fmla="*/ 90152 h 1822361"/>
              <a:gd name="connsiteX42" fmla="*/ 64394 w 2659487"/>
              <a:gd name="connsiteY42" fmla="*/ 51516 h 1822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659487" h="1822361">
                <a:moveTo>
                  <a:pt x="64394" y="51516"/>
                </a:moveTo>
                <a:cubicBezTo>
                  <a:pt x="52589" y="143815"/>
                  <a:pt x="62026" y="446498"/>
                  <a:pt x="57955" y="643944"/>
                </a:cubicBezTo>
                <a:cubicBezTo>
                  <a:pt x="57729" y="654887"/>
                  <a:pt x="52962" y="665292"/>
                  <a:pt x="51515" y="676141"/>
                </a:cubicBezTo>
                <a:cubicBezTo>
                  <a:pt x="48664" y="697523"/>
                  <a:pt x="46560" y="719014"/>
                  <a:pt x="45076" y="740535"/>
                </a:cubicBezTo>
                <a:cubicBezTo>
                  <a:pt x="35620" y="877640"/>
                  <a:pt x="51992" y="822815"/>
                  <a:pt x="32197" y="882203"/>
                </a:cubicBezTo>
                <a:cubicBezTo>
                  <a:pt x="30050" y="925133"/>
                  <a:pt x="30504" y="968272"/>
                  <a:pt x="25757" y="1010992"/>
                </a:cubicBezTo>
                <a:cubicBezTo>
                  <a:pt x="24031" y="1026523"/>
                  <a:pt x="14383" y="1040514"/>
                  <a:pt x="12878" y="1056068"/>
                </a:cubicBezTo>
                <a:cubicBezTo>
                  <a:pt x="7912" y="1107388"/>
                  <a:pt x="9222" y="1159129"/>
                  <a:pt x="6439" y="1210614"/>
                </a:cubicBezTo>
                <a:cubicBezTo>
                  <a:pt x="4929" y="1238560"/>
                  <a:pt x="2146" y="1266423"/>
                  <a:pt x="0" y="1294327"/>
                </a:cubicBezTo>
                <a:cubicBezTo>
                  <a:pt x="4293" y="1395211"/>
                  <a:pt x="6830" y="1496186"/>
                  <a:pt x="12878" y="1596980"/>
                </a:cubicBezTo>
                <a:cubicBezTo>
                  <a:pt x="13285" y="1603756"/>
                  <a:pt x="17453" y="1609772"/>
                  <a:pt x="19318" y="1616299"/>
                </a:cubicBezTo>
                <a:cubicBezTo>
                  <a:pt x="21749" y="1624808"/>
                  <a:pt x="23837" y="1633417"/>
                  <a:pt x="25757" y="1642056"/>
                </a:cubicBezTo>
                <a:cubicBezTo>
                  <a:pt x="37406" y="1694477"/>
                  <a:pt x="28507" y="1661310"/>
                  <a:pt x="38636" y="1732209"/>
                </a:cubicBezTo>
                <a:cubicBezTo>
                  <a:pt x="40184" y="1743044"/>
                  <a:pt x="37337" y="1756667"/>
                  <a:pt x="45076" y="1764406"/>
                </a:cubicBezTo>
                <a:cubicBezTo>
                  <a:pt x="45080" y="1764410"/>
                  <a:pt x="93370" y="1780504"/>
                  <a:pt x="103031" y="1783724"/>
                </a:cubicBezTo>
                <a:cubicBezTo>
                  <a:pt x="109470" y="1785870"/>
                  <a:pt x="115764" y="1788518"/>
                  <a:pt x="122349" y="1790164"/>
                </a:cubicBezTo>
                <a:cubicBezTo>
                  <a:pt x="139521" y="1794457"/>
                  <a:pt x="157430" y="1796468"/>
                  <a:pt x="173864" y="1803042"/>
                </a:cubicBezTo>
                <a:cubicBezTo>
                  <a:pt x="184597" y="1807335"/>
                  <a:pt x="194727" y="1813654"/>
                  <a:pt x="206062" y="1815921"/>
                </a:cubicBezTo>
                <a:cubicBezTo>
                  <a:pt x="227215" y="1820152"/>
                  <a:pt x="248991" y="1820214"/>
                  <a:pt x="270456" y="1822361"/>
                </a:cubicBezTo>
                <a:lnTo>
                  <a:pt x="2086377" y="1809482"/>
                </a:lnTo>
                <a:cubicBezTo>
                  <a:pt x="2147077" y="1808307"/>
                  <a:pt x="2206488" y="1791644"/>
                  <a:pt x="2266681" y="1783724"/>
                </a:cubicBezTo>
                <a:cubicBezTo>
                  <a:pt x="2345953" y="1773294"/>
                  <a:pt x="2414879" y="1774062"/>
                  <a:pt x="2498501" y="1770845"/>
                </a:cubicBezTo>
                <a:cubicBezTo>
                  <a:pt x="2519966" y="1766552"/>
                  <a:pt x="2541566" y="1762888"/>
                  <a:pt x="2562895" y="1757966"/>
                </a:cubicBezTo>
                <a:cubicBezTo>
                  <a:pt x="2569509" y="1756440"/>
                  <a:pt x="2575588" y="1753000"/>
                  <a:pt x="2582214" y="1751527"/>
                </a:cubicBezTo>
                <a:cubicBezTo>
                  <a:pt x="2594959" y="1748695"/>
                  <a:pt x="2607971" y="1747234"/>
                  <a:pt x="2620850" y="1745087"/>
                </a:cubicBezTo>
                <a:cubicBezTo>
                  <a:pt x="2622997" y="1736501"/>
                  <a:pt x="2625707" y="1728037"/>
                  <a:pt x="2627290" y="1719330"/>
                </a:cubicBezTo>
                <a:cubicBezTo>
                  <a:pt x="2630005" y="1704397"/>
                  <a:pt x="2631766" y="1689304"/>
                  <a:pt x="2633729" y="1674254"/>
                </a:cubicBezTo>
                <a:cubicBezTo>
                  <a:pt x="2638205" y="1639934"/>
                  <a:pt x="2641932" y="1605517"/>
                  <a:pt x="2646608" y="1571223"/>
                </a:cubicBezTo>
                <a:cubicBezTo>
                  <a:pt x="2648372" y="1558286"/>
                  <a:pt x="2650901" y="1545465"/>
                  <a:pt x="2653047" y="1532586"/>
                </a:cubicBezTo>
                <a:cubicBezTo>
                  <a:pt x="2650901" y="1425262"/>
                  <a:pt x="2646608" y="1317959"/>
                  <a:pt x="2646608" y="1210614"/>
                </a:cubicBezTo>
                <a:cubicBezTo>
                  <a:pt x="2646608" y="496846"/>
                  <a:pt x="2641315" y="645590"/>
                  <a:pt x="2659487" y="264017"/>
                </a:cubicBezTo>
                <a:cubicBezTo>
                  <a:pt x="2657340" y="184597"/>
                  <a:pt x="2661364" y="104770"/>
                  <a:pt x="2653047" y="25758"/>
                </a:cubicBezTo>
                <a:cubicBezTo>
                  <a:pt x="2652336" y="19008"/>
                  <a:pt x="2640517" y="19318"/>
                  <a:pt x="2633729" y="19318"/>
                </a:cubicBezTo>
                <a:cubicBezTo>
                  <a:pt x="2626941" y="19318"/>
                  <a:pt x="2620850" y="23611"/>
                  <a:pt x="2614411" y="25758"/>
                </a:cubicBezTo>
                <a:cubicBezTo>
                  <a:pt x="2586507" y="21465"/>
                  <a:pt x="2558838" y="15161"/>
                  <a:pt x="2530698" y="12879"/>
                </a:cubicBezTo>
                <a:cubicBezTo>
                  <a:pt x="2252729" y="-9659"/>
                  <a:pt x="2459062" y="18285"/>
                  <a:pt x="2331076" y="0"/>
                </a:cubicBezTo>
                <a:cubicBezTo>
                  <a:pt x="2224373" y="15243"/>
                  <a:pt x="2228967" y="16026"/>
                  <a:pt x="2105695" y="25758"/>
                </a:cubicBezTo>
                <a:cubicBezTo>
                  <a:pt x="2031650" y="31604"/>
                  <a:pt x="1910173" y="35783"/>
                  <a:pt x="1841678" y="38637"/>
                </a:cubicBezTo>
                <a:cubicBezTo>
                  <a:pt x="1453890" y="77416"/>
                  <a:pt x="2093389" y="16739"/>
                  <a:pt x="1178416" y="64394"/>
                </a:cubicBezTo>
                <a:cubicBezTo>
                  <a:pt x="1151571" y="65792"/>
                  <a:pt x="1026944" y="103073"/>
                  <a:pt x="1004552" y="109471"/>
                </a:cubicBezTo>
                <a:lnTo>
                  <a:pt x="154546" y="103031"/>
                </a:lnTo>
                <a:cubicBezTo>
                  <a:pt x="144949" y="102819"/>
                  <a:pt x="136599" y="95732"/>
                  <a:pt x="128788" y="90152"/>
                </a:cubicBezTo>
                <a:cubicBezTo>
                  <a:pt x="121378" y="84859"/>
                  <a:pt x="76199" y="-40783"/>
                  <a:pt x="64394" y="51516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슬라이드 번호 개체 틀 3">
            <a:extLst>
              <a:ext uri="{FF2B5EF4-FFF2-40B4-BE49-F238E27FC236}">
                <a16:creationId xmlns:a16="http://schemas.microsoft.com/office/drawing/2014/main" id="{A066CB20-17CB-49D4-B8F9-AE82B0154673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479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window </a:t>
            </a:r>
            <a:r>
              <a:rPr lang="ko-KR" altLang="en-US"/>
              <a:t>객체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window </a:t>
            </a:r>
            <a:r>
              <a:rPr lang="ko-KR" altLang="en-US" dirty="0"/>
              <a:t>객체</a:t>
            </a:r>
            <a:endParaRPr lang="en-US" altLang="ko-KR" dirty="0"/>
          </a:p>
          <a:p>
            <a:pPr lvl="1"/>
            <a:r>
              <a:rPr lang="ko-KR" altLang="en-US" dirty="0"/>
              <a:t>열려 있는 브라우저 윈도우나 탭 윈도우의 속성을 나타내는 객체</a:t>
            </a:r>
          </a:p>
          <a:p>
            <a:pPr lvl="1"/>
            <a:r>
              <a:rPr lang="ko-KR" altLang="en-US" dirty="0"/>
              <a:t>브라우저 윈도우나 탭 윈도우마다 별도의 </a:t>
            </a:r>
            <a:r>
              <a:rPr lang="en-US" altLang="ko-KR" dirty="0"/>
              <a:t>window </a:t>
            </a:r>
            <a:r>
              <a:rPr lang="ko-KR" altLang="en-US" dirty="0"/>
              <a:t>객체 생성</a:t>
            </a:r>
            <a:endParaRPr lang="en-US" altLang="ko-KR" dirty="0"/>
          </a:p>
          <a:p>
            <a:r>
              <a:rPr lang="en-US" altLang="ko-KR" dirty="0"/>
              <a:t>window </a:t>
            </a:r>
            <a:r>
              <a:rPr lang="ko-KR" altLang="en-US" dirty="0"/>
              <a:t>객체의 생성</a:t>
            </a:r>
            <a:endParaRPr lang="en-US" altLang="ko-KR" dirty="0"/>
          </a:p>
          <a:p>
            <a:pPr lvl="1"/>
            <a:r>
              <a:rPr lang="en-US" altLang="ko-KR" dirty="0"/>
              <a:t>3 </a:t>
            </a:r>
            <a:r>
              <a:rPr lang="ko-KR" altLang="en-US" dirty="0"/>
              <a:t>가지 경우</a:t>
            </a:r>
            <a:endParaRPr lang="en-US" altLang="ko-KR" dirty="0"/>
          </a:p>
          <a:p>
            <a:pPr lvl="2"/>
            <a:r>
              <a:rPr lang="ko-KR" altLang="en-US" dirty="0"/>
              <a:t>브라우저가 새로운 웹 페이지를 </a:t>
            </a:r>
            <a:r>
              <a:rPr lang="ko-KR" altLang="en-US" dirty="0" err="1"/>
              <a:t>로드할</a:t>
            </a:r>
            <a:r>
              <a:rPr lang="ko-KR" altLang="en-US" dirty="0"/>
              <a:t> 때</a:t>
            </a:r>
          </a:p>
          <a:p>
            <a:pPr lvl="2"/>
            <a:r>
              <a:rPr lang="en-US" altLang="ko-KR" dirty="0"/>
              <a:t>&lt;iframe&gt; </a:t>
            </a:r>
            <a:r>
              <a:rPr lang="ko-KR" altLang="en-US" dirty="0"/>
              <a:t>태그 당 하나의 </a:t>
            </a:r>
            <a:r>
              <a:rPr lang="en-US" altLang="ko-KR" dirty="0"/>
              <a:t>window </a:t>
            </a:r>
            <a:r>
              <a:rPr lang="ko-KR" altLang="en-US" dirty="0"/>
              <a:t>객체 생성</a:t>
            </a:r>
          </a:p>
          <a:p>
            <a:pPr lvl="2"/>
            <a:r>
              <a:rPr lang="ko-KR" altLang="en-US" dirty="0"/>
              <a:t>자바스크립트 코드로 윈도우 열기 시 </a:t>
            </a:r>
            <a:r>
              <a:rPr lang="en-US" altLang="ko-KR" dirty="0"/>
              <a:t>window </a:t>
            </a:r>
            <a:r>
              <a:rPr lang="ko-KR" altLang="en-US" dirty="0"/>
              <a:t>객체 생성</a:t>
            </a:r>
          </a:p>
          <a:p>
            <a:pPr lvl="3">
              <a:spcAft>
                <a:spcPts val="1200"/>
              </a:spcAft>
            </a:pPr>
            <a:r>
              <a:rPr lang="en-US" altLang="ko-KR" dirty="0" err="1"/>
              <a:t>window.open</a:t>
            </a:r>
            <a:r>
              <a:rPr lang="en-US" altLang="ko-KR" dirty="0"/>
              <a:t>("</a:t>
            </a:r>
            <a:r>
              <a:rPr lang="ko-KR" altLang="en-US" dirty="0" err="1"/>
              <a:t>웹페이지</a:t>
            </a:r>
            <a:r>
              <a:rPr lang="ko-KR" altLang="en-US" dirty="0"/>
              <a:t> </a:t>
            </a:r>
            <a:r>
              <a:rPr lang="en-US" altLang="ko-KR" dirty="0"/>
              <a:t>URL", "</a:t>
            </a:r>
            <a:r>
              <a:rPr lang="ko-KR" altLang="en-US" dirty="0"/>
              <a:t>윈도우이름</a:t>
            </a:r>
            <a:r>
              <a:rPr lang="en-US" altLang="ko-KR" dirty="0"/>
              <a:t>", "</a:t>
            </a:r>
            <a:r>
              <a:rPr lang="ko-KR" altLang="en-US" dirty="0"/>
              <a:t>윈도우속성</a:t>
            </a:r>
            <a:r>
              <a:rPr lang="en-US" altLang="ko-KR" dirty="0"/>
              <a:t>"),</a:t>
            </a:r>
          </a:p>
          <a:p>
            <a:r>
              <a:rPr lang="ko-KR" altLang="en-US" dirty="0"/>
              <a:t>자바스크립트 코드로 윈도우 객체에 대한 접근</a:t>
            </a:r>
            <a:endParaRPr lang="en-US" altLang="ko-KR" dirty="0"/>
          </a:p>
          <a:p>
            <a:pPr lvl="1"/>
            <a:r>
              <a:rPr lang="en-US" altLang="ko-KR" dirty="0"/>
              <a:t>window, </a:t>
            </a:r>
            <a:r>
              <a:rPr lang="ko-KR" altLang="en-US" dirty="0"/>
              <a:t>혹은 </a:t>
            </a:r>
            <a:r>
              <a:rPr lang="en-US" altLang="ko-KR" dirty="0" err="1"/>
              <a:t>window.self</a:t>
            </a:r>
            <a:r>
              <a:rPr lang="en-US" altLang="ko-KR" dirty="0"/>
              <a:t>, </a:t>
            </a:r>
            <a:r>
              <a:rPr lang="ko-KR" altLang="en-US" dirty="0"/>
              <a:t>혹은 </a:t>
            </a:r>
            <a:r>
              <a:rPr lang="en-US" altLang="ko-KR" dirty="0"/>
              <a:t>self </a:t>
            </a:r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8146AEC1-7C46-4AB5-8A38-5E1B2362624D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9025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윈도우 모양과 </a:t>
            </a:r>
            <a:r>
              <a:rPr lang="en-US" altLang="ko-KR" dirty="0"/>
              <a:t>window </a:t>
            </a:r>
            <a:r>
              <a:rPr lang="ko-KR" altLang="en-US" dirty="0"/>
              <a:t>객체의 </a:t>
            </a:r>
            <a:r>
              <a:rPr lang="ko-KR" altLang="en-US" dirty="0" err="1"/>
              <a:t>프로퍼티</a:t>
            </a:r>
            <a:endParaRPr lang="ko-KR" altLang="en-US" dirty="0"/>
          </a:p>
        </p:txBody>
      </p:sp>
      <p:grpSp>
        <p:nvGrpSpPr>
          <p:cNvPr id="106" name="그룹 105"/>
          <p:cNvGrpSpPr/>
          <p:nvPr/>
        </p:nvGrpSpPr>
        <p:grpSpPr>
          <a:xfrm>
            <a:off x="2083611" y="1006025"/>
            <a:ext cx="8237234" cy="5575520"/>
            <a:chOff x="1087294" y="1381872"/>
            <a:chExt cx="7400848" cy="4846924"/>
          </a:xfrm>
        </p:grpSpPr>
        <p:sp>
          <p:nvSpPr>
            <p:cNvPr id="24" name="TextBox 23"/>
            <p:cNvSpPr txBox="1"/>
            <p:nvPr/>
          </p:nvSpPr>
          <p:spPr>
            <a:xfrm>
              <a:off x="7335583" y="2077243"/>
              <a:ext cx="8060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menubar</a:t>
              </a:r>
              <a:endPara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7660" y="1844825"/>
              <a:ext cx="4885302" cy="3960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1380540" y="1882755"/>
              <a:ext cx="6746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titlebar</a:t>
              </a:r>
              <a:endPara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" name="모서리가 둥근 직사각형 17"/>
            <p:cNvSpPr/>
            <p:nvPr/>
          </p:nvSpPr>
          <p:spPr>
            <a:xfrm>
              <a:off x="2568774" y="2661491"/>
              <a:ext cx="2171537" cy="278811"/>
            </a:xfrm>
            <a:prstGeom prst="round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127531" y="2666704"/>
              <a:ext cx="9679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locationbar</a:t>
              </a:r>
              <a:endPara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6" name="모서리가 둥근 직사각형 35"/>
            <p:cNvSpPr/>
            <p:nvPr/>
          </p:nvSpPr>
          <p:spPr>
            <a:xfrm>
              <a:off x="2354581" y="2995938"/>
              <a:ext cx="2171537" cy="211022"/>
            </a:xfrm>
            <a:prstGeom prst="round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87294" y="3018583"/>
              <a:ext cx="1011336" cy="615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bookmarks</a:t>
              </a:r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r>
                <a:rPr lang="ko-KR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또는</a:t>
              </a:r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r>
                <a:rPr lang="en-US" altLang="ko-KR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perosnalbar</a:t>
              </a:r>
              <a:endPara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276839" y="5951797"/>
              <a:ext cx="77181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scrollbar</a:t>
              </a:r>
              <a:endPara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316011" y="5517232"/>
              <a:ext cx="82048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statusbar</a:t>
              </a:r>
              <a:endPara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7" name="모서리가 둥근 직사각형 46"/>
            <p:cNvSpPr/>
            <p:nvPr/>
          </p:nvSpPr>
          <p:spPr>
            <a:xfrm>
              <a:off x="5870651" y="2661491"/>
              <a:ext cx="1213513" cy="278811"/>
            </a:xfrm>
            <a:prstGeom prst="round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437752" y="2669116"/>
              <a:ext cx="6861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toolbar</a:t>
              </a:r>
              <a:endPara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2354581" y="5552752"/>
              <a:ext cx="4180843" cy="196387"/>
            </a:xfrm>
            <a:prstGeom prst="round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cxnSp>
          <p:nvCxnSpPr>
            <p:cNvPr id="5" name="직선 화살표 연결선 4"/>
            <p:cNvCxnSpPr>
              <a:stCxn id="13" idx="3"/>
            </p:cNvCxnSpPr>
            <p:nvPr/>
          </p:nvCxnSpPr>
          <p:spPr>
            <a:xfrm flipV="1">
              <a:off x="2055148" y="2019637"/>
              <a:ext cx="224014" cy="1618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/>
            <p:cNvCxnSpPr>
              <a:stCxn id="34" idx="3"/>
            </p:cNvCxnSpPr>
            <p:nvPr/>
          </p:nvCxnSpPr>
          <p:spPr>
            <a:xfrm flipV="1">
              <a:off x="2095488" y="2800897"/>
              <a:ext cx="473286" cy="4307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/>
            <p:cNvCxnSpPr>
              <a:stCxn id="24" idx="1"/>
            </p:cNvCxnSpPr>
            <p:nvPr/>
          </p:nvCxnSpPr>
          <p:spPr>
            <a:xfrm flipH="1">
              <a:off x="6927353" y="2215743"/>
              <a:ext cx="408230" cy="3769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/>
            <p:cNvCxnSpPr>
              <a:stCxn id="48" idx="1"/>
            </p:cNvCxnSpPr>
            <p:nvPr/>
          </p:nvCxnSpPr>
          <p:spPr>
            <a:xfrm flipH="1" flipV="1">
              <a:off x="7066762" y="2803846"/>
              <a:ext cx="370990" cy="377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/>
            <p:cNvCxnSpPr/>
            <p:nvPr/>
          </p:nvCxnSpPr>
          <p:spPr>
            <a:xfrm flipV="1">
              <a:off x="6795252" y="5715477"/>
              <a:ext cx="247047" cy="251614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/>
            <p:cNvCxnSpPr>
              <a:stCxn id="41" idx="0"/>
            </p:cNvCxnSpPr>
            <p:nvPr/>
          </p:nvCxnSpPr>
          <p:spPr>
            <a:xfrm flipH="1" flipV="1">
              <a:off x="6659876" y="5706400"/>
              <a:ext cx="2870" cy="245397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/>
            <p:cNvCxnSpPr>
              <a:stCxn id="43" idx="3"/>
            </p:cNvCxnSpPr>
            <p:nvPr/>
          </p:nvCxnSpPr>
          <p:spPr>
            <a:xfrm flipV="1">
              <a:off x="2136492" y="5655731"/>
              <a:ext cx="212164" cy="1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/>
            <p:cNvCxnSpPr>
              <a:stCxn id="37" idx="3"/>
            </p:cNvCxnSpPr>
            <p:nvPr/>
          </p:nvCxnSpPr>
          <p:spPr>
            <a:xfrm flipV="1">
              <a:off x="2098630" y="3101449"/>
              <a:ext cx="255951" cy="224825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모서리가 둥근 직사각형 59"/>
            <p:cNvSpPr/>
            <p:nvPr/>
          </p:nvSpPr>
          <p:spPr>
            <a:xfrm>
              <a:off x="2297660" y="2106140"/>
              <a:ext cx="4877059" cy="198442"/>
            </a:xfrm>
            <a:prstGeom prst="round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TextBox 61"/>
            <p:cNvSpPr txBox="1"/>
            <p:nvPr/>
          </p:nvSpPr>
          <p:spPr>
            <a:xfrm rot="10800000">
              <a:off x="7358099" y="3958496"/>
              <a:ext cx="359484" cy="894087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eaVert" wrap="none" rtlCol="0">
              <a:spAutoFit/>
            </a:bodyPr>
            <a:lstStyle/>
            <a:p>
              <a:r>
                <a:rPr lang="en-US" altLang="ko-KR" sz="1400" dirty="0" err="1"/>
                <a:t>innerHeight</a:t>
              </a:r>
              <a:endParaRPr lang="ko-KR" altLang="en-US" sz="1400" dirty="0"/>
            </a:p>
          </p:txBody>
        </p:sp>
        <p:cxnSp>
          <p:nvCxnSpPr>
            <p:cNvPr id="63" name="직선 화살표 연결선 62"/>
            <p:cNvCxnSpPr/>
            <p:nvPr/>
          </p:nvCxnSpPr>
          <p:spPr>
            <a:xfrm flipH="1">
              <a:off x="7676279" y="3241592"/>
              <a:ext cx="11099" cy="2507547"/>
            </a:xfrm>
            <a:prstGeom prst="straightConnector1">
              <a:avLst/>
            </a:prstGeom>
            <a:ln w="12700">
              <a:solidFill>
                <a:srgbClr val="6699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/>
            <p:cNvCxnSpPr/>
            <p:nvPr/>
          </p:nvCxnSpPr>
          <p:spPr>
            <a:xfrm>
              <a:off x="7217352" y="1864798"/>
              <a:ext cx="1249725" cy="9160"/>
            </a:xfrm>
            <a:prstGeom prst="line">
              <a:avLst/>
            </a:prstGeom>
            <a:ln w="12700">
              <a:solidFill>
                <a:srgbClr val="66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/>
            <p:cNvCxnSpPr/>
            <p:nvPr/>
          </p:nvCxnSpPr>
          <p:spPr>
            <a:xfrm>
              <a:off x="7238417" y="5804135"/>
              <a:ext cx="1249725" cy="9160"/>
            </a:xfrm>
            <a:prstGeom prst="line">
              <a:avLst/>
            </a:prstGeom>
            <a:ln w="12700">
              <a:solidFill>
                <a:srgbClr val="66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 rot="10800000">
              <a:off x="7952008" y="3954355"/>
              <a:ext cx="359484" cy="91359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eaVert" wrap="none" rtlCol="0">
              <a:spAutoFit/>
            </a:bodyPr>
            <a:lstStyle/>
            <a:p>
              <a:r>
                <a:rPr lang="en-US" altLang="ko-KR" sz="1400" dirty="0" err="1"/>
                <a:t>outerHeight</a:t>
              </a:r>
              <a:endParaRPr lang="ko-KR" altLang="en-US" sz="1400" dirty="0"/>
            </a:p>
          </p:txBody>
        </p:sp>
        <p:cxnSp>
          <p:nvCxnSpPr>
            <p:cNvPr id="67" name="직선 화살표 연결선 66"/>
            <p:cNvCxnSpPr/>
            <p:nvPr/>
          </p:nvCxnSpPr>
          <p:spPr>
            <a:xfrm flipH="1">
              <a:off x="8288206" y="1861450"/>
              <a:ext cx="28211" cy="3951845"/>
            </a:xfrm>
            <a:prstGeom prst="straightConnector1">
              <a:avLst/>
            </a:prstGeom>
            <a:ln w="12700">
              <a:solidFill>
                <a:srgbClr val="6699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/>
            <p:cNvCxnSpPr/>
            <p:nvPr/>
          </p:nvCxnSpPr>
          <p:spPr>
            <a:xfrm>
              <a:off x="7237543" y="3221599"/>
              <a:ext cx="592459" cy="0"/>
            </a:xfrm>
            <a:prstGeom prst="straightConnector1">
              <a:avLst/>
            </a:prstGeom>
            <a:ln w="12700">
              <a:solidFill>
                <a:srgbClr val="6699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화살표 연결선 68"/>
            <p:cNvCxnSpPr/>
            <p:nvPr/>
          </p:nvCxnSpPr>
          <p:spPr>
            <a:xfrm>
              <a:off x="7237543" y="5755424"/>
              <a:ext cx="592459" cy="0"/>
            </a:xfrm>
            <a:prstGeom prst="straightConnector1">
              <a:avLst/>
            </a:prstGeom>
            <a:ln w="12700">
              <a:solidFill>
                <a:srgbClr val="6699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1200708" y="3998809"/>
              <a:ext cx="960519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/>
                <a:t>innerWidth</a:t>
              </a:r>
              <a:endParaRPr lang="ko-KR" altLang="en-US" sz="1200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247928" y="4695053"/>
              <a:ext cx="976870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/>
                <a:t>outerWidth</a:t>
              </a:r>
              <a:endParaRPr lang="ko-KR" altLang="en-US" sz="1200" dirty="0"/>
            </a:p>
          </p:txBody>
        </p:sp>
        <p:cxnSp>
          <p:nvCxnSpPr>
            <p:cNvPr id="79" name="직선 화살표 연결선 78"/>
            <p:cNvCxnSpPr/>
            <p:nvPr/>
          </p:nvCxnSpPr>
          <p:spPr>
            <a:xfrm>
              <a:off x="2348656" y="4365104"/>
              <a:ext cx="4779966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화살표 연결선 79"/>
            <p:cNvCxnSpPr/>
            <p:nvPr/>
          </p:nvCxnSpPr>
          <p:spPr>
            <a:xfrm>
              <a:off x="2297660" y="5085184"/>
              <a:ext cx="4860206" cy="0"/>
            </a:xfrm>
            <a:prstGeom prst="straightConnector1">
              <a:avLst/>
            </a:prstGeom>
            <a:ln w="76200">
              <a:solidFill>
                <a:srgbClr val="FFC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꺾인 연결선 82"/>
            <p:cNvCxnSpPr>
              <a:stCxn id="77" idx="3"/>
            </p:cNvCxnSpPr>
            <p:nvPr/>
          </p:nvCxnSpPr>
          <p:spPr>
            <a:xfrm>
              <a:off x="2161227" y="4137309"/>
              <a:ext cx="716667" cy="211189"/>
            </a:xfrm>
            <a:prstGeom prst="bentConnector3">
              <a:avLst>
                <a:gd name="adj1" fmla="val 99490"/>
              </a:avLst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꺾인 연결선 91"/>
            <p:cNvCxnSpPr/>
            <p:nvPr/>
          </p:nvCxnSpPr>
          <p:spPr>
            <a:xfrm>
              <a:off x="2197536" y="4843377"/>
              <a:ext cx="716667" cy="211189"/>
            </a:xfrm>
            <a:prstGeom prst="bentConnector3">
              <a:avLst>
                <a:gd name="adj1" fmla="val 99490"/>
              </a:avLst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>
            <a:xfrm>
              <a:off x="1577174" y="1381872"/>
              <a:ext cx="144097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</a:t>
              </a:r>
              <a:r>
                <a:rPr lang="en-US" altLang="ko-KR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screenX</a:t>
              </a:r>
              <a:r>
                <a:rPr lang="en-US" altLang="ko-KR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, </a:t>
              </a:r>
              <a:r>
                <a:rPr lang="en-US" altLang="ko-KR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screenY</a:t>
              </a:r>
              <a:r>
                <a:rPr lang="en-US" altLang="ko-KR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)</a:t>
              </a:r>
              <a:endPara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95" name="직선 화살표 연결선 94"/>
            <p:cNvCxnSpPr>
              <a:stCxn id="94" idx="2"/>
            </p:cNvCxnSpPr>
            <p:nvPr/>
          </p:nvCxnSpPr>
          <p:spPr>
            <a:xfrm>
              <a:off x="2297660" y="1658871"/>
              <a:ext cx="0" cy="185954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슬라이드 번호 개체 틀 3">
            <a:extLst>
              <a:ext uri="{FF2B5EF4-FFF2-40B4-BE49-F238E27FC236}">
                <a16:creationId xmlns:a16="http://schemas.microsoft.com/office/drawing/2014/main" id="{72E1A476-D782-46F4-9006-7AA43CC016AD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948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윈도우 열기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 err="1"/>
              <a:t>window.open</a:t>
            </a:r>
            <a:r>
              <a:rPr lang="en-US" altLang="ko-KR" sz="2000" dirty="0"/>
              <a:t>()</a:t>
            </a:r>
          </a:p>
          <a:p>
            <a:pPr lvl="1"/>
            <a:r>
              <a:rPr lang="ko-KR" altLang="en-US" sz="1800" dirty="0"/>
              <a:t>윈도우를 새로 열고 웹 페이지 출력</a:t>
            </a:r>
            <a:endParaRPr lang="en-US" altLang="ko-KR" sz="1800" dirty="0"/>
          </a:p>
          <a:p>
            <a:pPr lvl="2"/>
            <a:r>
              <a:rPr lang="ko-KR" altLang="en-US" sz="1600" dirty="0"/>
              <a:t>예</a:t>
            </a:r>
            <a:r>
              <a:rPr lang="en-US" altLang="ko-KR" sz="1600" dirty="0"/>
              <a:t>)</a:t>
            </a:r>
          </a:p>
          <a:p>
            <a:pPr lvl="2"/>
            <a:endParaRPr lang="en-US" altLang="ko-KR" sz="1600" dirty="0"/>
          </a:p>
          <a:p>
            <a:pPr lvl="1"/>
            <a:r>
              <a:rPr lang="en-US" altLang="ko-KR" sz="1800" dirty="0"/>
              <a:t>3</a:t>
            </a:r>
            <a:r>
              <a:rPr lang="ko-KR" altLang="en-US" sz="1800" dirty="0"/>
              <a:t>개의</a:t>
            </a:r>
            <a:r>
              <a:rPr lang="en-US" altLang="ko-KR" sz="1800" dirty="0"/>
              <a:t> </a:t>
            </a:r>
            <a:r>
              <a:rPr lang="ko-KR" altLang="en-US" sz="1800" dirty="0"/>
              <a:t>매개변수를 가진 함수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r>
              <a:rPr lang="ko-KR" altLang="en-US" sz="1800" dirty="0"/>
              <a:t>윈도우 이름</a:t>
            </a:r>
            <a:r>
              <a:rPr lang="en-US" altLang="ko-KR" sz="1800" dirty="0"/>
              <a:t>(</a:t>
            </a:r>
            <a:r>
              <a:rPr lang="en-US" altLang="ko-KR" sz="1800" dirty="0" err="1"/>
              <a:t>sWindowName</a:t>
            </a:r>
            <a:r>
              <a:rPr lang="en-US" altLang="ko-KR" sz="1800" dirty="0"/>
              <a:t>)</a:t>
            </a:r>
            <a:endParaRPr lang="ko-KR" altLang="en-US" sz="1800" dirty="0"/>
          </a:p>
          <a:p>
            <a:pPr lvl="1"/>
            <a:endParaRPr lang="ko-KR" altLang="en-US" sz="180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351584" y="1891341"/>
            <a:ext cx="4680520" cy="3490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fontAlgn="base" latinLnBrk="0">
              <a:lnSpc>
                <a:spcPct val="140000"/>
              </a:lnSpc>
            </a:pP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window.open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("http://www.naver.com", "", "");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357314" y="4852331"/>
            <a:ext cx="5837694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_blank : 	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이름 없는 새 윈도우를 열고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웹 페이지 로드</a:t>
            </a:r>
          </a:p>
          <a:p>
            <a:pPr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_parent : 	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현재 윈도우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혹은 프레임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)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의 부모 윈도우에 웹 페이지 로드</a:t>
            </a:r>
          </a:p>
          <a:p>
            <a:pPr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_self : 	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현재 윈도우에 웹 페이지 로드</a:t>
            </a:r>
          </a:p>
          <a:p>
            <a:pPr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_top : 	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브라우저 윈도우에 웹 페이지 로드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84" y="2767670"/>
            <a:ext cx="7843838" cy="1557338"/>
          </a:xfrm>
          <a:prstGeom prst="rect">
            <a:avLst/>
          </a:prstGeom>
        </p:spPr>
      </p:pic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3E9502DE-342C-40B0-AA12-D506EBD1C315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5120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윈도우 열기 사례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ko-KR" sz="1800" dirty="0" err="1"/>
              <a:t>myWin</a:t>
            </a:r>
            <a:r>
              <a:rPr lang="en-US" altLang="ko-KR" sz="1800" dirty="0"/>
              <a:t> </a:t>
            </a:r>
            <a:r>
              <a:rPr lang="ko-KR" altLang="en-US" sz="1800" dirty="0"/>
              <a:t>이름에 </a:t>
            </a:r>
            <a:r>
              <a:rPr lang="ko-KR" altLang="en-US" sz="1800" dirty="0" err="1"/>
              <a:t>툴바만</a:t>
            </a:r>
            <a:r>
              <a:rPr lang="ko-KR" altLang="en-US" sz="1800" dirty="0"/>
              <a:t> 가지는 새 윈도우 열고 </a:t>
            </a:r>
            <a:r>
              <a:rPr lang="en-US" altLang="ko-KR" sz="1800" dirty="0"/>
              <a:t>sample.html </a:t>
            </a:r>
            <a:r>
              <a:rPr lang="ko-KR" altLang="en-US" sz="1800" dirty="0"/>
              <a:t>출력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r>
              <a:rPr lang="ko-KR" altLang="en-US" sz="1800" dirty="0"/>
              <a:t>현재 윈도우에 </a:t>
            </a:r>
            <a:r>
              <a:rPr lang="en-US" altLang="ko-KR" sz="1800" dirty="0"/>
              <a:t>sample.html </a:t>
            </a:r>
            <a:r>
              <a:rPr lang="ko-KR" altLang="en-US" sz="1800" dirty="0"/>
              <a:t>출력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r>
              <a:rPr lang="ko-KR" altLang="en-US" sz="1800" dirty="0"/>
              <a:t>이름 없는 새 윈도우에 </a:t>
            </a:r>
            <a:r>
              <a:rPr lang="en-US" altLang="ko-KR" sz="1800" dirty="0"/>
              <a:t>sample.html </a:t>
            </a:r>
            <a:r>
              <a:rPr lang="ko-KR" altLang="en-US" sz="1800" dirty="0"/>
              <a:t>출력 </a:t>
            </a:r>
          </a:p>
          <a:p>
            <a:pPr lvl="1"/>
            <a:endParaRPr lang="ko-KR" altLang="en-US" sz="1800" dirty="0"/>
          </a:p>
          <a:p>
            <a:pPr lvl="1"/>
            <a:r>
              <a:rPr lang="ko-KR" altLang="en-US" sz="1800" dirty="0"/>
              <a:t> </a:t>
            </a:r>
            <a:r>
              <a:rPr lang="en-US" altLang="ko-KR" sz="1800" dirty="0"/>
              <a:t>(10, 10) </a:t>
            </a:r>
            <a:r>
              <a:rPr lang="ko-KR" altLang="en-US" sz="1800" dirty="0"/>
              <a:t>위치에 </a:t>
            </a:r>
            <a:r>
              <a:rPr lang="en-US" altLang="ko-KR" sz="1800" dirty="0"/>
              <a:t>300x400 </a:t>
            </a:r>
            <a:r>
              <a:rPr lang="ko-KR" altLang="en-US" sz="1800" dirty="0"/>
              <a:t>크기의 새 윈도우 열고 </a:t>
            </a:r>
            <a:r>
              <a:rPr lang="ko-KR" altLang="en-US" sz="1800" dirty="0" err="1"/>
              <a:t>네이버</a:t>
            </a:r>
            <a:r>
              <a:rPr lang="ko-KR" altLang="en-US" sz="1800" dirty="0"/>
              <a:t> 페이지 출력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r>
              <a:rPr lang="ko-KR" altLang="en-US" sz="1800" dirty="0"/>
              <a:t>이름과 속성이 없는 윈도우 열기</a:t>
            </a:r>
          </a:p>
          <a:p>
            <a:pPr lvl="1"/>
            <a:endParaRPr lang="ko-KR" altLang="en-US" sz="1800" dirty="0"/>
          </a:p>
          <a:p>
            <a:pPr lvl="1"/>
            <a:endParaRPr lang="en-US" altLang="ko-KR" sz="1800" dirty="0"/>
          </a:p>
          <a:p>
            <a:pPr lvl="1"/>
            <a:r>
              <a:rPr lang="ko-KR" altLang="en-US" sz="1800" dirty="0"/>
              <a:t>빈 윈도우 생성</a:t>
            </a:r>
          </a:p>
          <a:p>
            <a:pPr lvl="1"/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2899158" y="1465621"/>
            <a:ext cx="561662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window.open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("sample.html", "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myWin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", "toolbar=yes");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899158" y="2164323"/>
            <a:ext cx="561662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window.open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("sample.html", "_self");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907132" y="2804616"/>
            <a:ext cx="560865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window.open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("sample.html", "_blank");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907132" y="3476625"/>
            <a:ext cx="5608650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window.open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("http://www.naver.com", "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myWin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", 		"left=10,top=10,width=300,height=400");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907132" y="4507809"/>
            <a:ext cx="5608650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fontAlgn="base" latinLnBrk="0"/>
            <a:r>
              <a:rPr lang="it-IT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window.open("http://www.naver,com");</a:t>
            </a:r>
          </a:p>
          <a:p>
            <a:pPr marL="190500" fontAlgn="base" latinLnBrk="0"/>
            <a:r>
              <a:rPr lang="it-IT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window.open("http://www.naver,com", null, "");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2927648" y="5609317"/>
            <a:ext cx="1872208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window.open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();</a:t>
            </a:r>
          </a:p>
          <a:p>
            <a:pPr marL="1905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window.open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("");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972362" y="5609317"/>
            <a:ext cx="3643918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window.open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("", "", "");</a:t>
            </a:r>
          </a:p>
          <a:p>
            <a:pPr marL="1905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window.open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("", null, null);</a:t>
            </a:r>
          </a:p>
        </p:txBody>
      </p:sp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16AFFA10-F85E-4C53-9603-3086980CDBA1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5002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윈도우 이름과 윈도우 열기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sz="2000" dirty="0"/>
              <a:t>이름 없는 윈도우</a:t>
            </a:r>
            <a:r>
              <a:rPr lang="en-US" altLang="ko-KR" sz="2000" dirty="0"/>
              <a:t> </a:t>
            </a:r>
            <a:r>
              <a:rPr lang="ko-KR" altLang="en-US" sz="2000" dirty="0"/>
              <a:t>열기</a:t>
            </a:r>
            <a:endParaRPr lang="en-US" altLang="ko-KR" sz="2000" dirty="0"/>
          </a:p>
          <a:p>
            <a:endParaRPr lang="en-US" altLang="ko-KR" sz="2800" dirty="0"/>
          </a:p>
          <a:p>
            <a:endParaRPr lang="en-US" altLang="ko-KR" sz="2000" dirty="0"/>
          </a:p>
          <a:p>
            <a:pPr lvl="1"/>
            <a:r>
              <a:rPr lang="ko-KR" altLang="en-US" sz="1800" dirty="0"/>
              <a:t>버튼을 클릭할 때마다 새 윈도우를 열고 </a:t>
            </a:r>
            <a:r>
              <a:rPr lang="ko-KR" altLang="en-US" sz="1800" dirty="0" err="1"/>
              <a:t>네이버</a:t>
            </a:r>
            <a:r>
              <a:rPr lang="ko-KR" altLang="en-US" sz="1800" dirty="0"/>
              <a:t> 사이트 출력</a:t>
            </a:r>
            <a:endParaRPr lang="en-US" altLang="ko-KR" sz="1800" dirty="0"/>
          </a:p>
          <a:p>
            <a:endParaRPr lang="en-US" altLang="ko-KR" sz="2000" dirty="0"/>
          </a:p>
          <a:p>
            <a:r>
              <a:rPr lang="ko-KR" altLang="en-US" sz="2000" dirty="0"/>
              <a:t>이름을 가진 윈도우 열기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3600" dirty="0"/>
          </a:p>
          <a:p>
            <a:pPr lvl="1"/>
            <a:r>
              <a:rPr lang="en-US" altLang="ko-KR" sz="1800" dirty="0" err="1"/>
              <a:t>myWin</a:t>
            </a:r>
            <a:r>
              <a:rPr lang="en-US" altLang="ko-KR" sz="1800" dirty="0"/>
              <a:t> </a:t>
            </a:r>
            <a:r>
              <a:rPr lang="ko-KR" altLang="en-US" sz="1800" dirty="0"/>
              <a:t>이름의 윈도우가 열려 있지 않는 경우</a:t>
            </a:r>
            <a:endParaRPr lang="en-US" altLang="ko-KR" sz="1800" dirty="0"/>
          </a:p>
          <a:p>
            <a:pPr lvl="2"/>
            <a:r>
              <a:rPr lang="ko-KR" altLang="en-US" sz="1600" dirty="0"/>
              <a:t>버튼을 클릭하면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myWin</a:t>
            </a:r>
            <a:r>
              <a:rPr lang="ko-KR" altLang="en-US" sz="1600" dirty="0"/>
              <a:t>이름의 새 윈도우 열고 </a:t>
            </a:r>
            <a:r>
              <a:rPr lang="ko-KR" altLang="en-US" sz="1600" dirty="0" err="1"/>
              <a:t>네이버</a:t>
            </a:r>
            <a:r>
              <a:rPr lang="ko-KR" altLang="en-US" sz="1600" dirty="0"/>
              <a:t> 출력</a:t>
            </a:r>
            <a:endParaRPr lang="en-US" altLang="ko-KR" sz="1600" dirty="0"/>
          </a:p>
          <a:p>
            <a:pPr lvl="1"/>
            <a:r>
              <a:rPr lang="en-US" altLang="ko-KR" sz="1800" dirty="0" err="1"/>
              <a:t>myWin</a:t>
            </a:r>
            <a:r>
              <a:rPr lang="en-US" altLang="ko-KR" sz="1800" dirty="0"/>
              <a:t> </a:t>
            </a:r>
            <a:r>
              <a:rPr lang="ko-KR" altLang="en-US" sz="1800" dirty="0"/>
              <a:t>이름의 윈도우가 이미 열려 있는 경우</a:t>
            </a:r>
            <a:endParaRPr lang="en-US" altLang="ko-KR" sz="1800" dirty="0"/>
          </a:p>
          <a:p>
            <a:pPr lvl="2"/>
            <a:r>
              <a:rPr lang="ko-KR" altLang="en-US" sz="1600" dirty="0"/>
              <a:t>버튼을 클릭하면</a:t>
            </a:r>
            <a:r>
              <a:rPr lang="en-US" altLang="ko-KR" sz="1600" dirty="0"/>
              <a:t>, </a:t>
            </a:r>
            <a:r>
              <a:rPr lang="ko-KR" altLang="en-US" sz="1600" dirty="0"/>
              <a:t>이미 열려있는 </a:t>
            </a:r>
            <a:r>
              <a:rPr lang="en-US" altLang="ko-KR" sz="1600" dirty="0" err="1"/>
              <a:t>myWin</a:t>
            </a:r>
            <a:r>
              <a:rPr lang="ko-KR" altLang="en-US" sz="1600" dirty="0"/>
              <a:t>이름의 윈도우에 </a:t>
            </a:r>
            <a:r>
              <a:rPr lang="ko-KR" altLang="en-US" sz="1600" dirty="0" err="1"/>
              <a:t>네이버</a:t>
            </a:r>
            <a:r>
              <a:rPr lang="ko-KR" altLang="en-US" sz="1600" dirty="0"/>
              <a:t> 출력</a:t>
            </a:r>
            <a:endParaRPr lang="en-US" altLang="ko-KR" sz="1600" dirty="0"/>
          </a:p>
          <a:p>
            <a:pPr lvl="1"/>
            <a:endParaRPr lang="en-US" altLang="ko-KR" sz="1800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703512" y="1569112"/>
            <a:ext cx="5904656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&lt;button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onclick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=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"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window.open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pt-BR" altLang="ko-KR" sz="1400" dirty="0"/>
              <a:t>'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http://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www.naver.com</a:t>
            </a:r>
            <a:r>
              <a:rPr lang="pt-BR" altLang="ko-KR" sz="1400" dirty="0"/>
              <a:t>'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pt-BR" altLang="ko-KR" sz="1400" dirty="0"/>
              <a:t>''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</a:p>
          <a:p>
            <a:pPr marL="1905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	</a:t>
            </a:r>
            <a:r>
              <a:rPr lang="pt-BR" altLang="ko-KR" sz="1400" dirty="0"/>
              <a:t>'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width=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600,height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=600</a:t>
            </a:r>
            <a:r>
              <a:rPr lang="pt-BR" altLang="ko-KR" sz="1400" dirty="0"/>
              <a:t>'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)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"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&gt;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새 윈도우 열기</a:t>
            </a:r>
          </a:p>
          <a:p>
            <a:pPr marL="1905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&lt;/button&gt;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703512" y="3635499"/>
            <a:ext cx="5904656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&lt;button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onclick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=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"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window.open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pt-BR" altLang="ko-KR" sz="1400" dirty="0"/>
              <a:t>'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http://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www.naver.com</a:t>
            </a:r>
            <a:r>
              <a:rPr lang="pt-BR" altLang="ko-KR" sz="1400" dirty="0"/>
              <a:t>'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pt-BR" altLang="ko-KR" sz="1400" dirty="0"/>
              <a:t>'</a:t>
            </a:r>
            <a:r>
              <a:rPr lang="en-US" altLang="ko-KR" sz="1400" b="1" kern="0" dirty="0" err="1">
                <a:solidFill>
                  <a:srgbClr val="000000"/>
                </a:solidFill>
                <a:latin typeface="+mj-ea"/>
                <a:ea typeface="+mj-ea"/>
              </a:rPr>
              <a:t>myWin</a:t>
            </a:r>
            <a:r>
              <a:rPr lang="pt-BR" altLang="ko-KR" sz="1400" dirty="0"/>
              <a:t>'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, 	 </a:t>
            </a:r>
            <a:r>
              <a:rPr lang="pt-BR" altLang="ko-KR" sz="1400" dirty="0"/>
              <a:t>'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width=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600,height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=600</a:t>
            </a:r>
            <a:r>
              <a:rPr lang="pt-BR" altLang="ko-KR" sz="1400" dirty="0"/>
              <a:t>'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)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"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&gt;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새 윈도우 열기</a:t>
            </a:r>
          </a:p>
          <a:p>
            <a:pPr marL="1905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&lt;/button&gt;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31F6CAFB-24DE-4138-ACC2-5CC647DB03BD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8004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윈도우 닫기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윈도우 닫기</a:t>
            </a:r>
            <a:endParaRPr lang="en-US" altLang="ko-KR" dirty="0"/>
          </a:p>
          <a:p>
            <a:pPr lvl="1"/>
            <a:r>
              <a:rPr lang="ko-KR" altLang="en-US" dirty="0"/>
              <a:t>윈도우가 닫히면</a:t>
            </a:r>
            <a:r>
              <a:rPr lang="en-US" altLang="ko-KR" dirty="0"/>
              <a:t>, </a:t>
            </a:r>
            <a:r>
              <a:rPr lang="ko-KR" altLang="en-US" dirty="0"/>
              <a:t>웹 페이지와 함께 윈도우는 사라진다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현재 윈도우를 닫는 코드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ko-KR" altLang="en-US" dirty="0"/>
              <a:t>브라우저에 따라 보안의 이유로 이 코드가 작동하지 않음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자신이 만든 윈도우 닫기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ko-KR" altLang="en-US" dirty="0"/>
              <a:t>대부분의 브라우저는 자신이 만든 윈도우의 닫기를 허용</a:t>
            </a:r>
            <a:endParaRPr lang="en-US" altLang="ko-KR" dirty="0"/>
          </a:p>
          <a:p>
            <a:pPr marL="45720" indent="0">
              <a:buNone/>
            </a:pP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895278" y="2491735"/>
            <a:ext cx="560865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fontAlgn="base" latinLnBrk="0"/>
            <a:r>
              <a:rPr lang="it-IT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window.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close(</a:t>
            </a:r>
            <a:r>
              <a:rPr lang="it-IT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);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895278" y="4293096"/>
            <a:ext cx="5608650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fontAlgn="base" latinLnBrk="0"/>
            <a:r>
              <a:rPr lang="it-IT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let win = window.open(); //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새 윈도우 생성</a:t>
            </a:r>
            <a:endParaRPr lang="it-IT" altLang="ko-KR" sz="14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190500" fontAlgn="base" latinLnBrk="0"/>
            <a:r>
              <a:rPr lang="it-IT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...</a:t>
            </a:r>
          </a:p>
          <a:p>
            <a:pPr marL="190500" fontAlgn="base" latinLnBrk="0"/>
            <a:r>
              <a:rPr lang="it-IT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win.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close(</a:t>
            </a:r>
            <a:r>
              <a:rPr lang="it-IT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); //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자신이 만든 윈도우 닫기</a:t>
            </a:r>
            <a:endParaRPr lang="it-IT" altLang="ko-KR" sz="1400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B60F5B21-A525-4F47-95D4-209D38B89E7E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1031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4DCDEC7-5267-47BA-928A-0627F5F93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478" y="1563955"/>
            <a:ext cx="2202583" cy="2103591"/>
          </a:xfrm>
          <a:prstGeom prst="rect">
            <a:avLst/>
          </a:prstGeom>
          <a:ln w="6350">
            <a:solidFill>
              <a:srgbClr val="0070C0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2039345" y="2369707"/>
            <a:ext cx="5055437" cy="36471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050" dirty="0"/>
              <a:t>&lt;!DOCTYPE html&gt;</a:t>
            </a:r>
          </a:p>
          <a:p>
            <a:pPr defTabSz="180000"/>
            <a:r>
              <a:rPr lang="en-US" altLang="ko-KR" sz="1050" dirty="0"/>
              <a:t>&lt;html&gt;</a:t>
            </a:r>
          </a:p>
          <a:p>
            <a:pPr defTabSz="180000"/>
            <a:r>
              <a:rPr lang="en-US" altLang="ko-KR" sz="1050" dirty="0"/>
              <a:t>&lt;head&gt;</a:t>
            </a:r>
          </a:p>
          <a:p>
            <a:pPr defTabSz="180000"/>
            <a:r>
              <a:rPr lang="en-US" altLang="ko-KR" sz="1050" dirty="0"/>
              <a:t>&lt;meta charset="</a:t>
            </a:r>
            <a:r>
              <a:rPr lang="en-US" altLang="ko-KR" sz="1050" dirty="0" err="1"/>
              <a:t>utf</a:t>
            </a:r>
            <a:r>
              <a:rPr lang="en-US" altLang="ko-KR" sz="1050" dirty="0"/>
              <a:t>-8"&gt;</a:t>
            </a:r>
          </a:p>
          <a:p>
            <a:pPr defTabSz="180000"/>
            <a:r>
              <a:rPr lang="en-US" altLang="ko-KR" sz="1050" dirty="0"/>
              <a:t>&lt;title&gt;</a:t>
            </a:r>
            <a:r>
              <a:rPr lang="ko-KR" altLang="en-US" sz="1050" dirty="0"/>
              <a:t>윈도우 열기</a:t>
            </a:r>
            <a:r>
              <a:rPr lang="en-US" altLang="ko-KR" sz="1050" dirty="0"/>
              <a:t>&lt;/title&gt;</a:t>
            </a:r>
          </a:p>
          <a:p>
            <a:pPr defTabSz="180000"/>
            <a:r>
              <a:rPr lang="en-US" altLang="ko-KR" sz="1050" dirty="0"/>
              <a:t>&lt;script&gt;</a:t>
            </a:r>
          </a:p>
          <a:p>
            <a:pPr defTabSz="180000"/>
            <a:r>
              <a:rPr lang="en-US" altLang="ko-KR" sz="1050" dirty="0"/>
              <a:t>function load(URL) {</a:t>
            </a:r>
          </a:p>
          <a:p>
            <a:pPr defTabSz="180000"/>
            <a:r>
              <a:rPr lang="en-US" altLang="ko-KR" sz="1050" dirty="0"/>
              <a:t>	</a:t>
            </a:r>
            <a:r>
              <a:rPr lang="en-US" altLang="ko-KR" sz="1050" b="1" dirty="0" err="1"/>
              <a:t>window.open</a:t>
            </a:r>
            <a:r>
              <a:rPr lang="en-US" altLang="ko-KR" sz="1050" b="1" dirty="0"/>
              <a:t>(URL, "</a:t>
            </a:r>
            <a:r>
              <a:rPr lang="en-US" altLang="ko-KR" sz="1050" b="1" dirty="0" err="1"/>
              <a:t>myWin</a:t>
            </a:r>
            <a:r>
              <a:rPr lang="en-US" altLang="ko-KR" sz="1050" b="1" dirty="0"/>
              <a:t>", "left=300,top=300,width=400,height=300");</a:t>
            </a:r>
          </a:p>
          <a:p>
            <a:pPr defTabSz="180000"/>
            <a:r>
              <a:rPr lang="en-US" altLang="ko-KR" sz="1050" dirty="0"/>
              <a:t>}</a:t>
            </a:r>
          </a:p>
          <a:p>
            <a:pPr defTabSz="180000"/>
            <a:r>
              <a:rPr lang="en-US" altLang="ko-KR" sz="1050" dirty="0"/>
              <a:t>&lt;/script&gt;</a:t>
            </a:r>
          </a:p>
          <a:p>
            <a:pPr defTabSz="180000"/>
            <a:r>
              <a:rPr lang="en-US" altLang="ko-KR" sz="1050" dirty="0"/>
              <a:t>&lt;/head&gt;</a:t>
            </a:r>
          </a:p>
          <a:p>
            <a:pPr defTabSz="180000"/>
            <a:r>
              <a:rPr lang="en-US" altLang="ko-KR" sz="1050" dirty="0"/>
              <a:t>&lt;body&gt;</a:t>
            </a:r>
          </a:p>
          <a:p>
            <a:pPr defTabSz="180000"/>
            <a:r>
              <a:rPr lang="en-US" altLang="ko-KR" sz="1050" dirty="0"/>
              <a:t>&lt;h3&gt;</a:t>
            </a:r>
            <a:r>
              <a:rPr lang="en-US" altLang="ko-KR" sz="1050" dirty="0" err="1"/>
              <a:t>window.open</a:t>
            </a:r>
            <a:r>
              <a:rPr lang="en-US" altLang="ko-KR" sz="1050" dirty="0"/>
              <a:t>()</a:t>
            </a:r>
            <a:r>
              <a:rPr lang="ko-KR" altLang="en-US" sz="1050" dirty="0"/>
              <a:t>으로 윈도우 열기</a:t>
            </a:r>
            <a:r>
              <a:rPr lang="en-US" altLang="ko-KR" sz="1050" dirty="0"/>
              <a:t>&lt;/h3&gt;</a:t>
            </a:r>
          </a:p>
          <a:p>
            <a:pPr defTabSz="180000"/>
            <a:r>
              <a:rPr lang="en-US" altLang="ko-KR" sz="1050" dirty="0"/>
              <a:t>&lt;</a:t>
            </a:r>
            <a:r>
              <a:rPr lang="en-US" altLang="ko-KR" sz="1050" dirty="0" err="1"/>
              <a:t>hr</a:t>
            </a:r>
            <a:r>
              <a:rPr lang="en-US" altLang="ko-KR" sz="1050" dirty="0"/>
              <a:t>&gt;</a:t>
            </a:r>
          </a:p>
          <a:p>
            <a:pPr defTabSz="180000"/>
            <a:r>
              <a:rPr lang="pt-BR" altLang="ko-KR" sz="1050" dirty="0"/>
              <a:t>&lt;a href="javascript:load('http://www.graceland.com')"&gt;</a:t>
            </a:r>
          </a:p>
          <a:p>
            <a:pPr defTabSz="180000"/>
            <a:r>
              <a:rPr lang="ko-KR" altLang="en-US" sz="1050" dirty="0"/>
              <a:t>         </a:t>
            </a:r>
            <a:r>
              <a:rPr lang="ko-KR" altLang="en-US" sz="1050" dirty="0" err="1"/>
              <a:t>엘비스</a:t>
            </a:r>
            <a:r>
              <a:rPr lang="ko-KR" altLang="en-US" sz="1050" dirty="0"/>
              <a:t> </a:t>
            </a:r>
            <a:r>
              <a:rPr lang="ko-KR" altLang="en-US" sz="1050" dirty="0" err="1"/>
              <a:t>프레슬리</a:t>
            </a:r>
            <a:r>
              <a:rPr lang="ko-KR" altLang="en-US" sz="1050" dirty="0"/>
              <a:t> 홈 페이지</a:t>
            </a:r>
            <a:r>
              <a:rPr lang="en-US" altLang="ko-KR" sz="1050" dirty="0"/>
              <a:t>&lt;/a&gt;&lt;</a:t>
            </a:r>
            <a:r>
              <a:rPr lang="en-US" altLang="ko-KR" sz="1050" dirty="0" err="1"/>
              <a:t>br</a:t>
            </a:r>
            <a:r>
              <a:rPr lang="en-US" altLang="ko-KR" sz="1050" dirty="0"/>
              <a:t>&gt;</a:t>
            </a:r>
          </a:p>
          <a:p>
            <a:pPr defTabSz="180000"/>
            <a:r>
              <a:rPr lang="pt-BR" altLang="ko-KR" sz="1050" dirty="0"/>
              <a:t>&lt;a href="javascript:load('http://www.universalorlando.com')"&gt;</a:t>
            </a:r>
          </a:p>
          <a:p>
            <a:pPr defTabSz="180000"/>
            <a:r>
              <a:rPr lang="ko-KR" altLang="en-US" sz="1050" dirty="0"/>
              <a:t>         유니버설 </a:t>
            </a:r>
            <a:r>
              <a:rPr lang="ko-KR" altLang="en-US" sz="1050" dirty="0" err="1"/>
              <a:t>올랜드</a:t>
            </a:r>
            <a:r>
              <a:rPr lang="ko-KR" altLang="en-US" sz="1050" dirty="0"/>
              <a:t> 홈 페이지</a:t>
            </a:r>
            <a:r>
              <a:rPr lang="en-US" altLang="ko-KR" sz="1050" dirty="0"/>
              <a:t>&lt;/a&gt;&lt;</a:t>
            </a:r>
            <a:r>
              <a:rPr lang="en-US" altLang="ko-KR" sz="1050" dirty="0" err="1"/>
              <a:t>br</a:t>
            </a:r>
            <a:r>
              <a:rPr lang="en-US" altLang="ko-KR" sz="1050" dirty="0"/>
              <a:t>&gt;</a:t>
            </a:r>
          </a:p>
          <a:p>
            <a:pPr defTabSz="180000"/>
            <a:r>
              <a:rPr lang="pt-BR" altLang="ko-KR" sz="1050" dirty="0"/>
              <a:t>&lt;a href="javascript:load('http://www.disneyworld.com')"&gt;</a:t>
            </a:r>
          </a:p>
          <a:p>
            <a:pPr defTabSz="180000"/>
            <a:r>
              <a:rPr lang="ko-KR" altLang="en-US" sz="1050" dirty="0"/>
              <a:t>         디즈니월드 홈 페이지</a:t>
            </a:r>
            <a:r>
              <a:rPr lang="en-US" altLang="ko-KR" sz="1050" dirty="0"/>
              <a:t>&lt;/a&gt;&lt;</a:t>
            </a:r>
            <a:r>
              <a:rPr lang="en-US" altLang="ko-KR" sz="1050" dirty="0" err="1"/>
              <a:t>br</a:t>
            </a:r>
            <a:r>
              <a:rPr lang="en-US" altLang="ko-KR" sz="1050" dirty="0"/>
              <a:t>&gt;</a:t>
            </a:r>
            <a:r>
              <a:rPr lang="ko-KR" altLang="en-US" sz="1050" dirty="0"/>
              <a:t>         </a:t>
            </a:r>
          </a:p>
          <a:p>
            <a:pPr defTabSz="180000"/>
            <a:r>
              <a:rPr lang="en-US" altLang="ko-KR" sz="1050" dirty="0"/>
              <a:t>&lt;/body&gt;</a:t>
            </a:r>
          </a:p>
          <a:p>
            <a:pPr defTabSz="180000"/>
            <a:r>
              <a:rPr lang="en-US" altLang="ko-KR" sz="1050" dirty="0"/>
              <a:t>&lt;/html&gt;</a:t>
            </a:r>
            <a:endParaRPr lang="ko-KR" altLang="en-US" sz="105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10-1 </a:t>
            </a:r>
            <a:r>
              <a:rPr lang="en-US" altLang="ko-KR" dirty="0" err="1"/>
              <a:t>window.open</a:t>
            </a:r>
            <a:r>
              <a:rPr lang="en-US" altLang="ko-KR" dirty="0"/>
              <a:t>()</a:t>
            </a:r>
            <a:r>
              <a:rPr lang="ko-KR" altLang="en-US" dirty="0"/>
              <a:t>으로 윈도우 열기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8339158" y="3452629"/>
            <a:ext cx="1531192" cy="442674"/>
          </a:xfrm>
          <a:prstGeom prst="wedgeRoundRectCallout">
            <a:avLst>
              <a:gd name="adj1" fmla="val -71296"/>
              <a:gd name="adj2" fmla="val 2318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새 윈도우를 열고 </a:t>
            </a:r>
            <a:endParaRPr lang="en-US" altLang="ko-KR" sz="1000" dirty="0"/>
          </a:p>
          <a:p>
            <a:r>
              <a:rPr lang="ko-KR" altLang="en-US" sz="1000" dirty="0"/>
              <a:t>디즈니 홈 페이지 출력</a:t>
            </a:r>
          </a:p>
        </p:txBody>
      </p:sp>
      <p:sp>
        <p:nvSpPr>
          <p:cNvPr id="8" name="자유형 7"/>
          <p:cNvSpPr/>
          <p:nvPr/>
        </p:nvSpPr>
        <p:spPr>
          <a:xfrm flipH="1">
            <a:off x="7846173" y="3429001"/>
            <a:ext cx="122035" cy="523803"/>
          </a:xfrm>
          <a:custGeom>
            <a:avLst/>
            <a:gdLst>
              <a:gd name="connsiteX0" fmla="*/ 0 w 284639"/>
              <a:gd name="connsiteY0" fmla="*/ 0 h 217037"/>
              <a:gd name="connsiteX1" fmla="*/ 135204 w 284639"/>
              <a:gd name="connsiteY1" fmla="*/ 120971 h 217037"/>
              <a:gd name="connsiteX2" fmla="*/ 284639 w 284639"/>
              <a:gd name="connsiteY2" fmla="*/ 217037 h 217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4639" h="217037">
                <a:moveTo>
                  <a:pt x="0" y="0"/>
                </a:moveTo>
                <a:cubicBezTo>
                  <a:pt x="43882" y="42399"/>
                  <a:pt x="87764" y="84798"/>
                  <a:pt x="135204" y="120971"/>
                </a:cubicBezTo>
                <a:cubicBezTo>
                  <a:pt x="182644" y="157144"/>
                  <a:pt x="233641" y="187090"/>
                  <a:pt x="284639" y="217037"/>
                </a:cubicBez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015880" y="6165356"/>
            <a:ext cx="1152128" cy="272415"/>
          </a:xfrm>
          <a:prstGeom prst="wedgeRoundRectCallout">
            <a:avLst>
              <a:gd name="adj1" fmla="val 61863"/>
              <a:gd name="adj2" fmla="val 418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err="1"/>
              <a:t>myWin</a:t>
            </a:r>
            <a:r>
              <a:rPr lang="en-US" altLang="ko-KR" sz="1000" dirty="0"/>
              <a:t>  </a:t>
            </a:r>
            <a:r>
              <a:rPr lang="ko-KR" altLang="en-US" sz="1000" dirty="0"/>
              <a:t>윈도우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6089" y="1348469"/>
            <a:ext cx="49106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3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개의 링크를 가진 웹 페이지를 작성하고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각 링크를 클릭하면 </a:t>
            </a:r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</a:rPr>
              <a:t>myWin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이름의 새 윈도우를 열고 해당 사이트를 출력하라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</a:rPr>
              <a:t>myWin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윈도우는 공유된다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새 윈도우는 스크린의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(300, 300)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위치에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400x300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크기로 출력된다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B72B8BC-C09D-4020-9D3C-A16B4118E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4005065"/>
            <a:ext cx="3738732" cy="2664101"/>
          </a:xfrm>
          <a:prstGeom prst="rect">
            <a:avLst/>
          </a:prstGeom>
        </p:spPr>
      </p:pic>
      <p:sp>
        <p:nvSpPr>
          <p:cNvPr id="12" name="슬라이드 번호 개체 틀 3">
            <a:extLst>
              <a:ext uri="{FF2B5EF4-FFF2-40B4-BE49-F238E27FC236}">
                <a16:creationId xmlns:a16="http://schemas.microsoft.com/office/drawing/2014/main" id="{BABEFDC7-85A3-4553-B410-0BD05842CE89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0545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775825" y="1232711"/>
            <a:ext cx="5544616" cy="51706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100" dirty="0"/>
              <a:t>&lt;!DOCTYPE html&gt;</a:t>
            </a:r>
          </a:p>
          <a:p>
            <a:pPr defTabSz="180000"/>
            <a:r>
              <a:rPr lang="en-US" altLang="ko-KR" sz="1100" dirty="0"/>
              <a:t>&lt;html&gt;</a:t>
            </a:r>
          </a:p>
          <a:p>
            <a:pPr defTabSz="180000"/>
            <a:r>
              <a:rPr lang="en-US" altLang="ko-KR" sz="1100" dirty="0"/>
              <a:t>&lt;head&gt;</a:t>
            </a:r>
          </a:p>
          <a:p>
            <a:pPr defTabSz="180000"/>
            <a:r>
              <a:rPr lang="en-US" altLang="ko-KR" sz="1100" dirty="0"/>
              <a:t>&lt;meta charset="</a:t>
            </a:r>
            <a:r>
              <a:rPr lang="en-US" altLang="ko-KR" sz="1100" dirty="0" err="1"/>
              <a:t>utf</a:t>
            </a:r>
            <a:r>
              <a:rPr lang="en-US" altLang="ko-KR" sz="1100" dirty="0"/>
              <a:t>-8"&gt;</a:t>
            </a:r>
          </a:p>
          <a:p>
            <a:pPr defTabSz="180000"/>
            <a:r>
              <a:rPr lang="en-US" altLang="ko-KR" sz="1100" dirty="0"/>
              <a:t>&lt;title&gt;</a:t>
            </a:r>
            <a:r>
              <a:rPr lang="ko-KR" altLang="en-US" sz="1100" dirty="0"/>
              <a:t>윈도우 닫기</a:t>
            </a:r>
            <a:r>
              <a:rPr lang="en-US" altLang="ko-KR" sz="1100" dirty="0"/>
              <a:t>&lt;/title&gt;</a:t>
            </a:r>
          </a:p>
          <a:p>
            <a:pPr defTabSz="180000"/>
            <a:r>
              <a:rPr lang="en-US" altLang="ko-KR" sz="1100" dirty="0"/>
              <a:t>&lt;script&gt;</a:t>
            </a:r>
          </a:p>
          <a:p>
            <a:pPr defTabSz="180000"/>
            <a:r>
              <a:rPr lang="en-US" altLang="ko-KR" sz="1100" b="1" dirty="0"/>
              <a:t>let</a:t>
            </a:r>
            <a:r>
              <a:rPr lang="ko-KR" altLang="en-US" sz="1100" b="1" dirty="0"/>
              <a:t> </a:t>
            </a:r>
            <a:r>
              <a:rPr lang="en-US" altLang="ko-KR" sz="1100" b="1" dirty="0" err="1"/>
              <a:t>newWin</a:t>
            </a:r>
            <a:r>
              <a:rPr lang="en-US" altLang="ko-KR" sz="1100" b="1" dirty="0"/>
              <a:t>=null; </a:t>
            </a:r>
            <a:r>
              <a:rPr lang="en-US" altLang="ko-KR" sz="1100" dirty="0"/>
              <a:t>// </a:t>
            </a:r>
            <a:r>
              <a:rPr lang="ko-KR" altLang="en-US" sz="1100" dirty="0"/>
              <a:t>새로 연 윈도우 기억</a:t>
            </a:r>
          </a:p>
          <a:p>
            <a:pPr defTabSz="180000"/>
            <a:r>
              <a:rPr lang="en-US" altLang="ko-KR" sz="1100" dirty="0"/>
              <a:t>function load(URL) {</a:t>
            </a:r>
          </a:p>
          <a:p>
            <a:pPr defTabSz="180000"/>
            <a:r>
              <a:rPr lang="en-US" altLang="ko-KR" sz="1100" dirty="0"/>
              <a:t>	</a:t>
            </a:r>
            <a:r>
              <a:rPr lang="en-US" altLang="ko-KR" sz="1100" b="1" dirty="0" err="1"/>
              <a:t>newWin</a:t>
            </a:r>
            <a:r>
              <a:rPr lang="en-US" altLang="ko-KR" sz="1100" b="1" dirty="0"/>
              <a:t> = </a:t>
            </a:r>
            <a:r>
              <a:rPr lang="en-US" altLang="ko-KR" sz="1100" b="1" dirty="0" err="1"/>
              <a:t>window.open</a:t>
            </a:r>
            <a:r>
              <a:rPr lang="en-US" altLang="ko-KR" sz="1100" b="1" dirty="0"/>
              <a:t>(URL, "</a:t>
            </a:r>
            <a:r>
              <a:rPr lang="en-US" altLang="ko-KR" sz="1100" b="1" dirty="0" err="1"/>
              <a:t>myWin</a:t>
            </a:r>
            <a:r>
              <a:rPr lang="en-US" altLang="ko-KR" sz="1100" b="1" dirty="0"/>
              <a:t>", "left=300,top=300,width=400,height=300");</a:t>
            </a:r>
          </a:p>
          <a:p>
            <a:pPr defTabSz="180000"/>
            <a:r>
              <a:rPr lang="en-US" altLang="ko-KR" sz="1100" dirty="0"/>
              <a:t>}</a:t>
            </a:r>
            <a:endParaRPr lang="ko-KR" altLang="en-US" sz="1100" dirty="0"/>
          </a:p>
          <a:p>
            <a:pPr defTabSz="180000"/>
            <a:r>
              <a:rPr lang="en-US" altLang="ko-KR" sz="1100" dirty="0"/>
              <a:t>function </a:t>
            </a:r>
            <a:r>
              <a:rPr lang="en-US" altLang="ko-KR" sz="1100" dirty="0" err="1"/>
              <a:t>closeNewWindow</a:t>
            </a:r>
            <a:r>
              <a:rPr lang="en-US" altLang="ko-KR" sz="1100" dirty="0"/>
              <a:t>() {</a:t>
            </a:r>
          </a:p>
          <a:p>
            <a:pPr defTabSz="180000"/>
            <a:r>
              <a:rPr lang="en-US" altLang="ko-KR" sz="1100" dirty="0"/>
              <a:t>	if(</a:t>
            </a:r>
            <a:r>
              <a:rPr lang="en-US" altLang="ko-KR" sz="1100" dirty="0" err="1"/>
              <a:t>newWin</a:t>
            </a:r>
            <a:r>
              <a:rPr lang="en-US" altLang="ko-KR" sz="1100" dirty="0"/>
              <a:t>==null</a:t>
            </a:r>
            <a:r>
              <a:rPr lang="ko-KR" altLang="en-US" sz="1100" dirty="0"/>
              <a:t> </a:t>
            </a:r>
            <a:r>
              <a:rPr lang="en-US" altLang="ko-KR" sz="1100" dirty="0"/>
              <a:t>|| </a:t>
            </a:r>
            <a:r>
              <a:rPr lang="en-US" altLang="ko-KR" sz="1100" dirty="0" err="1"/>
              <a:t>newWin.closed</a:t>
            </a:r>
            <a:r>
              <a:rPr lang="en-US" altLang="ko-KR" sz="1100" dirty="0"/>
              <a:t>) // </a:t>
            </a:r>
            <a:r>
              <a:rPr lang="ko-KR" altLang="en-US" sz="1100" dirty="0"/>
              <a:t>윈도우가 열리지 않았거나 닫힌 경우</a:t>
            </a:r>
          </a:p>
          <a:p>
            <a:pPr defTabSz="180000"/>
            <a:r>
              <a:rPr lang="en-US" altLang="ko-KR" sz="1100" dirty="0"/>
              <a:t>		return; // </a:t>
            </a:r>
            <a:r>
              <a:rPr lang="ko-KR" altLang="en-US" sz="1100" dirty="0"/>
              <a:t>윈도우가 없는 경우 그냥 리턴 </a:t>
            </a:r>
          </a:p>
          <a:p>
            <a:pPr defTabSz="180000"/>
            <a:r>
              <a:rPr lang="en-US" altLang="ko-KR" sz="1100" dirty="0"/>
              <a:t>	else </a:t>
            </a:r>
          </a:p>
          <a:p>
            <a:pPr defTabSz="180000"/>
            <a:r>
              <a:rPr lang="en-US" altLang="ko-KR" sz="1100" dirty="0"/>
              <a:t>		</a:t>
            </a:r>
            <a:r>
              <a:rPr lang="en-US" altLang="ko-KR" sz="1100" b="1" dirty="0" err="1"/>
              <a:t>newWin.close</a:t>
            </a:r>
            <a:r>
              <a:rPr lang="en-US" altLang="ko-KR" sz="1100" b="1" dirty="0"/>
              <a:t>()</a:t>
            </a:r>
            <a:r>
              <a:rPr lang="en-US" altLang="ko-KR" sz="1100" dirty="0"/>
              <a:t>; // </a:t>
            </a:r>
            <a:r>
              <a:rPr lang="ko-KR" altLang="en-US" sz="1100" dirty="0"/>
              <a:t>열어 놓은 윈도우 닫기</a:t>
            </a:r>
          </a:p>
          <a:p>
            <a:pPr defTabSz="180000"/>
            <a:r>
              <a:rPr lang="en-US" altLang="ko-KR" sz="1100" dirty="0"/>
              <a:t>}</a:t>
            </a:r>
          </a:p>
          <a:p>
            <a:pPr defTabSz="180000"/>
            <a:r>
              <a:rPr lang="en-US" altLang="ko-KR" sz="1100" dirty="0"/>
              <a:t>&lt;/script&gt;</a:t>
            </a:r>
          </a:p>
          <a:p>
            <a:pPr defTabSz="180000"/>
            <a:r>
              <a:rPr lang="en-US" altLang="ko-KR" sz="1100" dirty="0"/>
              <a:t>&lt;/head&gt;</a:t>
            </a:r>
          </a:p>
          <a:p>
            <a:pPr defTabSz="180000"/>
            <a:r>
              <a:rPr lang="en-US" altLang="ko-KR" sz="1100" dirty="0"/>
              <a:t>&lt;body&gt;</a:t>
            </a:r>
          </a:p>
          <a:p>
            <a:pPr defTabSz="180000"/>
            <a:r>
              <a:rPr lang="en-US" altLang="ko-KR" sz="1100" dirty="0"/>
              <a:t>&lt;h3&gt;window</a:t>
            </a:r>
            <a:r>
              <a:rPr lang="ko-KR" altLang="en-US" sz="1100" dirty="0"/>
              <a:t>의 </a:t>
            </a:r>
            <a:r>
              <a:rPr lang="en-US" altLang="ko-KR" sz="1100" dirty="0"/>
              <a:t>close()</a:t>
            </a:r>
            <a:r>
              <a:rPr lang="ko-KR" altLang="en-US" sz="1100" dirty="0"/>
              <a:t>로 윈도우 닫기</a:t>
            </a:r>
            <a:r>
              <a:rPr lang="en-US" altLang="ko-KR" sz="1100" dirty="0"/>
              <a:t>&lt;/h3&gt;</a:t>
            </a:r>
          </a:p>
          <a:p>
            <a:pPr defTabSz="180000"/>
            <a:r>
              <a:rPr lang="en-US" altLang="ko-KR" sz="1100" dirty="0"/>
              <a:t>&lt;</a:t>
            </a:r>
            <a:r>
              <a:rPr lang="en-US" altLang="ko-KR" sz="1100" dirty="0" err="1"/>
              <a:t>hr</a:t>
            </a:r>
            <a:r>
              <a:rPr lang="en-US" altLang="ko-KR" sz="1100" dirty="0"/>
              <a:t>&gt;</a:t>
            </a:r>
          </a:p>
          <a:p>
            <a:pPr defTabSz="180000"/>
            <a:r>
              <a:rPr lang="pt-BR" altLang="ko-KR" sz="1100" dirty="0"/>
              <a:t>&lt;a href="javascript:load('http://www.disneyworld.com')"&gt;</a:t>
            </a:r>
          </a:p>
          <a:p>
            <a:pPr defTabSz="180000"/>
            <a:r>
              <a:rPr lang="ko-KR" altLang="en-US" sz="1100" dirty="0"/>
              <a:t>         새 윈도우 열기</a:t>
            </a:r>
            <a:r>
              <a:rPr lang="en-US" altLang="ko-KR" sz="1100" dirty="0"/>
              <a:t>(</a:t>
            </a:r>
            <a:r>
              <a:rPr lang="ko-KR" altLang="en-US" sz="1100" dirty="0"/>
              <a:t>디즈니월드</a:t>
            </a:r>
            <a:r>
              <a:rPr lang="en-US" altLang="ko-KR" sz="1100" dirty="0"/>
              <a:t>)&lt;/a&gt;&lt;</a:t>
            </a:r>
            <a:r>
              <a:rPr lang="en-US" altLang="ko-KR" sz="1100" dirty="0" err="1"/>
              <a:t>br</a:t>
            </a:r>
            <a:r>
              <a:rPr lang="en-US" altLang="ko-KR" sz="1100" dirty="0"/>
              <a:t>&gt;</a:t>
            </a:r>
          </a:p>
          <a:p>
            <a:pPr defTabSz="180000"/>
            <a:r>
              <a:rPr lang="en-US" altLang="ko-KR" sz="1100" dirty="0"/>
              <a:t>&lt;a </a:t>
            </a:r>
            <a:r>
              <a:rPr lang="en-US" altLang="ko-KR" sz="1100" dirty="0" err="1"/>
              <a:t>href</a:t>
            </a:r>
            <a:r>
              <a:rPr lang="en-US" altLang="ko-KR" sz="1100" dirty="0"/>
              <a:t>="</a:t>
            </a:r>
            <a:r>
              <a:rPr lang="en-US" altLang="ko-KR" sz="1100" dirty="0" err="1"/>
              <a:t>javascript:</a:t>
            </a:r>
            <a:r>
              <a:rPr lang="en-US" altLang="ko-KR" sz="1100" b="1" dirty="0" err="1"/>
              <a:t>window.close</a:t>
            </a:r>
            <a:r>
              <a:rPr lang="en-US" altLang="ko-KR" sz="1100" b="1" dirty="0"/>
              <a:t>()</a:t>
            </a:r>
            <a:r>
              <a:rPr lang="en-US" altLang="ko-KR" sz="1100" dirty="0"/>
              <a:t>"&gt;</a:t>
            </a:r>
          </a:p>
          <a:p>
            <a:pPr defTabSz="180000"/>
            <a:r>
              <a:rPr lang="ko-KR" altLang="en-US" sz="1100" dirty="0"/>
              <a:t>         현재 윈도우 닫기</a:t>
            </a:r>
            <a:r>
              <a:rPr lang="en-US" altLang="ko-KR" sz="1100" dirty="0"/>
              <a:t>&lt;/a&gt;&lt;</a:t>
            </a:r>
            <a:r>
              <a:rPr lang="en-US" altLang="ko-KR" sz="1100" dirty="0" err="1"/>
              <a:t>br</a:t>
            </a:r>
            <a:r>
              <a:rPr lang="en-US" altLang="ko-KR" sz="1100" dirty="0"/>
              <a:t>&gt;</a:t>
            </a:r>
            <a:r>
              <a:rPr lang="ko-KR" altLang="en-US" sz="1100" dirty="0"/>
              <a:t>         </a:t>
            </a:r>
          </a:p>
          <a:p>
            <a:pPr defTabSz="180000"/>
            <a:r>
              <a:rPr lang="en-US" altLang="ko-KR" sz="1100" dirty="0"/>
              <a:t>&lt;a </a:t>
            </a:r>
            <a:r>
              <a:rPr lang="en-US" altLang="ko-KR" sz="1100" dirty="0" err="1"/>
              <a:t>href</a:t>
            </a:r>
            <a:r>
              <a:rPr lang="en-US" altLang="ko-KR" sz="1100" dirty="0"/>
              <a:t>="</a:t>
            </a:r>
            <a:r>
              <a:rPr lang="en-US" altLang="ko-KR" sz="1100" dirty="0" err="1"/>
              <a:t>javascript:closeNewWindow</a:t>
            </a:r>
            <a:r>
              <a:rPr lang="en-US" altLang="ko-KR" sz="1100" dirty="0"/>
              <a:t>()"&gt;</a:t>
            </a:r>
          </a:p>
          <a:p>
            <a:pPr defTabSz="180000"/>
            <a:r>
              <a:rPr lang="ko-KR" altLang="en-US" sz="1100" dirty="0"/>
              <a:t>         새 윈도우 닫기</a:t>
            </a:r>
            <a:r>
              <a:rPr lang="en-US" altLang="ko-KR" sz="1100" dirty="0"/>
              <a:t>&lt;/a&gt;</a:t>
            </a:r>
            <a:r>
              <a:rPr lang="ko-KR" altLang="en-US" sz="1100" dirty="0"/>
              <a:t>         </a:t>
            </a:r>
          </a:p>
          <a:p>
            <a:pPr defTabSz="180000"/>
            <a:r>
              <a:rPr lang="en-US" altLang="ko-KR" sz="1100" dirty="0"/>
              <a:t>&lt;/body&gt;</a:t>
            </a:r>
          </a:p>
          <a:p>
            <a:pPr defTabSz="180000"/>
            <a:r>
              <a:rPr lang="en-US" altLang="ko-KR" sz="1100" dirty="0"/>
              <a:t>&lt;/html&gt;</a:t>
            </a:r>
            <a:endParaRPr lang="ko-KR" altLang="en-US" sz="11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74CDC7B-0432-47BA-BADA-4C6B2F891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360" y="3369860"/>
            <a:ext cx="2521156" cy="2274293"/>
          </a:xfrm>
          <a:prstGeom prst="rect">
            <a:avLst/>
          </a:prstGeom>
          <a:ln w="6350">
            <a:solidFill>
              <a:srgbClr val="0070C0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10-2 </a:t>
            </a:r>
            <a:r>
              <a:rPr lang="ko-KR" altLang="en-US" dirty="0"/>
              <a:t>윈도우 닫기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400257" y="5053428"/>
            <a:ext cx="2013075" cy="272415"/>
          </a:xfrm>
          <a:prstGeom prst="wedgeRoundRectCallout">
            <a:avLst>
              <a:gd name="adj1" fmla="val -67635"/>
              <a:gd name="adj2" fmla="val -3650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자신의 브라우저 윈도우 닫기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6353" y="5572402"/>
            <a:ext cx="2013075" cy="442674"/>
          </a:xfrm>
          <a:prstGeom prst="wedgeRoundRectCallout">
            <a:avLst>
              <a:gd name="adj1" fmla="val -68129"/>
              <a:gd name="adj2" fmla="val -95744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첫번째 링크를 클릭하여 생성한 디즈니 월드 윈도우 닫기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7488" y="868025"/>
            <a:ext cx="8214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2">
                    <a:lumMod val="75000"/>
                  </a:schemeClr>
                </a:solidFill>
              </a:rPr>
              <a:t>윈도우를 스스로 닫는 경우와 자신이 생성한 윈도우를 닫는 사례를 보인다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559A21BD-F121-480D-A4D6-2AD7FCC81F78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3955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window </a:t>
            </a:r>
            <a:r>
              <a:rPr lang="ko-KR" altLang="en-US"/>
              <a:t>객체의 타이머 활용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window </a:t>
            </a:r>
            <a:r>
              <a:rPr lang="ko-KR" altLang="en-US" dirty="0"/>
              <a:t>객체의</a:t>
            </a:r>
            <a:r>
              <a:rPr lang="en-US" altLang="ko-KR" dirty="0"/>
              <a:t> </a:t>
            </a:r>
            <a:r>
              <a:rPr lang="ko-KR" altLang="en-US" dirty="0"/>
              <a:t>타이머 기능 </a:t>
            </a:r>
            <a:r>
              <a:rPr lang="en-US" altLang="ko-KR" dirty="0"/>
              <a:t>2 </a:t>
            </a:r>
            <a:r>
              <a:rPr lang="ko-KR" altLang="en-US" dirty="0"/>
              <a:t>가지</a:t>
            </a:r>
            <a:endParaRPr lang="en-US" altLang="ko-KR" dirty="0"/>
          </a:p>
          <a:p>
            <a:pPr lvl="1"/>
            <a:r>
              <a:rPr lang="ko-KR" altLang="en-US" dirty="0"/>
              <a:t>타임아웃 코드 </a:t>
            </a:r>
            <a:r>
              <a:rPr lang="en-US" altLang="ko-KR" dirty="0"/>
              <a:t>1</a:t>
            </a:r>
            <a:r>
              <a:rPr lang="ko-KR" altLang="en-US" dirty="0"/>
              <a:t>회 호출</a:t>
            </a:r>
            <a:endParaRPr lang="en-US" altLang="ko-KR" dirty="0"/>
          </a:p>
          <a:p>
            <a:pPr lvl="2"/>
            <a:r>
              <a:rPr lang="en-US" altLang="ko-KR" dirty="0" err="1"/>
              <a:t>setTimeout</a:t>
            </a:r>
            <a:r>
              <a:rPr lang="en-US" altLang="ko-KR" dirty="0"/>
              <a:t>()/</a:t>
            </a:r>
            <a:r>
              <a:rPr lang="en-US" altLang="ko-KR" dirty="0" err="1"/>
              <a:t>clearTimeout</a:t>
            </a:r>
            <a:r>
              <a:rPr lang="en-US" altLang="ko-KR" dirty="0"/>
              <a:t>() </a:t>
            </a:r>
            <a:r>
              <a:rPr lang="ko-KR" altLang="en-US" dirty="0" err="1"/>
              <a:t>메소드</a:t>
            </a:r>
            <a:endParaRPr lang="en-US" altLang="ko-KR" dirty="0"/>
          </a:p>
          <a:p>
            <a:pPr lvl="1"/>
            <a:r>
              <a:rPr lang="ko-KR" altLang="en-US" dirty="0"/>
              <a:t>타임아웃 코드 반복 호출</a:t>
            </a:r>
            <a:endParaRPr lang="en-US" altLang="ko-KR" dirty="0"/>
          </a:p>
          <a:p>
            <a:pPr lvl="2"/>
            <a:r>
              <a:rPr lang="en-US" altLang="ko-KR" dirty="0" err="1"/>
              <a:t>setInterval</a:t>
            </a:r>
            <a:r>
              <a:rPr lang="en-US" altLang="ko-KR" dirty="0"/>
              <a:t>()/</a:t>
            </a:r>
            <a:r>
              <a:rPr lang="en-US" altLang="ko-KR" dirty="0" err="1"/>
              <a:t>clearInterval</a:t>
            </a:r>
            <a:r>
              <a:rPr lang="en-US" altLang="ko-KR" dirty="0"/>
              <a:t>() </a:t>
            </a:r>
            <a:r>
              <a:rPr lang="ko-KR" altLang="en-US" dirty="0" err="1"/>
              <a:t>메소드</a:t>
            </a:r>
            <a:endParaRPr lang="ko-KR" altLang="en-US" dirty="0"/>
          </a:p>
          <a:p>
            <a:pPr lvl="1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EE8910B-BF71-4B2F-8A21-42FB2EFC1B4E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3196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setTimeout()/clearTimeout()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sz="2000" dirty="0" err="1"/>
              <a:t>setTimeout</a:t>
            </a:r>
            <a:r>
              <a:rPr lang="en-US" altLang="ko-KR" sz="2000" dirty="0"/>
              <a:t>() :  </a:t>
            </a:r>
            <a:r>
              <a:rPr lang="ko-KR" altLang="en-US" sz="2000" dirty="0"/>
              <a:t>타임아웃 코드 </a:t>
            </a:r>
            <a:r>
              <a:rPr lang="en-US" altLang="ko-KR" sz="2000" dirty="0"/>
              <a:t>1</a:t>
            </a:r>
            <a:r>
              <a:rPr lang="ko-KR" altLang="en-US" sz="2000" dirty="0"/>
              <a:t>회 실행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pPr lvl="1"/>
            <a:endParaRPr lang="en-US" altLang="ko-KR" sz="1800" dirty="0"/>
          </a:p>
          <a:p>
            <a:pPr marL="365760" lvl="1" indent="0">
              <a:buNone/>
            </a:pPr>
            <a:r>
              <a:rPr lang="ko-KR" altLang="en-US" sz="1800" dirty="0"/>
              <a:t>예</a:t>
            </a:r>
            <a:r>
              <a:rPr lang="en-US" altLang="ko-KR" sz="1800" dirty="0"/>
              <a:t>) 3</a:t>
            </a:r>
            <a:r>
              <a:rPr lang="ko-KR" altLang="en-US" sz="1800" dirty="0"/>
              <a:t>초 후 </a:t>
            </a:r>
            <a:r>
              <a:rPr lang="ko-KR" altLang="en-US" sz="1800" dirty="0" err="1"/>
              <a:t>경고창</a:t>
            </a:r>
            <a:r>
              <a:rPr lang="ko-KR" altLang="en-US" sz="1800" dirty="0"/>
              <a:t> 출력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marL="365760" lvl="1" indent="0">
              <a:buNone/>
            </a:pPr>
            <a:r>
              <a:rPr lang="ko-KR" altLang="en-US" sz="1800" dirty="0"/>
              <a:t>예</a:t>
            </a:r>
            <a:r>
              <a:rPr lang="en-US" altLang="ko-KR" sz="1800" dirty="0"/>
              <a:t>) 3</a:t>
            </a:r>
            <a:r>
              <a:rPr lang="ko-KR" altLang="en-US" sz="1800" dirty="0"/>
              <a:t>초가 되기 전에 타이머 해제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2999657" y="3960059"/>
            <a:ext cx="6768752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function </a:t>
            </a:r>
            <a:r>
              <a:rPr lang="en-US" altLang="ko-KR" sz="1400" kern="0" dirty="0" err="1">
                <a:solidFill>
                  <a:srgbClr val="000000"/>
                </a:solidFill>
                <a:latin typeface="+mn-ea"/>
              </a:rPr>
              <a:t>myAlert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(time) { </a:t>
            </a:r>
          </a:p>
          <a:p>
            <a:pPr marL="190500" fontAlgn="base" latinLnBrk="0"/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	alert(time + "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초 지났습니다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");</a:t>
            </a:r>
            <a:endParaRPr lang="ko-KR" altLang="en-US" sz="1400" kern="0" dirty="0">
              <a:solidFill>
                <a:srgbClr val="000000"/>
              </a:solidFill>
              <a:latin typeface="+mn-ea"/>
            </a:endParaRPr>
          </a:p>
          <a:p>
            <a:pPr marL="190500" fontAlgn="base" latinLnBrk="0"/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marL="190500" fontAlgn="base" latinLnBrk="0"/>
            <a:r>
              <a:rPr lang="en-US" altLang="ko-KR" sz="1400" dirty="0">
                <a:latin typeface="+mn-ea"/>
              </a:rPr>
              <a:t>let </a:t>
            </a:r>
            <a:r>
              <a:rPr lang="en-US" altLang="ko-KR" sz="1400" b="1" dirty="0" err="1">
                <a:latin typeface="+mn-ea"/>
              </a:rPr>
              <a:t>timerID</a:t>
            </a:r>
            <a:r>
              <a:rPr lang="en-US" altLang="ko-KR" sz="1400" dirty="0">
                <a:latin typeface="+mn-ea"/>
              </a:rPr>
              <a:t> = </a:t>
            </a:r>
            <a:r>
              <a:rPr lang="en-US" altLang="ko-KR" sz="1400" b="1" dirty="0" err="1">
                <a:latin typeface="+mn-ea"/>
              </a:rPr>
              <a:t>setTimeout</a:t>
            </a:r>
            <a:r>
              <a:rPr lang="en-US" altLang="ko-KR" sz="1400" b="1" dirty="0">
                <a:latin typeface="+mn-ea"/>
              </a:rPr>
              <a:t>("</a:t>
            </a:r>
            <a:r>
              <a:rPr lang="en-US" altLang="ko-KR" sz="1400" b="1" dirty="0" err="1">
                <a:latin typeface="+mn-ea"/>
              </a:rPr>
              <a:t>myAlert</a:t>
            </a:r>
            <a:r>
              <a:rPr lang="en-US" altLang="ko-KR" sz="1400" b="1" dirty="0">
                <a:latin typeface="+mn-ea"/>
              </a:rPr>
              <a:t>(3)", 3000);</a:t>
            </a:r>
            <a:r>
              <a:rPr lang="en-US" altLang="ko-KR" sz="1400" dirty="0">
                <a:latin typeface="+mn-ea"/>
              </a:rPr>
              <a:t> // 3</a:t>
            </a:r>
            <a:r>
              <a:rPr lang="ko-KR" altLang="en-US" sz="1400" dirty="0">
                <a:latin typeface="+mn-ea"/>
              </a:rPr>
              <a:t>초 후 </a:t>
            </a:r>
            <a:r>
              <a:rPr lang="en-US" altLang="ko-KR" sz="1400" dirty="0" err="1">
                <a:latin typeface="+mn-ea"/>
              </a:rPr>
              <a:t>myAlert</a:t>
            </a:r>
            <a:r>
              <a:rPr lang="en-US" altLang="ko-KR" sz="1400" dirty="0">
                <a:latin typeface="+mn-ea"/>
              </a:rPr>
              <a:t>(‘3’) </a:t>
            </a:r>
            <a:r>
              <a:rPr lang="ko-KR" altLang="en-US" sz="1400" dirty="0">
                <a:latin typeface="+mn-ea"/>
              </a:rPr>
              <a:t>호출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999657" y="5384250"/>
            <a:ext cx="6786855" cy="3577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fontAlgn="base" latinLnBrk="0">
              <a:lnSpc>
                <a:spcPct val="140000"/>
              </a:lnSpc>
            </a:pPr>
            <a:r>
              <a:rPr lang="en-US" altLang="ko-KR" sz="1400" kern="0" dirty="0" err="1">
                <a:solidFill>
                  <a:srgbClr val="000000"/>
                </a:solidFill>
                <a:latin typeface="+mn-ea"/>
              </a:rPr>
              <a:t>clearTimeout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1400" b="1" kern="0" dirty="0" err="1">
                <a:solidFill>
                  <a:srgbClr val="000000"/>
                </a:solidFill>
                <a:latin typeface="+mn-ea"/>
              </a:rPr>
              <a:t>timerID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); // </a:t>
            </a:r>
            <a:r>
              <a:rPr lang="en-US" altLang="ko-KR" sz="1400" kern="0" dirty="0" err="1">
                <a:solidFill>
                  <a:srgbClr val="000000"/>
                </a:solidFill>
                <a:latin typeface="+mn-ea"/>
              </a:rPr>
              <a:t>timerID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의 타이머 해제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165" y="1538192"/>
            <a:ext cx="7841837" cy="2124837"/>
          </a:xfrm>
          <a:prstGeom prst="rect">
            <a:avLst/>
          </a:prstGeom>
        </p:spPr>
      </p:pic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B39C9A57-E557-4087-AE55-EA764E923D99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141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526532" y="1443652"/>
            <a:ext cx="5435310" cy="51706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100" dirty="0"/>
              <a:t>&lt;!DOCTYPE html&gt;</a:t>
            </a:r>
          </a:p>
          <a:p>
            <a:pPr defTabSz="180000"/>
            <a:r>
              <a:rPr lang="en-US" altLang="ko-KR" sz="1100" dirty="0"/>
              <a:t>&lt;html&gt;</a:t>
            </a:r>
          </a:p>
          <a:p>
            <a:pPr defTabSz="180000"/>
            <a:r>
              <a:rPr lang="en-US" altLang="ko-KR" sz="1100" dirty="0"/>
              <a:t>&lt;head&gt;&lt;meta charset="</a:t>
            </a:r>
            <a:r>
              <a:rPr lang="en-US" altLang="ko-KR" sz="1100" dirty="0" err="1"/>
              <a:t>utf</a:t>
            </a:r>
            <a:r>
              <a:rPr lang="en-US" altLang="ko-KR" sz="1100" dirty="0"/>
              <a:t>-8"&gt;</a:t>
            </a:r>
          </a:p>
          <a:p>
            <a:pPr defTabSz="180000"/>
            <a:r>
              <a:rPr lang="en-US" altLang="ko-KR" sz="1100" dirty="0"/>
              <a:t>&lt;title&gt;</a:t>
            </a:r>
            <a:r>
              <a:rPr lang="en-US" altLang="ko-KR" sz="1100" dirty="0" err="1"/>
              <a:t>setTimeout</a:t>
            </a:r>
            <a:r>
              <a:rPr lang="en-US" altLang="ko-KR" sz="1100" dirty="0"/>
              <a:t>()</a:t>
            </a:r>
            <a:r>
              <a:rPr lang="ko-KR" altLang="en-US" sz="1100" dirty="0"/>
              <a:t>으로 웹 페이지 자동 연결</a:t>
            </a:r>
            <a:r>
              <a:rPr lang="en-US" altLang="ko-KR" sz="1100" dirty="0"/>
              <a:t>&lt;/title&gt;</a:t>
            </a:r>
          </a:p>
          <a:p>
            <a:pPr defTabSz="180000"/>
            <a:r>
              <a:rPr lang="en-US" altLang="ko-KR" sz="1100" dirty="0"/>
              <a:t>&lt;/head&gt;</a:t>
            </a:r>
          </a:p>
          <a:p>
            <a:pPr defTabSz="180000"/>
            <a:r>
              <a:rPr lang="en-US" altLang="ko-KR" sz="1100" dirty="0"/>
              <a:t>&lt;body&gt;</a:t>
            </a:r>
          </a:p>
          <a:p>
            <a:pPr defTabSz="180000"/>
            <a:r>
              <a:rPr lang="en-US" altLang="ko-KR" sz="1100" dirty="0"/>
              <a:t>&lt;h3&gt;</a:t>
            </a:r>
            <a:r>
              <a:rPr lang="ko-KR" altLang="en-US" sz="1100" dirty="0"/>
              <a:t>이미지에 마우스를 올리고 </a:t>
            </a:r>
            <a:r>
              <a:rPr lang="en-US" altLang="ko-KR" sz="1100" dirty="0"/>
              <a:t>5</a:t>
            </a:r>
            <a:r>
              <a:rPr lang="ko-KR" altLang="en-US" sz="1100" dirty="0"/>
              <a:t>초간 그대로 있을 때 사이트로 이동합니다</a:t>
            </a:r>
            <a:r>
              <a:rPr lang="en-US" altLang="ko-KR" sz="1100" dirty="0"/>
              <a:t>&lt;/h3&gt;</a:t>
            </a:r>
          </a:p>
          <a:p>
            <a:pPr defTabSz="180000"/>
            <a:r>
              <a:rPr lang="en-US" altLang="ko-KR" sz="1100" dirty="0"/>
              <a:t>&lt;</a:t>
            </a:r>
            <a:r>
              <a:rPr lang="en-US" altLang="ko-KR" sz="1100" dirty="0" err="1"/>
              <a:t>hr</a:t>
            </a:r>
            <a:r>
              <a:rPr lang="en-US" altLang="ko-KR" sz="1100" dirty="0"/>
              <a:t>&gt;</a:t>
            </a:r>
          </a:p>
          <a:p>
            <a:pPr defTabSz="180000"/>
            <a:r>
              <a:rPr lang="en-US" altLang="ko-KR" sz="1100" dirty="0"/>
              <a:t>&lt;</a:t>
            </a:r>
            <a:r>
              <a:rPr lang="en-US" altLang="ko-KR" sz="1100" dirty="0" err="1"/>
              <a:t>img</a:t>
            </a:r>
            <a:r>
              <a:rPr lang="en-US" altLang="ko-KR" sz="1100" dirty="0"/>
              <a:t> id="</a:t>
            </a:r>
            <a:r>
              <a:rPr lang="en-US" altLang="ko-KR" sz="1100" dirty="0" err="1"/>
              <a:t>img</a:t>
            </a:r>
            <a:r>
              <a:rPr lang="en-US" altLang="ko-KR" sz="1100" dirty="0"/>
              <a:t>" </a:t>
            </a:r>
            <a:r>
              <a:rPr lang="en-US" altLang="ko-KR" sz="1100" dirty="0" err="1"/>
              <a:t>src</a:t>
            </a:r>
            <a:r>
              <a:rPr lang="en-US" altLang="ko-KR" sz="1100" dirty="0"/>
              <a:t>="media/naver.gif" </a:t>
            </a:r>
          </a:p>
          <a:p>
            <a:pPr defTabSz="180000"/>
            <a:r>
              <a:rPr lang="en-US" altLang="ko-KR" sz="1100" dirty="0"/>
              <a:t>		</a:t>
            </a:r>
            <a:r>
              <a:rPr lang="en-US" altLang="ko-KR" sz="1100" b="1" dirty="0" err="1"/>
              <a:t>onmouseover</a:t>
            </a:r>
            <a:r>
              <a:rPr lang="en-US" altLang="ko-KR" sz="1100" b="1" dirty="0"/>
              <a:t>="</a:t>
            </a:r>
            <a:r>
              <a:rPr lang="en-US" altLang="ko-KR" sz="1100" b="1" dirty="0" err="1"/>
              <a:t>startTimer</a:t>
            </a:r>
            <a:r>
              <a:rPr lang="en-US" altLang="ko-KR" sz="1100" b="1" dirty="0"/>
              <a:t>(5000)"</a:t>
            </a:r>
          </a:p>
          <a:p>
            <a:pPr defTabSz="180000"/>
            <a:r>
              <a:rPr lang="en-US" altLang="ko-KR" sz="1100" dirty="0"/>
              <a:t>		</a:t>
            </a:r>
            <a:r>
              <a:rPr lang="en-US" altLang="ko-KR" sz="1100" b="1" dirty="0" err="1"/>
              <a:t>onmouseout</a:t>
            </a:r>
            <a:r>
              <a:rPr lang="en-US" altLang="ko-KR" sz="1100" b="1" dirty="0"/>
              <a:t>="</a:t>
            </a:r>
            <a:r>
              <a:rPr lang="en-US" altLang="ko-KR" sz="1100" b="1" dirty="0" err="1"/>
              <a:t>cancelTimer</a:t>
            </a:r>
            <a:r>
              <a:rPr lang="en-US" altLang="ko-KR" sz="1100" b="1" dirty="0"/>
              <a:t>()"</a:t>
            </a:r>
            <a:r>
              <a:rPr lang="en-US" altLang="ko-KR" sz="1100" dirty="0"/>
              <a:t>&gt;</a:t>
            </a:r>
          </a:p>
          <a:p>
            <a:pPr defTabSz="180000"/>
            <a:r>
              <a:rPr lang="en-US" altLang="ko-KR" sz="1100" dirty="0"/>
              <a:t>&lt;script&gt;</a:t>
            </a:r>
          </a:p>
          <a:p>
            <a:pPr defTabSz="180000"/>
            <a:r>
              <a:rPr lang="en-US" altLang="ko-KR" sz="1100" b="1" dirty="0"/>
              <a:t>let </a:t>
            </a:r>
            <a:r>
              <a:rPr lang="en-US" altLang="ko-KR" sz="1100" b="1" dirty="0" err="1"/>
              <a:t>timerID</a:t>
            </a:r>
            <a:r>
              <a:rPr lang="en-US" altLang="ko-KR" sz="1100" b="1" dirty="0"/>
              <a:t>=null;</a:t>
            </a:r>
          </a:p>
          <a:p>
            <a:pPr defTabSz="180000"/>
            <a:r>
              <a:rPr lang="en-US" altLang="ko-KR" sz="1100" b="1" dirty="0">
                <a:solidFill>
                  <a:srgbClr val="FF0000"/>
                </a:solidFill>
              </a:rPr>
              <a:t>function </a:t>
            </a:r>
            <a:r>
              <a:rPr lang="en-US" altLang="ko-KR" sz="1100" b="1" dirty="0" err="1">
                <a:solidFill>
                  <a:srgbClr val="FF0000"/>
                </a:solidFill>
              </a:rPr>
              <a:t>startTimer</a:t>
            </a:r>
            <a:r>
              <a:rPr lang="en-US" altLang="ko-KR" sz="1100" dirty="0"/>
              <a:t>(time) {</a:t>
            </a:r>
          </a:p>
          <a:p>
            <a:pPr defTabSz="180000"/>
            <a:r>
              <a:rPr lang="en-US" altLang="ko-KR" sz="1100" dirty="0"/>
              <a:t>	// </a:t>
            </a:r>
            <a:r>
              <a:rPr lang="ko-KR" altLang="en-US" sz="1100" dirty="0"/>
              <a:t>타이머 시작</a:t>
            </a:r>
          </a:p>
          <a:p>
            <a:pPr defTabSz="180000"/>
            <a:r>
              <a:rPr lang="en-US" altLang="ko-KR" sz="1100" dirty="0"/>
              <a:t>	</a:t>
            </a:r>
            <a:r>
              <a:rPr lang="en-US" altLang="ko-KR" sz="1100" b="1" dirty="0" err="1"/>
              <a:t>timerID</a:t>
            </a:r>
            <a:r>
              <a:rPr lang="en-US" altLang="ko-KR" sz="1100" b="1" dirty="0"/>
              <a:t> = </a:t>
            </a:r>
            <a:r>
              <a:rPr lang="en-US" altLang="ko-KR" sz="1100" b="1" dirty="0" err="1"/>
              <a:t>setTimeout</a:t>
            </a:r>
            <a:r>
              <a:rPr lang="en-US" altLang="ko-KR" sz="1100" b="1" dirty="0"/>
              <a:t>("load('http://www.naver.com')", time);</a:t>
            </a:r>
          </a:p>
          <a:p>
            <a:pPr defTabSz="180000"/>
            <a:endParaRPr lang="ko-KR" altLang="en-US" sz="1100" dirty="0"/>
          </a:p>
          <a:p>
            <a:pPr defTabSz="180000"/>
            <a:r>
              <a:rPr lang="en-US" altLang="ko-KR" sz="1100" dirty="0"/>
              <a:t>	// </a:t>
            </a:r>
            <a:r>
              <a:rPr lang="ko-KR" altLang="en-US" sz="1100" dirty="0"/>
              <a:t>이미지에 마우스 올리면 나타내는 </a:t>
            </a:r>
            <a:r>
              <a:rPr lang="ko-KR" altLang="en-US" sz="1100" dirty="0" err="1"/>
              <a:t>툴팁</a:t>
            </a:r>
            <a:r>
              <a:rPr lang="ko-KR" altLang="en-US" sz="1100" dirty="0"/>
              <a:t> 메시지</a:t>
            </a:r>
          </a:p>
          <a:p>
            <a:pPr defTabSz="180000"/>
            <a:r>
              <a:rPr lang="en-US" altLang="ko-KR" sz="1100" dirty="0"/>
              <a:t>	</a:t>
            </a:r>
            <a:r>
              <a:rPr lang="en-US" altLang="ko-KR" sz="1100" dirty="0" err="1"/>
              <a:t>document.getElementById</a:t>
            </a:r>
            <a:r>
              <a:rPr lang="en-US" altLang="ko-KR" sz="1100" dirty="0"/>
              <a:t>("</a:t>
            </a:r>
            <a:r>
              <a:rPr lang="en-US" altLang="ko-KR" sz="1100" dirty="0" err="1"/>
              <a:t>img</a:t>
            </a:r>
            <a:r>
              <a:rPr lang="en-US" altLang="ko-KR" sz="1100" dirty="0"/>
              <a:t>").title = "</a:t>
            </a:r>
            <a:r>
              <a:rPr lang="ko-KR" altLang="en-US" sz="1100" dirty="0"/>
              <a:t>타이머 작동 시작</a:t>
            </a:r>
            <a:r>
              <a:rPr lang="en-US" altLang="ko-KR" sz="1100" dirty="0"/>
              <a:t>...";</a:t>
            </a:r>
          </a:p>
          <a:p>
            <a:pPr defTabSz="180000"/>
            <a:r>
              <a:rPr lang="en-US" altLang="ko-KR" sz="1100" dirty="0"/>
              <a:t>}</a:t>
            </a:r>
          </a:p>
          <a:p>
            <a:pPr defTabSz="180000"/>
            <a:r>
              <a:rPr lang="en-US" altLang="ko-KR" sz="1100" b="1" dirty="0">
                <a:solidFill>
                  <a:srgbClr val="FF0000"/>
                </a:solidFill>
              </a:rPr>
              <a:t>function </a:t>
            </a:r>
            <a:r>
              <a:rPr lang="en-US" altLang="ko-KR" sz="1100" b="1" dirty="0" err="1">
                <a:solidFill>
                  <a:srgbClr val="FF0000"/>
                </a:solidFill>
              </a:rPr>
              <a:t>cancelTimer</a:t>
            </a:r>
            <a:r>
              <a:rPr lang="en-US" altLang="ko-KR" sz="1100" b="1" dirty="0">
                <a:solidFill>
                  <a:srgbClr val="FF0000"/>
                </a:solidFill>
              </a:rPr>
              <a:t>() </a:t>
            </a:r>
            <a:r>
              <a:rPr lang="en-US" altLang="ko-KR" sz="1100" dirty="0"/>
              <a:t>{</a:t>
            </a:r>
          </a:p>
          <a:p>
            <a:pPr defTabSz="180000"/>
            <a:r>
              <a:rPr lang="en-US" altLang="ko-KR" sz="1100" dirty="0"/>
              <a:t>	if(</a:t>
            </a:r>
            <a:r>
              <a:rPr lang="en-US" altLang="ko-KR" sz="1100" dirty="0" err="1"/>
              <a:t>timerID</a:t>
            </a:r>
            <a:r>
              <a:rPr lang="en-US" altLang="ko-KR" sz="1100" dirty="0"/>
              <a:t> !=null) </a:t>
            </a:r>
          </a:p>
          <a:p>
            <a:pPr defTabSz="180000"/>
            <a:r>
              <a:rPr lang="en-US" altLang="ko-KR" sz="1100" dirty="0"/>
              <a:t>		</a:t>
            </a:r>
            <a:r>
              <a:rPr lang="en-US" altLang="ko-KR" sz="1100" b="1" dirty="0" err="1"/>
              <a:t>clearTimeout</a:t>
            </a:r>
            <a:r>
              <a:rPr lang="en-US" altLang="ko-KR" sz="1100" b="1" dirty="0"/>
              <a:t>(</a:t>
            </a:r>
            <a:r>
              <a:rPr lang="en-US" altLang="ko-KR" sz="1100" b="1" dirty="0" err="1"/>
              <a:t>timerID</a:t>
            </a:r>
            <a:r>
              <a:rPr lang="en-US" altLang="ko-KR" sz="1100" b="1" dirty="0"/>
              <a:t>); </a:t>
            </a:r>
            <a:r>
              <a:rPr lang="en-US" altLang="ko-KR" sz="1100" dirty="0"/>
              <a:t>// </a:t>
            </a:r>
            <a:r>
              <a:rPr lang="ko-KR" altLang="en-US" sz="1100" dirty="0"/>
              <a:t>타이머 중단</a:t>
            </a:r>
          </a:p>
          <a:p>
            <a:pPr defTabSz="180000"/>
            <a:r>
              <a:rPr lang="en-US" altLang="ko-KR" sz="1100" dirty="0"/>
              <a:t>}</a:t>
            </a:r>
          </a:p>
          <a:p>
            <a:pPr defTabSz="180000"/>
            <a:r>
              <a:rPr lang="en-US" altLang="ko-KR" sz="1100" b="1" dirty="0">
                <a:solidFill>
                  <a:srgbClr val="FF0000"/>
                </a:solidFill>
              </a:rPr>
              <a:t>function load(</a:t>
            </a:r>
            <a:r>
              <a:rPr lang="en-US" altLang="ko-KR" sz="1100" b="1" dirty="0" err="1">
                <a:solidFill>
                  <a:srgbClr val="FF0000"/>
                </a:solidFill>
              </a:rPr>
              <a:t>url</a:t>
            </a:r>
            <a:r>
              <a:rPr lang="en-US" altLang="ko-KR" sz="1100" b="1" dirty="0">
                <a:solidFill>
                  <a:srgbClr val="FF0000"/>
                </a:solidFill>
              </a:rPr>
              <a:t>)</a:t>
            </a:r>
            <a:r>
              <a:rPr lang="en-US" altLang="ko-KR" sz="1100" dirty="0"/>
              <a:t> {</a:t>
            </a:r>
          </a:p>
          <a:p>
            <a:pPr defTabSz="180000"/>
            <a:r>
              <a:rPr lang="en-US" altLang="ko-KR" sz="1100" dirty="0"/>
              <a:t>	</a:t>
            </a:r>
            <a:r>
              <a:rPr lang="en-US" altLang="ko-KR" sz="1100" b="1" dirty="0" err="1"/>
              <a:t>window.location</a:t>
            </a:r>
            <a:r>
              <a:rPr lang="en-US" altLang="ko-KR" sz="1100" b="1" dirty="0"/>
              <a:t> = </a:t>
            </a:r>
            <a:r>
              <a:rPr lang="en-US" altLang="ko-KR" sz="1100" b="1" dirty="0" err="1"/>
              <a:t>url</a:t>
            </a:r>
            <a:r>
              <a:rPr lang="en-US" altLang="ko-KR" sz="1100" b="1" dirty="0"/>
              <a:t>; </a:t>
            </a:r>
            <a:r>
              <a:rPr lang="en-US" altLang="ko-KR" sz="1100" dirty="0"/>
              <a:t>// </a:t>
            </a:r>
            <a:r>
              <a:rPr lang="ko-KR" altLang="en-US" sz="1100" dirty="0"/>
              <a:t>현재 윈도우에  </a:t>
            </a:r>
            <a:r>
              <a:rPr lang="en-US" altLang="ko-KR" sz="1100" dirty="0" err="1"/>
              <a:t>url</a:t>
            </a:r>
            <a:r>
              <a:rPr lang="en-US" altLang="ko-KR" sz="1100" dirty="0"/>
              <a:t> </a:t>
            </a:r>
            <a:r>
              <a:rPr lang="ko-KR" altLang="en-US" sz="1100" dirty="0"/>
              <a:t>사이트 로드 </a:t>
            </a:r>
          </a:p>
          <a:p>
            <a:pPr defTabSz="180000"/>
            <a:r>
              <a:rPr lang="en-US" altLang="ko-KR" sz="1100" dirty="0"/>
              <a:t>}</a:t>
            </a:r>
          </a:p>
          <a:p>
            <a:pPr defTabSz="180000"/>
            <a:r>
              <a:rPr lang="en-US" altLang="ko-KR" sz="1100" dirty="0"/>
              <a:t>&lt;/script&gt;</a:t>
            </a:r>
          </a:p>
          <a:p>
            <a:pPr defTabSz="180000"/>
            <a:r>
              <a:rPr lang="en-US" altLang="ko-KR" sz="1100" dirty="0"/>
              <a:t>&lt;/body&gt;</a:t>
            </a:r>
          </a:p>
          <a:p>
            <a:pPr defTabSz="180000"/>
            <a:r>
              <a:rPr lang="en-US" altLang="ko-KR" sz="1100" dirty="0"/>
              <a:t>&lt;/html&gt;</a:t>
            </a:r>
            <a:endParaRPr lang="ko-KR" altLang="en-US" sz="11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A360563-9481-4122-B85C-82747B077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777" y="4430979"/>
            <a:ext cx="2236677" cy="2194913"/>
          </a:xfrm>
          <a:prstGeom prst="rect">
            <a:avLst/>
          </a:prstGeom>
          <a:ln w="6350">
            <a:solidFill>
              <a:srgbClr val="0070C0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10-3 </a:t>
            </a:r>
            <a:r>
              <a:rPr lang="en-US" altLang="ko-KR" dirty="0" err="1"/>
              <a:t>setTimeout</a:t>
            </a:r>
            <a:r>
              <a:rPr lang="en-US" altLang="ko-KR" dirty="0"/>
              <a:t>()</a:t>
            </a:r>
            <a:r>
              <a:rPr lang="ko-KR" altLang="en-US" dirty="0"/>
              <a:t>로 웹 페이지 자동 연결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187349" y="920432"/>
            <a:ext cx="78508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이미지 위에 마우스를 올린 상태로 </a:t>
            </a:r>
            <a:r>
              <a:rPr lang="en-US" altLang="ko-KR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5</a:t>
            </a:r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초가 지나면 </a:t>
            </a:r>
            <a:r>
              <a:rPr lang="ko-KR" altLang="en-US" sz="1400" kern="0" dirty="0" err="1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네이버에</a:t>
            </a:r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 연결하며</a:t>
            </a:r>
            <a:r>
              <a:rPr lang="en-US" altLang="ko-KR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, 5</a:t>
            </a:r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초 전에 이미지를 벗어나면 타이머를 해제하는 코드를 작성하라</a:t>
            </a:r>
            <a:r>
              <a:rPr lang="en-US" altLang="ko-KR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400" kern="0" dirty="0">
              <a:solidFill>
                <a:schemeClr val="accent2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373115" y="4568325"/>
            <a:ext cx="14157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마우스를 올리고 </a:t>
            </a:r>
            <a:endParaRPr lang="en-US" altLang="ko-KR" sz="1000" dirty="0"/>
          </a:p>
          <a:p>
            <a:r>
              <a:rPr lang="en-US" altLang="ko-KR" sz="1000" dirty="0"/>
              <a:t>5</a:t>
            </a:r>
            <a:r>
              <a:rPr lang="ko-KR" altLang="en-US" sz="1000" dirty="0"/>
              <a:t>초간 그대로 있을 때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8056967" y="2021797"/>
            <a:ext cx="2194407" cy="2168438"/>
            <a:chOff x="6532966" y="2021797"/>
            <a:chExt cx="2194407" cy="2168438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04E5384-1287-4991-A204-29153ED64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32966" y="2021797"/>
              <a:ext cx="2194407" cy="2168438"/>
            </a:xfrm>
            <a:prstGeom prst="rect">
              <a:avLst/>
            </a:prstGeom>
            <a:ln w="6350">
              <a:solidFill>
                <a:srgbClr val="0070C0"/>
              </a:solidFill>
            </a:ln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5560" y="3822089"/>
              <a:ext cx="173774" cy="173774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9500726" y="4209071"/>
            <a:ext cx="896015" cy="272415"/>
          </a:xfrm>
          <a:prstGeom prst="wedgeRoundRectCallout">
            <a:avLst>
              <a:gd name="adj1" fmla="val -40056"/>
              <a:gd name="adj2" fmla="val -9402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툴팁</a:t>
            </a:r>
            <a:r>
              <a:rPr lang="ko-KR" altLang="en-US" sz="1000" dirty="0"/>
              <a:t> 메시지</a:t>
            </a:r>
          </a:p>
        </p:txBody>
      </p:sp>
      <p:sp>
        <p:nvSpPr>
          <p:cNvPr id="6" name="자유형 5"/>
          <p:cNvSpPr/>
          <p:nvPr/>
        </p:nvSpPr>
        <p:spPr>
          <a:xfrm>
            <a:off x="8832305" y="4190235"/>
            <a:ext cx="205877" cy="272415"/>
          </a:xfrm>
          <a:custGeom>
            <a:avLst/>
            <a:gdLst>
              <a:gd name="connsiteX0" fmla="*/ 783220 w 783220"/>
              <a:gd name="connsiteY0" fmla="*/ 0 h 540152"/>
              <a:gd name="connsiteX1" fmla="*/ 640466 w 783220"/>
              <a:gd name="connsiteY1" fmla="*/ 366532 h 540152"/>
              <a:gd name="connsiteX2" fmla="*/ 0 w 783220"/>
              <a:gd name="connsiteY2" fmla="*/ 540152 h 540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3220" h="540152">
                <a:moveTo>
                  <a:pt x="783220" y="0"/>
                </a:moveTo>
                <a:cubicBezTo>
                  <a:pt x="777111" y="138253"/>
                  <a:pt x="771003" y="276507"/>
                  <a:pt x="640466" y="366532"/>
                </a:cubicBezTo>
                <a:cubicBezTo>
                  <a:pt x="509929" y="456557"/>
                  <a:pt x="254964" y="498354"/>
                  <a:pt x="0" y="540152"/>
                </a:cubicBezTo>
              </a:path>
            </a:pathLst>
          </a:custGeom>
          <a:noFill/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슬라이드 번호 개체 틀 3">
            <a:extLst>
              <a:ext uri="{FF2B5EF4-FFF2-40B4-BE49-F238E27FC236}">
                <a16:creationId xmlns:a16="http://schemas.microsoft.com/office/drawing/2014/main" id="{5EA711BD-00BF-451E-88A0-39FDD3B7D254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3255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setInterval</a:t>
            </a:r>
            <a:r>
              <a:rPr lang="en-US" altLang="ko-KR" dirty="0"/>
              <a:t>()/</a:t>
            </a:r>
            <a:r>
              <a:rPr lang="en-US" altLang="ko-KR" dirty="0" err="1"/>
              <a:t>clearInterval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sz="2000" dirty="0" err="1"/>
              <a:t>setInterval</a:t>
            </a:r>
            <a:r>
              <a:rPr lang="en-US" altLang="ko-KR" sz="2000" dirty="0"/>
              <a:t>() : </a:t>
            </a:r>
            <a:r>
              <a:rPr lang="ko-KR" altLang="en-US" sz="2000" dirty="0"/>
              <a:t>타임아웃 코드 반복 실행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800" dirty="0"/>
          </a:p>
          <a:p>
            <a:endParaRPr lang="en-US" altLang="ko-KR" sz="2000" dirty="0"/>
          </a:p>
          <a:p>
            <a:pPr lvl="1"/>
            <a:endParaRPr lang="en-US" altLang="ko-KR" sz="1600" dirty="0"/>
          </a:p>
          <a:p>
            <a:pPr marL="365760" lvl="1" indent="0">
              <a:buNone/>
            </a:pPr>
            <a:r>
              <a:rPr lang="ko-KR" altLang="en-US" sz="1600" dirty="0"/>
              <a:t>예</a:t>
            </a:r>
            <a:r>
              <a:rPr lang="en-US" altLang="ko-KR" sz="1600" dirty="0"/>
              <a:t>) 1</a:t>
            </a:r>
            <a:r>
              <a:rPr lang="ko-KR" altLang="en-US" sz="1600" dirty="0"/>
              <a:t>초 간격으로 </a:t>
            </a:r>
            <a:r>
              <a:rPr lang="en-US" altLang="ko-KR" sz="1600" dirty="0"/>
              <a:t>f()</a:t>
            </a:r>
            <a:r>
              <a:rPr lang="ko-KR" altLang="en-US" sz="1600" dirty="0"/>
              <a:t> 반복 호출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marL="365760" lvl="1" indent="0">
              <a:buNone/>
            </a:pPr>
            <a:r>
              <a:rPr lang="ko-KR" altLang="en-US" sz="1600" dirty="0"/>
              <a:t>예</a:t>
            </a:r>
            <a:r>
              <a:rPr lang="en-US" altLang="ko-KR" sz="1600" dirty="0"/>
              <a:t>) </a:t>
            </a:r>
            <a:r>
              <a:rPr lang="ko-KR" altLang="en-US" sz="1600" dirty="0"/>
              <a:t>타이머 해제</a:t>
            </a:r>
          </a:p>
          <a:p>
            <a:pPr lvl="1"/>
            <a:endParaRPr lang="ko-KR" altLang="en-US" sz="1600" dirty="0"/>
          </a:p>
          <a:p>
            <a:endParaRPr lang="ko-KR" altLang="en-US" sz="2000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230864" y="4149080"/>
            <a:ext cx="7128792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function f() {</a:t>
            </a:r>
            <a:endParaRPr lang="ko-KR" altLang="en-US" sz="1400" kern="0" dirty="0">
              <a:solidFill>
                <a:srgbClr val="000000"/>
              </a:solidFill>
              <a:latin typeface="+mn-ea"/>
            </a:endParaRPr>
          </a:p>
          <a:p>
            <a:pPr marL="190500" fontAlgn="base" latinLnBrk="0"/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	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// 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함수 코드</a:t>
            </a:r>
          </a:p>
          <a:p>
            <a:pPr marL="190500" fontAlgn="base" latinLnBrk="0"/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}</a:t>
            </a:r>
            <a:endParaRPr lang="ko-KR" altLang="en-US" sz="1400" kern="0" dirty="0">
              <a:solidFill>
                <a:srgbClr val="000000"/>
              </a:solidFill>
              <a:latin typeface="+mn-ea"/>
            </a:endParaRPr>
          </a:p>
          <a:p>
            <a:pPr marL="190500" fontAlgn="base" latinLnBrk="0"/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let </a:t>
            </a:r>
            <a:r>
              <a:rPr lang="en-US" altLang="ko-KR" sz="1400" b="1" kern="0" dirty="0" err="1">
                <a:solidFill>
                  <a:srgbClr val="000000"/>
                </a:solidFill>
                <a:latin typeface="+mn-ea"/>
              </a:rPr>
              <a:t>timerID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 = </a:t>
            </a:r>
            <a:r>
              <a:rPr lang="en-US" altLang="ko-KR" sz="1400" b="1" kern="0" dirty="0" err="1">
                <a:solidFill>
                  <a:srgbClr val="000000"/>
                </a:solidFill>
                <a:latin typeface="+mn-ea"/>
              </a:rPr>
              <a:t>setInterval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("f()", 1000); 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// 1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초 주기로 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f()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가 호출되도록 타이머 작동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230864" y="5725219"/>
            <a:ext cx="7128792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n-ea"/>
              </a:rPr>
              <a:t>clearInterval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1400" b="1" kern="0" dirty="0" err="1">
                <a:solidFill>
                  <a:srgbClr val="000000"/>
                </a:solidFill>
                <a:latin typeface="+mn-ea"/>
              </a:rPr>
              <a:t>timerID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); // </a:t>
            </a:r>
            <a:r>
              <a:rPr lang="en-US" altLang="ko-KR" sz="1400" kern="0" dirty="0" err="1">
                <a:solidFill>
                  <a:srgbClr val="000000"/>
                </a:solidFill>
                <a:latin typeface="+mn-ea"/>
              </a:rPr>
              <a:t>timerID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의 타이머 해제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864" y="1486525"/>
            <a:ext cx="7915347" cy="2192637"/>
          </a:xfrm>
          <a:prstGeom prst="rect">
            <a:avLst/>
          </a:prstGeom>
        </p:spPr>
      </p:pic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7D0D0D3D-0183-4907-85F7-8274EF5882CC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1479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728833" y="1277311"/>
            <a:ext cx="6156176" cy="48936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&lt;head&gt;&lt;meta charset="</a:t>
            </a:r>
            <a:r>
              <a:rPr lang="en-US" altLang="ko-KR" sz="1200" dirty="0" err="1"/>
              <a:t>utf</a:t>
            </a:r>
            <a:r>
              <a:rPr lang="en-US" altLang="ko-KR" sz="1200" dirty="0"/>
              <a:t>-8"&gt;&lt;title&gt;</a:t>
            </a:r>
            <a:r>
              <a:rPr lang="en-US" altLang="ko-KR" sz="1200" dirty="0" err="1"/>
              <a:t>setInterval</a:t>
            </a:r>
            <a:r>
              <a:rPr lang="en-US" altLang="ko-KR" sz="1200" dirty="0"/>
              <a:t>()</a:t>
            </a:r>
            <a:r>
              <a:rPr lang="ko-KR" altLang="en-US" sz="1200" dirty="0"/>
              <a:t>로 텍스트 회전</a:t>
            </a:r>
            <a:r>
              <a:rPr lang="en-US" altLang="ko-KR" sz="1200" dirty="0"/>
              <a:t>&lt;/title&gt;&lt;/head&gt;</a:t>
            </a:r>
          </a:p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dirty="0"/>
              <a:t>&lt;h3&gt;</a:t>
            </a:r>
            <a:r>
              <a:rPr lang="ko-KR" altLang="en-US" sz="1200" dirty="0"/>
              <a:t>텍스트가 자동 회전하며</a:t>
            </a:r>
            <a:r>
              <a:rPr lang="en-US" altLang="ko-KR" sz="1200" dirty="0"/>
              <a:t>, </a:t>
            </a:r>
            <a:r>
              <a:rPr lang="ko-KR" altLang="en-US" sz="1200" dirty="0"/>
              <a:t>마우스로 클릭하면 중단합니다</a:t>
            </a:r>
            <a:r>
              <a:rPr lang="en-US" altLang="ko-KR" sz="1200" dirty="0"/>
              <a:t>.&lt;/h3&gt;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&lt;div&gt;&lt;span id="span" style="</a:t>
            </a:r>
            <a:r>
              <a:rPr lang="en-US" altLang="ko-KR" sz="1200" dirty="0" err="1"/>
              <a:t>background-color:yellow</a:t>
            </a:r>
            <a:r>
              <a:rPr lang="en-US" altLang="ko-KR" sz="1200" dirty="0"/>
              <a:t>"&gt;</a:t>
            </a:r>
          </a:p>
          <a:p>
            <a:pPr defTabSz="180000"/>
            <a:r>
              <a:rPr lang="en-US" altLang="ko-KR" sz="1200" dirty="0"/>
              <a:t>					</a:t>
            </a:r>
            <a:r>
              <a:rPr lang="ko-KR" altLang="en-US" sz="1200" dirty="0"/>
              <a:t>자동 회전하는 텍스트입니다</a:t>
            </a:r>
            <a:r>
              <a:rPr lang="en-US" altLang="ko-KR" sz="1200" dirty="0"/>
              <a:t>.&lt;/span&gt;</a:t>
            </a:r>
          </a:p>
          <a:p>
            <a:pPr defTabSz="180000"/>
            <a:r>
              <a:rPr lang="en-US" altLang="ko-KR" sz="1200" dirty="0"/>
              <a:t>&lt;/div&gt;</a:t>
            </a:r>
          </a:p>
          <a:p>
            <a:pPr defTabSz="180000"/>
            <a:r>
              <a:rPr lang="en-US" altLang="ko-KR" sz="1200" dirty="0"/>
              <a:t>&lt;script&gt;</a:t>
            </a:r>
          </a:p>
          <a:p>
            <a:pPr defTabSz="180000"/>
            <a:r>
              <a:rPr lang="en-US" altLang="ko-KR" sz="1200" dirty="0"/>
              <a:t>let span = </a:t>
            </a:r>
            <a:r>
              <a:rPr lang="en-US" altLang="ko-KR" sz="1200" dirty="0" err="1"/>
              <a:t>document.getElementById</a:t>
            </a:r>
            <a:r>
              <a:rPr lang="en-US" altLang="ko-KR" sz="1200" dirty="0"/>
              <a:t>("span");</a:t>
            </a:r>
          </a:p>
          <a:p>
            <a:pPr defTabSz="180000"/>
            <a:r>
              <a:rPr lang="en-US" altLang="ko-KR" sz="1200" b="1" dirty="0"/>
              <a:t>let </a:t>
            </a:r>
            <a:r>
              <a:rPr lang="en-US" altLang="ko-KR" sz="1200" b="1" dirty="0" err="1"/>
              <a:t>timerID</a:t>
            </a:r>
            <a:r>
              <a:rPr lang="en-US" altLang="ko-KR" sz="1200" b="1" dirty="0"/>
              <a:t> = </a:t>
            </a:r>
            <a:r>
              <a:rPr lang="en-US" altLang="ko-KR" sz="1200" b="1" dirty="0" err="1"/>
              <a:t>setInterval</a:t>
            </a:r>
            <a:r>
              <a:rPr lang="en-US" altLang="ko-KR" sz="1200" b="1" dirty="0"/>
              <a:t>("</a:t>
            </a:r>
            <a:r>
              <a:rPr lang="en-US" altLang="ko-KR" sz="1200" b="1" dirty="0" err="1"/>
              <a:t>doRotate</a:t>
            </a:r>
            <a:r>
              <a:rPr lang="en-US" altLang="ko-KR" sz="1200" b="1" dirty="0"/>
              <a:t>()", 200); </a:t>
            </a:r>
            <a:r>
              <a:rPr lang="en-US" altLang="ko-KR" sz="1200" dirty="0"/>
              <a:t>// 200</a:t>
            </a:r>
            <a:r>
              <a:rPr lang="ko-KR" altLang="en-US" sz="1200" dirty="0" err="1"/>
              <a:t>밀리초</a:t>
            </a:r>
            <a:r>
              <a:rPr lang="ko-KR" altLang="en-US" sz="1200" dirty="0"/>
              <a:t> 주기로 </a:t>
            </a:r>
            <a:r>
              <a:rPr lang="en-US" altLang="ko-KR" sz="1200" dirty="0" err="1"/>
              <a:t>doRotate</a:t>
            </a:r>
            <a:r>
              <a:rPr lang="en-US" altLang="ko-KR" sz="1200" dirty="0"/>
              <a:t>() </a:t>
            </a:r>
            <a:r>
              <a:rPr lang="ko-KR" altLang="en-US" sz="1200" dirty="0"/>
              <a:t>호출</a:t>
            </a:r>
          </a:p>
          <a:p>
            <a:pPr defTabSz="180000"/>
            <a:endParaRPr lang="ko-KR" altLang="en-US" sz="1200" dirty="0"/>
          </a:p>
          <a:p>
            <a:pPr defTabSz="180000"/>
            <a:r>
              <a:rPr lang="en-US" altLang="ko-KR" sz="1200" dirty="0" err="1"/>
              <a:t>span.onclick</a:t>
            </a:r>
            <a:r>
              <a:rPr lang="en-US" altLang="ko-KR" sz="1200" dirty="0"/>
              <a:t> = function</a:t>
            </a:r>
            <a:r>
              <a:rPr lang="ko-KR" altLang="en-US" sz="1200" dirty="0"/>
              <a:t> </a:t>
            </a:r>
            <a:r>
              <a:rPr lang="en-US" altLang="ko-KR" sz="1200" dirty="0"/>
              <a:t>(e) { // </a:t>
            </a:r>
            <a:r>
              <a:rPr lang="ko-KR" altLang="en-US" sz="1200" dirty="0"/>
              <a:t>마우스 클릭 이벤트 </a:t>
            </a:r>
            <a:r>
              <a:rPr lang="ko-KR" altLang="en-US" sz="1200" dirty="0" err="1"/>
              <a:t>리스너</a:t>
            </a:r>
            <a:endParaRPr lang="ko-KR" altLang="en-US" sz="1200" dirty="0"/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b="1" dirty="0" err="1"/>
              <a:t>clearInterval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timerID</a:t>
            </a:r>
            <a:r>
              <a:rPr lang="en-US" altLang="ko-KR" sz="1200" b="1" dirty="0"/>
              <a:t>); </a:t>
            </a:r>
            <a:r>
              <a:rPr lang="en-US" altLang="ko-KR" sz="1200" dirty="0"/>
              <a:t>// </a:t>
            </a:r>
            <a:r>
              <a:rPr lang="ko-KR" altLang="en-US" sz="1200" dirty="0"/>
              <a:t>타이머 해제</a:t>
            </a:r>
            <a:r>
              <a:rPr lang="en-US" altLang="ko-KR" sz="1200" dirty="0"/>
              <a:t>. </a:t>
            </a:r>
            <a:r>
              <a:rPr lang="ko-KR" altLang="en-US" sz="1200" dirty="0"/>
              <a:t>문자열 회전 중단</a:t>
            </a:r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endParaRPr lang="ko-KR" altLang="en-US" sz="1200" dirty="0"/>
          </a:p>
          <a:p>
            <a:pPr defTabSz="180000"/>
            <a:r>
              <a:rPr lang="en-US" altLang="ko-KR" sz="1200" b="1" dirty="0"/>
              <a:t>function </a:t>
            </a:r>
            <a:r>
              <a:rPr lang="en-US" altLang="ko-KR" sz="1200" b="1" dirty="0" err="1"/>
              <a:t>doRotate</a:t>
            </a:r>
            <a:r>
              <a:rPr lang="en-US" altLang="ko-KR" sz="1200" b="1" dirty="0"/>
              <a:t>() </a:t>
            </a:r>
            <a:r>
              <a:rPr lang="en-US" altLang="ko-KR" sz="1200" dirty="0"/>
              <a:t>{</a:t>
            </a:r>
          </a:p>
          <a:p>
            <a:pPr defTabSz="180000"/>
            <a:r>
              <a:rPr lang="en-US" altLang="ko-KR" sz="1200" dirty="0"/>
              <a:t>	let </a:t>
            </a:r>
            <a:r>
              <a:rPr lang="en-US" altLang="ko-KR" sz="1200" dirty="0" err="1"/>
              <a:t>str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span.innerHTML</a:t>
            </a:r>
            <a:r>
              <a:rPr lang="en-US" altLang="ko-KR" sz="1200" dirty="0"/>
              <a:t>;</a:t>
            </a:r>
          </a:p>
          <a:p>
            <a:pPr defTabSz="180000"/>
            <a:r>
              <a:rPr lang="en-US" altLang="ko-KR" sz="1200" dirty="0"/>
              <a:t>	let </a:t>
            </a:r>
            <a:r>
              <a:rPr lang="en-US" altLang="ko-KR" sz="1200" dirty="0" err="1"/>
              <a:t>firstChar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str.substr</a:t>
            </a:r>
            <a:r>
              <a:rPr lang="en-US" altLang="ko-KR" sz="1200" dirty="0"/>
              <a:t>(0, 1);</a:t>
            </a:r>
          </a:p>
          <a:p>
            <a:pPr defTabSz="180000"/>
            <a:r>
              <a:rPr lang="en-US" altLang="ko-KR" sz="1200" dirty="0"/>
              <a:t>	let remains = </a:t>
            </a:r>
            <a:r>
              <a:rPr lang="en-US" altLang="ko-KR" sz="1200" dirty="0" err="1"/>
              <a:t>str.substr</a:t>
            </a:r>
            <a:r>
              <a:rPr lang="en-US" altLang="ko-KR" sz="1200" dirty="0"/>
              <a:t>(1, str.length-1);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dirty="0" err="1"/>
              <a:t>str</a:t>
            </a:r>
            <a:r>
              <a:rPr lang="en-US" altLang="ko-KR" sz="1200" dirty="0"/>
              <a:t> = remains + </a:t>
            </a:r>
            <a:r>
              <a:rPr lang="en-US" altLang="ko-KR" sz="1200" dirty="0" err="1"/>
              <a:t>firstChar</a:t>
            </a:r>
            <a:r>
              <a:rPr lang="en-US" altLang="ko-KR" sz="1200" dirty="0"/>
              <a:t>;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b="1" dirty="0" err="1"/>
              <a:t>span.innerHTML</a:t>
            </a:r>
            <a:r>
              <a:rPr lang="en-US" altLang="ko-KR" sz="1200" b="1" dirty="0"/>
              <a:t> = </a:t>
            </a:r>
            <a:r>
              <a:rPr lang="en-US" altLang="ko-KR" sz="1200" b="1" dirty="0" err="1"/>
              <a:t>str</a:t>
            </a:r>
            <a:r>
              <a:rPr lang="en-US" altLang="ko-KR" sz="1200" b="1" dirty="0"/>
              <a:t>; </a:t>
            </a:r>
            <a:endParaRPr lang="ko-KR" altLang="en-US" sz="1200" dirty="0"/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&lt;/script&gt;</a:t>
            </a:r>
          </a:p>
          <a:p>
            <a:pPr defTabSz="180000"/>
            <a:r>
              <a:rPr lang="en-US" altLang="ko-KR" sz="1200" dirty="0"/>
              <a:t>&lt;/body&gt;&lt;/html&gt;</a:t>
            </a:r>
            <a:endParaRPr lang="ko-KR" altLang="en-US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0AEC473-A0C2-4322-93DC-84F038203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9099" y="4005064"/>
            <a:ext cx="2634412" cy="2169837"/>
          </a:xfrm>
          <a:prstGeom prst="rect">
            <a:avLst/>
          </a:prstGeom>
          <a:ln w="6350">
            <a:solidFill>
              <a:srgbClr val="0070C0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438" y="357104"/>
            <a:ext cx="11074400" cy="648072"/>
          </a:xfrm>
        </p:spPr>
        <p:txBody>
          <a:bodyPr>
            <a:normAutofit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10-4 </a:t>
            </a:r>
            <a:r>
              <a:rPr lang="en-US" altLang="ko-KR" dirty="0" err="1"/>
              <a:t>setInterval</a:t>
            </a:r>
            <a:r>
              <a:rPr lang="en-US" altLang="ko-KR" dirty="0"/>
              <a:t>()</a:t>
            </a:r>
            <a:r>
              <a:rPr lang="ko-KR" altLang="en-US" dirty="0"/>
              <a:t>로 텍스트 스크롤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911424" y="933131"/>
            <a:ext cx="97930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400" kern="0" dirty="0" err="1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setInterval</a:t>
            </a:r>
            <a:r>
              <a:rPr lang="en-US" altLang="ko-KR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()</a:t>
            </a:r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을 이용하여 텍스트를 옆으로 반복 회전시키는 코드를 작성하라</a:t>
            </a:r>
            <a:r>
              <a:rPr lang="en-US" altLang="ko-KR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텍스트 위에 마우스를 클릭하면 회전이 중단된다</a:t>
            </a:r>
            <a:r>
              <a:rPr lang="en-US" altLang="ko-KR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400" kern="0" dirty="0">
              <a:solidFill>
                <a:schemeClr val="accent2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47175" y="5785056"/>
            <a:ext cx="1325508" cy="272415"/>
          </a:xfrm>
          <a:prstGeom prst="wedgeRoundRectCallout">
            <a:avLst>
              <a:gd name="adj1" fmla="val -40056"/>
              <a:gd name="adj2" fmla="val -9402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클릭하면 회전 중단</a:t>
            </a: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D40D8350-0D65-446E-B9EE-B8BC110FD724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7294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윈도우 위치 및 크기 조절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>
          <a:xfrm>
            <a:off x="623392" y="1268760"/>
            <a:ext cx="11130293" cy="4896544"/>
          </a:xfrm>
        </p:spPr>
        <p:txBody>
          <a:bodyPr/>
          <a:lstStyle/>
          <a:p>
            <a:pPr lvl="1" fontAlgn="base"/>
            <a:r>
              <a:rPr lang="ko-KR" altLang="en-US" sz="2000" dirty="0"/>
              <a:t>윈도우를 오른쪽으로 </a:t>
            </a:r>
            <a:r>
              <a:rPr lang="en-US" altLang="ko-KR" sz="2000" dirty="0"/>
              <a:t>5</a:t>
            </a:r>
            <a:r>
              <a:rPr lang="ko-KR" altLang="en-US" sz="2000" dirty="0"/>
              <a:t>픽셀</a:t>
            </a:r>
            <a:r>
              <a:rPr lang="en-US" altLang="ko-KR" sz="2000" dirty="0"/>
              <a:t>, </a:t>
            </a:r>
            <a:r>
              <a:rPr lang="ko-KR" altLang="en-US" sz="2000" dirty="0"/>
              <a:t>아래로 </a:t>
            </a:r>
            <a:r>
              <a:rPr lang="en-US" altLang="ko-KR" sz="2000" dirty="0"/>
              <a:t>10</a:t>
            </a:r>
            <a:r>
              <a:rPr lang="ko-KR" altLang="en-US" sz="2000" dirty="0"/>
              <a:t>픽셀 이동</a:t>
            </a:r>
          </a:p>
          <a:p>
            <a:pPr lvl="1"/>
            <a:endParaRPr lang="en-US" altLang="ko-KR" sz="1800" dirty="0"/>
          </a:p>
          <a:p>
            <a:pPr lvl="1" fontAlgn="base"/>
            <a:endParaRPr lang="en-US" altLang="ko-KR" sz="2000" dirty="0"/>
          </a:p>
          <a:p>
            <a:pPr lvl="1" fontAlgn="base"/>
            <a:r>
              <a:rPr lang="ko-KR" altLang="en-US" sz="2000" dirty="0"/>
              <a:t>윈도우를 스크린의 </a:t>
            </a:r>
            <a:r>
              <a:rPr lang="en-US" altLang="ko-KR" sz="2000" dirty="0"/>
              <a:t>(25, 10) </a:t>
            </a:r>
            <a:r>
              <a:rPr lang="ko-KR" altLang="en-US" sz="2000" dirty="0"/>
              <a:t>위치로 이동</a:t>
            </a:r>
          </a:p>
          <a:p>
            <a:pPr lvl="1"/>
            <a:endParaRPr lang="en-US" altLang="ko-KR" sz="1800" dirty="0"/>
          </a:p>
          <a:p>
            <a:pPr lvl="1" fontAlgn="base"/>
            <a:r>
              <a:rPr lang="ko-KR" altLang="en-US" sz="2000" dirty="0"/>
              <a:t>윈도우 크기를 </a:t>
            </a:r>
            <a:r>
              <a:rPr lang="en-US" altLang="ko-KR" sz="2000" dirty="0"/>
              <a:t>5 </a:t>
            </a:r>
            <a:r>
              <a:rPr lang="ko-KR" altLang="en-US" sz="2000" dirty="0"/>
              <a:t>픽셀 좁게</a:t>
            </a:r>
            <a:r>
              <a:rPr lang="en-US" altLang="ko-KR" sz="2000" dirty="0"/>
              <a:t>, 10</a:t>
            </a:r>
            <a:r>
              <a:rPr lang="ko-KR" altLang="en-US" sz="2000" dirty="0"/>
              <a:t>픽셀 길게 조절</a:t>
            </a:r>
          </a:p>
          <a:p>
            <a:pPr lvl="1"/>
            <a:endParaRPr lang="ko-KR" altLang="en-US" sz="1800" dirty="0"/>
          </a:p>
          <a:p>
            <a:pPr lvl="1" fontAlgn="base"/>
            <a:endParaRPr lang="en-US" altLang="ko-KR" sz="2000" dirty="0"/>
          </a:p>
          <a:p>
            <a:pPr lvl="1" fontAlgn="base"/>
            <a:r>
              <a:rPr lang="ko-KR" altLang="en-US" sz="2000" dirty="0"/>
              <a:t>윈도우 크기를 </a:t>
            </a:r>
            <a:r>
              <a:rPr lang="en-US" altLang="ko-KR" sz="2000" dirty="0"/>
              <a:t>200x300</a:t>
            </a:r>
            <a:r>
              <a:rPr lang="ko-KR" altLang="en-US" sz="2000" dirty="0"/>
              <a:t>으로 조절</a:t>
            </a:r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896745" y="1659685"/>
            <a:ext cx="561662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b="1" kern="0" dirty="0" err="1">
                <a:solidFill>
                  <a:srgbClr val="000000"/>
                </a:solidFill>
                <a:latin typeface="+mn-ea"/>
              </a:rPr>
              <a:t>window.moveBy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(5, 10);  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</a:rPr>
              <a:t>혹은</a:t>
            </a:r>
            <a:endParaRPr lang="en-US" altLang="ko-KR" sz="1400" b="1" kern="0" dirty="0">
              <a:solidFill>
                <a:srgbClr val="000000"/>
              </a:solidFill>
              <a:latin typeface="+mn-ea"/>
            </a:endParaRPr>
          </a:p>
          <a:p>
            <a:pPr marL="190500" fontAlgn="base" latinLnBrk="0"/>
            <a:r>
              <a:rPr lang="en-US" altLang="ko-KR" sz="1400" b="1" kern="0" dirty="0" err="1">
                <a:solidFill>
                  <a:srgbClr val="000000"/>
                </a:solidFill>
                <a:latin typeface="+mn-ea"/>
              </a:rPr>
              <a:t>moveBy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(5, 10); 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907132" y="2708921"/>
            <a:ext cx="561662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b="1" kern="0" dirty="0" err="1">
                <a:solidFill>
                  <a:srgbClr val="000000"/>
                </a:solidFill>
                <a:latin typeface="+mn-ea"/>
              </a:rPr>
              <a:t>window.moveTo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(25, 10); 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</a:rPr>
              <a:t>혹은 </a:t>
            </a:r>
            <a:r>
              <a:rPr lang="en-US" altLang="ko-KR" sz="1400" b="1" kern="0" dirty="0" err="1">
                <a:solidFill>
                  <a:srgbClr val="000000"/>
                </a:solidFill>
                <a:latin typeface="+mn-ea"/>
              </a:rPr>
              <a:t>self.moveTo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(25, 10);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907132" y="3416950"/>
            <a:ext cx="5608650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b="1" kern="0" dirty="0" err="1">
                <a:solidFill>
                  <a:srgbClr val="000000"/>
                </a:solidFill>
                <a:latin typeface="+mn-ea"/>
              </a:rPr>
              <a:t>window.resizeBy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(-5, 10); 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</a:rPr>
              <a:t>혹은 </a:t>
            </a:r>
            <a:endParaRPr lang="en-US" altLang="ko-KR" sz="1400" b="1" kern="0" dirty="0">
              <a:solidFill>
                <a:srgbClr val="000000"/>
              </a:solidFill>
              <a:latin typeface="+mn-ea"/>
            </a:endParaRPr>
          </a:p>
          <a:p>
            <a:pPr marL="190500" fontAlgn="base" latinLnBrk="0"/>
            <a:r>
              <a:rPr lang="en-US" altLang="ko-KR" sz="1400" b="1" kern="0" dirty="0" err="1">
                <a:solidFill>
                  <a:srgbClr val="000000"/>
                </a:solidFill>
                <a:latin typeface="+mn-ea"/>
              </a:rPr>
              <a:t>resizeTo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(self.outerWidth-5, self.outerHeight+10);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896745" y="4594048"/>
            <a:ext cx="560865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b="1" kern="0" dirty="0" err="1">
                <a:solidFill>
                  <a:srgbClr val="000000"/>
                </a:solidFill>
                <a:latin typeface="+mn-ea"/>
              </a:rPr>
              <a:t>window.resizeTo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(200, 300);</a:t>
            </a: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6E139B49-D537-4833-8527-10818505E762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1633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487488" y="1061349"/>
            <a:ext cx="5256584" cy="37548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&lt;!DOCTYPE html&gt;</a:t>
            </a:r>
          </a:p>
          <a:p>
            <a:r>
              <a:rPr lang="en-US" altLang="ko-KR" sz="1400" dirty="0"/>
              <a:t>&lt;html&gt;</a:t>
            </a:r>
          </a:p>
          <a:p>
            <a:r>
              <a:rPr lang="en-US" altLang="ko-KR" sz="1400" dirty="0"/>
              <a:t>&lt;head&gt;</a:t>
            </a:r>
          </a:p>
          <a:p>
            <a:r>
              <a:rPr lang="en-US" altLang="ko-KR" sz="1400" dirty="0"/>
              <a:t>&lt;meta charset="</a:t>
            </a:r>
            <a:r>
              <a:rPr lang="en-US" altLang="ko-KR" sz="1400" dirty="0" err="1"/>
              <a:t>utf</a:t>
            </a:r>
            <a:r>
              <a:rPr lang="en-US" altLang="ko-KR" sz="1400" dirty="0"/>
              <a:t>-8"&gt;</a:t>
            </a:r>
          </a:p>
          <a:p>
            <a:r>
              <a:rPr lang="en-US" altLang="ko-KR" sz="1400" dirty="0"/>
              <a:t>&lt;title&gt;</a:t>
            </a:r>
            <a:r>
              <a:rPr lang="ko-KR" altLang="en-US" sz="1400" dirty="0"/>
              <a:t>윈도우의 위치와 크기 조절</a:t>
            </a:r>
            <a:r>
              <a:rPr lang="en-US" altLang="ko-KR" sz="1400" dirty="0"/>
              <a:t>&lt;/title&gt;</a:t>
            </a:r>
          </a:p>
          <a:p>
            <a:r>
              <a:rPr lang="en-US" altLang="ko-KR" sz="1400" dirty="0"/>
              <a:t>&lt;/head&gt;</a:t>
            </a:r>
          </a:p>
          <a:p>
            <a:r>
              <a:rPr lang="en-US" altLang="ko-KR" sz="1400" dirty="0"/>
              <a:t>&lt;body&gt;</a:t>
            </a:r>
          </a:p>
          <a:p>
            <a:r>
              <a:rPr lang="en-US" altLang="ko-KR" sz="1400" dirty="0"/>
              <a:t>&lt;h3&gt;</a:t>
            </a:r>
            <a:r>
              <a:rPr lang="ko-KR" altLang="en-US" sz="1400" dirty="0"/>
              <a:t>윈도우의 위치와 크기 조절</a:t>
            </a:r>
            <a:r>
              <a:rPr lang="en-US" altLang="ko-KR" sz="1400" dirty="0"/>
              <a:t>&lt;/h3&gt;</a:t>
            </a:r>
          </a:p>
          <a:p>
            <a:r>
              <a:rPr lang="en-US" altLang="ko-KR" sz="1400" dirty="0"/>
              <a:t>&lt;</a:t>
            </a:r>
            <a:r>
              <a:rPr lang="en-US" altLang="ko-KR" sz="1400" dirty="0" err="1"/>
              <a:t>hr</a:t>
            </a:r>
            <a:r>
              <a:rPr lang="en-US" altLang="ko-KR" sz="1400" dirty="0"/>
              <a:t>&gt;</a:t>
            </a:r>
          </a:p>
          <a:p>
            <a:r>
              <a:rPr lang="en-US" altLang="ko-KR" sz="1400" dirty="0"/>
              <a:t>&lt;button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="</a:t>
            </a:r>
            <a:r>
              <a:rPr lang="en-US" altLang="ko-KR" sz="1400" b="1" dirty="0" err="1"/>
              <a:t>window.moveBy</a:t>
            </a:r>
            <a:r>
              <a:rPr lang="en-US" altLang="ko-KR" sz="1400" b="1" dirty="0"/>
              <a:t>(-10, 0)</a:t>
            </a:r>
            <a:r>
              <a:rPr lang="en-US" altLang="ko-KR" sz="1400" dirty="0"/>
              <a:t>"&gt;left&lt;/button&gt;</a:t>
            </a:r>
          </a:p>
          <a:p>
            <a:r>
              <a:rPr lang="en-US" altLang="ko-KR" sz="1400" dirty="0"/>
              <a:t>&lt;button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="</a:t>
            </a:r>
            <a:r>
              <a:rPr lang="en-US" altLang="ko-KR" sz="1400" b="1" dirty="0" err="1"/>
              <a:t>window.moveBy</a:t>
            </a:r>
            <a:r>
              <a:rPr lang="en-US" altLang="ko-KR" sz="1400" b="1" dirty="0"/>
              <a:t>(10, 0)</a:t>
            </a:r>
            <a:r>
              <a:rPr lang="en-US" altLang="ko-KR" sz="1400" dirty="0"/>
              <a:t>"&gt;right&lt;/button&gt;</a:t>
            </a:r>
          </a:p>
          <a:p>
            <a:r>
              <a:rPr lang="en-US" altLang="ko-KR" sz="1400" dirty="0"/>
              <a:t>&lt;button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="</a:t>
            </a:r>
            <a:r>
              <a:rPr lang="en-US" altLang="ko-KR" sz="1400" b="1" dirty="0" err="1"/>
              <a:t>self.moveBy</a:t>
            </a:r>
            <a:r>
              <a:rPr lang="en-US" altLang="ko-KR" sz="1400" b="1" dirty="0"/>
              <a:t>(0, -10)</a:t>
            </a:r>
            <a:r>
              <a:rPr lang="en-US" altLang="ko-KR" sz="1400" dirty="0"/>
              <a:t>"&gt;up&lt;/button&gt;</a:t>
            </a:r>
          </a:p>
          <a:p>
            <a:r>
              <a:rPr lang="en-US" altLang="ko-KR" sz="1400" dirty="0"/>
              <a:t>&lt;button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="</a:t>
            </a:r>
            <a:r>
              <a:rPr lang="en-US" altLang="ko-KR" sz="1400" b="1" dirty="0" err="1"/>
              <a:t>moveBy</a:t>
            </a:r>
            <a:r>
              <a:rPr lang="en-US" altLang="ko-KR" sz="1400" b="1" dirty="0"/>
              <a:t>(0, 10)</a:t>
            </a:r>
            <a:r>
              <a:rPr lang="en-US" altLang="ko-KR" sz="1400" dirty="0"/>
              <a:t>"&gt;down&lt;/button&gt;</a:t>
            </a:r>
          </a:p>
          <a:p>
            <a:r>
              <a:rPr lang="en-US" altLang="ko-KR" sz="1400" dirty="0"/>
              <a:t>&lt;button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="</a:t>
            </a:r>
            <a:r>
              <a:rPr lang="en-US" altLang="ko-KR" sz="1400" b="1" dirty="0" err="1"/>
              <a:t>resizeBy</a:t>
            </a:r>
            <a:r>
              <a:rPr lang="en-US" altLang="ko-KR" sz="1400" b="1" dirty="0"/>
              <a:t>(10, 10)</a:t>
            </a:r>
            <a:r>
              <a:rPr lang="en-US" altLang="ko-KR" sz="1400" dirty="0"/>
              <a:t>"&gt;+&lt;/button&gt;</a:t>
            </a:r>
          </a:p>
          <a:p>
            <a:r>
              <a:rPr lang="en-US" altLang="ko-KR" sz="1400" dirty="0"/>
              <a:t>&lt;button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="</a:t>
            </a:r>
            <a:r>
              <a:rPr lang="en-US" altLang="ko-KR" sz="1400" b="1" dirty="0" err="1"/>
              <a:t>resizeBy</a:t>
            </a:r>
            <a:r>
              <a:rPr lang="en-US" altLang="ko-KR" sz="1400" b="1" dirty="0"/>
              <a:t>(-10, -10)</a:t>
            </a:r>
            <a:r>
              <a:rPr lang="en-US" altLang="ko-KR" sz="1400" dirty="0"/>
              <a:t>"&gt;-&lt;/button&gt;</a:t>
            </a:r>
          </a:p>
          <a:p>
            <a:r>
              <a:rPr lang="en-US" altLang="ko-KR" sz="1400" dirty="0"/>
              <a:t>&lt;/body&gt;</a:t>
            </a:r>
          </a:p>
          <a:p>
            <a:r>
              <a:rPr lang="en-US" altLang="ko-KR" sz="1400" dirty="0"/>
              <a:t>&lt;/html&gt;</a:t>
            </a:r>
            <a:endParaRPr lang="ko-KR" altLang="en-US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9DCC13-8FE1-48D9-BB3A-876821D12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805" y="3185400"/>
            <a:ext cx="2526147" cy="1820646"/>
          </a:xfrm>
          <a:prstGeom prst="rect">
            <a:avLst/>
          </a:prstGeom>
          <a:ln w="6350">
            <a:solidFill>
              <a:srgbClr val="0070C0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10-5 </a:t>
            </a:r>
            <a:r>
              <a:rPr lang="ko-KR" altLang="en-US" dirty="0"/>
              <a:t>윈도우의 위치와 크기 조절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919536" y="5445224"/>
            <a:ext cx="885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600" dirty="0"/>
              <a:t>이 예제는 브라우저에서 바로 실행시키면 보안의 이유로 실행되지 않지만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window.open</a:t>
            </a:r>
            <a:r>
              <a:rPr lang="en-US" altLang="ko-KR" sz="1600" dirty="0"/>
              <a:t>()</a:t>
            </a:r>
            <a:r>
              <a:rPr lang="ko-KR" altLang="en-US" sz="1600" dirty="0"/>
              <a:t>으로 생성한 윈도우 내에서는 잘 작동함</a:t>
            </a:r>
            <a:r>
              <a:rPr lang="en-US" altLang="ko-KR" sz="1600" dirty="0"/>
              <a:t>. </a:t>
            </a:r>
            <a:r>
              <a:rPr lang="en-US" altLang="ko-KR" sz="1600" dirty="0" err="1">
                <a:hlinkClick r:id="rId3"/>
              </a:rPr>
              <a:t>www.webprogramming.co.kr</a:t>
            </a:r>
            <a:r>
              <a:rPr lang="en-US" altLang="ko-KR" sz="1600" dirty="0"/>
              <a:t> </a:t>
            </a:r>
            <a:r>
              <a:rPr lang="ko-KR" altLang="en-US" sz="1600" dirty="0"/>
              <a:t>사이트에서 실행시켜 보자</a:t>
            </a:r>
            <a:r>
              <a:rPr lang="en-US" altLang="ko-KR" sz="1600" dirty="0"/>
              <a:t>.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46BD09A4-8539-435C-9C9E-3DC82C3C0271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4922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BC9BC-F04B-42AE-B70A-815FB0DD8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10-5 </a:t>
            </a:r>
            <a:r>
              <a:rPr lang="ko-KR" altLang="en-US" dirty="0"/>
              <a:t>윈도우의 위치와 크기 조절</a:t>
            </a:r>
            <a:r>
              <a:rPr lang="en-US" altLang="ko-KR" dirty="0"/>
              <a:t>-</a:t>
            </a:r>
            <a:r>
              <a:rPr lang="ko-KR" altLang="en-US" dirty="0"/>
              <a:t>예제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8CB4118-72AD-4837-976D-13133E2063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ADC3BB-C03E-4171-B383-5A2A5642BB39}"/>
              </a:ext>
            </a:extLst>
          </p:cNvPr>
          <p:cNvSpPr/>
          <p:nvPr/>
        </p:nvSpPr>
        <p:spPr>
          <a:xfrm>
            <a:off x="911424" y="933131"/>
            <a:ext cx="97930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새로운 창을 열고 새 창에 대한 위치와 크기를 조절하는 예제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DAE2EE6-325C-48AB-A416-914D69F75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771" y="1700808"/>
            <a:ext cx="4680520" cy="332398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&lt;!DOCTYPE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lang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ko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meta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charset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="UTF-8"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새 창 열고 위치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크기 조절하기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onclick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openNewWindow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새로운 창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열기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script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script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29673FB-672F-460D-9A75-CA746C485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026360"/>
            <a:ext cx="5735960" cy="5262979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script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let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myWindow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function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openNewWindow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myWindow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window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open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""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""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width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=300,height=200"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myWindow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document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write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`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head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윈도우 제어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head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&lt;h3&gt;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윈도우의 위치와 크기 조절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&lt;/h3&gt;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hr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onclick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window.moveBy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(-10, 0)"&gt;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left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onclick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window.moveBy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(10, 0)"&gt;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right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onclick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self.moveBy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(0, -10)"&gt;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onclick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moveBy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(0, 10)"&gt;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down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onclick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resizeBy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(10, 10)"&gt;+&lt;/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onclick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resizeBy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(-10, -10)"&gt;-&lt;/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`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script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E0F41DC-E7CF-4BEA-A4CB-E5B211A40271}"/>
              </a:ext>
            </a:extLst>
          </p:cNvPr>
          <p:cNvCxnSpPr/>
          <p:nvPr/>
        </p:nvCxnSpPr>
        <p:spPr bwMode="auto">
          <a:xfrm flipH="1">
            <a:off x="1487488" y="4221088"/>
            <a:ext cx="4608512" cy="0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78B8AB93-977E-4716-A0AE-0132EBA13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351" y="5221512"/>
            <a:ext cx="1762125" cy="13620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EB56970-D44F-47D9-91E3-229B7BDA7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273" y="5222266"/>
            <a:ext cx="1981695" cy="13871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C2667B0E-5C44-46A9-8A8D-0FE3E07EDF19}"/>
              </a:ext>
            </a:extLst>
          </p:cNvPr>
          <p:cNvSpPr/>
          <p:nvPr/>
        </p:nvSpPr>
        <p:spPr bwMode="auto">
          <a:xfrm>
            <a:off x="3287688" y="5801545"/>
            <a:ext cx="466497" cy="416917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5727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웹 페이지 스크롤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ko-KR" altLang="en-US" sz="2000" dirty="0"/>
              <a:t>웹 페이지를 위로 </a:t>
            </a:r>
            <a:r>
              <a:rPr lang="en-US" altLang="ko-KR" sz="2000" dirty="0"/>
              <a:t>10</a:t>
            </a:r>
            <a:r>
              <a:rPr lang="ko-KR" altLang="en-US" sz="2000" dirty="0"/>
              <a:t>픽셀 스크롤</a:t>
            </a:r>
            <a:r>
              <a:rPr lang="en-US" altLang="ko-KR" sz="2000" dirty="0"/>
              <a:t>(</a:t>
            </a:r>
            <a:r>
              <a:rPr lang="ko-KR" altLang="en-US" sz="2000" dirty="0"/>
              <a:t>마우스 스크롤 다운</a:t>
            </a:r>
            <a:r>
              <a:rPr lang="en-US" altLang="ko-KR" sz="2000" dirty="0"/>
              <a:t>)</a:t>
            </a:r>
            <a:endParaRPr lang="ko-KR" altLang="en-US" sz="2000" dirty="0"/>
          </a:p>
          <a:p>
            <a:pPr lvl="2"/>
            <a:endParaRPr lang="en-US" altLang="ko-KR" sz="18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웹 페이지를 왼쪽으로 </a:t>
            </a:r>
            <a:r>
              <a:rPr lang="en-US" altLang="ko-KR" sz="2000" dirty="0"/>
              <a:t>10</a:t>
            </a:r>
            <a:r>
              <a:rPr lang="ko-KR" altLang="en-US" sz="2000" dirty="0"/>
              <a:t>픽셀</a:t>
            </a:r>
            <a:r>
              <a:rPr lang="en-US" altLang="ko-KR" sz="2000" dirty="0"/>
              <a:t>, </a:t>
            </a:r>
            <a:r>
              <a:rPr lang="ko-KR" altLang="en-US" sz="2000" dirty="0"/>
              <a:t>아래로 </a:t>
            </a:r>
            <a:r>
              <a:rPr lang="en-US" altLang="ko-KR" sz="2000" dirty="0"/>
              <a:t>15</a:t>
            </a:r>
            <a:r>
              <a:rPr lang="ko-KR" altLang="en-US" sz="2000" dirty="0"/>
              <a:t>픽셀 스크롤</a:t>
            </a:r>
            <a:r>
              <a:rPr lang="en-US" altLang="ko-KR" sz="2000" dirty="0"/>
              <a:t>(</a:t>
            </a:r>
            <a:r>
              <a:rPr lang="ko-KR" altLang="en-US" sz="2000" dirty="0"/>
              <a:t>마우스 스크롤 업</a:t>
            </a:r>
            <a:r>
              <a:rPr lang="en-US" altLang="ko-KR" sz="2000" dirty="0"/>
              <a:t>)</a:t>
            </a:r>
            <a:endParaRPr lang="ko-KR" altLang="en-US" sz="2000" dirty="0"/>
          </a:p>
          <a:p>
            <a:pPr lvl="2"/>
            <a:endParaRPr lang="en-US" altLang="ko-KR" sz="18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웹 페이지의 </a:t>
            </a:r>
            <a:r>
              <a:rPr lang="en-US" altLang="ko-KR" sz="2000" dirty="0"/>
              <a:t>(0, 200) </a:t>
            </a:r>
            <a:r>
              <a:rPr lang="ko-KR" altLang="en-US" sz="2000" dirty="0"/>
              <a:t>좌표 부분이 현재 윈도우의 왼쪽 상단 모서리에 출력되도록 스크롤</a:t>
            </a:r>
          </a:p>
          <a:p>
            <a:pPr lvl="2"/>
            <a:endParaRPr lang="ko-KR" altLang="en-US" sz="1800" dirty="0"/>
          </a:p>
          <a:p>
            <a:pPr lvl="1"/>
            <a:endParaRPr lang="en-US" altLang="ko-KR" sz="2800" dirty="0"/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896745" y="1659686"/>
            <a:ext cx="561662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b="1" kern="0" dirty="0" err="1">
                <a:solidFill>
                  <a:srgbClr val="000000"/>
                </a:solidFill>
                <a:latin typeface="+mn-ea"/>
              </a:rPr>
              <a:t>window.scrollBy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(0, 10); // 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</a:rPr>
              <a:t>옆으로 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0, 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</a:rPr>
              <a:t>위로 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10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</a:rPr>
              <a:t>픽셀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907132" y="2708921"/>
            <a:ext cx="561662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b="1" kern="0" dirty="0" err="1">
                <a:solidFill>
                  <a:srgbClr val="000000"/>
                </a:solidFill>
                <a:latin typeface="+mn-ea"/>
              </a:rPr>
              <a:t>window.scrollBy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(10, -15);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896745" y="3841303"/>
            <a:ext cx="560865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b="1" kern="0" dirty="0" err="1">
                <a:solidFill>
                  <a:srgbClr val="000000"/>
                </a:solidFill>
                <a:latin typeface="+mn-ea"/>
              </a:rPr>
              <a:t>window.scrollTo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(0, 200);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9536" y="5198314"/>
            <a:ext cx="896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C00000"/>
                </a:solidFill>
              </a:rPr>
              <a:t>* </a:t>
            </a:r>
            <a:r>
              <a:rPr lang="ko-KR" altLang="en-US" sz="1600" dirty="0">
                <a:solidFill>
                  <a:srgbClr val="C00000"/>
                </a:solidFill>
              </a:rPr>
              <a:t>스크롤 다운</a:t>
            </a:r>
            <a:r>
              <a:rPr lang="en-US" altLang="ko-KR" sz="1600" dirty="0">
                <a:solidFill>
                  <a:srgbClr val="C00000"/>
                </a:solidFill>
              </a:rPr>
              <a:t>(scroll down)</a:t>
            </a:r>
            <a:r>
              <a:rPr lang="ko-KR" altLang="en-US" sz="1600" dirty="0">
                <a:solidFill>
                  <a:srgbClr val="C00000"/>
                </a:solidFill>
              </a:rPr>
              <a:t>은 스크롤 바를 내리는 작동이며</a:t>
            </a:r>
            <a:r>
              <a:rPr lang="en-US" altLang="ko-KR" sz="1600" dirty="0">
                <a:solidFill>
                  <a:srgbClr val="C00000"/>
                </a:solidFill>
              </a:rPr>
              <a:t>, </a:t>
            </a:r>
            <a:r>
              <a:rPr lang="ko-KR" altLang="en-US" sz="1600" dirty="0">
                <a:solidFill>
                  <a:srgbClr val="C00000"/>
                </a:solidFill>
              </a:rPr>
              <a:t>이에 따라 웹 페이지는 위로 이동한다</a:t>
            </a:r>
            <a:r>
              <a:rPr lang="en-US" altLang="ko-KR" sz="1600" dirty="0">
                <a:solidFill>
                  <a:srgbClr val="C00000"/>
                </a:solidFill>
              </a:rPr>
              <a:t>.</a:t>
            </a:r>
            <a:endParaRPr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1E4D129B-CE97-4D61-B2FE-025A6AEEF6BD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2515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DB430D3-A553-43DF-98C9-5DA793BB1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001" y="3429000"/>
            <a:ext cx="2219632" cy="2919516"/>
          </a:xfrm>
          <a:prstGeom prst="rect">
            <a:avLst/>
          </a:prstGeom>
          <a:ln w="6350">
            <a:solidFill>
              <a:srgbClr val="0070C0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10-6 1</a:t>
            </a:r>
            <a:r>
              <a:rPr lang="ko-KR" altLang="en-US" dirty="0"/>
              <a:t>초마다 </a:t>
            </a:r>
            <a:r>
              <a:rPr lang="en-US" altLang="ko-KR" dirty="0"/>
              <a:t>10</a:t>
            </a:r>
            <a:r>
              <a:rPr lang="ko-KR" altLang="en-US" dirty="0"/>
              <a:t>픽셀씩 자동 스크롤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207568" y="1443015"/>
            <a:ext cx="3600400" cy="47089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</a:t>
            </a:r>
          </a:p>
          <a:p>
            <a:pPr defTabSz="180000"/>
            <a:r>
              <a:rPr lang="en-US" altLang="ko-KR" sz="1200" dirty="0"/>
              <a:t>&lt;meta charset="</a:t>
            </a:r>
            <a:r>
              <a:rPr lang="en-US" altLang="ko-KR" sz="1200" dirty="0" err="1"/>
              <a:t>utf</a:t>
            </a:r>
            <a:r>
              <a:rPr lang="en-US" altLang="ko-KR" sz="1200" dirty="0"/>
              <a:t>-8"&gt;</a:t>
            </a:r>
          </a:p>
          <a:p>
            <a:pPr defTabSz="180000"/>
            <a:r>
              <a:rPr lang="en-US" altLang="ko-KR" sz="1200" dirty="0"/>
              <a:t>&lt;title&gt;</a:t>
            </a:r>
            <a:r>
              <a:rPr lang="ko-KR" altLang="en-US" sz="1200" dirty="0"/>
              <a:t>웹 페이지의 자동 스크롤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dirty="0"/>
              <a:t>&lt;script&gt;</a:t>
            </a:r>
          </a:p>
          <a:p>
            <a:pPr defTabSz="180000"/>
            <a:r>
              <a:rPr lang="en-US" altLang="ko-KR" sz="1200" b="1" dirty="0"/>
              <a:t>function </a:t>
            </a:r>
            <a:r>
              <a:rPr lang="en-US" altLang="ko-KR" sz="1200" b="1" dirty="0" err="1"/>
              <a:t>startScroll</a:t>
            </a:r>
            <a:r>
              <a:rPr lang="en-US" altLang="ko-KR" sz="1200" b="1" dirty="0"/>
              <a:t>(interval) {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dirty="0" err="1"/>
              <a:t>setInterval</a:t>
            </a:r>
            <a:r>
              <a:rPr lang="en-US" altLang="ko-KR" sz="1200" dirty="0"/>
              <a:t>("</a:t>
            </a:r>
            <a:r>
              <a:rPr lang="en-US" altLang="ko-KR" sz="1200" dirty="0" err="1"/>
              <a:t>autoScroll</a:t>
            </a:r>
            <a:r>
              <a:rPr lang="en-US" altLang="ko-KR" sz="1200" dirty="0"/>
              <a:t>()", interval);</a:t>
            </a:r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endParaRPr lang="ko-KR" altLang="en-US" sz="1200" dirty="0"/>
          </a:p>
          <a:p>
            <a:pPr defTabSz="180000"/>
            <a:r>
              <a:rPr lang="en-US" altLang="ko-KR" sz="1200" dirty="0"/>
              <a:t>function </a:t>
            </a:r>
            <a:r>
              <a:rPr lang="en-US" altLang="ko-KR" sz="1200" dirty="0" err="1"/>
              <a:t>autoScroll</a:t>
            </a:r>
            <a:r>
              <a:rPr lang="en-US" altLang="ko-KR" sz="1200" dirty="0"/>
              <a:t>() </a:t>
            </a:r>
            <a:r>
              <a:rPr lang="en-US" altLang="ko-KR" sz="1200" b="1" dirty="0"/>
              <a:t>{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b="1" dirty="0" err="1"/>
              <a:t>window.scrollBy</a:t>
            </a:r>
            <a:r>
              <a:rPr lang="en-US" altLang="ko-KR" sz="1200" b="1" dirty="0"/>
              <a:t>(0,10);</a:t>
            </a:r>
            <a:r>
              <a:rPr lang="en-US" altLang="ko-KR" sz="1200" dirty="0"/>
              <a:t> // 10</a:t>
            </a:r>
            <a:r>
              <a:rPr lang="ko-KR" altLang="en-US" sz="1200" dirty="0"/>
              <a:t>픽셀 위로 이동</a:t>
            </a:r>
            <a:endParaRPr lang="en-US" altLang="ko-KR" sz="1200" dirty="0"/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&lt;/script&gt;</a:t>
            </a:r>
          </a:p>
          <a:p>
            <a:pPr defTabSz="180000"/>
            <a:r>
              <a:rPr lang="en-US" altLang="ko-KR" sz="1200" dirty="0"/>
              <a:t>&lt;/head&gt;</a:t>
            </a:r>
          </a:p>
          <a:p>
            <a:pPr defTabSz="180000"/>
            <a:r>
              <a:rPr lang="en-US" altLang="ko-KR" sz="1200" dirty="0"/>
              <a:t>&lt;body </a:t>
            </a:r>
            <a:r>
              <a:rPr lang="en-US" altLang="ko-KR" sz="1200" b="1" dirty="0" err="1"/>
              <a:t>onload</a:t>
            </a:r>
            <a:r>
              <a:rPr lang="en-US" altLang="ko-KR" sz="1200" b="1" dirty="0"/>
              <a:t>="</a:t>
            </a:r>
            <a:r>
              <a:rPr lang="en-US" altLang="ko-KR" sz="1200" b="1" dirty="0" err="1"/>
              <a:t>startScroll</a:t>
            </a:r>
            <a:r>
              <a:rPr lang="en-US" altLang="ko-KR" sz="1200" b="1" dirty="0"/>
              <a:t>(1000)"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&lt;h3&gt;</a:t>
            </a:r>
            <a:r>
              <a:rPr lang="ko-KR" altLang="en-US" sz="1200" dirty="0"/>
              <a:t>자동 스크롤 페이지</a:t>
            </a:r>
            <a:r>
              <a:rPr lang="en-US" altLang="ko-KR" sz="1200" dirty="0"/>
              <a:t>&lt;/h3&gt;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&lt;h3&gt;</a:t>
            </a:r>
            <a:r>
              <a:rPr lang="ko-KR" altLang="en-US" sz="1200" dirty="0"/>
              <a:t>꿈길</a:t>
            </a:r>
            <a:r>
              <a:rPr lang="en-US" altLang="ko-KR" sz="1200" dirty="0"/>
              <a:t>(</a:t>
            </a:r>
            <a:r>
              <a:rPr lang="ko-KR" altLang="en-US" sz="1200" dirty="0"/>
              <a:t>이동순</a:t>
            </a:r>
            <a:r>
              <a:rPr lang="en-US" altLang="ko-KR" sz="1200" dirty="0"/>
              <a:t>)&lt;/h3&gt;</a:t>
            </a:r>
          </a:p>
          <a:p>
            <a:pPr defTabSz="180000"/>
            <a:r>
              <a:rPr lang="ko-KR" altLang="en-US" sz="1200" dirty="0"/>
              <a:t>꿈길에</a:t>
            </a:r>
            <a:r>
              <a:rPr lang="en-US" altLang="ko-KR" sz="1200" dirty="0"/>
              <a:t>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ko-KR" altLang="en-US" sz="1200" dirty="0"/>
              <a:t>발자취가 있다면</a:t>
            </a:r>
            <a:r>
              <a:rPr lang="en-US" altLang="ko-KR" sz="1200" dirty="0"/>
              <a:t>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ko-KR" altLang="en-US" sz="1200" dirty="0"/>
              <a:t>님의 집 </a:t>
            </a:r>
            <a:r>
              <a:rPr lang="ko-KR" altLang="en-US" sz="1200" dirty="0" err="1"/>
              <a:t>창밖</a:t>
            </a:r>
            <a:r>
              <a:rPr lang="en-US" altLang="ko-KR" sz="1200" dirty="0"/>
              <a:t>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ko-KR" altLang="en-US" sz="1200" dirty="0"/>
              <a:t>그 돌계단 길이 이미 오래 전에</a:t>
            </a:r>
            <a:r>
              <a:rPr lang="en-US" altLang="ko-KR" sz="1200" dirty="0"/>
              <a:t>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ko-KR" altLang="en-US" sz="1200" dirty="0"/>
              <a:t>모래가 되고 말았을 거예요</a:t>
            </a:r>
            <a:r>
              <a:rPr lang="en-US" altLang="ko-KR" sz="1200" dirty="0"/>
              <a:t>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ko-KR" altLang="en-US" sz="1200" dirty="0"/>
              <a:t>하지만</a:t>
            </a:r>
            <a:r>
              <a:rPr lang="en-US" altLang="ko-KR" sz="1200" dirty="0"/>
              <a:t>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017538" y="1443014"/>
            <a:ext cx="3161897" cy="1754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ko-KR" altLang="en-US" sz="1200" dirty="0"/>
              <a:t>그 꿈길에서 자취 없다 하니</a:t>
            </a:r>
            <a:r>
              <a:rPr lang="en-US" altLang="ko-KR" sz="1200" dirty="0"/>
              <a:t>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ko-KR" altLang="en-US" sz="1200" dirty="0"/>
              <a:t>나는 그것이 정말 서러워요</a:t>
            </a:r>
            <a:r>
              <a:rPr lang="en-US" altLang="ko-KR" sz="1200" dirty="0"/>
              <a:t>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ko-KR" altLang="en-US" sz="1200" dirty="0"/>
              <a:t>이 밤도</a:t>
            </a:r>
            <a:r>
              <a:rPr lang="en-US" altLang="ko-KR" sz="1200" dirty="0"/>
              <a:t>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ko-KR" altLang="en-US" sz="1200" dirty="0"/>
              <a:t>나는 님의 집 </a:t>
            </a:r>
            <a:r>
              <a:rPr lang="ko-KR" altLang="en-US" sz="1200" dirty="0" err="1"/>
              <a:t>창밖</a:t>
            </a:r>
            <a:r>
              <a:rPr lang="en-US" altLang="ko-KR" sz="1200" dirty="0"/>
              <a:t>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ko-KR" altLang="en-US" sz="1200" dirty="0"/>
              <a:t>그 돌계단 위에 홀로 서서</a:t>
            </a:r>
            <a:r>
              <a:rPr lang="en-US" altLang="ko-KR" sz="1200" dirty="0"/>
              <a:t>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ko-KR" altLang="en-US" sz="1200" dirty="0"/>
              <a:t>혹시라도 님의 목소리가 들려올까</a:t>
            </a:r>
            <a:r>
              <a:rPr lang="en-US" altLang="ko-KR" sz="1200" dirty="0"/>
              <a:t>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ko-KR" altLang="en-US" sz="1200" dirty="0"/>
              <a:t>고개 숙이고 엿들어요</a:t>
            </a:r>
            <a:r>
              <a:rPr lang="en-US" altLang="ko-KR" sz="1200" dirty="0"/>
              <a:t>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&lt;/body&gt;</a:t>
            </a:r>
          </a:p>
          <a:p>
            <a:pPr defTabSz="180000"/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2133600" y="1052736"/>
            <a:ext cx="78508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웹 페이지가 </a:t>
            </a:r>
            <a:r>
              <a:rPr lang="ko-KR" altLang="en-US" sz="1400" kern="0" dirty="0" err="1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로드되자</a:t>
            </a:r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 마자</a:t>
            </a:r>
            <a:r>
              <a:rPr lang="en-US" altLang="ko-KR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자동으로 </a:t>
            </a:r>
            <a:r>
              <a:rPr lang="en-US" altLang="ko-KR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초에 </a:t>
            </a:r>
            <a:r>
              <a:rPr lang="en-US" altLang="ko-KR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10</a:t>
            </a:r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픽셀씩 웹 페이지가 올라가도록 작성하라</a:t>
            </a:r>
            <a:r>
              <a:rPr lang="en-US" altLang="ko-KR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400" kern="0" dirty="0">
              <a:solidFill>
                <a:schemeClr val="accent2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567CE193-02B4-4ED1-8D64-78D48B5D6C89}"/>
              </a:ext>
            </a:extLst>
          </p:cNvPr>
          <p:cNvSpPr txBox="1">
            <a:spLocks/>
          </p:cNvSpPr>
          <p:nvPr/>
        </p:nvSpPr>
        <p:spPr>
          <a:xfrm>
            <a:off x="11326283" y="6084988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2361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웹 페이지 프린트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>
          <a:xfrm>
            <a:off x="623392" y="1034143"/>
            <a:ext cx="11130293" cy="522649"/>
          </a:xfrm>
        </p:spPr>
        <p:txBody>
          <a:bodyPr/>
          <a:lstStyle/>
          <a:p>
            <a:pPr lvl="0"/>
            <a:r>
              <a:rPr lang="ko-KR" altLang="en-US" dirty="0"/>
              <a:t>웹 페이지 프린트</a:t>
            </a:r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559496" y="1642313"/>
            <a:ext cx="2007745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b="1" kern="0" dirty="0" err="1">
                <a:solidFill>
                  <a:srgbClr val="000000"/>
                </a:solidFill>
                <a:latin typeface="+mn-ea"/>
              </a:rPr>
              <a:t>window.print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();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415480" y="2196133"/>
            <a:ext cx="2592288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190500" fontAlgn="base" latinLnBrk="0"/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이 코드가 실행되면 </a:t>
            </a:r>
            <a:endParaRPr lang="en-US" altLang="ko-KR" sz="1400" kern="0" dirty="0">
              <a:solidFill>
                <a:schemeClr val="accent2">
                  <a:lumMod val="75000"/>
                </a:schemeClr>
              </a:solidFill>
              <a:latin typeface="+mj-ea"/>
              <a:ea typeface="+mj-ea"/>
            </a:endParaRPr>
          </a:p>
          <a:p>
            <a:pPr marL="190500" fontAlgn="base" latinLnBrk="0"/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인쇄 다이얼로그가 열리고</a:t>
            </a:r>
            <a:r>
              <a:rPr lang="en-US" altLang="ko-KR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, </a:t>
            </a:r>
          </a:p>
          <a:p>
            <a:pPr marL="190500" fontAlgn="base" latinLnBrk="0"/>
            <a:r>
              <a:rPr lang="en-US" altLang="ko-KR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‘</a:t>
            </a:r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확인’ 버튼을 누르면 </a:t>
            </a:r>
            <a:endParaRPr lang="en-US" altLang="ko-KR" sz="1400" kern="0" dirty="0">
              <a:solidFill>
                <a:schemeClr val="accent2">
                  <a:lumMod val="75000"/>
                </a:schemeClr>
              </a:solidFill>
              <a:latin typeface="+mj-ea"/>
              <a:ea typeface="+mj-ea"/>
            </a:endParaRPr>
          </a:p>
          <a:p>
            <a:pPr marL="190500" fontAlgn="base" latinLnBrk="0"/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인쇄가 이루어진다</a:t>
            </a:r>
            <a:r>
              <a:rPr lang="en-US" altLang="ko-KR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400" kern="0" dirty="0">
              <a:solidFill>
                <a:schemeClr val="accent2">
                  <a:lumMod val="7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1C59F9A-1E8A-483E-A9BA-333A69AF9B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760" y="1359607"/>
            <a:ext cx="6162744" cy="5024649"/>
          </a:xfrm>
          <a:prstGeom prst="rect">
            <a:avLst/>
          </a:prstGeom>
          <a:ln w="6350">
            <a:solidFill>
              <a:srgbClr val="0070C0"/>
            </a:solidFill>
          </a:ln>
        </p:spPr>
      </p:pic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2FDF27D7-514B-4AF7-97D2-A66397D9F1F9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9866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55440" y="1172388"/>
            <a:ext cx="4680520" cy="39703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&lt;!DOCTYPE html&gt;</a:t>
            </a:r>
          </a:p>
          <a:p>
            <a:pPr defTabSz="180000"/>
            <a:r>
              <a:rPr lang="en-US" altLang="ko-KR" sz="1400" dirty="0"/>
              <a:t>&lt;html&gt;</a:t>
            </a:r>
          </a:p>
          <a:p>
            <a:pPr defTabSz="180000"/>
            <a:r>
              <a:rPr lang="en-US" altLang="ko-KR" sz="1400" dirty="0"/>
              <a:t>&lt;head&gt;</a:t>
            </a:r>
          </a:p>
          <a:p>
            <a:pPr defTabSz="180000"/>
            <a:r>
              <a:rPr lang="en-US" altLang="ko-KR" sz="1400" dirty="0"/>
              <a:t>&lt;meta charset="</a:t>
            </a:r>
            <a:r>
              <a:rPr lang="en-US" altLang="ko-KR" sz="1400" dirty="0" err="1"/>
              <a:t>utf</a:t>
            </a:r>
            <a:r>
              <a:rPr lang="en-US" altLang="ko-KR" sz="1400" dirty="0"/>
              <a:t>-8"&gt;</a:t>
            </a:r>
          </a:p>
          <a:p>
            <a:pPr defTabSz="180000"/>
            <a:r>
              <a:rPr lang="en-US" altLang="ko-KR" sz="1400" dirty="0"/>
              <a:t>&lt;title&gt;</a:t>
            </a:r>
            <a:r>
              <a:rPr lang="ko-KR" altLang="en-US" sz="1400" dirty="0"/>
              <a:t>웹 페이지 프린트</a:t>
            </a:r>
            <a:r>
              <a:rPr lang="en-US" altLang="ko-KR" sz="1400" dirty="0"/>
              <a:t>&lt;/title&gt;</a:t>
            </a:r>
          </a:p>
          <a:p>
            <a:pPr defTabSz="180000"/>
            <a:r>
              <a:rPr lang="en-US" altLang="ko-KR" sz="1400" dirty="0"/>
              <a:t>&lt;/head&gt;</a:t>
            </a:r>
          </a:p>
          <a:p>
            <a:pPr defTabSz="180000"/>
            <a:r>
              <a:rPr lang="en-US" altLang="ko-KR" sz="1400" dirty="0"/>
              <a:t>&lt;body&gt;</a:t>
            </a:r>
          </a:p>
          <a:p>
            <a:pPr defTabSz="180000"/>
            <a:r>
              <a:rPr lang="en-US" altLang="ko-KR" sz="1400" dirty="0"/>
              <a:t>&lt;h3&gt;</a:t>
            </a:r>
            <a:r>
              <a:rPr lang="ko-KR" altLang="en-US" sz="1400" dirty="0"/>
              <a:t>웹 페이지 프린트</a:t>
            </a:r>
            <a:r>
              <a:rPr lang="en-US" altLang="ko-KR" sz="1400" dirty="0"/>
              <a:t>&lt;/h3&gt;</a:t>
            </a:r>
          </a:p>
          <a:p>
            <a:pPr defTabSz="180000"/>
            <a:r>
              <a:rPr lang="en-US" altLang="ko-KR" sz="1400" dirty="0"/>
              <a:t>&lt;</a:t>
            </a:r>
            <a:r>
              <a:rPr lang="en-US" altLang="ko-KR" sz="1400" dirty="0" err="1"/>
              <a:t>hr</a:t>
            </a:r>
            <a:r>
              <a:rPr lang="en-US" altLang="ko-KR" sz="1400" dirty="0"/>
              <a:t>&gt;</a:t>
            </a:r>
          </a:p>
          <a:p>
            <a:pPr defTabSz="180000"/>
            <a:r>
              <a:rPr lang="en-US" altLang="ko-KR" sz="1400" dirty="0"/>
              <a:t>&lt;p&gt;window </a:t>
            </a:r>
            <a:r>
              <a:rPr lang="ko-KR" altLang="en-US" sz="1400" dirty="0"/>
              <a:t>객체의 </a:t>
            </a:r>
            <a:r>
              <a:rPr lang="en-US" altLang="ko-KR" sz="1400" dirty="0"/>
              <a:t>print() </a:t>
            </a:r>
            <a:r>
              <a:rPr lang="ko-KR" altLang="en-US" sz="1400" dirty="0" err="1"/>
              <a:t>메소드를</a:t>
            </a:r>
            <a:r>
              <a:rPr lang="ko-KR" altLang="en-US" sz="1400" dirty="0"/>
              <a:t> 호출하면 </a:t>
            </a:r>
          </a:p>
          <a:p>
            <a:pPr defTabSz="180000"/>
            <a:r>
              <a:rPr lang="en-US" altLang="ko-KR" sz="1400" dirty="0"/>
              <a:t>window </a:t>
            </a:r>
            <a:r>
              <a:rPr lang="ko-KR" altLang="en-US" sz="1400" dirty="0"/>
              <a:t>객체에 담겨 있는 웹 페이지가 프린트 됩니다</a:t>
            </a:r>
            <a:r>
              <a:rPr lang="en-US" altLang="ko-KR" sz="1400" dirty="0"/>
              <a:t>.</a:t>
            </a:r>
          </a:p>
          <a:p>
            <a:pPr defTabSz="180000"/>
            <a:r>
              <a:rPr lang="en-US" altLang="ko-KR" sz="1400" dirty="0"/>
              <a:t>&lt;p&gt;</a:t>
            </a:r>
          </a:p>
          <a:p>
            <a:pPr defTabSz="180000"/>
            <a:r>
              <a:rPr lang="en-US" altLang="ko-KR" sz="1400" dirty="0"/>
              <a:t>&lt;a </a:t>
            </a:r>
            <a:r>
              <a:rPr lang="en-US" altLang="ko-KR" sz="1400" dirty="0" err="1"/>
              <a:t>href</a:t>
            </a:r>
            <a:r>
              <a:rPr lang="en-US" altLang="ko-KR" sz="1400" dirty="0"/>
              <a:t>=</a:t>
            </a:r>
            <a:r>
              <a:rPr lang="en-US" altLang="ko-KR" sz="1400" b="1" dirty="0"/>
              <a:t>"</a:t>
            </a:r>
            <a:r>
              <a:rPr lang="en-US" altLang="ko-KR" sz="1400" b="1" dirty="0" err="1"/>
              <a:t>javascript:window.print</a:t>
            </a:r>
            <a:r>
              <a:rPr lang="en-US" altLang="ko-KR" sz="1400" b="1" dirty="0"/>
              <a:t>()"&gt;</a:t>
            </a:r>
          </a:p>
          <a:p>
            <a:pPr defTabSz="180000"/>
            <a:r>
              <a:rPr lang="en-US" altLang="ko-KR" sz="1400" b="1" dirty="0"/>
              <a:t>	</a:t>
            </a:r>
            <a:r>
              <a:rPr lang="ko-KR" altLang="en-US" sz="1400" dirty="0"/>
              <a:t>이곳을 누르면 프린트 됩니다</a:t>
            </a:r>
            <a:r>
              <a:rPr lang="en-US" altLang="ko-KR" sz="1400" dirty="0"/>
              <a:t>.&lt;/a&gt;&lt;p&gt;</a:t>
            </a:r>
          </a:p>
          <a:p>
            <a:pPr defTabSz="180000"/>
            <a:r>
              <a:rPr lang="en-US" altLang="ko-KR" sz="1400" dirty="0"/>
              <a:t>&lt;input type="button" value="</a:t>
            </a:r>
            <a:r>
              <a:rPr lang="ko-KR" altLang="en-US" sz="1400" dirty="0"/>
              <a:t>프린트</a:t>
            </a:r>
            <a:r>
              <a:rPr lang="en-US" altLang="ko-KR" sz="1400" dirty="0"/>
              <a:t>" </a:t>
            </a:r>
          </a:p>
          <a:p>
            <a:pPr defTabSz="180000"/>
            <a:r>
              <a:rPr lang="en-US" altLang="ko-KR" sz="1400" dirty="0"/>
              <a:t>			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=</a:t>
            </a:r>
            <a:r>
              <a:rPr lang="en-US" altLang="ko-KR" sz="1400" b="1" dirty="0"/>
              <a:t>"</a:t>
            </a:r>
            <a:r>
              <a:rPr lang="en-US" altLang="ko-KR" sz="1400" b="1" dirty="0" err="1"/>
              <a:t>window.print</a:t>
            </a:r>
            <a:r>
              <a:rPr lang="en-US" altLang="ko-KR" sz="1400" b="1" dirty="0"/>
              <a:t>()"</a:t>
            </a:r>
            <a:r>
              <a:rPr lang="en-US" altLang="ko-KR" sz="1400" dirty="0"/>
              <a:t>&gt;</a:t>
            </a:r>
          </a:p>
          <a:p>
            <a:pPr defTabSz="180000"/>
            <a:r>
              <a:rPr lang="en-US" altLang="ko-KR" sz="1400" dirty="0"/>
              <a:t>&lt;/body&gt;</a:t>
            </a:r>
          </a:p>
          <a:p>
            <a:pPr defTabSz="180000"/>
            <a:r>
              <a:rPr lang="en-US" altLang="ko-KR" sz="1400" dirty="0"/>
              <a:t>&lt;/html&gt;</a:t>
            </a:r>
            <a:endParaRPr lang="ko-KR" altLang="en-US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562C957-D597-43DD-BDA0-9FAAD1102A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157" y="3212976"/>
            <a:ext cx="4107748" cy="3349156"/>
          </a:xfrm>
          <a:prstGeom prst="rect">
            <a:avLst/>
          </a:prstGeom>
          <a:ln w="6350">
            <a:solidFill>
              <a:srgbClr val="0070C0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3366852-B4D8-4BE1-BC62-E50ADF28E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676" y="692696"/>
            <a:ext cx="2116709" cy="246485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10-7 </a:t>
            </a:r>
            <a:r>
              <a:rPr lang="ko-KR" altLang="en-US" dirty="0"/>
              <a:t>웹 페이지 프린트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FC00B00-A05F-48B7-80C1-CD3A4E3049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893" y="692696"/>
            <a:ext cx="2115392" cy="2464851"/>
          </a:xfrm>
          <a:prstGeom prst="rect">
            <a:avLst/>
          </a:prstGeom>
          <a:ln w="6350">
            <a:solidFill>
              <a:srgbClr val="0070C0"/>
            </a:solidFill>
          </a:ln>
        </p:spPr>
      </p:pic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A064C919-FD1B-4AFA-8B74-90531108175B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0692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ko-KR" dirty="0" err="1">
                <a:latin typeface="+mn-ea"/>
                <a:ea typeface="+mn-ea"/>
              </a:rPr>
              <a:t>onbeforeprint</a:t>
            </a:r>
            <a:r>
              <a:rPr lang="ko-KR" altLang="en-US" dirty="0">
                <a:latin typeface="+mn-ea"/>
                <a:ea typeface="+mn-ea"/>
              </a:rPr>
              <a:t>와 </a:t>
            </a:r>
            <a:r>
              <a:rPr lang="en-US" altLang="ko-KR" dirty="0" err="1">
                <a:latin typeface="+mn-ea"/>
                <a:ea typeface="+mn-ea"/>
              </a:rPr>
              <a:t>onafterprint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웹 페이지의 프린트 과정</a:t>
            </a:r>
            <a:endParaRPr lang="en-US" altLang="ko-KR" dirty="0"/>
          </a:p>
          <a:p>
            <a:pPr marL="365760" lvl="1" indent="0">
              <a:buNone/>
            </a:pPr>
            <a:r>
              <a:rPr lang="en-US" altLang="ko-KR" dirty="0"/>
              <a:t>1. window </a:t>
            </a:r>
            <a:r>
              <a:rPr lang="ko-KR" altLang="en-US" dirty="0"/>
              <a:t>객체에 </a:t>
            </a:r>
            <a:r>
              <a:rPr lang="en-US" altLang="ko-KR" dirty="0" err="1"/>
              <a:t>onbeforeprint</a:t>
            </a:r>
            <a:r>
              <a:rPr lang="en-US" altLang="ko-KR" dirty="0"/>
              <a:t> </a:t>
            </a:r>
            <a:r>
              <a:rPr lang="ko-KR" altLang="en-US" dirty="0" err="1"/>
              <a:t>리스너</a:t>
            </a:r>
            <a:r>
              <a:rPr lang="ko-KR" altLang="en-US" dirty="0"/>
              <a:t> 호출</a:t>
            </a:r>
          </a:p>
          <a:p>
            <a:pPr marL="365760" lvl="1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웹 페이지 프린트</a:t>
            </a:r>
            <a:endParaRPr lang="en-US" altLang="ko-KR" dirty="0"/>
          </a:p>
          <a:p>
            <a:pPr lvl="2"/>
            <a:r>
              <a:rPr lang="ko-KR" altLang="en-US" dirty="0"/>
              <a:t>브라우저가 웹 페이지를 이미지로 만들어 프린터로 전송</a:t>
            </a:r>
          </a:p>
          <a:p>
            <a:pPr marL="365760" lvl="1" indent="0">
              <a:buNone/>
            </a:pPr>
            <a:r>
              <a:rPr lang="en-US" altLang="ko-KR" dirty="0"/>
              <a:t>3. window </a:t>
            </a:r>
            <a:r>
              <a:rPr lang="ko-KR" altLang="en-US" dirty="0"/>
              <a:t>객체에 </a:t>
            </a:r>
            <a:r>
              <a:rPr lang="en-US" altLang="ko-KR" dirty="0" err="1"/>
              <a:t>onafterprint</a:t>
            </a:r>
            <a:r>
              <a:rPr lang="en-US" altLang="ko-KR" dirty="0"/>
              <a:t> </a:t>
            </a:r>
            <a:r>
              <a:rPr lang="ko-KR" altLang="en-US" dirty="0" err="1"/>
              <a:t>리스너</a:t>
            </a:r>
            <a:r>
              <a:rPr lang="ko-KR" altLang="en-US" dirty="0"/>
              <a:t> 호출</a:t>
            </a:r>
          </a:p>
          <a:p>
            <a:pPr lvl="0"/>
            <a:r>
              <a:rPr lang="en-US" altLang="ko-KR" dirty="0" err="1"/>
              <a:t>onbeforeprint</a:t>
            </a:r>
            <a:r>
              <a:rPr lang="ko-KR" altLang="en-US" dirty="0"/>
              <a:t>와 </a:t>
            </a:r>
            <a:r>
              <a:rPr lang="en-US" altLang="ko-KR" dirty="0" err="1"/>
              <a:t>onafterprint</a:t>
            </a:r>
            <a:r>
              <a:rPr lang="en-US" altLang="ko-KR" dirty="0"/>
              <a:t> </a:t>
            </a:r>
            <a:r>
              <a:rPr lang="ko-KR" altLang="en-US" dirty="0"/>
              <a:t>활용</a:t>
            </a:r>
            <a:endParaRPr lang="en-US" altLang="ko-KR" dirty="0"/>
          </a:p>
          <a:p>
            <a:pPr lvl="1"/>
            <a:r>
              <a:rPr lang="ko-KR" altLang="en-US" dirty="0"/>
              <a:t>웹 페이지에는 보이지 않는 회사 로고를 프린트 시 종이에 출력</a:t>
            </a:r>
            <a:endParaRPr lang="en-US" altLang="ko-KR" dirty="0"/>
          </a:p>
          <a:p>
            <a:pPr lvl="1"/>
            <a:r>
              <a:rPr lang="en-US" altLang="ko-KR" dirty="0" err="1"/>
              <a:t>onbeforeprint</a:t>
            </a:r>
            <a:endParaRPr lang="en-US" altLang="ko-KR" dirty="0"/>
          </a:p>
          <a:p>
            <a:pPr lvl="2"/>
            <a:r>
              <a:rPr lang="ko-KR" altLang="en-US" dirty="0"/>
              <a:t>회사 로그 이미지를 보이도록 </a:t>
            </a:r>
            <a:r>
              <a:rPr lang="en-US" altLang="ko-KR" dirty="0"/>
              <a:t>CSS3 </a:t>
            </a:r>
            <a:r>
              <a:rPr lang="ko-KR" altLang="en-US" dirty="0"/>
              <a:t>스타일 설정</a:t>
            </a:r>
            <a:endParaRPr lang="en-US" altLang="ko-KR" dirty="0"/>
          </a:p>
          <a:p>
            <a:pPr lvl="1"/>
            <a:r>
              <a:rPr lang="en-US" altLang="ko-KR" dirty="0" err="1"/>
              <a:t>onafterprintt</a:t>
            </a:r>
            <a:endParaRPr lang="en-US" altLang="ko-KR" dirty="0"/>
          </a:p>
          <a:p>
            <a:pPr lvl="2"/>
            <a:r>
              <a:rPr lang="ko-KR" altLang="en-US" dirty="0"/>
              <a:t>회사 로그 이미지를 보이지</a:t>
            </a:r>
            <a:r>
              <a:rPr lang="en-US" altLang="ko-KR" dirty="0"/>
              <a:t> </a:t>
            </a:r>
            <a:r>
              <a:rPr lang="ko-KR" altLang="en-US" dirty="0"/>
              <a:t>않도록 </a:t>
            </a:r>
            <a:r>
              <a:rPr lang="en-US" altLang="ko-KR" dirty="0"/>
              <a:t>CSS3 </a:t>
            </a:r>
            <a:r>
              <a:rPr lang="ko-KR" altLang="en-US" dirty="0"/>
              <a:t>스타일 설정</a:t>
            </a:r>
          </a:p>
          <a:p>
            <a:pPr lvl="2"/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02779482-D5CF-4BC9-A3D8-C4794E71B0B5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47906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10-8 </a:t>
            </a:r>
            <a:r>
              <a:rPr lang="en-US" altLang="ko-KR" dirty="0" err="1"/>
              <a:t>onbeforeprint</a:t>
            </a:r>
            <a:r>
              <a:rPr lang="ko-KR" altLang="en-US" dirty="0"/>
              <a:t>와 </a:t>
            </a:r>
            <a:r>
              <a:rPr lang="en-US" altLang="ko-KR" dirty="0" err="1"/>
              <a:t>onafterprint</a:t>
            </a:r>
            <a:r>
              <a:rPr lang="en-US" altLang="ko-KR" dirty="0"/>
              <a:t> </a:t>
            </a:r>
            <a:r>
              <a:rPr lang="ko-KR" altLang="en-US" dirty="0"/>
              <a:t>이벤트 활용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234563" y="979674"/>
            <a:ext cx="5976664" cy="55861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050" dirty="0"/>
              <a:t>&lt;!DOCTYPE html&gt;</a:t>
            </a:r>
          </a:p>
          <a:p>
            <a:pPr defTabSz="180000"/>
            <a:r>
              <a:rPr lang="en-US" altLang="ko-KR" sz="1050" dirty="0"/>
              <a:t>&lt;html&gt;</a:t>
            </a:r>
          </a:p>
          <a:p>
            <a:pPr defTabSz="180000"/>
            <a:r>
              <a:rPr lang="en-US" altLang="ko-KR" sz="1050" dirty="0"/>
              <a:t>&lt;head&gt;&lt;meta charset="</a:t>
            </a:r>
            <a:r>
              <a:rPr lang="en-US" altLang="ko-KR" sz="1050" dirty="0" err="1"/>
              <a:t>utf</a:t>
            </a:r>
            <a:r>
              <a:rPr lang="en-US" altLang="ko-KR" sz="1050" dirty="0"/>
              <a:t>-8"&gt;</a:t>
            </a:r>
          </a:p>
          <a:p>
            <a:pPr defTabSz="180000"/>
            <a:r>
              <a:rPr lang="en-US" altLang="ko-KR" sz="1050" dirty="0"/>
              <a:t>&lt;title&gt;</a:t>
            </a:r>
            <a:r>
              <a:rPr lang="en-US" altLang="ko-KR" sz="1050" dirty="0" err="1"/>
              <a:t>onbeforeprint</a:t>
            </a:r>
            <a:r>
              <a:rPr lang="ko-KR" altLang="en-US" sz="1050" dirty="0"/>
              <a:t>와 </a:t>
            </a:r>
            <a:r>
              <a:rPr lang="en-US" altLang="ko-KR" sz="1050" dirty="0" err="1"/>
              <a:t>onafterprint</a:t>
            </a:r>
            <a:r>
              <a:rPr lang="en-US" altLang="ko-KR" sz="1050" dirty="0"/>
              <a:t>&lt;/title&gt;</a:t>
            </a:r>
          </a:p>
          <a:p>
            <a:pPr defTabSz="180000"/>
            <a:r>
              <a:rPr lang="en-US" altLang="ko-KR" sz="1050" dirty="0"/>
              <a:t>&lt;style&gt;</a:t>
            </a:r>
          </a:p>
          <a:p>
            <a:pPr defTabSz="180000"/>
            <a:r>
              <a:rPr lang="en-US" altLang="ko-KR" sz="1050" dirty="0"/>
              <a:t>#</a:t>
            </a:r>
            <a:r>
              <a:rPr lang="en-US" altLang="ko-KR" sz="1050" dirty="0" err="1"/>
              <a:t>logoDiv</a:t>
            </a:r>
            <a:r>
              <a:rPr lang="en-US" altLang="ko-KR" sz="1050" dirty="0"/>
              <a:t> {</a:t>
            </a:r>
          </a:p>
          <a:p>
            <a:pPr defTabSz="180000"/>
            <a:r>
              <a:rPr lang="en-US" altLang="ko-KR" sz="1050" dirty="0"/>
              <a:t>	</a:t>
            </a:r>
            <a:r>
              <a:rPr lang="en-US" altLang="ko-KR" sz="1050" b="1" dirty="0"/>
              <a:t>display : none;</a:t>
            </a:r>
          </a:p>
          <a:p>
            <a:pPr defTabSz="180000"/>
            <a:r>
              <a:rPr lang="en-US" altLang="ko-KR" sz="1050" dirty="0"/>
              <a:t>	position : absolute; left : 0; top : 0;</a:t>
            </a:r>
          </a:p>
          <a:p>
            <a:pPr defTabSz="180000"/>
            <a:r>
              <a:rPr lang="en-US" altLang="ko-KR" sz="1050" dirty="0"/>
              <a:t>	width : 100%; height : 100%;</a:t>
            </a:r>
          </a:p>
          <a:p>
            <a:pPr defTabSz="180000"/>
            <a:r>
              <a:rPr lang="en-US" altLang="ko-KR" sz="1050" dirty="0"/>
              <a:t>	z-index : -1; /* </a:t>
            </a:r>
            <a:r>
              <a:rPr lang="ko-KR" altLang="en-US" sz="1050" dirty="0"/>
              <a:t>로고 이미지를 문서의 밑바닥에 배치 </a:t>
            </a:r>
            <a:r>
              <a:rPr lang="en-US" altLang="ko-KR" sz="1050" dirty="0"/>
              <a:t>*/</a:t>
            </a:r>
          </a:p>
          <a:p>
            <a:pPr defTabSz="180000"/>
            <a:r>
              <a:rPr lang="en-US" altLang="ko-KR" sz="1050" dirty="0"/>
              <a:t>}</a:t>
            </a:r>
          </a:p>
          <a:p>
            <a:pPr defTabSz="180000"/>
            <a:r>
              <a:rPr lang="en-US" altLang="ko-KR" sz="1050" dirty="0"/>
              <a:t>&lt;/style&gt;</a:t>
            </a:r>
          </a:p>
          <a:p>
            <a:pPr defTabSz="180000"/>
            <a:r>
              <a:rPr lang="en-US" altLang="ko-KR" sz="1050" dirty="0"/>
              <a:t>&lt;script&gt;</a:t>
            </a:r>
          </a:p>
          <a:p>
            <a:pPr defTabSz="180000"/>
            <a:r>
              <a:rPr lang="en-US" altLang="ko-KR" sz="1050" b="1" dirty="0" err="1"/>
              <a:t>window.onbeforeprint</a:t>
            </a:r>
            <a:r>
              <a:rPr lang="en-US" altLang="ko-KR" sz="1050" b="1" dirty="0"/>
              <a:t>=function (e) {</a:t>
            </a:r>
          </a:p>
          <a:p>
            <a:pPr defTabSz="180000"/>
            <a:r>
              <a:rPr lang="en-US" altLang="ko-KR" sz="1050" dirty="0"/>
              <a:t>	let </a:t>
            </a:r>
            <a:r>
              <a:rPr lang="en-US" altLang="ko-KR" sz="1050" dirty="0" err="1"/>
              <a:t>logoDiv</a:t>
            </a:r>
            <a:r>
              <a:rPr lang="en-US" altLang="ko-KR" sz="1050" dirty="0"/>
              <a:t> = </a:t>
            </a:r>
            <a:r>
              <a:rPr lang="en-US" altLang="ko-KR" sz="1050" dirty="0" err="1"/>
              <a:t>document.getElementById</a:t>
            </a:r>
            <a:r>
              <a:rPr lang="en-US" altLang="ko-KR" sz="1050" dirty="0"/>
              <a:t>(＂</a:t>
            </a:r>
            <a:r>
              <a:rPr lang="en-US" altLang="ko-KR" sz="1050" dirty="0" err="1"/>
              <a:t>logoDiv</a:t>
            </a:r>
            <a:r>
              <a:rPr lang="en-US" altLang="ko-KR" sz="1050" dirty="0"/>
              <a:t>＂);</a:t>
            </a:r>
          </a:p>
          <a:p>
            <a:pPr defTabSz="180000"/>
            <a:r>
              <a:rPr lang="en-US" altLang="ko-KR" sz="1050" dirty="0"/>
              <a:t>	</a:t>
            </a:r>
            <a:r>
              <a:rPr lang="en-US" altLang="ko-KR" sz="1050" dirty="0" err="1"/>
              <a:t>logoDiv.style.display</a:t>
            </a:r>
            <a:r>
              <a:rPr lang="en-US" altLang="ko-KR" sz="1050" dirty="0"/>
              <a:t> = ＂block＂; // block</a:t>
            </a:r>
            <a:r>
              <a:rPr lang="ko-KR" altLang="en-US" sz="1050" dirty="0"/>
              <a:t>으로 변경</a:t>
            </a:r>
            <a:r>
              <a:rPr lang="en-US" altLang="ko-KR" sz="1050" dirty="0"/>
              <a:t>. </a:t>
            </a:r>
            <a:r>
              <a:rPr lang="ko-KR" altLang="en-US" sz="1050" dirty="0"/>
              <a:t>로고가 화면에 나타나게 함</a:t>
            </a:r>
          </a:p>
          <a:p>
            <a:pPr defTabSz="180000"/>
            <a:r>
              <a:rPr lang="en-US" altLang="ko-KR" sz="1050" dirty="0"/>
              <a:t>}</a:t>
            </a:r>
          </a:p>
          <a:p>
            <a:pPr defTabSz="180000"/>
            <a:r>
              <a:rPr lang="en-US" altLang="ko-KR" sz="1050" b="1" dirty="0" err="1"/>
              <a:t>window.onafterprint</a:t>
            </a:r>
            <a:r>
              <a:rPr lang="en-US" altLang="ko-KR" sz="1050" b="1" dirty="0"/>
              <a:t>=</a:t>
            </a:r>
            <a:r>
              <a:rPr lang="en-US" altLang="ko-KR" sz="1050" b="1" dirty="0" err="1"/>
              <a:t>hideLogo</a:t>
            </a:r>
            <a:r>
              <a:rPr lang="en-US" altLang="ko-KR" sz="1050" b="1" dirty="0"/>
              <a:t>; </a:t>
            </a:r>
          </a:p>
          <a:p>
            <a:pPr defTabSz="180000"/>
            <a:r>
              <a:rPr lang="en-US" altLang="ko-KR" sz="1050" b="1" dirty="0"/>
              <a:t>function </a:t>
            </a:r>
            <a:r>
              <a:rPr lang="en-US" altLang="ko-KR" sz="1050" b="1" dirty="0" err="1"/>
              <a:t>hideLogo</a:t>
            </a:r>
            <a:r>
              <a:rPr lang="en-US" altLang="ko-KR" sz="1050" b="1" dirty="0"/>
              <a:t>() {</a:t>
            </a:r>
          </a:p>
          <a:p>
            <a:pPr defTabSz="180000"/>
            <a:r>
              <a:rPr lang="en-US" altLang="ko-KR" sz="1050" dirty="0"/>
              <a:t>	let </a:t>
            </a:r>
            <a:r>
              <a:rPr lang="en-US" altLang="ko-KR" sz="1050" dirty="0" err="1"/>
              <a:t>logoDiv</a:t>
            </a:r>
            <a:r>
              <a:rPr lang="en-US" altLang="ko-KR" sz="1050" dirty="0"/>
              <a:t> = </a:t>
            </a:r>
            <a:r>
              <a:rPr lang="en-US" altLang="ko-KR" sz="1050" dirty="0" err="1"/>
              <a:t>document.getElementById</a:t>
            </a:r>
            <a:r>
              <a:rPr lang="en-US" altLang="ko-KR" sz="1050" dirty="0"/>
              <a:t>(＂</a:t>
            </a:r>
            <a:r>
              <a:rPr lang="en-US" altLang="ko-KR" sz="1050" dirty="0" err="1"/>
              <a:t>logoDiv</a:t>
            </a:r>
            <a:r>
              <a:rPr lang="en-US" altLang="ko-KR" sz="1050" dirty="0"/>
              <a:t>＂);</a:t>
            </a:r>
          </a:p>
          <a:p>
            <a:pPr defTabSz="180000"/>
            <a:r>
              <a:rPr lang="en-US" altLang="ko-KR" sz="1050" dirty="0"/>
              <a:t>	</a:t>
            </a:r>
            <a:r>
              <a:rPr lang="en-US" altLang="ko-KR" sz="1050" dirty="0" err="1"/>
              <a:t>logoDiv.style.display</a:t>
            </a:r>
            <a:r>
              <a:rPr lang="en-US" altLang="ko-KR" sz="1050" dirty="0"/>
              <a:t> = ＂none＂; // </a:t>
            </a:r>
            <a:r>
              <a:rPr lang="ko-KR" altLang="en-US" sz="1050" dirty="0"/>
              <a:t>로고를 보이지 않게 함</a:t>
            </a:r>
          </a:p>
          <a:p>
            <a:pPr defTabSz="180000"/>
            <a:r>
              <a:rPr lang="en-US" altLang="ko-KR" sz="1050" dirty="0"/>
              <a:t>} </a:t>
            </a:r>
          </a:p>
          <a:p>
            <a:pPr defTabSz="180000"/>
            <a:r>
              <a:rPr lang="en-US" altLang="ko-KR" sz="1050" dirty="0"/>
              <a:t>&lt;/script&gt;&lt;/head&gt;</a:t>
            </a:r>
          </a:p>
          <a:p>
            <a:pPr defTabSz="180000"/>
            <a:r>
              <a:rPr lang="en-US" altLang="ko-KR" sz="1050" dirty="0"/>
              <a:t>&lt;body&gt;</a:t>
            </a:r>
          </a:p>
          <a:p>
            <a:pPr defTabSz="180000"/>
            <a:r>
              <a:rPr lang="en-US" altLang="ko-KR" sz="1050" dirty="0"/>
              <a:t>&lt;h3&gt;</a:t>
            </a:r>
            <a:r>
              <a:rPr lang="en-US" altLang="ko-KR" sz="1050" dirty="0" err="1"/>
              <a:t>onbeforeprint</a:t>
            </a:r>
            <a:r>
              <a:rPr lang="en-US" altLang="ko-KR" sz="1050" dirty="0"/>
              <a:t>, </a:t>
            </a:r>
            <a:r>
              <a:rPr lang="en-US" altLang="ko-KR" sz="1050" dirty="0" err="1"/>
              <a:t>onafterprint</a:t>
            </a:r>
            <a:r>
              <a:rPr lang="en-US" altLang="ko-KR" sz="1050" dirty="0"/>
              <a:t> </a:t>
            </a:r>
            <a:r>
              <a:rPr lang="ko-KR" altLang="en-US" sz="1050" dirty="0"/>
              <a:t>이벤트 예</a:t>
            </a:r>
            <a:r>
              <a:rPr lang="en-US" altLang="ko-KR" sz="1050" dirty="0"/>
              <a:t>&lt;/h3&gt;</a:t>
            </a:r>
          </a:p>
          <a:p>
            <a:pPr defTabSz="180000"/>
            <a:r>
              <a:rPr lang="en-US" altLang="ko-KR" sz="1050" dirty="0"/>
              <a:t>&lt;</a:t>
            </a:r>
            <a:r>
              <a:rPr lang="en-US" altLang="ko-KR" sz="1050" dirty="0" err="1"/>
              <a:t>hr</a:t>
            </a:r>
            <a:r>
              <a:rPr lang="en-US" altLang="ko-KR" sz="1050" dirty="0"/>
              <a:t>&gt;</a:t>
            </a:r>
          </a:p>
          <a:p>
            <a:pPr defTabSz="180000"/>
            <a:r>
              <a:rPr lang="en-US" altLang="ko-KR" sz="1050" b="1" dirty="0"/>
              <a:t>&lt;div id="</a:t>
            </a:r>
            <a:r>
              <a:rPr lang="en-US" altLang="ko-KR" sz="1050" b="1" dirty="0" err="1"/>
              <a:t>logoDiv</a:t>
            </a:r>
            <a:r>
              <a:rPr lang="en-US" altLang="ko-KR" sz="1050" b="1" dirty="0"/>
              <a:t>"&gt;</a:t>
            </a:r>
          </a:p>
          <a:p>
            <a:pPr defTabSz="180000"/>
            <a:r>
              <a:rPr lang="en-US" altLang="ko-KR" sz="1050" dirty="0"/>
              <a:t>	&lt;</a:t>
            </a:r>
            <a:r>
              <a:rPr lang="en-US" altLang="ko-KR" sz="1050" dirty="0" err="1"/>
              <a:t>img</a:t>
            </a:r>
            <a:r>
              <a:rPr lang="en-US" altLang="ko-KR" sz="1050" dirty="0"/>
              <a:t> </a:t>
            </a:r>
            <a:r>
              <a:rPr lang="en-US" altLang="ko-KR" sz="1050" dirty="0" err="1"/>
              <a:t>src</a:t>
            </a:r>
            <a:r>
              <a:rPr lang="en-US" altLang="ko-KR" sz="1050" dirty="0"/>
              <a:t>="media/logo.png" alt="</a:t>
            </a:r>
            <a:r>
              <a:rPr lang="ko-KR" altLang="en-US" sz="1050" dirty="0"/>
              <a:t>이미지 없습니다</a:t>
            </a:r>
            <a:r>
              <a:rPr lang="en-US" altLang="ko-KR" sz="1050" dirty="0"/>
              <a:t>."&gt;</a:t>
            </a:r>
          </a:p>
          <a:p>
            <a:pPr defTabSz="180000"/>
            <a:r>
              <a:rPr lang="en-US" altLang="ko-KR" sz="1050" b="1" dirty="0"/>
              <a:t>&lt;/div&gt;</a:t>
            </a:r>
          </a:p>
          <a:p>
            <a:pPr defTabSz="180000"/>
            <a:r>
              <a:rPr lang="en-US" altLang="ko-KR" sz="1050" dirty="0"/>
              <a:t>&lt;p&gt;</a:t>
            </a:r>
            <a:r>
              <a:rPr lang="ko-KR" altLang="en-US" sz="1050" dirty="0"/>
              <a:t>안녕하세요</a:t>
            </a:r>
            <a:r>
              <a:rPr lang="en-US" altLang="ko-KR" sz="1050" dirty="0"/>
              <a:t>. </a:t>
            </a:r>
            <a:r>
              <a:rPr lang="ko-KR" altLang="en-US" sz="1050" dirty="0"/>
              <a:t>브라우저 윈도우에서는 보이지 않지만</a:t>
            </a:r>
            <a:r>
              <a:rPr lang="en-US" altLang="ko-KR" sz="1050" dirty="0"/>
              <a:t>, </a:t>
            </a:r>
            <a:r>
              <a:rPr lang="ko-KR" altLang="en-US" sz="1050" dirty="0" err="1"/>
              <a:t>프린트시에는</a:t>
            </a:r>
            <a:r>
              <a:rPr lang="ko-KR" altLang="en-US" sz="1050" dirty="0"/>
              <a:t> 회사 로고가 출력되는 예제를</a:t>
            </a:r>
          </a:p>
          <a:p>
            <a:pPr defTabSz="180000"/>
            <a:r>
              <a:rPr lang="ko-KR" altLang="en-US" sz="1050" dirty="0"/>
              <a:t>보입니다</a:t>
            </a:r>
            <a:r>
              <a:rPr lang="en-US" altLang="ko-KR" sz="1050" dirty="0"/>
              <a:t>. </a:t>
            </a:r>
            <a:r>
              <a:rPr lang="ko-KR" altLang="en-US" sz="1050" dirty="0"/>
              <a:t>마우스 오른쪽 버튼을 눌러 인쇄 </a:t>
            </a:r>
            <a:r>
              <a:rPr lang="ko-KR" altLang="en-US" sz="1050" dirty="0" err="1"/>
              <a:t>미리보기</a:t>
            </a:r>
            <a:r>
              <a:rPr lang="ko-KR" altLang="en-US" sz="1050" dirty="0"/>
              <a:t> 메뉴를 선택해 보세요</a:t>
            </a:r>
            <a:r>
              <a:rPr lang="en-US" altLang="ko-KR" sz="1050" dirty="0"/>
              <a:t>.&lt;/p&gt;</a:t>
            </a:r>
          </a:p>
          <a:p>
            <a:pPr defTabSz="180000"/>
            <a:r>
              <a:rPr lang="en-US" altLang="ko-KR" sz="1050" dirty="0"/>
              <a:t>&lt;/body&gt;</a:t>
            </a:r>
          </a:p>
          <a:p>
            <a:pPr defTabSz="180000"/>
            <a:r>
              <a:rPr lang="en-US" altLang="ko-KR" sz="1050" dirty="0"/>
              <a:t>&lt;/html&gt;</a:t>
            </a:r>
            <a:endParaRPr lang="ko-KR" altLang="en-US" sz="105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AEACBE4-44DC-49CE-91B3-B0AD9A199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1432885"/>
            <a:ext cx="2087790" cy="2190049"/>
          </a:xfrm>
          <a:prstGeom prst="rect">
            <a:avLst/>
          </a:prstGeom>
          <a:ln w="6350">
            <a:solidFill>
              <a:srgbClr val="0070C0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807" y="3798234"/>
            <a:ext cx="4433472" cy="2701773"/>
          </a:xfrm>
          <a:prstGeom prst="rect">
            <a:avLst/>
          </a:prstGeom>
          <a:ln w="6350">
            <a:solidFill>
              <a:srgbClr val="80B8E0"/>
            </a:solidFill>
          </a:ln>
        </p:spPr>
      </p:pic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0C84309F-71CC-486B-BF4E-C69E977F00A9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6720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location 객체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sz="2000" dirty="0"/>
              <a:t>location </a:t>
            </a:r>
            <a:r>
              <a:rPr lang="en-US" altLang="ko-KR" sz="2000" dirty="0" err="1"/>
              <a:t>객체</a:t>
            </a:r>
            <a:endParaRPr lang="en-US" altLang="ko-KR" sz="2000" dirty="0"/>
          </a:p>
          <a:p>
            <a:pPr lvl="1"/>
            <a:r>
              <a:rPr lang="ko-KR" altLang="en-US" sz="1800" dirty="0"/>
              <a:t>윈도우에 </a:t>
            </a:r>
            <a:r>
              <a:rPr lang="ko-KR" altLang="en-US" sz="1800" dirty="0" err="1"/>
              <a:t>로드된</a:t>
            </a:r>
            <a:r>
              <a:rPr lang="ko-KR" altLang="en-US" sz="1800" dirty="0"/>
              <a:t> 웹 페이지의 </a:t>
            </a:r>
            <a:r>
              <a:rPr lang="en-US" altLang="ko-KR" sz="1800" dirty="0"/>
              <a:t>URL </a:t>
            </a:r>
            <a:r>
              <a:rPr lang="ko-KR" altLang="en-US" sz="1800" dirty="0"/>
              <a:t>정보를 나타내는 객체</a:t>
            </a:r>
            <a:endParaRPr lang="en-US" altLang="ko-KR" sz="1800" dirty="0"/>
          </a:p>
          <a:p>
            <a:pPr lvl="1"/>
            <a:r>
              <a:rPr lang="en-US" altLang="ko-KR" sz="1800" dirty="0"/>
              <a:t>location </a:t>
            </a:r>
            <a:r>
              <a:rPr lang="ko-KR" altLang="en-US" sz="1800" dirty="0"/>
              <a:t>객체로 현재 윈도우에 웹 페이지 열기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r>
              <a:rPr lang="ko-KR" altLang="en-US" sz="1800" dirty="0"/>
              <a:t>새 윈도우에 웹 페이지 열기</a:t>
            </a:r>
          </a:p>
          <a:p>
            <a:pPr lvl="1"/>
            <a:endParaRPr lang="en-US" altLang="ko-KR" sz="1800" dirty="0"/>
          </a:p>
          <a:p>
            <a:endParaRPr lang="en-US" altLang="ko-KR" sz="2000" dirty="0"/>
          </a:p>
          <a:p>
            <a:pPr lvl="1"/>
            <a:r>
              <a:rPr lang="en-US" altLang="ko-KR" sz="1800" dirty="0"/>
              <a:t>location </a:t>
            </a:r>
            <a:r>
              <a:rPr lang="ko-KR" altLang="en-US" sz="1800" dirty="0"/>
              <a:t>객체의 </a:t>
            </a:r>
            <a:r>
              <a:rPr lang="ko-KR" altLang="en-US" sz="1800" dirty="0" err="1"/>
              <a:t>프로퍼티와</a:t>
            </a:r>
            <a:r>
              <a:rPr lang="ko-KR" altLang="en-US" sz="1800" dirty="0"/>
              <a:t> </a:t>
            </a:r>
            <a:r>
              <a:rPr lang="en-US" altLang="ko-KR" sz="1800" dirty="0"/>
              <a:t>URL</a:t>
            </a:r>
            <a:r>
              <a:rPr lang="ko-KR" altLang="en-US" sz="1800" dirty="0"/>
              <a:t>의 구성 요소와의 관계</a:t>
            </a:r>
            <a:endParaRPr lang="en-US" altLang="ko-KR" sz="1800" dirty="0"/>
          </a:p>
          <a:p>
            <a:endParaRPr lang="en-US" altLang="ko-KR" sz="2000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27</a:t>
            </a:fld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AE2E8FC-D1D1-4B7F-AF76-D59212D1FF80}"/>
              </a:ext>
            </a:extLst>
          </p:cNvPr>
          <p:cNvGrpSpPr/>
          <p:nvPr/>
        </p:nvGrpSpPr>
        <p:grpSpPr>
          <a:xfrm>
            <a:off x="2351584" y="4577352"/>
            <a:ext cx="5688631" cy="1885846"/>
            <a:chOff x="2927649" y="4797153"/>
            <a:chExt cx="5688631" cy="1885846"/>
          </a:xfrm>
        </p:grpSpPr>
        <p:grpSp>
          <p:nvGrpSpPr>
            <p:cNvPr id="32" name="그룹 31"/>
            <p:cNvGrpSpPr/>
            <p:nvPr/>
          </p:nvGrpSpPr>
          <p:grpSpPr>
            <a:xfrm>
              <a:off x="2959992" y="4797153"/>
              <a:ext cx="5656288" cy="1213265"/>
              <a:chOff x="1115616" y="3546569"/>
              <a:chExt cx="6296260" cy="1213265"/>
            </a:xfrm>
          </p:grpSpPr>
          <p:sp>
            <p:nvSpPr>
              <p:cNvPr id="11" name="직사각형 10"/>
              <p:cNvSpPr/>
              <p:nvPr/>
            </p:nvSpPr>
            <p:spPr>
              <a:xfrm>
                <a:off x="1115616" y="4228356"/>
                <a:ext cx="629626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1600" dirty="0">
                    <a:solidFill>
                      <a:srgbClr val="C00000"/>
                    </a:solidFill>
                  </a:rPr>
                  <a:t>http:</a:t>
                </a:r>
                <a:r>
                  <a:rPr lang="en-US" altLang="ko-KR" sz="1600" dirty="0"/>
                  <a:t>//</a:t>
                </a:r>
                <a:r>
                  <a:rPr lang="en-US" altLang="ko-KR" sz="1600" dirty="0">
                    <a:solidFill>
                      <a:srgbClr val="00B0F0"/>
                    </a:solidFill>
                  </a:rPr>
                  <a:t>www.mysite.com</a:t>
                </a:r>
                <a:r>
                  <a:rPr lang="en-US" altLang="ko-KR" sz="1600" dirty="0"/>
                  <a:t>:</a:t>
                </a:r>
                <a:r>
                  <a:rPr lang="en-US" altLang="ko-KR" sz="1600" dirty="0">
                    <a:solidFill>
                      <a:srgbClr val="00B050"/>
                    </a:solidFill>
                  </a:rPr>
                  <a:t>8080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/content/URL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분석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.html</a:t>
                </a:r>
                <a:r>
                  <a:rPr lang="en-US" altLang="ko-KR" sz="1600" dirty="0">
                    <a:solidFill>
                      <a:schemeClr val="accent2">
                        <a:lumMod val="75000"/>
                      </a:schemeClr>
                    </a:solidFill>
                  </a:rPr>
                  <a:t>#label1</a:t>
                </a:r>
                <a:endParaRPr lang="ko-KR" altLang="en-US" sz="16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6562106" y="3923483"/>
                <a:ext cx="412823" cy="261610"/>
              </a:xfrm>
              <a:prstGeom prst="rect">
                <a:avLst/>
              </a:prstGeom>
            </p:spPr>
            <p:txBody>
              <a:bodyPr wrap="none" lIns="36000" rIns="36000">
                <a:spAutoFit/>
              </a:bodyPr>
              <a:lstStyle/>
              <a:p>
                <a:r>
                  <a:rPr lang="it-IT" altLang="ko-KR" sz="1100" dirty="0"/>
                  <a:t>hash</a:t>
                </a:r>
                <a:endParaRPr lang="ko-KR" altLang="en-US" sz="1100" dirty="0"/>
              </a:p>
            </p:txBody>
          </p:sp>
          <p:sp>
            <p:nvSpPr>
              <p:cNvPr id="13" name="모서리가 둥근 직사각형 12"/>
              <p:cNvSpPr/>
              <p:nvPr/>
            </p:nvSpPr>
            <p:spPr>
              <a:xfrm>
                <a:off x="1115616" y="3882622"/>
                <a:ext cx="708656" cy="289441"/>
              </a:xfrm>
              <a:prstGeom prst="roundRect">
                <a:avLst/>
              </a:prstGeom>
              <a:noFill/>
            </p:spPr>
            <p:txBody>
              <a:bodyPr wrap="none" lIns="36000" rIns="36000">
                <a:spAutoFit/>
              </a:bodyPr>
              <a:lstStyle/>
              <a:p>
                <a:r>
                  <a:rPr lang="it-IT" altLang="ko-KR" sz="1100" dirty="0"/>
                  <a:t>protocol</a:t>
                </a:r>
                <a:endParaRPr lang="ko-KR" altLang="en-US" sz="1100" dirty="0"/>
              </a:p>
            </p:txBody>
          </p:sp>
          <p:sp>
            <p:nvSpPr>
              <p:cNvPr id="14" name="왼쪽 대괄호 13"/>
              <p:cNvSpPr/>
              <p:nvPr/>
            </p:nvSpPr>
            <p:spPr>
              <a:xfrm rot="5400000">
                <a:off x="1438376" y="3964182"/>
                <a:ext cx="84078" cy="533895"/>
              </a:xfrm>
              <a:prstGeom prst="lef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왼쪽 대괄호 14"/>
              <p:cNvSpPr/>
              <p:nvPr/>
            </p:nvSpPr>
            <p:spPr>
              <a:xfrm rot="5400000">
                <a:off x="2683002" y="3395077"/>
                <a:ext cx="76250" cy="1679926"/>
              </a:xfrm>
              <a:prstGeom prst="lef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2310026" y="3912090"/>
                <a:ext cx="782188" cy="261610"/>
              </a:xfrm>
              <a:prstGeom prst="rect">
                <a:avLst/>
              </a:prstGeom>
            </p:spPr>
            <p:txBody>
              <a:bodyPr wrap="none" lIns="36000" rIns="36000">
                <a:spAutoFit/>
              </a:bodyPr>
              <a:lstStyle/>
              <a:p>
                <a:r>
                  <a:rPr lang="it-IT" altLang="ko-KR" sz="1100" dirty="0"/>
                  <a:t>hostname</a:t>
                </a:r>
                <a:endParaRPr lang="ko-KR" altLang="en-US" sz="1100" dirty="0"/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3669008" y="3937253"/>
                <a:ext cx="378920" cy="261610"/>
              </a:xfrm>
              <a:prstGeom prst="rect">
                <a:avLst/>
              </a:prstGeom>
            </p:spPr>
            <p:txBody>
              <a:bodyPr wrap="none" lIns="36000" rIns="36000">
                <a:spAutoFit/>
              </a:bodyPr>
              <a:lstStyle/>
              <a:p>
                <a:r>
                  <a:rPr lang="it-IT" altLang="ko-KR" sz="1100" dirty="0"/>
                  <a:t>port</a:t>
                </a:r>
                <a:endParaRPr lang="ko-KR" altLang="en-US" sz="1100" dirty="0"/>
              </a:p>
            </p:txBody>
          </p:sp>
          <p:sp>
            <p:nvSpPr>
              <p:cNvPr id="18" name="왼쪽 대괄호 17"/>
              <p:cNvSpPr/>
              <p:nvPr/>
            </p:nvSpPr>
            <p:spPr>
              <a:xfrm rot="5400000">
                <a:off x="3801646" y="4006739"/>
                <a:ext cx="75292" cy="457569"/>
              </a:xfrm>
              <a:prstGeom prst="lef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왼쪽 대괄호 18"/>
              <p:cNvSpPr/>
              <p:nvPr/>
            </p:nvSpPr>
            <p:spPr>
              <a:xfrm rot="16200000">
                <a:off x="2928993" y="3518035"/>
                <a:ext cx="156143" cy="2220860"/>
              </a:xfrm>
              <a:prstGeom prst="lef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직사각형 19"/>
              <p:cNvSpPr/>
              <p:nvPr/>
            </p:nvSpPr>
            <p:spPr>
              <a:xfrm>
                <a:off x="2763248" y="4498224"/>
                <a:ext cx="512471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t-IT" altLang="ko-KR" sz="1100" dirty="0"/>
                  <a:t>host</a:t>
                </a:r>
                <a:endParaRPr lang="ko-KR" altLang="en-US" sz="1100" dirty="0"/>
              </a:p>
            </p:txBody>
          </p:sp>
          <p:sp>
            <p:nvSpPr>
              <p:cNvPr id="21" name="왼쪽 대괄호 20"/>
              <p:cNvSpPr/>
              <p:nvPr/>
            </p:nvSpPr>
            <p:spPr>
              <a:xfrm rot="5400000">
                <a:off x="4114442" y="910226"/>
                <a:ext cx="112865" cy="5914815"/>
              </a:xfrm>
              <a:prstGeom prst="lef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3436699" y="3546569"/>
                <a:ext cx="485707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t-IT" altLang="ko-KR" sz="1100" dirty="0"/>
                  <a:t>href</a:t>
                </a:r>
                <a:endParaRPr lang="ko-KR" altLang="en-US" sz="1100" dirty="0"/>
              </a:p>
            </p:txBody>
          </p:sp>
          <p:sp>
            <p:nvSpPr>
              <p:cNvPr id="23" name="왼쪽 대괄호 22"/>
              <p:cNvSpPr/>
              <p:nvPr/>
            </p:nvSpPr>
            <p:spPr>
              <a:xfrm rot="5400000">
                <a:off x="5264188" y="3080720"/>
                <a:ext cx="45751" cy="2339140"/>
              </a:xfrm>
              <a:prstGeom prst="lef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4895932" y="3941426"/>
                <a:ext cx="796463" cy="261610"/>
              </a:xfrm>
              <a:prstGeom prst="rect">
                <a:avLst/>
              </a:prstGeom>
            </p:spPr>
            <p:txBody>
              <a:bodyPr wrap="none" lIns="36000" rIns="36000">
                <a:spAutoFit/>
              </a:bodyPr>
              <a:lstStyle/>
              <a:p>
                <a:r>
                  <a:rPr lang="it-IT" altLang="ko-KR" sz="1100" dirty="0"/>
                  <a:t>pathname</a:t>
                </a:r>
                <a:endParaRPr lang="ko-KR" altLang="en-US" sz="1100" dirty="0"/>
              </a:p>
            </p:txBody>
          </p:sp>
          <p:sp>
            <p:nvSpPr>
              <p:cNvPr id="25" name="왼쪽 대괄호 24"/>
              <p:cNvSpPr/>
              <p:nvPr/>
            </p:nvSpPr>
            <p:spPr>
              <a:xfrm rot="5400000">
                <a:off x="6759285" y="3924098"/>
                <a:ext cx="71271" cy="666726"/>
              </a:xfrm>
              <a:prstGeom prst="lef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1" name="그룹 30"/>
            <p:cNvGrpSpPr/>
            <p:nvPr/>
          </p:nvGrpSpPr>
          <p:grpSpPr>
            <a:xfrm>
              <a:off x="2927649" y="6115835"/>
              <a:ext cx="5433865" cy="567164"/>
              <a:chOff x="1151620" y="5124708"/>
              <a:chExt cx="6048672" cy="567164"/>
            </a:xfrm>
          </p:grpSpPr>
          <p:sp>
            <p:nvSpPr>
              <p:cNvPr id="9" name="직사각형 8"/>
              <p:cNvSpPr/>
              <p:nvPr/>
            </p:nvSpPr>
            <p:spPr>
              <a:xfrm>
                <a:off x="1151620" y="5124708"/>
                <a:ext cx="6048672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1600" dirty="0">
                    <a:solidFill>
                      <a:srgbClr val="C00000"/>
                    </a:solidFill>
                  </a:rPr>
                  <a:t>http:</a:t>
                </a:r>
                <a:r>
                  <a:rPr lang="en-US" altLang="ko-KR" sz="1600" dirty="0"/>
                  <a:t>//</a:t>
                </a:r>
                <a:r>
                  <a:rPr lang="en-US" altLang="ko-KR" sz="1600" dirty="0">
                    <a:solidFill>
                      <a:srgbClr val="00B0F0"/>
                    </a:solidFill>
                  </a:rPr>
                  <a:t>search.naver.com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/search.naver</a:t>
                </a:r>
                <a:r>
                  <a:rPr lang="en-US" altLang="ko-KR" sz="1600" dirty="0">
                    <a:solidFill>
                      <a:srgbClr val="7030A0"/>
                    </a:solidFill>
                  </a:rPr>
                  <a:t>?query=javascript</a:t>
                </a:r>
                <a:endParaRPr lang="ko-KR" altLang="en-US" sz="1600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26" name="왼쪽 대괄호 25"/>
              <p:cNvSpPr/>
              <p:nvPr/>
            </p:nvSpPr>
            <p:spPr>
              <a:xfrm rot="16200000">
                <a:off x="5883228" y="4547096"/>
                <a:ext cx="60812" cy="1771519"/>
              </a:xfrm>
              <a:prstGeom prst="lef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/>
              <p:cNvSpPr/>
              <p:nvPr/>
            </p:nvSpPr>
            <p:spPr>
              <a:xfrm>
                <a:off x="5555859" y="5411291"/>
                <a:ext cx="660575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t-IT" altLang="ko-KR" sz="1100" dirty="0"/>
                  <a:t>search</a:t>
                </a:r>
                <a:endParaRPr lang="ko-KR" altLang="en-US" sz="1100" dirty="0"/>
              </a:p>
            </p:txBody>
          </p:sp>
          <p:sp>
            <p:nvSpPr>
              <p:cNvPr id="28" name="왼쪽 대괄호 27"/>
              <p:cNvSpPr/>
              <p:nvPr/>
            </p:nvSpPr>
            <p:spPr>
              <a:xfrm rot="16200000">
                <a:off x="4263298" y="4790975"/>
                <a:ext cx="89116" cy="1320169"/>
              </a:xfrm>
              <a:prstGeom prst="lef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/>
              <p:cNvSpPr/>
              <p:nvPr/>
            </p:nvSpPr>
            <p:spPr>
              <a:xfrm>
                <a:off x="3930475" y="5430262"/>
                <a:ext cx="796463" cy="261610"/>
              </a:xfrm>
              <a:prstGeom prst="rect">
                <a:avLst/>
              </a:prstGeom>
            </p:spPr>
            <p:txBody>
              <a:bodyPr wrap="none" lIns="36000" rIns="36000">
                <a:spAutoFit/>
              </a:bodyPr>
              <a:lstStyle/>
              <a:p>
                <a:r>
                  <a:rPr lang="it-IT" altLang="ko-KR" sz="1100" dirty="0"/>
                  <a:t>pathname</a:t>
                </a:r>
                <a:endParaRPr lang="ko-KR" altLang="en-US" sz="1100" dirty="0"/>
              </a:p>
            </p:txBody>
          </p:sp>
        </p:grpSp>
      </p:grpSp>
      <p:sp>
        <p:nvSpPr>
          <p:cNvPr id="58" name="직사각형 57"/>
          <p:cNvSpPr/>
          <p:nvPr/>
        </p:nvSpPr>
        <p:spPr>
          <a:xfrm>
            <a:off x="2655590" y="2185797"/>
            <a:ext cx="6252431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window.location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= "http://www.naver.com";</a:t>
            </a:r>
          </a:p>
          <a:p>
            <a:pPr marL="1905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window.location.href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= = "http://www.naver.com";</a:t>
            </a:r>
          </a:p>
          <a:p>
            <a:pPr marL="1905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window.location.assign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("http://www.naver.com");</a:t>
            </a:r>
          </a:p>
          <a:p>
            <a:pPr marL="1905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window.location.replace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("http://www.naver.com");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2639855" y="3536493"/>
            <a:ext cx="6246440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let win=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window.open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(); 		//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빈 윈도우 열기</a:t>
            </a:r>
          </a:p>
          <a:p>
            <a:pPr marL="1905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win.location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="http://www.naver.com"; 	// </a:t>
            </a:r>
            <a:r>
              <a:rPr lang="ko-KR" altLang="en-US" sz="1400" kern="0" dirty="0" err="1">
                <a:solidFill>
                  <a:srgbClr val="000000"/>
                </a:solidFill>
                <a:latin typeface="+mj-ea"/>
                <a:ea typeface="+mj-ea"/>
              </a:rPr>
              <a:t>네이버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 페이지 로드</a:t>
            </a:r>
          </a:p>
        </p:txBody>
      </p:sp>
      <p:sp>
        <p:nvSpPr>
          <p:cNvPr id="30" name="슬라이드 번호 개체 틀 3">
            <a:extLst>
              <a:ext uri="{FF2B5EF4-FFF2-40B4-BE49-F238E27FC236}">
                <a16:creationId xmlns:a16="http://schemas.microsoft.com/office/drawing/2014/main" id="{A5DD1562-2002-4184-A8B9-B33C605AA566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9440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F6525B2-30AC-4639-933A-2CBFACD78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439" y="1704976"/>
            <a:ext cx="2385161" cy="2180268"/>
          </a:xfrm>
          <a:prstGeom prst="rect">
            <a:avLst/>
          </a:prstGeom>
          <a:ln w="6350">
            <a:solidFill>
              <a:srgbClr val="0070C0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9610CB4-C479-4FE2-8DF5-857518EC48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439" y="4044378"/>
            <a:ext cx="2385161" cy="2180268"/>
          </a:xfrm>
          <a:prstGeom prst="rect">
            <a:avLst/>
          </a:prstGeom>
          <a:ln w="6350">
            <a:solidFill>
              <a:srgbClr val="0070C0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10-9 location </a:t>
            </a:r>
            <a:r>
              <a:rPr lang="ko-KR" altLang="en-US" dirty="0"/>
              <a:t>객체로 웹</a:t>
            </a:r>
            <a:r>
              <a:rPr lang="en-US" altLang="ko-KR" dirty="0"/>
              <a:t> </a:t>
            </a:r>
            <a:r>
              <a:rPr lang="ko-KR" altLang="en-US" dirty="0"/>
              <a:t>사이트 접속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834400" y="953185"/>
            <a:ext cx="5616624" cy="547842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&lt;!DOCTYPE html&gt;</a:t>
            </a:r>
          </a:p>
          <a:p>
            <a:pPr defTabSz="180000"/>
            <a:r>
              <a:rPr lang="en-US" altLang="ko-KR" sz="1400" dirty="0"/>
              <a:t>&lt;html&gt;</a:t>
            </a:r>
          </a:p>
          <a:p>
            <a:pPr defTabSz="180000"/>
            <a:r>
              <a:rPr lang="en-US" altLang="ko-KR" sz="1400" dirty="0"/>
              <a:t>&lt;head&gt;</a:t>
            </a:r>
          </a:p>
          <a:p>
            <a:pPr defTabSz="180000"/>
            <a:r>
              <a:rPr lang="en-US" altLang="ko-KR" sz="1400" dirty="0"/>
              <a:t>&lt;meta charset="</a:t>
            </a:r>
            <a:r>
              <a:rPr lang="en-US" altLang="ko-KR" sz="1400" dirty="0" err="1"/>
              <a:t>utf</a:t>
            </a:r>
            <a:r>
              <a:rPr lang="en-US" altLang="ko-KR" sz="1400" dirty="0"/>
              <a:t>-8"&gt;</a:t>
            </a:r>
          </a:p>
          <a:p>
            <a:pPr defTabSz="180000"/>
            <a:r>
              <a:rPr lang="en-US" altLang="ko-KR" sz="1400" dirty="0"/>
              <a:t>&lt;title&gt;</a:t>
            </a:r>
            <a:r>
              <a:rPr lang="en-US" altLang="ko-KR" sz="1400" dirty="0" err="1"/>
              <a:t>window.location</a:t>
            </a:r>
            <a:r>
              <a:rPr lang="ko-KR" altLang="en-US" sz="1400" dirty="0"/>
              <a:t>으로 웹 사이트 접속</a:t>
            </a:r>
            <a:r>
              <a:rPr lang="en-US" altLang="ko-KR" sz="1400" dirty="0"/>
              <a:t>&lt;/title&gt;</a:t>
            </a:r>
          </a:p>
          <a:p>
            <a:pPr defTabSz="180000"/>
            <a:r>
              <a:rPr lang="en-US" altLang="ko-KR" sz="1400" dirty="0"/>
              <a:t>&lt;script&gt;</a:t>
            </a:r>
          </a:p>
          <a:p>
            <a:pPr defTabSz="180000"/>
            <a:r>
              <a:rPr lang="en-US" altLang="ko-KR" sz="1400" b="1" dirty="0"/>
              <a:t>function load() {</a:t>
            </a:r>
          </a:p>
          <a:p>
            <a:pPr defTabSz="180000"/>
            <a:r>
              <a:rPr lang="en-US" altLang="ko-KR" sz="1400" b="1" dirty="0"/>
              <a:t>	let select = </a:t>
            </a:r>
            <a:r>
              <a:rPr lang="en-US" altLang="ko-KR" sz="1400" b="1" dirty="0" err="1"/>
              <a:t>document.getElementById</a:t>
            </a:r>
            <a:r>
              <a:rPr lang="en-US" altLang="ko-KR" sz="1400" b="1" dirty="0"/>
              <a:t>("site");</a:t>
            </a:r>
          </a:p>
          <a:p>
            <a:pPr defTabSz="180000"/>
            <a:r>
              <a:rPr lang="en-US" altLang="ko-KR" sz="1400" dirty="0"/>
              <a:t>	</a:t>
            </a:r>
            <a:r>
              <a:rPr lang="en-US" altLang="ko-KR" sz="1400" b="1" dirty="0" err="1"/>
              <a:t>window.location</a:t>
            </a:r>
            <a:r>
              <a:rPr lang="en-US" altLang="ko-KR" sz="1400" b="1" dirty="0"/>
              <a:t>=</a:t>
            </a:r>
            <a:r>
              <a:rPr lang="en-US" altLang="ko-KR" sz="1400" b="1" dirty="0" err="1"/>
              <a:t>select.options</a:t>
            </a:r>
            <a:r>
              <a:rPr lang="en-US" altLang="ko-KR" sz="1400" b="1" dirty="0"/>
              <a:t>[</a:t>
            </a:r>
            <a:r>
              <a:rPr lang="en-US" altLang="ko-KR" sz="1400" b="1" dirty="0" err="1"/>
              <a:t>select.selectedIndex</a:t>
            </a:r>
            <a:r>
              <a:rPr lang="en-US" altLang="ko-KR" sz="1400" b="1" dirty="0"/>
              <a:t>].value;</a:t>
            </a:r>
          </a:p>
          <a:p>
            <a:pPr defTabSz="180000"/>
            <a:r>
              <a:rPr lang="en-US" altLang="ko-KR" sz="1400" dirty="0"/>
              <a:t>}</a:t>
            </a:r>
          </a:p>
          <a:p>
            <a:pPr defTabSz="180000"/>
            <a:r>
              <a:rPr lang="en-US" altLang="ko-KR" sz="1400" dirty="0"/>
              <a:t>&lt;/script&gt;</a:t>
            </a:r>
          </a:p>
          <a:p>
            <a:pPr defTabSz="180000"/>
            <a:r>
              <a:rPr lang="en-US" altLang="ko-KR" sz="1400" dirty="0"/>
              <a:t>&lt;/head&gt;</a:t>
            </a:r>
          </a:p>
          <a:p>
            <a:pPr defTabSz="180000"/>
            <a:r>
              <a:rPr lang="en-US" altLang="ko-KR" sz="1400" dirty="0"/>
              <a:t>&lt;body&gt;</a:t>
            </a:r>
          </a:p>
          <a:p>
            <a:pPr defTabSz="180000"/>
            <a:r>
              <a:rPr lang="en-US" altLang="ko-KR" sz="1400" dirty="0"/>
              <a:t>&lt;h3&gt;</a:t>
            </a:r>
            <a:r>
              <a:rPr lang="en-US" altLang="ko-KR" sz="1400" dirty="0" err="1"/>
              <a:t>window.location</a:t>
            </a:r>
            <a:r>
              <a:rPr lang="ko-KR" altLang="en-US" sz="1400" dirty="0"/>
              <a:t>으로 웹 사이트 접속</a:t>
            </a:r>
            <a:r>
              <a:rPr lang="en-US" altLang="ko-KR" sz="1400" dirty="0"/>
              <a:t>&lt;/h3&gt;</a:t>
            </a:r>
          </a:p>
          <a:p>
            <a:pPr defTabSz="180000"/>
            <a:r>
              <a:rPr lang="en-US" altLang="ko-KR" sz="1400" dirty="0"/>
              <a:t>&lt;</a:t>
            </a:r>
            <a:r>
              <a:rPr lang="en-US" altLang="ko-KR" sz="1400" dirty="0" err="1"/>
              <a:t>hr</a:t>
            </a:r>
            <a:r>
              <a:rPr lang="en-US" altLang="ko-KR" sz="1400" dirty="0"/>
              <a:t>&gt;</a:t>
            </a:r>
          </a:p>
          <a:p>
            <a:pPr defTabSz="180000"/>
            <a:r>
              <a:rPr lang="ko-KR" altLang="en-US" sz="1400" dirty="0"/>
              <a:t>사이트 선택 </a:t>
            </a:r>
            <a:r>
              <a:rPr lang="en-US" altLang="ko-KR" sz="1400" dirty="0"/>
              <a:t>:</a:t>
            </a:r>
          </a:p>
          <a:p>
            <a:pPr defTabSz="180000"/>
            <a:r>
              <a:rPr lang="en-US" altLang="ko-KR" sz="1400" b="1" dirty="0"/>
              <a:t>&lt;select id="site"&gt;</a:t>
            </a:r>
          </a:p>
          <a:p>
            <a:pPr defTabSz="180000"/>
            <a:r>
              <a:rPr lang="en-US" altLang="ko-KR" sz="1400" dirty="0"/>
              <a:t>	&lt;option value="http://www.naver.com" selected&gt;</a:t>
            </a:r>
            <a:r>
              <a:rPr lang="ko-KR" altLang="en-US" sz="1400" dirty="0" err="1"/>
              <a:t>네이버</a:t>
            </a:r>
            <a:endParaRPr lang="ko-KR" altLang="en-US" sz="1400" dirty="0"/>
          </a:p>
          <a:p>
            <a:pPr defTabSz="180000"/>
            <a:r>
              <a:rPr lang="fr-FR" altLang="ko-KR" sz="1400" dirty="0"/>
              <a:t>	&lt;option value="http://www.google.com"&gt;</a:t>
            </a:r>
            <a:r>
              <a:rPr lang="ko-KR" altLang="fr-FR" sz="1400" dirty="0" err="1"/>
              <a:t>구글</a:t>
            </a:r>
            <a:endParaRPr lang="ko-KR" altLang="fr-FR" sz="1400" dirty="0"/>
          </a:p>
          <a:p>
            <a:pPr defTabSz="180000"/>
            <a:r>
              <a:rPr lang="fr-FR" altLang="ko-KR" sz="1400" dirty="0"/>
              <a:t>	&lt;option value="http://www.microsoft.com"&gt;</a:t>
            </a:r>
            <a:r>
              <a:rPr lang="ko-KR" altLang="fr-FR" sz="1400" dirty="0"/>
              <a:t>마이크로소프트</a:t>
            </a:r>
          </a:p>
          <a:p>
            <a:pPr defTabSz="180000"/>
            <a:r>
              <a:rPr lang="en-US" altLang="ko-KR" sz="1400" dirty="0"/>
              <a:t>&lt;/select&gt;</a:t>
            </a:r>
          </a:p>
          <a:p>
            <a:pPr defTabSz="180000"/>
            <a:r>
              <a:rPr lang="en-US" altLang="ko-KR" sz="1400" dirty="0"/>
              <a:t>&lt;p&gt;</a:t>
            </a:r>
          </a:p>
          <a:p>
            <a:pPr defTabSz="180000"/>
            <a:r>
              <a:rPr lang="en-US" altLang="ko-KR" sz="1400" dirty="0"/>
              <a:t>&lt;button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="load()"&gt;</a:t>
            </a:r>
            <a:r>
              <a:rPr lang="ko-KR" altLang="en-US" sz="1400" dirty="0"/>
              <a:t>웹 사이트 접속</a:t>
            </a:r>
            <a:r>
              <a:rPr lang="en-US" altLang="ko-KR" sz="1400" dirty="0"/>
              <a:t>&lt;/button&gt;</a:t>
            </a:r>
          </a:p>
          <a:p>
            <a:pPr defTabSz="180000"/>
            <a:r>
              <a:rPr lang="en-US" altLang="ko-KR" sz="1400" dirty="0"/>
              <a:t>&lt;/body&gt;</a:t>
            </a:r>
          </a:p>
          <a:p>
            <a:pPr defTabSz="180000"/>
            <a:r>
              <a:rPr lang="en-US" altLang="ko-KR" sz="1400" dirty="0"/>
              <a:t>&lt;/html&gt;</a:t>
            </a:r>
            <a:endParaRPr lang="ko-KR" alt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9165019" y="3692397"/>
            <a:ext cx="466745" cy="272415"/>
          </a:xfrm>
          <a:prstGeom prst="wedgeRoundRectCallout">
            <a:avLst>
              <a:gd name="adj1" fmla="val -85266"/>
              <a:gd name="adj2" fmla="val -6820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클릭</a:t>
            </a:r>
            <a:endParaRPr lang="ko-KR" altLang="en-US" sz="1000" dirty="0"/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F17BF736-82CC-43E9-A9A0-EA8DF3487A50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35529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navigator </a:t>
            </a:r>
            <a:r>
              <a:rPr lang="ko-KR" altLang="en-US" dirty="0"/>
              <a:t>객체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navigator </a:t>
            </a:r>
            <a:r>
              <a:rPr lang="ko-KR" altLang="en-US" dirty="0"/>
              <a:t>객체</a:t>
            </a:r>
          </a:p>
          <a:p>
            <a:pPr lvl="1"/>
            <a:r>
              <a:rPr lang="ko-KR" altLang="en-US" dirty="0"/>
              <a:t>현재 작동중인 브라우저에 대한 다양한 정보를 나타내는 객체</a:t>
            </a:r>
          </a:p>
          <a:p>
            <a:pPr lvl="1"/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29</a:t>
            </a:fld>
            <a:endParaRPr lang="ko-KR" altLang="en-US"/>
          </a:p>
        </p:txBody>
      </p:sp>
      <p:grpSp>
        <p:nvGrpSpPr>
          <p:cNvPr id="8" name="그룹 7"/>
          <p:cNvGrpSpPr/>
          <p:nvPr/>
        </p:nvGrpSpPr>
        <p:grpSpPr>
          <a:xfrm>
            <a:off x="2575112" y="2131607"/>
            <a:ext cx="7226851" cy="4033697"/>
            <a:chOff x="927925" y="2386578"/>
            <a:chExt cx="7846590" cy="4644071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7925" y="2386578"/>
              <a:ext cx="7838123" cy="294894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2107" y="5284716"/>
              <a:ext cx="7832408" cy="1745933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1ED9918A-BF68-4BEB-830D-0054AD18C3FA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9820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33351" y="386908"/>
            <a:ext cx="11074400" cy="648072"/>
          </a:xfrm>
        </p:spPr>
        <p:txBody>
          <a:bodyPr>
            <a:normAutofit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10–10 navigator</a:t>
            </a:r>
            <a:r>
              <a:rPr lang="ko-KR" altLang="en-US" dirty="0"/>
              <a:t>로 브라우저 정보 출력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770055" y="1034980"/>
            <a:ext cx="5184461" cy="41549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b="1" dirty="0"/>
              <a:t>		for(let j=0; j&lt;</a:t>
            </a:r>
            <a:r>
              <a:rPr lang="en-US" altLang="ko-KR" sz="1200" b="1" dirty="0" err="1"/>
              <a:t>navigator.plugins.length</a:t>
            </a:r>
            <a:r>
              <a:rPr lang="en-US" altLang="ko-KR" sz="1200" b="1" dirty="0"/>
              <a:t>; </a:t>
            </a:r>
            <a:r>
              <a:rPr lang="en-US" altLang="ko-KR" sz="1200" b="1" dirty="0" err="1"/>
              <a:t>j++</a:t>
            </a:r>
            <a:r>
              <a:rPr lang="en-US" altLang="ko-KR" sz="1200" b="1" dirty="0"/>
              <a:t>) {</a:t>
            </a:r>
          </a:p>
          <a:p>
            <a:pPr defTabSz="180000"/>
            <a:r>
              <a:rPr lang="en-US" altLang="ko-KR" sz="1200" dirty="0"/>
              <a:t>			text += "plugins" + j + " : &lt;</a:t>
            </a:r>
            <a:r>
              <a:rPr lang="en-US" altLang="ko-KR" sz="1200" dirty="0" err="1"/>
              <a:t>blockquote</a:t>
            </a:r>
            <a:r>
              <a:rPr lang="en-US" altLang="ko-KR" sz="1200" dirty="0"/>
              <a:t>&gt;";</a:t>
            </a:r>
          </a:p>
          <a:p>
            <a:pPr defTabSz="180000"/>
            <a:r>
              <a:rPr lang="en-US" altLang="ko-KR" sz="1200" dirty="0"/>
              <a:t>			text += </a:t>
            </a:r>
            <a:r>
              <a:rPr lang="en-US" altLang="ko-KR" sz="1200" dirty="0" err="1"/>
              <a:t>navigator.plugins</a:t>
            </a:r>
            <a:r>
              <a:rPr lang="en-US" altLang="ko-KR" sz="1200" dirty="0"/>
              <a:t>[j].name + "&lt;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&gt;";</a:t>
            </a:r>
          </a:p>
          <a:p>
            <a:pPr defTabSz="180000"/>
            <a:r>
              <a:rPr lang="en-US" altLang="ko-KR" sz="1200" dirty="0"/>
              <a:t>			text += "&lt;</a:t>
            </a:r>
            <a:r>
              <a:rPr lang="en-US" altLang="ko-KR" sz="1200" dirty="0" err="1"/>
              <a:t>i</a:t>
            </a:r>
            <a:r>
              <a:rPr lang="en-US" altLang="ko-KR" sz="1200" dirty="0"/>
              <a:t>&gt;" + </a:t>
            </a:r>
            <a:r>
              <a:rPr lang="en-US" altLang="ko-KR" sz="1200" dirty="0" err="1"/>
              <a:t>navigator.plugins</a:t>
            </a:r>
            <a:r>
              <a:rPr lang="en-US" altLang="ko-KR" sz="1200" dirty="0"/>
              <a:t>[j].description + "&lt;/</a:t>
            </a:r>
            <a:r>
              <a:rPr lang="en-US" altLang="ko-KR" sz="1200" dirty="0" err="1"/>
              <a:t>i</a:t>
            </a:r>
            <a:r>
              <a:rPr lang="en-US" altLang="ko-KR" sz="1200" dirty="0"/>
              <a:t>&gt;&lt;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&gt;";</a:t>
            </a:r>
          </a:p>
          <a:p>
            <a:pPr defTabSz="180000"/>
            <a:r>
              <a:rPr lang="en-US" altLang="ko-KR" sz="1200" dirty="0"/>
              <a:t>			text += </a:t>
            </a:r>
            <a:r>
              <a:rPr lang="en-US" altLang="ko-KR" sz="1200" dirty="0" err="1"/>
              <a:t>navigator.plugins</a:t>
            </a:r>
            <a:r>
              <a:rPr lang="en-US" altLang="ko-KR" sz="1200" dirty="0"/>
              <a:t>[j].filename + "&lt;/</a:t>
            </a:r>
            <a:r>
              <a:rPr lang="en-US" altLang="ko-KR" sz="1200" dirty="0" err="1"/>
              <a:t>blockquote</a:t>
            </a:r>
            <a:r>
              <a:rPr lang="en-US" altLang="ko-KR" sz="1200" dirty="0"/>
              <a:t>&gt;";</a:t>
            </a:r>
          </a:p>
          <a:p>
            <a:pPr defTabSz="180000"/>
            <a:r>
              <a:rPr lang="en-US" altLang="ko-KR" sz="1200" dirty="0"/>
              <a:t>		}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// div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태그에 출력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let div =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document.getElementById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("div");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div.innerHTML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 = text;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}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&lt;/script&gt;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Ebrima"/>
              <a:ea typeface="맑은 고딕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&lt;/head&gt;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&lt;body onload="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printNavigator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()"&gt;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&lt;h3&gt;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브라우저에 관한 정보 출력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&lt;/h3&gt;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아래에 이 브라우저에 관한 여러 정보를 출력합니다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.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&lt;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hr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&gt;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&lt;p&gt;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&lt;div id="div"&gt;&lt;/div&gt;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&lt;/body&gt;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&lt;/html&gt;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Ebrima"/>
              <a:ea typeface="맑은 고딕"/>
              <a:cs typeface="+mn-cs"/>
            </a:endParaRPr>
          </a:p>
          <a:p>
            <a:pPr defTabSz="180000"/>
            <a:endParaRPr lang="en-US" altLang="ko-KR" sz="1200" dirty="0"/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4377CC1E-51D3-4E84-841A-76CDA2FD696E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EA60B6-94D9-44C8-BA59-3A8700485B0E}"/>
              </a:ext>
            </a:extLst>
          </p:cNvPr>
          <p:cNvSpPr/>
          <p:nvPr/>
        </p:nvSpPr>
        <p:spPr>
          <a:xfrm>
            <a:off x="247280" y="1034980"/>
            <a:ext cx="6336704" cy="48936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&lt;head&gt;&lt;meta charset="utf-8"&gt;&lt;title&gt;</a:t>
            </a:r>
            <a:r>
              <a:rPr lang="ko-KR" altLang="en-US" sz="1200" dirty="0"/>
              <a:t>브라우저 정보 출력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dirty="0"/>
              <a:t>&lt;style&gt;</a:t>
            </a:r>
          </a:p>
          <a:p>
            <a:pPr defTabSz="180000"/>
            <a:r>
              <a:rPr lang="en-US" altLang="ko-KR" sz="1200" dirty="0"/>
              <a:t>span { color : red; }</a:t>
            </a:r>
          </a:p>
          <a:p>
            <a:pPr defTabSz="180000"/>
            <a:r>
              <a:rPr lang="en-US" altLang="ko-KR" sz="1200" dirty="0"/>
              <a:t>div { </a:t>
            </a:r>
          </a:p>
          <a:p>
            <a:pPr defTabSz="180000"/>
            <a:r>
              <a:rPr lang="en-US" altLang="ko-KR" sz="1200" dirty="0"/>
              <a:t>	border-color : </a:t>
            </a:r>
            <a:r>
              <a:rPr lang="en-US" altLang="ko-KR" sz="1200" dirty="0" err="1"/>
              <a:t>yellowgreen</a:t>
            </a:r>
            <a:r>
              <a:rPr lang="en-US" altLang="ko-KR" sz="1200" dirty="0"/>
              <a:t>; </a:t>
            </a:r>
          </a:p>
          <a:p>
            <a:pPr defTabSz="180000"/>
            <a:r>
              <a:rPr lang="en-US" altLang="ko-KR" sz="1200" dirty="0"/>
              <a:t>	border-style : solid;</a:t>
            </a:r>
          </a:p>
          <a:p>
            <a:pPr defTabSz="180000"/>
            <a:r>
              <a:rPr lang="en-US" altLang="ko-KR" sz="1200" dirty="0"/>
              <a:t>	padding : 5px;</a:t>
            </a:r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&lt;/style&gt;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&lt;script&gt;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function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printNavigator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() 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	let text = "&lt;span&gt;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appCodeName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&lt;/span&gt;: " +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navigator.appCodeName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 + "&lt;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br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&gt;";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		text += "&lt;span&gt;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appName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&lt;/span&gt;: " +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navigator.appName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 + "&lt;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br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&gt;";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		text += "&lt;span&gt;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appVersion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&lt;/span&gt;: " +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navigator.appVersion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 + "&lt;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br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&gt;";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		text += "&lt;span&gt;platform&lt;/span&gt;: " + navigator.platform + "&lt;br&gt;";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		text += "&lt;span&gt;product&lt;/span&gt;: " +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navigator.product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 + "&lt;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br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&gt;";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		text += "&lt;span&gt;userAgent&lt;/span&gt;: " + navigator.userAgent +"&lt;br&gt;";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		text += "&lt;span&gt;vendor&lt;/span&gt;: " + navigator.vendor +"&lt;br&gt;";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		text += "&lt;span&gt;language&lt;/span&gt;: " +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navigator.language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 + "&lt;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br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&gt;";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		text += "&lt;span&gt;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onLine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&lt;/span&gt;: " +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navigator.onLine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 + "&lt;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br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&gt;";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		text += "&lt;span&gt;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cookieEnabled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&lt;/span&gt;: " +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navigator.cookieEnabled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 + "&lt;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br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&gt;";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		text += "&lt;span&gt;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javaEnabled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()&lt;/span&gt;:" +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navigator.javaEnabled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() + "&lt;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br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&gt;";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		text += "&lt;span&gt;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plugins.length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&lt;/span&gt;: " +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navigator.plugins.length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 + "&lt;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br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/>
                <a:ea typeface="맑은 고딕"/>
                <a:cs typeface="+mn-cs"/>
              </a:rPr>
              <a:t>&gt;";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2717233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2E78B44-C7D3-4C6A-864B-97363E74B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235" y="358778"/>
            <a:ext cx="3913015" cy="6042445"/>
          </a:xfrm>
          <a:prstGeom prst="rect">
            <a:avLst/>
          </a:prstGeom>
          <a:ln w="6350">
            <a:solidFill>
              <a:srgbClr val="0070C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3647729" y="4994344"/>
            <a:ext cx="1076971" cy="272415"/>
          </a:xfrm>
          <a:prstGeom prst="wedgeRoundRectCallout">
            <a:avLst>
              <a:gd name="adj1" fmla="val 78638"/>
              <a:gd name="adj2" fmla="val 3895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플러그인 이름</a:t>
            </a:r>
          </a:p>
        </p:txBody>
      </p:sp>
    </p:spTree>
    <p:extLst>
      <p:ext uri="{BB962C8B-B14F-4D97-AF65-F5344CB8AC3E}">
        <p14:creationId xmlns:p14="http://schemas.microsoft.com/office/powerpoint/2010/main" val="2723703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/>
              <a:t>screen </a:t>
            </a:r>
            <a:r>
              <a:rPr lang="ko-KR" altLang="en-US"/>
              <a:t>객체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>
          <a:xfrm>
            <a:off x="911424" y="1050142"/>
            <a:ext cx="9579171" cy="5040560"/>
          </a:xfrm>
        </p:spPr>
        <p:txBody>
          <a:bodyPr/>
          <a:lstStyle/>
          <a:p>
            <a:r>
              <a:rPr lang="en-US" altLang="ko-KR" dirty="0"/>
              <a:t>screen</a:t>
            </a:r>
          </a:p>
          <a:p>
            <a:pPr lvl="1"/>
            <a:r>
              <a:rPr lang="ko-KR" altLang="en-US" dirty="0"/>
              <a:t>브라우저가 실행되는 스크린 장치에 관한 정보를 담고 있는 객체</a:t>
            </a:r>
          </a:p>
          <a:p>
            <a:pPr lvl="1"/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137" y="2276872"/>
            <a:ext cx="9171941" cy="3063989"/>
          </a:xfrm>
          <a:prstGeom prst="rect">
            <a:avLst/>
          </a:prstGeom>
        </p:spPr>
      </p:pic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41831D23-E954-48F2-8281-F3C0407A3EFC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28462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199456" y="1078397"/>
            <a:ext cx="6274383" cy="48936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300" dirty="0"/>
              <a:t>&lt;!DOCTYPE html&gt;</a:t>
            </a:r>
          </a:p>
          <a:p>
            <a:pPr defTabSz="180000"/>
            <a:r>
              <a:rPr lang="en-US" altLang="ko-KR" sz="1300" dirty="0"/>
              <a:t>&lt;html&gt;</a:t>
            </a:r>
          </a:p>
          <a:p>
            <a:pPr defTabSz="180000"/>
            <a:r>
              <a:rPr lang="en-US" altLang="ko-KR" sz="1300" dirty="0"/>
              <a:t>&lt;head&gt;</a:t>
            </a:r>
          </a:p>
          <a:p>
            <a:pPr defTabSz="180000"/>
            <a:r>
              <a:rPr lang="en-US" altLang="ko-KR" sz="1300" dirty="0"/>
              <a:t>&lt;meta charset="</a:t>
            </a:r>
            <a:r>
              <a:rPr lang="en-US" altLang="ko-KR" sz="1300" dirty="0" err="1"/>
              <a:t>utf</a:t>
            </a:r>
            <a:r>
              <a:rPr lang="en-US" altLang="ko-KR" sz="1300" dirty="0"/>
              <a:t>-8"&gt;</a:t>
            </a:r>
          </a:p>
          <a:p>
            <a:pPr defTabSz="180000"/>
            <a:r>
              <a:rPr lang="en-US" altLang="ko-KR" sz="1300" dirty="0"/>
              <a:t>&lt;title&gt;</a:t>
            </a:r>
            <a:r>
              <a:rPr lang="ko-KR" altLang="en-US" sz="1300" dirty="0"/>
              <a:t>스크린 장치에 관한 정보 출력</a:t>
            </a:r>
            <a:r>
              <a:rPr lang="en-US" altLang="ko-KR" sz="1300" dirty="0"/>
              <a:t>&lt;/title&gt;</a:t>
            </a:r>
          </a:p>
          <a:p>
            <a:pPr defTabSz="180000"/>
            <a:r>
              <a:rPr lang="en-US" altLang="ko-KR" sz="1300" dirty="0"/>
              <a:t>&lt;script&gt;</a:t>
            </a:r>
          </a:p>
          <a:p>
            <a:pPr defTabSz="180000"/>
            <a:r>
              <a:rPr lang="en-US" altLang="ko-KR" sz="1300" b="1" dirty="0"/>
              <a:t>function </a:t>
            </a:r>
            <a:r>
              <a:rPr lang="en-US" altLang="ko-KR" sz="1300" b="1" dirty="0" err="1"/>
              <a:t>printScreen</a:t>
            </a:r>
            <a:r>
              <a:rPr lang="en-US" altLang="ko-KR" sz="1300" b="1" dirty="0"/>
              <a:t>() </a:t>
            </a:r>
            <a:r>
              <a:rPr lang="en-US" altLang="ko-KR" sz="1300" dirty="0"/>
              <a:t>{</a:t>
            </a:r>
          </a:p>
          <a:p>
            <a:pPr defTabSz="180000"/>
            <a:r>
              <a:rPr lang="en-US" altLang="ko-KR" sz="1300" dirty="0"/>
              <a:t>	let text = "</a:t>
            </a:r>
            <a:r>
              <a:rPr lang="en-US" altLang="ko-KR" sz="1300" dirty="0" err="1"/>
              <a:t>availHeight</a:t>
            </a:r>
            <a:r>
              <a:rPr lang="en-US" altLang="ko-KR" sz="1300" dirty="0"/>
              <a:t>:".</a:t>
            </a:r>
            <a:r>
              <a:rPr lang="en-US" altLang="ko-KR" sz="1300" dirty="0" err="1"/>
              <a:t>fontcolor</a:t>
            </a:r>
            <a:r>
              <a:rPr lang="en-US" altLang="ko-KR" sz="1300" dirty="0"/>
              <a:t>('blue') + </a:t>
            </a:r>
            <a:r>
              <a:rPr lang="en-US" altLang="ko-KR" sz="1300" b="1" dirty="0" err="1"/>
              <a:t>screen.availHeight</a:t>
            </a:r>
            <a:r>
              <a:rPr lang="en-US" altLang="ko-KR" sz="1300" dirty="0"/>
              <a:t> + "&lt;</a:t>
            </a:r>
            <a:r>
              <a:rPr lang="en-US" altLang="ko-KR" sz="1300" dirty="0" err="1"/>
              <a:t>br</a:t>
            </a:r>
            <a:r>
              <a:rPr lang="en-US" altLang="ko-KR" sz="1300" dirty="0"/>
              <a:t>&gt;";</a:t>
            </a:r>
          </a:p>
          <a:p>
            <a:pPr defTabSz="180000"/>
            <a:r>
              <a:rPr lang="en-US" altLang="ko-KR" sz="1300" dirty="0"/>
              <a:t>		text += "</a:t>
            </a:r>
            <a:r>
              <a:rPr lang="en-US" altLang="ko-KR" sz="1300" dirty="0" err="1"/>
              <a:t>availWidth</a:t>
            </a:r>
            <a:r>
              <a:rPr lang="en-US" altLang="ko-KR" sz="1300" dirty="0"/>
              <a:t>:".</a:t>
            </a:r>
            <a:r>
              <a:rPr lang="en-US" altLang="ko-KR" sz="1300" dirty="0" err="1"/>
              <a:t>fontcolor</a:t>
            </a:r>
            <a:r>
              <a:rPr lang="en-US" altLang="ko-KR" sz="1300" dirty="0"/>
              <a:t>('blue') + </a:t>
            </a:r>
            <a:r>
              <a:rPr lang="en-US" altLang="ko-KR" sz="1300" b="1" dirty="0" err="1"/>
              <a:t>screen.availWidth</a:t>
            </a:r>
            <a:r>
              <a:rPr lang="en-US" altLang="ko-KR" sz="1300" dirty="0"/>
              <a:t> + "&lt;</a:t>
            </a:r>
            <a:r>
              <a:rPr lang="en-US" altLang="ko-KR" sz="1300" dirty="0" err="1"/>
              <a:t>br</a:t>
            </a:r>
            <a:r>
              <a:rPr lang="en-US" altLang="ko-KR" sz="1300" dirty="0"/>
              <a:t>&gt;";</a:t>
            </a:r>
          </a:p>
          <a:p>
            <a:pPr defTabSz="180000"/>
            <a:r>
              <a:rPr lang="en-US" altLang="ko-KR" sz="1300" dirty="0"/>
              <a:t>		text += "</a:t>
            </a:r>
            <a:r>
              <a:rPr lang="en-US" altLang="ko-KR" sz="1300" dirty="0" err="1"/>
              <a:t>colorDepth</a:t>
            </a:r>
            <a:r>
              <a:rPr lang="en-US" altLang="ko-KR" sz="1300" dirty="0"/>
              <a:t>:".</a:t>
            </a:r>
            <a:r>
              <a:rPr lang="en-US" altLang="ko-KR" sz="1300" dirty="0" err="1"/>
              <a:t>fontcolor</a:t>
            </a:r>
            <a:r>
              <a:rPr lang="en-US" altLang="ko-KR" sz="1300" dirty="0"/>
              <a:t>('blue') + </a:t>
            </a:r>
            <a:r>
              <a:rPr lang="en-US" altLang="ko-KR" sz="1300" b="1" dirty="0" err="1"/>
              <a:t>screen.colorDepth</a:t>
            </a:r>
            <a:r>
              <a:rPr lang="en-US" altLang="ko-KR" sz="1300" dirty="0"/>
              <a:t> + "&lt;</a:t>
            </a:r>
            <a:r>
              <a:rPr lang="en-US" altLang="ko-KR" sz="1300" dirty="0" err="1"/>
              <a:t>br</a:t>
            </a:r>
            <a:r>
              <a:rPr lang="en-US" altLang="ko-KR" sz="1300" dirty="0"/>
              <a:t>&gt;";</a:t>
            </a:r>
          </a:p>
          <a:p>
            <a:pPr defTabSz="180000"/>
            <a:r>
              <a:rPr lang="en-US" altLang="ko-KR" sz="1300" dirty="0"/>
              <a:t>		text += "</a:t>
            </a:r>
            <a:r>
              <a:rPr lang="en-US" altLang="ko-KR" sz="1300" dirty="0" err="1"/>
              <a:t>pixelDepth</a:t>
            </a:r>
            <a:r>
              <a:rPr lang="en-US" altLang="ko-KR" sz="1300" dirty="0"/>
              <a:t>:".</a:t>
            </a:r>
            <a:r>
              <a:rPr lang="en-US" altLang="ko-KR" sz="1300" dirty="0" err="1"/>
              <a:t>fontcolor</a:t>
            </a:r>
            <a:r>
              <a:rPr lang="en-US" altLang="ko-KR" sz="1300" dirty="0"/>
              <a:t>('blue')+ </a:t>
            </a:r>
            <a:r>
              <a:rPr lang="en-US" altLang="ko-KR" sz="1300" b="1" dirty="0" err="1"/>
              <a:t>screen.pixelDepth</a:t>
            </a:r>
            <a:r>
              <a:rPr lang="en-US" altLang="ko-KR" sz="1300" dirty="0"/>
              <a:t> + "&lt;</a:t>
            </a:r>
            <a:r>
              <a:rPr lang="en-US" altLang="ko-KR" sz="1300" dirty="0" err="1"/>
              <a:t>br</a:t>
            </a:r>
            <a:r>
              <a:rPr lang="en-US" altLang="ko-KR" sz="1300" dirty="0"/>
              <a:t>&gt;";</a:t>
            </a:r>
          </a:p>
          <a:p>
            <a:pPr defTabSz="180000"/>
            <a:r>
              <a:rPr lang="en-US" altLang="ko-KR" sz="1300" dirty="0"/>
              <a:t>		text += "height:".</a:t>
            </a:r>
            <a:r>
              <a:rPr lang="en-US" altLang="ko-KR" sz="1300" dirty="0" err="1"/>
              <a:t>fontcolor</a:t>
            </a:r>
            <a:r>
              <a:rPr lang="en-US" altLang="ko-KR" sz="1300" dirty="0"/>
              <a:t>('blue') + </a:t>
            </a:r>
            <a:r>
              <a:rPr lang="en-US" altLang="ko-KR" sz="1300" b="1" dirty="0" err="1"/>
              <a:t>screen.height</a:t>
            </a:r>
            <a:r>
              <a:rPr lang="en-US" altLang="ko-KR" sz="1300" dirty="0"/>
              <a:t> + "&lt;</a:t>
            </a:r>
            <a:r>
              <a:rPr lang="en-US" altLang="ko-KR" sz="1300" dirty="0" err="1"/>
              <a:t>br</a:t>
            </a:r>
            <a:r>
              <a:rPr lang="en-US" altLang="ko-KR" sz="1300" dirty="0"/>
              <a:t>&gt;";</a:t>
            </a:r>
          </a:p>
          <a:p>
            <a:pPr defTabSz="180000"/>
            <a:r>
              <a:rPr lang="en-US" altLang="ko-KR" sz="1300" dirty="0"/>
              <a:t>		text += "width:".</a:t>
            </a:r>
            <a:r>
              <a:rPr lang="en-US" altLang="ko-KR" sz="1300" dirty="0" err="1"/>
              <a:t>fontcolor</a:t>
            </a:r>
            <a:r>
              <a:rPr lang="en-US" altLang="ko-KR" sz="1300" dirty="0"/>
              <a:t>('blue') + </a:t>
            </a:r>
            <a:r>
              <a:rPr lang="en-US" altLang="ko-KR" sz="1300" b="1" dirty="0" err="1"/>
              <a:t>screen.width</a:t>
            </a:r>
            <a:r>
              <a:rPr lang="en-US" altLang="ko-KR" sz="1300" dirty="0"/>
              <a:t> + "&lt;</a:t>
            </a:r>
            <a:r>
              <a:rPr lang="en-US" altLang="ko-KR" sz="1300" dirty="0" err="1"/>
              <a:t>br</a:t>
            </a:r>
            <a:r>
              <a:rPr lang="en-US" altLang="ko-KR" sz="1300" dirty="0"/>
              <a:t>&gt;";</a:t>
            </a:r>
          </a:p>
          <a:p>
            <a:pPr defTabSz="180000"/>
            <a:endParaRPr lang="en-US" altLang="ko-KR" sz="1300" dirty="0"/>
          </a:p>
          <a:p>
            <a:pPr defTabSz="180000"/>
            <a:r>
              <a:rPr lang="en-US" altLang="ko-KR" sz="1300" dirty="0"/>
              <a:t>	</a:t>
            </a:r>
            <a:r>
              <a:rPr lang="en-US" altLang="ko-KR" sz="1300" dirty="0" err="1"/>
              <a:t>document.getElementById</a:t>
            </a:r>
            <a:r>
              <a:rPr lang="en-US" altLang="ko-KR" sz="1300" dirty="0"/>
              <a:t>("div").</a:t>
            </a:r>
            <a:r>
              <a:rPr lang="en-US" altLang="ko-KR" sz="1300" dirty="0" err="1"/>
              <a:t>innerHTML</a:t>
            </a:r>
            <a:r>
              <a:rPr lang="en-US" altLang="ko-KR" sz="1300" dirty="0"/>
              <a:t> = text;</a:t>
            </a:r>
          </a:p>
          <a:p>
            <a:pPr defTabSz="180000"/>
            <a:r>
              <a:rPr lang="en-US" altLang="ko-KR" sz="1300" dirty="0"/>
              <a:t>}</a:t>
            </a:r>
          </a:p>
          <a:p>
            <a:pPr defTabSz="180000"/>
            <a:r>
              <a:rPr lang="en-US" altLang="ko-KR" sz="1300" dirty="0"/>
              <a:t>&lt;/script&gt;</a:t>
            </a:r>
          </a:p>
          <a:p>
            <a:pPr defTabSz="180000"/>
            <a:r>
              <a:rPr lang="en-US" altLang="ko-KR" sz="1300" dirty="0"/>
              <a:t>&lt;/head&gt;</a:t>
            </a:r>
          </a:p>
          <a:p>
            <a:pPr defTabSz="180000"/>
            <a:r>
              <a:rPr lang="en-US" altLang="ko-KR" sz="1300" dirty="0"/>
              <a:t>&lt;body </a:t>
            </a:r>
            <a:r>
              <a:rPr lang="en-US" altLang="ko-KR" sz="1300" dirty="0" err="1"/>
              <a:t>onload</a:t>
            </a:r>
            <a:r>
              <a:rPr lang="en-US" altLang="ko-KR" sz="1300" dirty="0"/>
              <a:t>="</a:t>
            </a:r>
            <a:r>
              <a:rPr lang="en-US" altLang="ko-KR" sz="1300" b="1" dirty="0" err="1"/>
              <a:t>printScreen</a:t>
            </a:r>
            <a:r>
              <a:rPr lang="en-US" altLang="ko-KR" sz="1300" b="1" dirty="0"/>
              <a:t>()</a:t>
            </a:r>
            <a:r>
              <a:rPr lang="en-US" altLang="ko-KR" sz="1300" dirty="0"/>
              <a:t>"&gt;</a:t>
            </a:r>
          </a:p>
          <a:p>
            <a:pPr defTabSz="180000"/>
            <a:r>
              <a:rPr lang="en-US" altLang="ko-KR" sz="1300" dirty="0"/>
              <a:t>&lt;h3&gt;</a:t>
            </a:r>
            <a:r>
              <a:rPr lang="ko-KR" altLang="en-US" sz="1300" dirty="0"/>
              <a:t>스크린 장치에 관한 정보</a:t>
            </a:r>
            <a:r>
              <a:rPr lang="en-US" altLang="ko-KR" sz="1300" dirty="0"/>
              <a:t>&lt;/h3&gt;</a:t>
            </a:r>
          </a:p>
          <a:p>
            <a:pPr defTabSz="180000"/>
            <a:r>
              <a:rPr lang="en-US" altLang="ko-KR" sz="1300" dirty="0"/>
              <a:t>&lt;</a:t>
            </a:r>
            <a:r>
              <a:rPr lang="en-US" altLang="ko-KR" sz="1300" dirty="0" err="1"/>
              <a:t>hr</a:t>
            </a:r>
            <a:r>
              <a:rPr lang="en-US" altLang="ko-KR" sz="1300" dirty="0"/>
              <a:t>&gt;</a:t>
            </a:r>
          </a:p>
          <a:p>
            <a:pPr defTabSz="180000"/>
            <a:r>
              <a:rPr lang="en-US" altLang="ko-KR" sz="1300" b="1" dirty="0"/>
              <a:t>&lt;div id="div"&gt;&lt;/div&gt;</a:t>
            </a:r>
          </a:p>
          <a:p>
            <a:pPr defTabSz="180000"/>
            <a:r>
              <a:rPr lang="en-US" altLang="ko-KR" sz="1300" dirty="0"/>
              <a:t>&lt;/body&gt;</a:t>
            </a:r>
          </a:p>
          <a:p>
            <a:pPr defTabSz="180000"/>
            <a:r>
              <a:rPr lang="en-US" altLang="ko-KR" sz="1300" dirty="0"/>
              <a:t>&lt;/html&gt;</a:t>
            </a:r>
            <a:endParaRPr lang="ko-KR" altLang="en-US" sz="13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84A8112-CA64-4278-B927-41EC68341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286" y="3429000"/>
            <a:ext cx="2850878" cy="2939232"/>
          </a:xfrm>
          <a:prstGeom prst="rect">
            <a:avLst/>
          </a:prstGeom>
          <a:ln w="6350">
            <a:solidFill>
              <a:srgbClr val="0070C0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10-11 </a:t>
            </a:r>
            <a:r>
              <a:rPr lang="ko-KR" altLang="en-US" dirty="0"/>
              <a:t>스크린 장치에 관한 정보 출력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0368909" y="4626383"/>
            <a:ext cx="1487731" cy="272415"/>
          </a:xfrm>
          <a:prstGeom prst="wedgeRoundRectCallout">
            <a:avLst>
              <a:gd name="adj1" fmla="val -63543"/>
              <a:gd name="adj2" fmla="val 4586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작업 표시줄 높이 제외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3479" y="5299214"/>
            <a:ext cx="969294" cy="272415"/>
          </a:xfrm>
          <a:prstGeom prst="wedgeRoundRectCallout">
            <a:avLst>
              <a:gd name="adj1" fmla="val -63782"/>
              <a:gd name="adj2" fmla="val -377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픽셀당 </a:t>
            </a:r>
            <a:r>
              <a:rPr lang="en-US" altLang="ko-KR" sz="1000" dirty="0"/>
              <a:t>2</a:t>
            </a:r>
            <a:r>
              <a:rPr lang="en-US" altLang="ko-KR" sz="1000" baseline="30000" dirty="0"/>
              <a:t>24</a:t>
            </a:r>
            <a:r>
              <a:rPr lang="en-US" altLang="ko-KR" sz="1000" dirty="0"/>
              <a:t> </a:t>
            </a:r>
            <a:r>
              <a:rPr lang="ko-KR" altLang="en-US" sz="1000" dirty="0"/>
              <a:t>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0901" y="5835837"/>
            <a:ext cx="896015" cy="272415"/>
          </a:xfrm>
          <a:prstGeom prst="wedgeRoundRectCallout">
            <a:avLst>
              <a:gd name="adj1" fmla="val -63782"/>
              <a:gd name="adj2" fmla="val -377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스크린 크기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7746" y="5718627"/>
            <a:ext cx="2515066" cy="612934"/>
          </a:xfrm>
          <a:prstGeom prst="wedgeRoundRectCallout">
            <a:avLst>
              <a:gd name="adj1" fmla="val 62558"/>
              <a:gd name="adj2" fmla="val -2242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height</a:t>
            </a:r>
            <a:r>
              <a:rPr lang="ko-KR" altLang="en-US" sz="1000" dirty="0"/>
              <a:t>와 </a:t>
            </a:r>
            <a:r>
              <a:rPr lang="en-US" altLang="ko-KR" sz="1000" dirty="0"/>
              <a:t>width</a:t>
            </a:r>
            <a:r>
              <a:rPr lang="ko-KR" altLang="en-US" sz="1000" dirty="0"/>
              <a:t>는 브라우저의 설정에서 </a:t>
            </a:r>
            <a:endParaRPr lang="en-US" altLang="ko-KR" sz="1000" dirty="0"/>
          </a:p>
          <a:p>
            <a:r>
              <a:rPr lang="ko-KR" altLang="en-US" sz="1000" dirty="0"/>
              <a:t>확대</a:t>
            </a:r>
            <a:r>
              <a:rPr lang="en-US" altLang="ko-KR" sz="1000" dirty="0"/>
              <a:t>/</a:t>
            </a:r>
            <a:r>
              <a:rPr lang="ko-KR" altLang="en-US" sz="1000" dirty="0"/>
              <a:t>축소 값을 </a:t>
            </a:r>
            <a:r>
              <a:rPr lang="en-US" altLang="ko-KR" sz="1000" dirty="0"/>
              <a:t>100%</a:t>
            </a:r>
            <a:r>
              <a:rPr lang="ko-KR" altLang="en-US" sz="1000" dirty="0"/>
              <a:t>로 해야 정확한</a:t>
            </a:r>
            <a:endParaRPr lang="en-US" altLang="ko-KR" sz="1000" dirty="0"/>
          </a:p>
          <a:p>
            <a:r>
              <a:rPr lang="ko-KR" altLang="en-US" sz="1000" dirty="0"/>
              <a:t>값으로 출력됨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9DC871C7-4E16-46F3-92B1-A03BC3AA044A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03273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history </a:t>
            </a:r>
            <a:r>
              <a:rPr lang="ko-KR" altLang="en-US" dirty="0"/>
              <a:t>객체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>
          <a:xfrm>
            <a:off x="613518" y="1081947"/>
            <a:ext cx="11130293" cy="5040560"/>
          </a:xfrm>
        </p:spPr>
        <p:txBody>
          <a:bodyPr/>
          <a:lstStyle/>
          <a:p>
            <a:r>
              <a:rPr lang="en-US" altLang="ko-KR" dirty="0"/>
              <a:t>history </a:t>
            </a:r>
            <a:r>
              <a:rPr lang="ko-KR" altLang="en-US" dirty="0"/>
              <a:t>객체</a:t>
            </a:r>
          </a:p>
          <a:p>
            <a:pPr lvl="1"/>
            <a:r>
              <a:rPr lang="ko-KR" altLang="en-US" dirty="0"/>
              <a:t>윈도우에서 방문한 웹 페이지 리스트</a:t>
            </a:r>
            <a:r>
              <a:rPr lang="en-US" altLang="ko-KR" dirty="0"/>
              <a:t>(</a:t>
            </a:r>
            <a:r>
              <a:rPr lang="ko-KR" altLang="en-US" dirty="0" err="1"/>
              <a:t>히스토리</a:t>
            </a:r>
            <a:r>
              <a:rPr lang="en-US" altLang="ko-KR" dirty="0"/>
              <a:t>)</a:t>
            </a:r>
            <a:r>
              <a:rPr lang="ko-KR" altLang="en-US" dirty="0"/>
              <a:t>를 나타내는 객체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history </a:t>
            </a:r>
            <a:r>
              <a:rPr lang="ko-KR" altLang="en-US" dirty="0"/>
              <a:t>객체를 이용하여 웹 페이지를 이동하는 코드 사례</a:t>
            </a:r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999656" y="5185254"/>
            <a:ext cx="4572000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190500" fontAlgn="base" latinLnBrk="0"/>
            <a:r>
              <a:rPr lang="en-US" altLang="ko-KR" sz="1400" b="1" kern="0" dirty="0" err="1">
                <a:solidFill>
                  <a:srgbClr val="000000"/>
                </a:solidFill>
                <a:latin typeface="+mn-ea"/>
              </a:rPr>
              <a:t>history.back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();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</a:rPr>
              <a:t>	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// 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</a:rPr>
              <a:t>이전 페이지로 이동</a:t>
            </a:r>
          </a:p>
          <a:p>
            <a:pPr marL="190500" fontAlgn="base" latinLnBrk="0"/>
            <a:r>
              <a:rPr lang="en-US" altLang="ko-KR" sz="1400" b="1" kern="0" dirty="0" err="1">
                <a:solidFill>
                  <a:srgbClr val="000000"/>
                </a:solidFill>
                <a:latin typeface="+mn-ea"/>
              </a:rPr>
              <a:t>history.go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(-1);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</a:rPr>
              <a:t>	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// 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</a:rPr>
              <a:t>이전 페이지로 이동</a:t>
            </a:r>
          </a:p>
          <a:p>
            <a:pPr marL="190500" fontAlgn="base" latinLnBrk="0"/>
            <a:r>
              <a:rPr lang="en-US" altLang="ko-KR" sz="1400" b="1" kern="0" dirty="0" err="1">
                <a:solidFill>
                  <a:srgbClr val="000000"/>
                </a:solidFill>
                <a:latin typeface="+mn-ea"/>
              </a:rPr>
              <a:t>history.forward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(); 	// 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</a:rPr>
              <a:t>다음 페이지로 이동 </a:t>
            </a:r>
          </a:p>
          <a:p>
            <a:pPr marL="190500" fontAlgn="base" latinLnBrk="0"/>
            <a:r>
              <a:rPr lang="en-US" altLang="ko-KR" sz="1400" b="1" kern="0" dirty="0" err="1">
                <a:solidFill>
                  <a:srgbClr val="000000"/>
                </a:solidFill>
                <a:latin typeface="+mn-ea"/>
              </a:rPr>
              <a:t>history.go</a:t>
            </a: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(1); 	// 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</a:rPr>
              <a:t>다음 페이지로 이동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2" y="2060848"/>
            <a:ext cx="7852410" cy="2414588"/>
          </a:xfrm>
          <a:prstGeom prst="rect">
            <a:avLst/>
          </a:prstGeom>
        </p:spPr>
      </p:pic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1F034959-06FB-460D-9269-7397F2007130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71533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E845978-A7C1-4873-A5DC-4C28EDC11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3190" y="1988841"/>
            <a:ext cx="2561365" cy="1815935"/>
          </a:xfrm>
          <a:prstGeom prst="rect">
            <a:avLst/>
          </a:prstGeom>
          <a:ln w="6350">
            <a:solidFill>
              <a:srgbClr val="0070C0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10-12 history </a:t>
            </a:r>
            <a:r>
              <a:rPr lang="ko-KR" altLang="en-US" dirty="0"/>
              <a:t>객체 활용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048675" y="1628801"/>
            <a:ext cx="4896544" cy="310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&lt;!DOCTYPE html&gt;</a:t>
            </a:r>
          </a:p>
          <a:p>
            <a:r>
              <a:rPr lang="en-US" altLang="ko-KR" sz="1400" dirty="0"/>
              <a:t>&lt;html&gt;</a:t>
            </a:r>
          </a:p>
          <a:p>
            <a:r>
              <a:rPr lang="en-US" altLang="ko-KR" sz="1400" dirty="0"/>
              <a:t>&lt;head&gt;</a:t>
            </a:r>
          </a:p>
          <a:p>
            <a:r>
              <a:rPr lang="en-US" altLang="ko-KR" sz="1400" dirty="0"/>
              <a:t>&lt;meta charset="</a:t>
            </a:r>
            <a:r>
              <a:rPr lang="en-US" altLang="ko-KR" sz="1400" dirty="0" err="1"/>
              <a:t>utf</a:t>
            </a:r>
            <a:r>
              <a:rPr lang="en-US" altLang="ko-KR" sz="1400" dirty="0"/>
              <a:t>-8"&gt;</a:t>
            </a:r>
          </a:p>
          <a:p>
            <a:r>
              <a:rPr lang="en-US" altLang="ko-KR" sz="1400" dirty="0"/>
              <a:t>&lt;title&gt;history </a:t>
            </a:r>
            <a:r>
              <a:rPr lang="ko-KR" altLang="en-US" sz="1400" dirty="0"/>
              <a:t>객체 활용</a:t>
            </a:r>
            <a:r>
              <a:rPr lang="en-US" altLang="ko-KR" sz="1400" dirty="0"/>
              <a:t>&lt;/title&gt;</a:t>
            </a:r>
          </a:p>
          <a:p>
            <a:r>
              <a:rPr lang="en-US" altLang="ko-KR" sz="1400" dirty="0"/>
              <a:t>&lt;/head&gt;</a:t>
            </a:r>
          </a:p>
          <a:p>
            <a:r>
              <a:rPr lang="en-US" altLang="ko-KR" sz="1400" dirty="0"/>
              <a:t>&lt;body&gt;</a:t>
            </a:r>
          </a:p>
          <a:p>
            <a:r>
              <a:rPr lang="en-US" altLang="ko-KR" sz="1400" dirty="0"/>
              <a:t>&lt;h3&gt;history </a:t>
            </a:r>
            <a:r>
              <a:rPr lang="ko-KR" altLang="en-US" sz="1400" dirty="0"/>
              <a:t>객체 활용</a:t>
            </a:r>
            <a:r>
              <a:rPr lang="en-US" altLang="ko-KR" sz="1400" dirty="0"/>
              <a:t>&lt;/h3&gt;</a:t>
            </a:r>
          </a:p>
          <a:p>
            <a:r>
              <a:rPr lang="en-US" altLang="ko-KR" sz="1400" dirty="0"/>
              <a:t>&lt;</a:t>
            </a:r>
            <a:r>
              <a:rPr lang="en-US" altLang="ko-KR" sz="1400" dirty="0" err="1"/>
              <a:t>hr</a:t>
            </a:r>
            <a:r>
              <a:rPr lang="en-US" altLang="ko-KR" sz="1400" dirty="0"/>
              <a:t>&gt;</a:t>
            </a:r>
          </a:p>
          <a:p>
            <a:r>
              <a:rPr lang="en-US" altLang="ko-KR" sz="1400" dirty="0"/>
              <a:t>&lt;button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="</a:t>
            </a:r>
            <a:r>
              <a:rPr lang="en-US" altLang="ko-KR" sz="1400" b="1" dirty="0" err="1"/>
              <a:t>history.back</a:t>
            </a:r>
            <a:r>
              <a:rPr lang="en-US" altLang="ko-KR" sz="1400" b="1" dirty="0"/>
              <a:t>()</a:t>
            </a:r>
            <a:r>
              <a:rPr lang="en-US" altLang="ko-KR" sz="1400" dirty="0"/>
              <a:t>"&gt;back()&lt;/button&gt;</a:t>
            </a:r>
          </a:p>
          <a:p>
            <a:r>
              <a:rPr lang="en-US" altLang="ko-KR" sz="1400" dirty="0"/>
              <a:t>&lt;button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="</a:t>
            </a:r>
            <a:r>
              <a:rPr lang="en-US" altLang="ko-KR" sz="1400" b="1" dirty="0" err="1"/>
              <a:t>history.forward</a:t>
            </a:r>
            <a:r>
              <a:rPr lang="en-US" altLang="ko-KR" sz="1400" b="1" dirty="0"/>
              <a:t>()</a:t>
            </a:r>
            <a:r>
              <a:rPr lang="en-US" altLang="ko-KR" sz="1400" dirty="0"/>
              <a:t>"&gt;forward()&lt;/button&gt;</a:t>
            </a:r>
          </a:p>
          <a:p>
            <a:r>
              <a:rPr lang="en-US" altLang="ko-KR" sz="1400" dirty="0"/>
              <a:t>&lt;button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="</a:t>
            </a:r>
            <a:r>
              <a:rPr lang="en-US" altLang="ko-KR" sz="1400" b="1" dirty="0" err="1"/>
              <a:t>history.go</a:t>
            </a:r>
            <a:r>
              <a:rPr lang="en-US" altLang="ko-KR" sz="1400" b="1" dirty="0"/>
              <a:t>(-1)</a:t>
            </a:r>
            <a:r>
              <a:rPr lang="en-US" altLang="ko-KR" sz="1400" dirty="0"/>
              <a:t>"&gt;go(-1)&lt;/button&gt;</a:t>
            </a:r>
          </a:p>
          <a:p>
            <a:r>
              <a:rPr lang="en-US" altLang="ko-KR" sz="1400" dirty="0"/>
              <a:t>&lt;/body&gt;</a:t>
            </a:r>
          </a:p>
          <a:p>
            <a:r>
              <a:rPr lang="en-US" altLang="ko-KR" sz="1400" dirty="0"/>
              <a:t>&lt;/html&gt;</a:t>
            </a:r>
            <a:endParaRPr lang="ko-KR" altLang="en-US" sz="1400" dirty="0"/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86E67E63-DE4F-4E38-8818-6ED83B81D2E7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905268"/>
      </p:ext>
    </p:extLst>
  </p:cSld>
  <p:clrMapOvr>
    <a:masterClrMapping/>
  </p:clrMapOvr>
</p:sld>
</file>

<file path=ppt/theme/theme1.xml><?xml version="1.0" encoding="utf-8"?>
<a:theme xmlns:a="http://schemas.openxmlformats.org/drawingml/2006/main" name="KISA">
  <a:themeElements>
    <a:clrScheme name="">
      <a:dk1>
        <a:srgbClr val="800000"/>
      </a:dk1>
      <a:lt1>
        <a:srgbClr val="000066"/>
      </a:lt1>
      <a:dk2>
        <a:srgbClr val="000000"/>
      </a:dk2>
      <a:lt2>
        <a:srgbClr val="333399"/>
      </a:lt2>
      <a:accent1>
        <a:srgbClr val="777777"/>
      </a:accent1>
      <a:accent2>
        <a:srgbClr val="0033CC"/>
      </a:accent2>
      <a:accent3>
        <a:srgbClr val="AAAAAA"/>
      </a:accent3>
      <a:accent4>
        <a:srgbClr val="000056"/>
      </a:accent4>
      <a:accent5>
        <a:srgbClr val="BDBDBD"/>
      </a:accent5>
      <a:accent6>
        <a:srgbClr val="002DB9"/>
      </a:accent6>
      <a:hlink>
        <a:srgbClr val="800000"/>
      </a:hlink>
      <a:folHlink>
        <a:srgbClr val="660066"/>
      </a:folHlink>
    </a:clrScheme>
    <a:fontScheme name="사용자 지정 1">
      <a:majorFont>
        <a:latin typeface="Tahoma"/>
        <a:ea typeface="HY헤드라인M"/>
        <a:cs typeface=""/>
      </a:majorFont>
      <a:minorFont>
        <a:latin typeface="Ebri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KISA 1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777777"/>
        </a:accent1>
        <a:accent2>
          <a:srgbClr val="0033CC"/>
        </a:accent2>
        <a:accent3>
          <a:srgbClr val="AAAAAA"/>
        </a:accent3>
        <a:accent4>
          <a:srgbClr val="DADADA"/>
        </a:accent4>
        <a:accent5>
          <a:srgbClr val="BDBDBD"/>
        </a:accent5>
        <a:accent6>
          <a:srgbClr val="002DB9"/>
        </a:accent6>
        <a:hlink>
          <a:srgbClr val="800000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ISA 2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ISA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강의자료 기본서식-허석렬</Template>
  <TotalTime>9807</TotalTime>
  <Words>4569</Words>
  <Application>Microsoft Office PowerPoint</Application>
  <PresentationFormat>와이드스크린</PresentationFormat>
  <Paragraphs>738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7" baseType="lpstr">
      <vt:lpstr>Arial Unicode MS</vt:lpstr>
      <vt:lpstr>Microsoft YaHei</vt:lpstr>
      <vt:lpstr>굴림</vt:lpstr>
      <vt:lpstr>맑은 고딕</vt:lpstr>
      <vt:lpstr>Arial</vt:lpstr>
      <vt:lpstr>Courier New</vt:lpstr>
      <vt:lpstr>Ebrima</vt:lpstr>
      <vt:lpstr>Helvetica</vt:lpstr>
      <vt:lpstr>Tahoma</vt:lpstr>
      <vt:lpstr>Times New Roman</vt:lpstr>
      <vt:lpstr>Wingdings</vt:lpstr>
      <vt:lpstr>KISA</vt:lpstr>
      <vt:lpstr>10. 윈도우와 브라우저 관련 객체</vt:lpstr>
      <vt:lpstr>강의 목표</vt:lpstr>
      <vt:lpstr>브라우저 관련 객체 개요</vt:lpstr>
      <vt:lpstr>PowerPoint 프레젠테이션</vt:lpstr>
      <vt:lpstr>window 객체</vt:lpstr>
      <vt:lpstr>윈도우 모양과 window 객체의 프로퍼티</vt:lpstr>
      <vt:lpstr>윈도우 열기</vt:lpstr>
      <vt:lpstr>윈도우 열기 사례</vt:lpstr>
      <vt:lpstr>윈도우 이름과 윈도우 열기</vt:lpstr>
      <vt:lpstr>윈도우 닫기</vt:lpstr>
      <vt:lpstr>예제 10-1 window.open()으로 윈도우 열기</vt:lpstr>
      <vt:lpstr>예제 10-2 윈도우 닫기</vt:lpstr>
      <vt:lpstr>window 객체의 타이머 활용</vt:lpstr>
      <vt:lpstr>setTimeout()/clearTimeout()</vt:lpstr>
      <vt:lpstr>예제 10-3 setTimeout()로 웹 페이지 자동 연결</vt:lpstr>
      <vt:lpstr>setInterval()/clearInterval() </vt:lpstr>
      <vt:lpstr>예제 10-4 setInterval()로 텍스트 스크롤</vt:lpstr>
      <vt:lpstr>윈도우 위치 및 크기 조절</vt:lpstr>
      <vt:lpstr>예제 10-5 윈도우의 위치와 크기 조절</vt:lpstr>
      <vt:lpstr>예제 10-5 윈도우의 위치와 크기 조절-예제</vt:lpstr>
      <vt:lpstr>웹 페이지 스크롤</vt:lpstr>
      <vt:lpstr>예제 10-6 1초마다 10픽셀씩 자동 스크롤</vt:lpstr>
      <vt:lpstr>웹 페이지 프린트 </vt:lpstr>
      <vt:lpstr>예제 10-7 웹 페이지 프린트</vt:lpstr>
      <vt:lpstr>onbeforeprint와 onafterprint</vt:lpstr>
      <vt:lpstr>예제 10-8 onbeforeprint와 onafterprint 이벤트 활용</vt:lpstr>
      <vt:lpstr>location 객체</vt:lpstr>
      <vt:lpstr>예제 10-9 location 객체로 웹 사이트 접속</vt:lpstr>
      <vt:lpstr>navigator 객체</vt:lpstr>
      <vt:lpstr>예제 10–10 navigator로 브라우저 정보 출력</vt:lpstr>
      <vt:lpstr>PowerPoint 프레젠테이션</vt:lpstr>
      <vt:lpstr>screen 객체</vt:lpstr>
      <vt:lpstr>예제 10-11 스크린 장치에 관한 정보 출력</vt:lpstr>
      <vt:lpstr>history 객체</vt:lpstr>
      <vt:lpstr>예제 10-12 history 객체 활용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 프로그래밍 개요</dc:title>
  <dc:creator>Microsoft Corporation</dc:creator>
  <cp:lastModifiedBy>jbsiz</cp:lastModifiedBy>
  <cp:revision>102</cp:revision>
  <dcterms:created xsi:type="dcterms:W3CDTF">2006-10-05T04:04:58Z</dcterms:created>
  <dcterms:modified xsi:type="dcterms:W3CDTF">2026-04-13T02:24:40Z</dcterms:modified>
</cp:coreProperties>
</file>