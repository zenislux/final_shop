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3" r:id="rId1"/>
  </p:sldMasterIdLst>
  <p:notesMasterIdLst>
    <p:notesMasterId r:id="rId34"/>
  </p:notesMasterIdLst>
  <p:handoutMasterIdLst>
    <p:handoutMasterId r:id="rId35"/>
  </p:handoutMasterIdLst>
  <p:sldIdLst>
    <p:sldId id="257" r:id="rId2"/>
    <p:sldId id="405" r:id="rId3"/>
    <p:sldId id="372" r:id="rId4"/>
    <p:sldId id="406" r:id="rId5"/>
    <p:sldId id="373" r:id="rId6"/>
    <p:sldId id="407" r:id="rId7"/>
    <p:sldId id="368" r:id="rId8"/>
    <p:sldId id="417" r:id="rId9"/>
    <p:sldId id="369" r:id="rId10"/>
    <p:sldId id="408" r:id="rId11"/>
    <p:sldId id="358" r:id="rId12"/>
    <p:sldId id="399" r:id="rId13"/>
    <p:sldId id="409" r:id="rId14"/>
    <p:sldId id="375" r:id="rId15"/>
    <p:sldId id="397" r:id="rId16"/>
    <p:sldId id="377" r:id="rId17"/>
    <p:sldId id="410" r:id="rId18"/>
    <p:sldId id="378" r:id="rId19"/>
    <p:sldId id="411" r:id="rId20"/>
    <p:sldId id="389" r:id="rId21"/>
    <p:sldId id="390" r:id="rId22"/>
    <p:sldId id="412" r:id="rId23"/>
    <p:sldId id="400" r:id="rId24"/>
    <p:sldId id="418" r:id="rId25"/>
    <p:sldId id="413" r:id="rId26"/>
    <p:sldId id="391" r:id="rId27"/>
    <p:sldId id="392" r:id="rId28"/>
    <p:sldId id="414" r:id="rId29"/>
    <p:sldId id="393" r:id="rId30"/>
    <p:sldId id="415" r:id="rId31"/>
    <p:sldId id="416" r:id="rId32"/>
    <p:sldId id="394" r:id="rId3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3F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267" y="41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153C526-B67E-4AFC-8D07-56450C1861F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BAEEA37-26DF-46A4-AF0A-D050D4AA1E1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6DA6AA-8AED-4D29-98FE-083BDEE994C2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A3BB6C-4F89-4ABD-9DF5-5AE9868CEBD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6A7925-92DA-4DEF-92A9-4D3B7142A99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1A6C5E-D595-4499-A256-AABA494CCC7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6814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0BB476-87BE-450D-8BA4-08251F86185B}" type="datetimeFigureOut">
              <a:rPr lang="ko-KR" altLang="en-US" smtClean="0"/>
              <a:t>2026-04-01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C33C7B-E8FB-464F-999B-A5F06F5683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8943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C33C7B-E8FB-464F-999B-A5F06F5683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85345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47328" y="457200"/>
            <a:ext cx="12090400" cy="6324600"/>
            <a:chOff x="48" y="144"/>
            <a:chExt cx="5712" cy="4128"/>
          </a:xfrm>
        </p:grpSpPr>
        <p:sp>
          <p:nvSpPr>
            <p:cNvPr id="4099" name="AutoShape 3"/>
            <p:cNvSpPr>
              <a:spLocks noChangeArrowheads="1"/>
            </p:cNvSpPr>
            <p:nvPr userDrawn="1"/>
          </p:nvSpPr>
          <p:spPr bwMode="auto">
            <a:xfrm>
              <a:off x="48" y="144"/>
              <a:ext cx="5712" cy="4128"/>
            </a:xfrm>
            <a:prstGeom prst="roundRect">
              <a:avLst>
                <a:gd name="adj" fmla="val 7704"/>
              </a:avLst>
            </a:prstGeom>
            <a:solidFill>
              <a:srgbClr val="FFFFFF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0" name="Rectangle 4"/>
            <p:cNvSpPr>
              <a:spLocks noChangeArrowheads="1"/>
            </p:cNvSpPr>
            <p:nvPr userDrawn="1"/>
          </p:nvSpPr>
          <p:spPr bwMode="auto">
            <a:xfrm>
              <a:off x="4992" y="144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  <p:sp>
          <p:nvSpPr>
            <p:cNvPr id="4101" name="Rectangle 5"/>
            <p:cNvSpPr>
              <a:spLocks noChangeArrowheads="1"/>
            </p:cNvSpPr>
            <p:nvPr userDrawn="1"/>
          </p:nvSpPr>
          <p:spPr bwMode="auto">
            <a:xfrm>
              <a:off x="48" y="3648"/>
              <a:ext cx="768" cy="62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bg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ko-KR" altLang="en-US" sz="1800"/>
            </a:p>
          </p:txBody>
        </p:sp>
      </p:grpSp>
      <p:sp>
        <p:nvSpPr>
          <p:cNvPr id="4102" name="Rectangle 6"/>
          <p:cNvSpPr>
            <a:spLocks noChangeArrowheads="1"/>
          </p:cNvSpPr>
          <p:nvPr/>
        </p:nvSpPr>
        <p:spPr bwMode="auto">
          <a:xfrm>
            <a:off x="0" y="0"/>
            <a:ext cx="12192000" cy="3810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en-US" altLang="ko-KR" sz="1400" b="1" i="1" dirty="0">
                <a:solidFill>
                  <a:srgbClr val="FFFFFF"/>
                </a:solidFill>
              </a:rPr>
              <a:t> </a:t>
            </a:r>
            <a:r>
              <a:rPr lang="ko-KR" altLang="en-US" sz="1400" b="1" i="1" dirty="0">
                <a:solidFill>
                  <a:srgbClr val="FFFFFF"/>
                </a:solidFill>
              </a:rPr>
              <a:t>웹 프로그래밍</a:t>
            </a:r>
            <a:endParaRPr lang="ko-KR" altLang="en-US" sz="1400" b="1" i="1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149600" y="3717032"/>
            <a:ext cx="6096000" cy="1752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ctr">
              <a:buFont typeface="Wingdings" pitchFamily="2" charset="2"/>
              <a:buNone/>
              <a:defRPr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 dirty="0"/>
              <a:t>마스터 부제목 스타일 편집</a:t>
            </a:r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ctrTitle" sz="quarter"/>
          </p:nvPr>
        </p:nvSpPr>
        <p:spPr>
          <a:xfrm>
            <a:off x="1524000" y="2492896"/>
            <a:ext cx="9347200" cy="6396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algn="ctr">
              <a:lnSpc>
                <a:spcPct val="80000"/>
              </a:lnSpc>
              <a:defRPr sz="4400" i="0" baseline="0">
                <a:solidFill>
                  <a:schemeClr val="accent6"/>
                </a:solidFill>
              </a:defRPr>
            </a:lvl1pPr>
          </a:lstStyle>
          <a:p>
            <a:pPr lvl="0"/>
            <a:r>
              <a:rPr lang="ko-KR" altLang="en-US" noProof="0" dirty="0"/>
              <a:t>마스터 제목 스타일 편집</a:t>
            </a:r>
          </a:p>
        </p:txBody>
      </p:sp>
      <p:sp>
        <p:nvSpPr>
          <p:cNvPr id="4108" name="Rectangle 12"/>
          <p:cNvSpPr>
            <a:spLocks noChangeArrowheads="1"/>
          </p:cNvSpPr>
          <p:nvPr/>
        </p:nvSpPr>
        <p:spPr bwMode="auto">
          <a:xfrm>
            <a:off x="2678544" y="3356992"/>
            <a:ext cx="7315200" cy="76200"/>
          </a:xfrm>
          <a:prstGeom prst="rect">
            <a:avLst/>
          </a:prstGeom>
          <a:gradFill rotWithShape="0">
            <a:gsLst>
              <a:gs pos="0">
                <a:schemeClr val="tx1"/>
              </a:gs>
              <a:gs pos="100000">
                <a:srgbClr val="3333CC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4109" name="Line 13"/>
          <p:cNvSpPr>
            <a:spLocks noChangeShapeType="1"/>
          </p:cNvSpPr>
          <p:nvPr/>
        </p:nvSpPr>
        <p:spPr bwMode="auto">
          <a:xfrm>
            <a:off x="10261600" y="457200"/>
            <a:ext cx="1930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endParaRPr lang="ko-KR" altLang="en-US" sz="1800"/>
          </a:p>
        </p:txBody>
      </p:sp>
      <p:pic>
        <p:nvPicPr>
          <p:cNvPr id="4112" name="Picture 16" descr="D:\usr\강의노트\부산대 로고\sanjinee_use0201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" y="620688"/>
            <a:ext cx="1425635" cy="59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392" y="394802"/>
            <a:ext cx="11074400" cy="648072"/>
          </a:xfrm>
        </p:spPr>
        <p:txBody>
          <a:bodyPr/>
          <a:lstStyle>
            <a:lvl1pPr>
              <a:defRPr b="0" i="0" baseline="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700" b="0" i="0" baseline="0">
                <a:solidFill>
                  <a:schemeClr val="tx1"/>
                </a:solidFill>
              </a:defRPr>
            </a:lvl1pPr>
            <a:lvl2pPr>
              <a:defRPr sz="24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2pPr>
            <a:lvl3pPr>
              <a:defRPr sz="20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3pPr>
            <a:lvl4pPr>
              <a:defRPr sz="2000"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4pPr>
            <a:lvl5pPr>
              <a:defRPr baseline="0">
                <a:latin typeface="Microsoft YaHei" panose="020B0503020204020204" pitchFamily="34" charset="-122"/>
                <a:ea typeface="맑은 고딕" panose="020B0503020000020004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578159" y="6218462"/>
            <a:ext cx="11196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840157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4" y="2420889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8976320" y="621846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229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97122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9144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50000" y="1371600"/>
            <a:ext cx="52324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471814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1141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" name="슬라이드 번호 개체 틀 1"/>
          <p:cNvSpPr>
            <a:spLocks noGrp="1"/>
          </p:cNvSpPr>
          <p:nvPr>
            <p:ph type="sldNum" sz="quarter" idx="12"/>
          </p:nvPr>
        </p:nvSpPr>
        <p:spPr>
          <a:xfrm>
            <a:off x="10488488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4602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6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759846" y="6218462"/>
            <a:ext cx="10967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365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17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7" y="528187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8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4654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064552" y="6218462"/>
            <a:ext cx="7565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425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18600" y="457200"/>
            <a:ext cx="2768600" cy="55626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12800" y="457200"/>
            <a:ext cx="8102600" cy="55626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136560" y="6218462"/>
            <a:ext cx="684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95544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12800" y="457200"/>
            <a:ext cx="11074400" cy="762000"/>
          </a:xfrm>
        </p:spPr>
        <p:txBody>
          <a:bodyPr/>
          <a:lstStyle>
            <a:lvl1pPr>
              <a:defRPr i="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914400" y="1371600"/>
            <a:ext cx="10668000" cy="4648200"/>
          </a:xfrm>
        </p:spPr>
        <p:txBody>
          <a:bodyPr/>
          <a:lstStyle/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739" y="6193432"/>
            <a:ext cx="28448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kumimoji="0" sz="1400" b="1"/>
            </a:lvl1pPr>
          </a:lstStyle>
          <a:p>
            <a:endParaRPr lang="ko-KR" altLang="en-US"/>
          </a:p>
        </p:txBody>
      </p:sp>
      <p:sp>
        <p:nvSpPr>
          <p:cNvPr id="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1273260" y="6218462"/>
            <a:ext cx="5478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038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08567" y="6342782"/>
            <a:ext cx="516541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63358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2085257" y="6358659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5735960" y="6359527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11208567" y="6342782"/>
            <a:ext cx="516541" cy="365125"/>
          </a:xfrm>
        </p:spPr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3763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163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2">
            <a:extLst>
              <a:ext uri="{FF2B5EF4-FFF2-40B4-BE49-F238E27FC236}">
                <a16:creationId xmlns:a16="http://schemas.microsoft.com/office/drawing/2014/main" id="{98E7F763-0B39-45DF-ADC9-C7601A17165E}"/>
              </a:ext>
            </a:extLst>
          </p:cNvPr>
          <p:cNvSpPr txBox="1">
            <a:spLocks/>
          </p:cNvSpPr>
          <p:nvPr userDrawn="1"/>
        </p:nvSpPr>
        <p:spPr>
          <a:xfrm>
            <a:off x="11328400" y="6566460"/>
            <a:ext cx="711200" cy="244476"/>
          </a:xfrm>
          <a:prstGeom prst="rect">
            <a:avLst/>
          </a:prstGeom>
        </p:spPr>
        <p:txBody>
          <a:bodyPr vert="horz" anchor="ctr" anchorCtr="0">
            <a:normAutofit fontScale="55000" lnSpcReduction="20000"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z="2200" smtClean="0">
                <a:solidFill>
                  <a:srgbClr val="247ABF"/>
                </a:solidFill>
              </a:rPr>
              <a:pPr/>
              <a:t>‹#›</a:t>
            </a:fld>
            <a:endParaRPr lang="ko-KR" altLang="en-US" sz="1800" dirty="0">
              <a:solidFill>
                <a:srgbClr val="247AB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57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microsoft.com/office/2007/relationships/hdphoto" Target="../media/hdphoto1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5743B9"/>
            </a:gs>
            <a:gs pos="100000">
              <a:srgbClr val="04D2E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ChangeArrowheads="1"/>
          </p:cNvSpPr>
          <p:nvPr/>
        </p:nvSpPr>
        <p:spPr bwMode="auto">
          <a:xfrm>
            <a:off x="0" y="0"/>
            <a:ext cx="12192000" cy="228600"/>
          </a:xfrm>
          <a:prstGeom prst="rect">
            <a:avLst/>
          </a:prstGeom>
          <a:gradFill rotWithShape="0">
            <a:gsLst>
              <a:gs pos="0">
                <a:srgbClr val="021A94">
                  <a:gamma/>
                  <a:shade val="46275"/>
                  <a:invGamma/>
                </a:srgbClr>
              </a:gs>
              <a:gs pos="100000">
                <a:srgbClr val="021A94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r"/>
            <a:r>
              <a:rPr lang="ko-KR" altLang="en-US" sz="1400" b="1" i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웹 프로그래밍       </a:t>
            </a:r>
          </a:p>
        </p:txBody>
      </p:sp>
      <p:sp>
        <p:nvSpPr>
          <p:cNvPr id="3075" name="AutoShape 3"/>
          <p:cNvSpPr>
            <a:spLocks noChangeArrowheads="1"/>
          </p:cNvSpPr>
          <p:nvPr/>
        </p:nvSpPr>
        <p:spPr bwMode="auto">
          <a:xfrm>
            <a:off x="150859" y="312860"/>
            <a:ext cx="11947061" cy="6428508"/>
          </a:xfrm>
          <a:prstGeom prst="roundRect">
            <a:avLst>
              <a:gd name="adj" fmla="val 7704"/>
            </a:avLst>
          </a:prstGeom>
          <a:solidFill>
            <a:srgbClr val="FFFFFF"/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ko-KR" altLang="en-US" sz="180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623392" y="386908"/>
            <a:ext cx="11074400" cy="6480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pic>
        <p:nvPicPr>
          <p:cNvPr id="3089" name="Picture 17" descr="D:\usr\강의노트\부산대 로고\signature01.jpg"/>
          <p:cNvPicPr>
            <a:picLocks noChangeAspect="1" noChangeArrowheads="1"/>
          </p:cNvPicPr>
          <p:nvPr/>
        </p:nvPicPr>
        <p:blipFill>
          <a:blip r:embed="rId18" cstate="print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60" y="6309320"/>
            <a:ext cx="1920213" cy="4320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9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3392" y="1124744"/>
            <a:ext cx="11130293" cy="504056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10320469" y="6342782"/>
            <a:ext cx="14046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70C0"/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60" r:id="rId13"/>
    <p:sldLayoutId id="2147483661" r:id="rId14"/>
    <p:sldLayoutId id="2147483662" r:id="rId15"/>
    <p:sldLayoutId id="2147483676" r:id="rId16"/>
  </p:sldLayoutIdLst>
  <p:hf hdr="0" ftr="0" dt="0"/>
  <p:txStyles>
    <p:titleStyle>
      <a:lvl1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000" b="1" i="0">
          <a:solidFill>
            <a:srgbClr val="47309C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2pPr>
      <a:lvl3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3pPr>
      <a:lvl4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4pPr>
      <a:lvl5pPr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5pPr>
      <a:lvl6pPr marL="4572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6pPr>
      <a:lvl7pPr marL="9144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7pPr>
      <a:lvl8pPr marL="13716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8pPr>
      <a:lvl9pPr marL="1828800" algn="l" rtl="0" eaLnBrk="1" fontAlgn="base" latinLnBrk="1" hangingPunct="1">
        <a:lnSpc>
          <a:spcPct val="70000"/>
        </a:lnSpc>
        <a:spcBef>
          <a:spcPct val="0"/>
        </a:spcBef>
        <a:spcAft>
          <a:spcPct val="0"/>
        </a:spcAft>
        <a:defRPr kumimoji="1" sz="3200" b="1" i="1">
          <a:solidFill>
            <a:srgbClr val="47309C"/>
          </a:solidFill>
          <a:latin typeface="Times New Roman" pitchFamily="18" charset="0"/>
          <a:ea typeface="HY헤드라인M" pitchFamily="18" charset="-127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itchFamily="2" charset="2"/>
        <a:buChar char="q"/>
        <a:defRPr kumimoji="1" sz="2700" b="0" i="0" baseline="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kumimoji="1" sz="2500" baseline="0">
          <a:solidFill>
            <a:schemeClr val="bg1"/>
          </a:solidFill>
          <a:latin typeface="+mn-lt"/>
          <a:ea typeface="맑은 고딕" panose="020B0503020000020004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FF5050"/>
        </a:buClr>
        <a:buSzPct val="80000"/>
        <a:buChar char="o"/>
        <a:defRPr kumimoji="1" sz="2200">
          <a:solidFill>
            <a:schemeClr val="bg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00FF"/>
        </a:buClr>
        <a:buSzPct val="100000"/>
        <a:buChar char="•"/>
        <a:defRPr kumimoji="1" sz="2000">
          <a:solidFill>
            <a:schemeClr val="bg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1800">
          <a:solidFill>
            <a:schemeClr val="bg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lr>
          <a:srgbClr val="00FF99"/>
        </a:buClr>
        <a:buSzPct val="100000"/>
        <a:buFont typeface="Wingdings" pitchFamily="2" charset="2"/>
        <a:buChar char="ü"/>
        <a:defRPr kumimoji="1" sz="2000">
          <a:solidFill>
            <a:schemeClr val="bg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r>
              <a:rPr lang="en-US" altLang="ko-KR" dirty="0"/>
              <a:t>IT</a:t>
            </a:r>
            <a:r>
              <a:rPr lang="ko-KR" altLang="en-US" dirty="0"/>
              <a:t>응용공학과</a:t>
            </a:r>
            <a:endParaRPr lang="en-US" altLang="ko-KR" dirty="0"/>
          </a:p>
          <a:p>
            <a:r>
              <a:rPr lang="ko-KR" altLang="en-US" dirty="0"/>
              <a:t>허석렬</a:t>
            </a:r>
            <a:endParaRPr lang="en-US" altLang="ko-KR" dirty="0"/>
          </a:p>
          <a:p>
            <a:r>
              <a:rPr lang="en-US" altLang="ko-KR" dirty="0"/>
              <a:t>syheo@pusan.ac.kr</a:t>
            </a:r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r>
              <a:rPr lang="en-US" altLang="ko-KR"/>
              <a:t>8. HTML </a:t>
            </a:r>
            <a:r>
              <a:rPr lang="en-US" altLang="ko-KR" dirty="0"/>
              <a:t>DOM</a:t>
            </a:r>
            <a:r>
              <a:rPr lang="ko-KR" altLang="en-US" dirty="0"/>
              <a:t>과 </a:t>
            </a:r>
            <a:r>
              <a:rPr lang="en-US" altLang="ko-KR" dirty="0"/>
              <a:t>Document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69912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idx="1"/>
          </p:nvPr>
        </p:nvSpPr>
        <p:spPr>
          <a:xfrm>
            <a:off x="982663" y="1943150"/>
            <a:ext cx="10075168" cy="3096344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HTML DOM</a:t>
            </a:r>
            <a:r>
              <a:rPr lang="ko-KR" altLang="en-US" sz="2400" dirty="0"/>
              <a:t>의 필요성을 이해한다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DOM </a:t>
            </a:r>
            <a:r>
              <a:rPr lang="ko-KR" altLang="en-US" sz="2400" dirty="0" err="1"/>
              <a:t>트리와</a:t>
            </a:r>
            <a:r>
              <a:rPr lang="ko-KR" altLang="en-US" sz="2400" dirty="0"/>
              <a:t> </a:t>
            </a:r>
            <a:r>
              <a:rPr lang="en-US" altLang="ko-KR" sz="2400" dirty="0"/>
              <a:t>HTML </a:t>
            </a:r>
            <a:r>
              <a:rPr lang="ko-KR" altLang="en-US" sz="2400" dirty="0"/>
              <a:t>페이지의 관계를 이해한다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DOM </a:t>
            </a:r>
            <a:r>
              <a:rPr lang="ko-KR" altLang="en-US" sz="2400" dirty="0"/>
              <a:t>객체의 구조와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태그와의 관계를 이해한다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DOM </a:t>
            </a:r>
            <a:r>
              <a:rPr lang="ko-KR" altLang="en-US" sz="2400" dirty="0"/>
              <a:t>객체를 통해 </a:t>
            </a:r>
            <a:r>
              <a:rPr lang="en-US" altLang="ko-KR" sz="2400" dirty="0"/>
              <a:t>HTML </a:t>
            </a:r>
            <a:r>
              <a:rPr lang="ko-KR" altLang="en-US" sz="2400" dirty="0"/>
              <a:t>태그의 출력 모양과 </a:t>
            </a:r>
            <a:r>
              <a:rPr lang="ko-KR" altLang="en-US" sz="2400" dirty="0" err="1"/>
              <a:t>콘텐츠를</a:t>
            </a:r>
            <a:r>
              <a:rPr lang="ko-KR" altLang="en-US" sz="2400" dirty="0"/>
              <a:t> 제어할 수 있다</a:t>
            </a:r>
            <a:r>
              <a:rPr lang="en-US" altLang="ko-KR" sz="2400" dirty="0"/>
              <a:t>.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r>
              <a:rPr lang="en-US" altLang="ko-KR" sz="2400" dirty="0"/>
              <a:t>document </a:t>
            </a:r>
            <a:r>
              <a:rPr lang="ko-KR" altLang="en-US" sz="2400" dirty="0"/>
              <a:t>객체를 이해하고</a:t>
            </a:r>
            <a:r>
              <a:rPr lang="en-US" altLang="ko-KR" sz="2400" dirty="0"/>
              <a:t>, write() </a:t>
            </a:r>
            <a:r>
              <a:rPr lang="ko-KR" altLang="en-US" sz="2400" dirty="0" err="1"/>
              <a:t>메소드를</a:t>
            </a:r>
            <a:r>
              <a:rPr lang="en-US" altLang="ko-KR" sz="2400" dirty="0"/>
              <a:t> </a:t>
            </a:r>
            <a:r>
              <a:rPr lang="ko-KR" altLang="en-US" sz="2400" dirty="0"/>
              <a:t>활용할 수 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 err="1"/>
              <a:t>createElement</a:t>
            </a:r>
            <a:r>
              <a:rPr lang="en-US" altLang="ko-KR" sz="2400" dirty="0"/>
              <a:t>() </a:t>
            </a:r>
            <a:r>
              <a:rPr lang="ko-KR" altLang="en-US" sz="2400" dirty="0"/>
              <a:t>등을 통해 동적으로 </a:t>
            </a:r>
            <a:r>
              <a:rPr lang="en-US" altLang="ko-KR" sz="2400" dirty="0"/>
              <a:t>DOM </a:t>
            </a:r>
            <a:r>
              <a:rPr lang="ko-KR" altLang="en-US" sz="2400" dirty="0"/>
              <a:t>객체를 웹 페이지에 추가</a:t>
            </a:r>
            <a:r>
              <a:rPr lang="en-US" altLang="ko-KR" sz="2400" dirty="0"/>
              <a:t>,</a:t>
            </a:r>
            <a:r>
              <a:rPr lang="ko-KR" altLang="en-US" sz="2400" dirty="0"/>
              <a:t>삭제할 수 있다</a:t>
            </a:r>
            <a:r>
              <a:rPr lang="en-US" altLang="ko-KR" sz="2400" dirty="0"/>
              <a:t>.</a:t>
            </a:r>
            <a:endParaRPr lang="ko-KR" altLang="en-US" sz="2400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>
          <a:xfrm>
            <a:off x="695400" y="548680"/>
            <a:ext cx="10363200" cy="1362075"/>
          </a:xfrm>
        </p:spPr>
        <p:txBody>
          <a:bodyPr/>
          <a:lstStyle/>
          <a:p>
            <a:r>
              <a:rPr lang="ko-KR" altLang="en-US" dirty="0"/>
              <a:t>강의 목표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24A44A88-8309-45BA-A501-D2B5A92846BF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0745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HTML </a:t>
            </a:r>
            <a:r>
              <a:rPr lang="ko-KR" altLang="en-US"/>
              <a:t>페이지와 자바스크립트 객체</a:t>
            </a:r>
            <a:endParaRPr lang="ko-KR" altLang="en-US" dirty="0"/>
          </a:p>
        </p:txBody>
      </p:sp>
      <p:sp>
        <p:nvSpPr>
          <p:cNvPr id="12" name="내용 개체 틀 11"/>
          <p:cNvSpPr>
            <a:spLocks noGrp="1"/>
          </p:cNvSpPr>
          <p:nvPr>
            <p:ph sz="quarter" idx="1"/>
          </p:nvPr>
        </p:nvSpPr>
        <p:spPr>
          <a:xfrm>
            <a:off x="623392" y="1124744"/>
            <a:ext cx="11130293" cy="888383"/>
          </a:xfrm>
        </p:spPr>
        <p:txBody>
          <a:bodyPr/>
          <a:lstStyle/>
          <a:p>
            <a:r>
              <a:rPr lang="ko-KR" altLang="en-US" dirty="0"/>
              <a:t>자바스크립트 코드는 브라우저로부터 </a:t>
            </a:r>
            <a:r>
              <a:rPr lang="en-US" altLang="ko-KR" dirty="0"/>
              <a:t>3 </a:t>
            </a:r>
            <a:r>
              <a:rPr lang="ko-KR" altLang="en-US" dirty="0"/>
              <a:t>가지 유형의 객체를 제공받아 활용할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</a:t>
            </a:fld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BC1AD25C-9D75-4BE8-B341-709083CB1081}"/>
              </a:ext>
            </a:extLst>
          </p:cNvPr>
          <p:cNvGrpSpPr/>
          <p:nvPr/>
        </p:nvGrpSpPr>
        <p:grpSpPr>
          <a:xfrm>
            <a:off x="1845334" y="2276872"/>
            <a:ext cx="8643154" cy="4248472"/>
            <a:chOff x="2147826" y="2708920"/>
            <a:chExt cx="6810862" cy="3204459"/>
          </a:xfrm>
        </p:grpSpPr>
        <p:sp>
          <p:nvSpPr>
            <p:cNvPr id="15" name="TextBox 14"/>
            <p:cNvSpPr txBox="1"/>
            <p:nvPr/>
          </p:nvSpPr>
          <p:spPr>
            <a:xfrm>
              <a:off x="2147826" y="3948050"/>
              <a:ext cx="994373" cy="3946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ko-KR" altLang="en-US" sz="1400" dirty="0">
                  <a:solidFill>
                    <a:schemeClr val="accent2">
                      <a:lumMod val="75000"/>
                    </a:schemeClr>
                  </a:solidFill>
                </a:rPr>
                <a:t>자바스크립트</a:t>
              </a:r>
              <a:endParaRPr lang="en-US" altLang="ko-KR" sz="1400" dirty="0">
                <a:solidFill>
                  <a:schemeClr val="accent2">
                    <a:lumMod val="75000"/>
                  </a:schemeClr>
                </a:solidFill>
              </a:endParaRPr>
            </a:p>
            <a:p>
              <a:pPr algn="r"/>
              <a:r>
                <a:rPr lang="ko-KR" altLang="en-US" sz="1400" dirty="0">
                  <a:solidFill>
                    <a:schemeClr val="accent2">
                      <a:lumMod val="75000"/>
                    </a:schemeClr>
                  </a:solidFill>
                </a:rPr>
                <a:t>프로그램</a:t>
              </a:r>
            </a:p>
          </p:txBody>
        </p: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E68E2D19-A185-4A5C-AE62-102AE4CA97F9}"/>
                </a:ext>
              </a:extLst>
            </p:cNvPr>
            <p:cNvGrpSpPr/>
            <p:nvPr/>
          </p:nvGrpSpPr>
          <p:grpSpPr>
            <a:xfrm>
              <a:off x="2914843" y="2708920"/>
              <a:ext cx="6043845" cy="3204459"/>
              <a:chOff x="2914843" y="2708920"/>
              <a:chExt cx="6043845" cy="3204459"/>
            </a:xfrm>
          </p:grpSpPr>
          <p:sp>
            <p:nvSpPr>
              <p:cNvPr id="7" name="모서리가 둥근 직사각형 6"/>
              <p:cNvSpPr/>
              <p:nvPr/>
            </p:nvSpPr>
            <p:spPr>
              <a:xfrm>
                <a:off x="4145108" y="2708920"/>
                <a:ext cx="4813580" cy="2836984"/>
              </a:xfrm>
              <a:prstGeom prst="roundRect">
                <a:avLst>
                  <a:gd name="adj" fmla="val 6947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  <a:ln w="1270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" name="세로로 말린 두루마리 모양 3"/>
              <p:cNvSpPr/>
              <p:nvPr/>
            </p:nvSpPr>
            <p:spPr>
              <a:xfrm>
                <a:off x="2914843" y="3025626"/>
                <a:ext cx="2344677" cy="2304255"/>
              </a:xfrm>
              <a:prstGeom prst="verticalScroll">
                <a:avLst>
                  <a:gd name="adj" fmla="val 10329"/>
                </a:avLst>
              </a:prstGeom>
              <a:solidFill>
                <a:srgbClr val="FFFFFF"/>
              </a:solidFill>
              <a:ln w="9525">
                <a:solidFill>
                  <a:srgbClr val="0070C0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defTabSz="180000"/>
                <a:r>
                  <a:rPr lang="en-US" altLang="ko-KR" sz="1050" dirty="0">
                    <a:solidFill>
                      <a:schemeClr val="tx1"/>
                    </a:solidFill>
                  </a:rPr>
                  <a:t>&lt;html&gt;</a:t>
                </a:r>
              </a:p>
              <a:p>
                <a:pPr defTabSz="180000"/>
                <a:r>
                  <a:rPr lang="en-US" altLang="ko-KR" sz="1050" dirty="0">
                    <a:solidFill>
                      <a:schemeClr val="tx1"/>
                    </a:solidFill>
                  </a:rPr>
                  <a:t>&lt;head&gt;</a:t>
                </a:r>
              </a:p>
              <a:p>
                <a:pPr defTabSz="180000"/>
                <a:r>
                  <a:rPr lang="en-US" altLang="ko-KR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&lt;script&gt;</a:t>
                </a:r>
              </a:p>
              <a:p>
                <a:pPr defTabSz="180000"/>
                <a:r>
                  <a:rPr lang="en-US" altLang="ko-KR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 let sum = 0;</a:t>
                </a:r>
              </a:p>
              <a:p>
                <a:pPr defTabSz="180000"/>
                <a:r>
                  <a:rPr lang="en-US" altLang="ko-KR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 for(let n=0; n&lt;10; n++)		    sum += n;</a:t>
                </a:r>
              </a:p>
              <a:p>
                <a:pPr defTabSz="180000"/>
                <a:r>
                  <a:rPr lang="en-US" altLang="ko-KR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  alert(“</a:t>
                </a:r>
                <a:r>
                  <a:rPr lang="ko-KR" altLang="en-US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합은 </a:t>
                </a:r>
                <a:r>
                  <a:rPr lang="en-US" altLang="ko-KR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= “ + sum);</a:t>
                </a:r>
              </a:p>
              <a:p>
                <a:pPr defTabSz="180000"/>
                <a:r>
                  <a:rPr lang="en-US" altLang="ko-KR" sz="1100" b="1" dirty="0">
                    <a:solidFill>
                      <a:schemeClr val="accent2">
                        <a:lumMod val="75000"/>
                      </a:schemeClr>
                    </a:solidFill>
                    <a:latin typeface="Comic Sans MS" panose="030F0702030302020204" pitchFamily="66" charset="0"/>
                  </a:rPr>
                  <a:t>&lt;/script&gt;</a:t>
                </a:r>
              </a:p>
              <a:p>
                <a:pPr defTabSz="180000"/>
                <a:r>
                  <a:rPr lang="en-US" altLang="ko-KR" sz="1050" dirty="0">
                    <a:solidFill>
                      <a:schemeClr val="tx1"/>
                    </a:solidFill>
                  </a:rPr>
                  <a:t>&lt;body&gt;</a:t>
                </a:r>
              </a:p>
              <a:p>
                <a:pPr defTabSz="180000"/>
                <a:r>
                  <a:rPr lang="en-US" altLang="ko-KR" sz="1050" dirty="0">
                    <a:solidFill>
                      <a:schemeClr val="tx1"/>
                    </a:solidFill>
                  </a:rPr>
                  <a:t>	…</a:t>
                </a:r>
              </a:p>
              <a:p>
                <a:pPr defTabSz="180000"/>
                <a:r>
                  <a:rPr lang="en-US" altLang="ko-KR" sz="1050" dirty="0">
                    <a:solidFill>
                      <a:schemeClr val="tx1"/>
                    </a:solidFill>
                  </a:rPr>
                  <a:t>&lt;/html&gt;</a:t>
                </a:r>
                <a:endParaRPr lang="ko-KR" altLang="en-US" sz="105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" name="자유형 5"/>
              <p:cNvSpPr/>
              <p:nvPr/>
            </p:nvSpPr>
            <p:spPr>
              <a:xfrm>
                <a:off x="3172395" y="3572842"/>
                <a:ext cx="1812537" cy="1252984"/>
              </a:xfrm>
              <a:custGeom>
                <a:avLst/>
                <a:gdLst>
                  <a:gd name="connsiteX0" fmla="*/ 467360 w 1719513"/>
                  <a:gd name="connsiteY0" fmla="*/ 30480 h 1209040"/>
                  <a:gd name="connsiteX1" fmla="*/ 203200 w 1719513"/>
                  <a:gd name="connsiteY1" fmla="*/ 40640 h 1209040"/>
                  <a:gd name="connsiteX2" fmla="*/ 121920 w 1719513"/>
                  <a:gd name="connsiteY2" fmla="*/ 50800 h 1209040"/>
                  <a:gd name="connsiteX3" fmla="*/ 60960 w 1719513"/>
                  <a:gd name="connsiteY3" fmla="*/ 71120 h 1209040"/>
                  <a:gd name="connsiteX4" fmla="*/ 40640 w 1719513"/>
                  <a:gd name="connsiteY4" fmla="*/ 223520 h 1209040"/>
                  <a:gd name="connsiteX5" fmla="*/ 10160 w 1719513"/>
                  <a:gd name="connsiteY5" fmla="*/ 325120 h 1209040"/>
                  <a:gd name="connsiteX6" fmla="*/ 0 w 1719513"/>
                  <a:gd name="connsiteY6" fmla="*/ 386080 h 1209040"/>
                  <a:gd name="connsiteX7" fmla="*/ 10160 w 1719513"/>
                  <a:gd name="connsiteY7" fmla="*/ 965200 h 1209040"/>
                  <a:gd name="connsiteX8" fmla="*/ 50800 w 1719513"/>
                  <a:gd name="connsiteY8" fmla="*/ 1026160 h 1209040"/>
                  <a:gd name="connsiteX9" fmla="*/ 60960 w 1719513"/>
                  <a:gd name="connsiteY9" fmla="*/ 1056640 h 1209040"/>
                  <a:gd name="connsiteX10" fmla="*/ 152400 w 1719513"/>
                  <a:gd name="connsiteY10" fmla="*/ 1107440 h 1209040"/>
                  <a:gd name="connsiteX11" fmla="*/ 213360 w 1719513"/>
                  <a:gd name="connsiteY11" fmla="*/ 1158240 h 1209040"/>
                  <a:gd name="connsiteX12" fmla="*/ 254000 w 1719513"/>
                  <a:gd name="connsiteY12" fmla="*/ 1168400 h 1209040"/>
                  <a:gd name="connsiteX13" fmla="*/ 284480 w 1719513"/>
                  <a:gd name="connsiteY13" fmla="*/ 1188720 h 1209040"/>
                  <a:gd name="connsiteX14" fmla="*/ 335280 w 1719513"/>
                  <a:gd name="connsiteY14" fmla="*/ 1198880 h 1209040"/>
                  <a:gd name="connsiteX15" fmla="*/ 365760 w 1719513"/>
                  <a:gd name="connsiteY15" fmla="*/ 1209040 h 1209040"/>
                  <a:gd name="connsiteX16" fmla="*/ 924560 w 1719513"/>
                  <a:gd name="connsiteY16" fmla="*/ 1198880 h 1209040"/>
                  <a:gd name="connsiteX17" fmla="*/ 995680 w 1719513"/>
                  <a:gd name="connsiteY17" fmla="*/ 1188720 h 1209040"/>
                  <a:gd name="connsiteX18" fmla="*/ 1158240 w 1719513"/>
                  <a:gd name="connsiteY18" fmla="*/ 1178560 h 1209040"/>
                  <a:gd name="connsiteX19" fmla="*/ 1341120 w 1719513"/>
                  <a:gd name="connsiteY19" fmla="*/ 1158240 h 1209040"/>
                  <a:gd name="connsiteX20" fmla="*/ 1473200 w 1719513"/>
                  <a:gd name="connsiteY20" fmla="*/ 1148080 h 1209040"/>
                  <a:gd name="connsiteX21" fmla="*/ 1554480 w 1719513"/>
                  <a:gd name="connsiteY21" fmla="*/ 1076960 h 1209040"/>
                  <a:gd name="connsiteX22" fmla="*/ 1564640 w 1719513"/>
                  <a:gd name="connsiteY22" fmla="*/ 1046480 h 1209040"/>
                  <a:gd name="connsiteX23" fmla="*/ 1595120 w 1719513"/>
                  <a:gd name="connsiteY23" fmla="*/ 1036320 h 1209040"/>
                  <a:gd name="connsiteX24" fmla="*/ 1625600 w 1719513"/>
                  <a:gd name="connsiteY24" fmla="*/ 1016000 h 1209040"/>
                  <a:gd name="connsiteX25" fmla="*/ 1666240 w 1719513"/>
                  <a:gd name="connsiteY25" fmla="*/ 955040 h 1209040"/>
                  <a:gd name="connsiteX26" fmla="*/ 1686560 w 1719513"/>
                  <a:gd name="connsiteY26" fmla="*/ 883920 h 1209040"/>
                  <a:gd name="connsiteX27" fmla="*/ 1696720 w 1719513"/>
                  <a:gd name="connsiteY27" fmla="*/ 772160 h 1209040"/>
                  <a:gd name="connsiteX28" fmla="*/ 1706880 w 1719513"/>
                  <a:gd name="connsiteY28" fmla="*/ 711200 h 1209040"/>
                  <a:gd name="connsiteX29" fmla="*/ 1717040 w 1719513"/>
                  <a:gd name="connsiteY29" fmla="*/ 426720 h 1209040"/>
                  <a:gd name="connsiteX30" fmla="*/ 1686560 w 1719513"/>
                  <a:gd name="connsiteY30" fmla="*/ 213360 h 1209040"/>
                  <a:gd name="connsiteX31" fmla="*/ 1595120 w 1719513"/>
                  <a:gd name="connsiteY31" fmla="*/ 142240 h 1209040"/>
                  <a:gd name="connsiteX32" fmla="*/ 1564640 w 1719513"/>
                  <a:gd name="connsiteY32" fmla="*/ 121920 h 1209040"/>
                  <a:gd name="connsiteX33" fmla="*/ 1544320 w 1719513"/>
                  <a:gd name="connsiteY33" fmla="*/ 91440 h 1209040"/>
                  <a:gd name="connsiteX34" fmla="*/ 1513840 w 1719513"/>
                  <a:gd name="connsiteY34" fmla="*/ 81280 h 1209040"/>
                  <a:gd name="connsiteX35" fmla="*/ 1361440 w 1719513"/>
                  <a:gd name="connsiteY35" fmla="*/ 71120 h 1209040"/>
                  <a:gd name="connsiteX36" fmla="*/ 1259840 w 1719513"/>
                  <a:gd name="connsiteY36" fmla="*/ 50800 h 1209040"/>
                  <a:gd name="connsiteX37" fmla="*/ 1198880 w 1719513"/>
                  <a:gd name="connsiteY37" fmla="*/ 40640 h 1209040"/>
                  <a:gd name="connsiteX38" fmla="*/ 1168400 w 1719513"/>
                  <a:gd name="connsiteY38" fmla="*/ 30480 h 1209040"/>
                  <a:gd name="connsiteX39" fmla="*/ 721360 w 1719513"/>
                  <a:gd name="connsiteY39" fmla="*/ 10160 h 1209040"/>
                  <a:gd name="connsiteX40" fmla="*/ 660400 w 1719513"/>
                  <a:gd name="connsiteY40" fmla="*/ 0 h 1209040"/>
                  <a:gd name="connsiteX41" fmla="*/ 467360 w 1719513"/>
                  <a:gd name="connsiteY41" fmla="*/ 30480 h 1209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</a:cxnLst>
                <a:rect l="l" t="t" r="r" b="b"/>
                <a:pathLst>
                  <a:path w="1719513" h="1209040">
                    <a:moveTo>
                      <a:pt x="467360" y="30480"/>
                    </a:moveTo>
                    <a:cubicBezTo>
                      <a:pt x="391160" y="37253"/>
                      <a:pt x="291166" y="35466"/>
                      <a:pt x="203200" y="40640"/>
                    </a:cubicBezTo>
                    <a:cubicBezTo>
                      <a:pt x="175943" y="42243"/>
                      <a:pt x="148618" y="45079"/>
                      <a:pt x="121920" y="50800"/>
                    </a:cubicBezTo>
                    <a:cubicBezTo>
                      <a:pt x="100976" y="55288"/>
                      <a:pt x="60960" y="71120"/>
                      <a:pt x="60960" y="71120"/>
                    </a:cubicBezTo>
                    <a:cubicBezTo>
                      <a:pt x="35583" y="147252"/>
                      <a:pt x="60529" y="64409"/>
                      <a:pt x="40640" y="223520"/>
                    </a:cubicBezTo>
                    <a:cubicBezTo>
                      <a:pt x="31806" y="294189"/>
                      <a:pt x="24892" y="236725"/>
                      <a:pt x="10160" y="325120"/>
                    </a:cubicBezTo>
                    <a:lnTo>
                      <a:pt x="0" y="386080"/>
                    </a:lnTo>
                    <a:cubicBezTo>
                      <a:pt x="3387" y="579120"/>
                      <a:pt x="-5115" y="772735"/>
                      <a:pt x="10160" y="965200"/>
                    </a:cubicBezTo>
                    <a:cubicBezTo>
                      <a:pt x="12092" y="989545"/>
                      <a:pt x="43077" y="1002992"/>
                      <a:pt x="50800" y="1026160"/>
                    </a:cubicBezTo>
                    <a:cubicBezTo>
                      <a:pt x="54187" y="1036320"/>
                      <a:pt x="53387" y="1049067"/>
                      <a:pt x="60960" y="1056640"/>
                    </a:cubicBezTo>
                    <a:cubicBezTo>
                      <a:pt x="125029" y="1120709"/>
                      <a:pt x="101296" y="1081888"/>
                      <a:pt x="152400" y="1107440"/>
                    </a:cubicBezTo>
                    <a:cubicBezTo>
                      <a:pt x="295264" y="1178872"/>
                      <a:pt x="56071" y="1068361"/>
                      <a:pt x="213360" y="1158240"/>
                    </a:cubicBezTo>
                    <a:cubicBezTo>
                      <a:pt x="225484" y="1165168"/>
                      <a:pt x="240453" y="1165013"/>
                      <a:pt x="254000" y="1168400"/>
                    </a:cubicBezTo>
                    <a:cubicBezTo>
                      <a:pt x="264160" y="1175173"/>
                      <a:pt x="273047" y="1184433"/>
                      <a:pt x="284480" y="1188720"/>
                    </a:cubicBezTo>
                    <a:cubicBezTo>
                      <a:pt x="300649" y="1194783"/>
                      <a:pt x="318527" y="1194692"/>
                      <a:pt x="335280" y="1198880"/>
                    </a:cubicBezTo>
                    <a:cubicBezTo>
                      <a:pt x="345670" y="1201477"/>
                      <a:pt x="355600" y="1205653"/>
                      <a:pt x="365760" y="1209040"/>
                    </a:cubicBezTo>
                    <a:lnTo>
                      <a:pt x="924560" y="1198880"/>
                    </a:lnTo>
                    <a:cubicBezTo>
                      <a:pt x="948495" y="1198108"/>
                      <a:pt x="971823" y="1190795"/>
                      <a:pt x="995680" y="1188720"/>
                    </a:cubicBezTo>
                    <a:cubicBezTo>
                      <a:pt x="1049768" y="1184017"/>
                      <a:pt x="1104053" y="1181947"/>
                      <a:pt x="1158240" y="1178560"/>
                    </a:cubicBezTo>
                    <a:cubicBezTo>
                      <a:pt x="1237644" y="1152092"/>
                      <a:pt x="1175069" y="1170101"/>
                      <a:pt x="1341120" y="1158240"/>
                    </a:cubicBezTo>
                    <a:lnTo>
                      <a:pt x="1473200" y="1148080"/>
                    </a:lnTo>
                    <a:cubicBezTo>
                      <a:pt x="1518920" y="1117600"/>
                      <a:pt x="1533313" y="1119293"/>
                      <a:pt x="1554480" y="1076960"/>
                    </a:cubicBezTo>
                    <a:cubicBezTo>
                      <a:pt x="1559269" y="1067381"/>
                      <a:pt x="1557067" y="1054053"/>
                      <a:pt x="1564640" y="1046480"/>
                    </a:cubicBezTo>
                    <a:cubicBezTo>
                      <a:pt x="1572213" y="1038907"/>
                      <a:pt x="1585541" y="1041109"/>
                      <a:pt x="1595120" y="1036320"/>
                    </a:cubicBezTo>
                    <a:cubicBezTo>
                      <a:pt x="1606042" y="1030859"/>
                      <a:pt x="1615440" y="1022773"/>
                      <a:pt x="1625600" y="1016000"/>
                    </a:cubicBezTo>
                    <a:cubicBezTo>
                      <a:pt x="1649758" y="943526"/>
                      <a:pt x="1615503" y="1031146"/>
                      <a:pt x="1666240" y="955040"/>
                    </a:cubicBezTo>
                    <a:cubicBezTo>
                      <a:pt x="1672070" y="946295"/>
                      <a:pt x="1685205" y="889339"/>
                      <a:pt x="1686560" y="883920"/>
                    </a:cubicBezTo>
                    <a:cubicBezTo>
                      <a:pt x="1689947" y="846667"/>
                      <a:pt x="1692349" y="809311"/>
                      <a:pt x="1696720" y="772160"/>
                    </a:cubicBezTo>
                    <a:cubicBezTo>
                      <a:pt x="1699127" y="751701"/>
                      <a:pt x="1705670" y="731765"/>
                      <a:pt x="1706880" y="711200"/>
                    </a:cubicBezTo>
                    <a:cubicBezTo>
                      <a:pt x="1712452" y="616477"/>
                      <a:pt x="1713653" y="521547"/>
                      <a:pt x="1717040" y="426720"/>
                    </a:cubicBezTo>
                    <a:cubicBezTo>
                      <a:pt x="1711041" y="318734"/>
                      <a:pt x="1739779" y="277223"/>
                      <a:pt x="1686560" y="213360"/>
                    </a:cubicBezTo>
                    <a:cubicBezTo>
                      <a:pt x="1656717" y="177548"/>
                      <a:pt x="1637601" y="170561"/>
                      <a:pt x="1595120" y="142240"/>
                    </a:cubicBezTo>
                    <a:lnTo>
                      <a:pt x="1564640" y="121920"/>
                    </a:lnTo>
                    <a:cubicBezTo>
                      <a:pt x="1557867" y="111760"/>
                      <a:pt x="1553855" y="99068"/>
                      <a:pt x="1544320" y="91440"/>
                    </a:cubicBezTo>
                    <a:cubicBezTo>
                      <a:pt x="1535957" y="84750"/>
                      <a:pt x="1524484" y="82463"/>
                      <a:pt x="1513840" y="81280"/>
                    </a:cubicBezTo>
                    <a:cubicBezTo>
                      <a:pt x="1463239" y="75658"/>
                      <a:pt x="1412240" y="74507"/>
                      <a:pt x="1361440" y="71120"/>
                    </a:cubicBezTo>
                    <a:cubicBezTo>
                      <a:pt x="1152547" y="36305"/>
                      <a:pt x="1411403" y="81113"/>
                      <a:pt x="1259840" y="50800"/>
                    </a:cubicBezTo>
                    <a:cubicBezTo>
                      <a:pt x="1239640" y="46760"/>
                      <a:pt x="1218990" y="45109"/>
                      <a:pt x="1198880" y="40640"/>
                    </a:cubicBezTo>
                    <a:cubicBezTo>
                      <a:pt x="1188425" y="38317"/>
                      <a:pt x="1179051" y="31601"/>
                      <a:pt x="1168400" y="30480"/>
                    </a:cubicBezTo>
                    <a:cubicBezTo>
                      <a:pt x="1069319" y="20050"/>
                      <a:pt x="783643" y="12384"/>
                      <a:pt x="721360" y="10160"/>
                    </a:cubicBezTo>
                    <a:cubicBezTo>
                      <a:pt x="701040" y="6773"/>
                      <a:pt x="681000" y="0"/>
                      <a:pt x="660400" y="0"/>
                    </a:cubicBezTo>
                    <a:cubicBezTo>
                      <a:pt x="585816" y="0"/>
                      <a:pt x="543560" y="23707"/>
                      <a:pt x="467360" y="30480"/>
                    </a:cubicBezTo>
                    <a:close/>
                  </a:path>
                </a:pathLst>
              </a:custGeom>
              <a:noFill/>
              <a:ln w="9525">
                <a:solidFill>
                  <a:srgbClr val="6699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148477" y="5574825"/>
                <a:ext cx="1005403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600" dirty="0"/>
                  <a:t>브라우저</a:t>
                </a:r>
              </a:p>
            </p:txBody>
          </p:sp>
          <p:sp>
            <p:nvSpPr>
              <p:cNvPr id="11" name="직사각형 10"/>
              <p:cNvSpPr/>
              <p:nvPr/>
            </p:nvSpPr>
            <p:spPr>
              <a:xfrm>
                <a:off x="3670973" y="2979460"/>
                <a:ext cx="909223" cy="2769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sz="1200" dirty="0">
                    <a:solidFill>
                      <a:srgbClr val="00B0F0"/>
                    </a:solidFill>
                  </a:rPr>
                  <a:t>index.html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5398381" y="3789461"/>
                <a:ext cx="45397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50" dirty="0">
                    <a:solidFill>
                      <a:schemeClr val="accent2">
                        <a:lumMod val="75000"/>
                      </a:schemeClr>
                    </a:solidFill>
                  </a:rPr>
                  <a:t>활용</a:t>
                </a:r>
              </a:p>
            </p:txBody>
          </p:sp>
          <p:sp>
            <p:nvSpPr>
              <p:cNvPr id="21" name="오른쪽 화살표 20"/>
              <p:cNvSpPr/>
              <p:nvPr/>
            </p:nvSpPr>
            <p:spPr>
              <a:xfrm rot="20442512">
                <a:off x="4955129" y="3733624"/>
                <a:ext cx="1200074" cy="83731"/>
              </a:xfrm>
              <a:prstGeom prst="rightArrow">
                <a:avLst>
                  <a:gd name="adj1" fmla="val 50000"/>
                  <a:gd name="adj2" fmla="val 144694"/>
                </a:avLst>
              </a:prstGeom>
              <a:solidFill>
                <a:srgbClr val="66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타원 18"/>
              <p:cNvSpPr/>
              <p:nvPr/>
            </p:nvSpPr>
            <p:spPr>
              <a:xfrm>
                <a:off x="6135341" y="2812039"/>
                <a:ext cx="1224136" cy="1054045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Rectangle 411"/>
              <p:cNvSpPr>
                <a:spLocks noChangeArrowheads="1"/>
              </p:cNvSpPr>
              <p:nvPr/>
            </p:nvSpPr>
            <p:spPr bwMode="auto">
              <a:xfrm>
                <a:off x="6321530" y="3014505"/>
                <a:ext cx="834111" cy="2352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669900"/>
                </a:solidFill>
                <a:miter lim="800000"/>
                <a:headEnd/>
                <a:tailEnd/>
              </a:ln>
              <a:effectLst/>
            </p:spPr>
            <p:txBody>
              <a:bodyPr wrap="none" lIns="36000" tIns="46038" rIns="36000" bIns="46038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Helvetica" pitchFamily="34" charset="0"/>
                    <a:ea typeface="돋움" pitchFamily="50" charset="-127"/>
                  </a:rPr>
                  <a:t>window</a:t>
                </a:r>
              </a:p>
            </p:txBody>
          </p:sp>
          <p:sp>
            <p:nvSpPr>
              <p:cNvPr id="22" name="Rectangle 411"/>
              <p:cNvSpPr>
                <a:spLocks noChangeArrowheads="1"/>
              </p:cNvSpPr>
              <p:nvPr/>
            </p:nvSpPr>
            <p:spPr bwMode="auto">
              <a:xfrm>
                <a:off x="6321529" y="3342049"/>
                <a:ext cx="834111" cy="26770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669900"/>
                </a:solidFill>
                <a:miter lim="800000"/>
                <a:headEnd/>
                <a:tailEnd/>
              </a:ln>
              <a:effectLst/>
            </p:spPr>
            <p:txBody>
              <a:bodyPr wrap="none" lIns="36000" tIns="46038" rIns="36000" bIns="46038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Helvetica" pitchFamily="34" charset="0"/>
                    <a:ea typeface="돋움" pitchFamily="50" charset="-127"/>
                  </a:rPr>
                  <a:t>history</a:t>
                </a:r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5286280" y="2840960"/>
                <a:ext cx="103524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/>
                  <a:t>BOM </a:t>
                </a:r>
                <a:r>
                  <a:rPr lang="ko-KR" altLang="en-US" sz="1200" b="1" dirty="0"/>
                  <a:t>객체</a:t>
                </a:r>
              </a:p>
            </p:txBody>
          </p:sp>
          <p:sp>
            <p:nvSpPr>
              <p:cNvPr id="25" name="TextBox 24"/>
              <p:cNvSpPr txBox="1"/>
              <p:nvPr/>
            </p:nvSpPr>
            <p:spPr>
              <a:xfrm>
                <a:off x="6553451" y="3505155"/>
                <a:ext cx="3587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</a:t>
                </a:r>
                <a:endParaRPr lang="ko-KR" altLang="en-US" dirty="0"/>
              </a:p>
            </p:txBody>
          </p:sp>
          <p:sp>
            <p:nvSpPr>
              <p:cNvPr id="32" name="타원 31"/>
              <p:cNvSpPr/>
              <p:nvPr/>
            </p:nvSpPr>
            <p:spPr>
              <a:xfrm>
                <a:off x="6148476" y="4319367"/>
                <a:ext cx="1224136" cy="1128958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Rectangle 411"/>
              <p:cNvSpPr>
                <a:spLocks noChangeArrowheads="1"/>
              </p:cNvSpPr>
              <p:nvPr/>
            </p:nvSpPr>
            <p:spPr bwMode="auto">
              <a:xfrm>
                <a:off x="6334665" y="4521834"/>
                <a:ext cx="834111" cy="2352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669900"/>
                </a:solidFill>
                <a:miter lim="800000"/>
                <a:headEnd/>
                <a:tailEnd/>
              </a:ln>
              <a:effectLst/>
            </p:spPr>
            <p:txBody>
              <a:bodyPr wrap="none" lIns="36000" tIns="46038" rIns="36000" bIns="46038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Helvetica" pitchFamily="34" charset="0"/>
                    <a:ea typeface="돋움" pitchFamily="50" charset="-127"/>
                  </a:rPr>
                  <a:t>document</a:t>
                </a:r>
              </a:p>
            </p:txBody>
          </p:sp>
          <p:sp>
            <p:nvSpPr>
              <p:cNvPr id="34" name="Rectangle 411"/>
              <p:cNvSpPr>
                <a:spLocks noChangeArrowheads="1"/>
              </p:cNvSpPr>
              <p:nvPr/>
            </p:nvSpPr>
            <p:spPr bwMode="auto">
              <a:xfrm>
                <a:off x="6334664" y="4849378"/>
                <a:ext cx="834111" cy="26770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669900"/>
                </a:solidFill>
                <a:miter lim="800000"/>
                <a:headEnd/>
                <a:tailEnd/>
              </a:ln>
              <a:effectLst/>
            </p:spPr>
            <p:txBody>
              <a:bodyPr wrap="none" lIns="36000" tIns="46038" rIns="36000" bIns="46038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Helvetica" pitchFamily="34" charset="0"/>
                    <a:ea typeface="돋움" pitchFamily="50" charset="-127"/>
                  </a:rPr>
                  <a:t>body</a:t>
                </a:r>
              </a:p>
            </p:txBody>
          </p:sp>
          <p:sp>
            <p:nvSpPr>
              <p:cNvPr id="36" name="TextBox 35"/>
              <p:cNvSpPr txBox="1"/>
              <p:nvPr/>
            </p:nvSpPr>
            <p:spPr>
              <a:xfrm>
                <a:off x="5207725" y="4988216"/>
                <a:ext cx="112693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200" b="1" dirty="0"/>
                  <a:t>HTML DOM</a:t>
                </a:r>
              </a:p>
              <a:p>
                <a:r>
                  <a:rPr lang="ko-KR" altLang="en-US" sz="1200" b="1" dirty="0"/>
                  <a:t>          객체</a:t>
                </a:r>
              </a:p>
            </p:txBody>
          </p:sp>
          <p:sp>
            <p:nvSpPr>
              <p:cNvPr id="37" name="TextBox 36"/>
              <p:cNvSpPr txBox="1"/>
              <p:nvPr/>
            </p:nvSpPr>
            <p:spPr>
              <a:xfrm>
                <a:off x="6566586" y="5044276"/>
                <a:ext cx="3587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>
                    <a:solidFill>
                      <a:srgbClr val="0070C0"/>
                    </a:solidFill>
                  </a:rPr>
                  <a:t>…</a:t>
                </a:r>
                <a:endParaRPr lang="ko-KR" altLang="en-US" dirty="0">
                  <a:solidFill>
                    <a:srgbClr val="0070C0"/>
                  </a:solidFill>
                </a:endParaRPr>
              </a:p>
            </p:txBody>
          </p:sp>
          <p:sp>
            <p:nvSpPr>
              <p:cNvPr id="39" name="타원 38"/>
              <p:cNvSpPr/>
              <p:nvPr/>
            </p:nvSpPr>
            <p:spPr>
              <a:xfrm>
                <a:off x="7530076" y="3511414"/>
                <a:ext cx="1224136" cy="1054045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0" name="Rectangle 411"/>
              <p:cNvSpPr>
                <a:spLocks noChangeArrowheads="1"/>
              </p:cNvSpPr>
              <p:nvPr/>
            </p:nvSpPr>
            <p:spPr bwMode="auto">
              <a:xfrm>
                <a:off x="7716265" y="3713880"/>
                <a:ext cx="834111" cy="2352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669900"/>
                </a:solidFill>
                <a:miter lim="800000"/>
                <a:headEnd/>
                <a:tailEnd/>
              </a:ln>
              <a:effectLst/>
            </p:spPr>
            <p:txBody>
              <a:bodyPr wrap="none" lIns="36000" tIns="46038" rIns="36000" bIns="46038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Helvetica" pitchFamily="34" charset="0"/>
                    <a:ea typeface="돋움" pitchFamily="50" charset="-127"/>
                  </a:rPr>
                  <a:t>Array</a:t>
                </a:r>
              </a:p>
            </p:txBody>
          </p:sp>
          <p:sp>
            <p:nvSpPr>
              <p:cNvPr id="41" name="Rectangle 411"/>
              <p:cNvSpPr>
                <a:spLocks noChangeArrowheads="1"/>
              </p:cNvSpPr>
              <p:nvPr/>
            </p:nvSpPr>
            <p:spPr bwMode="auto">
              <a:xfrm>
                <a:off x="7716264" y="4041424"/>
                <a:ext cx="834111" cy="267705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9525">
                <a:solidFill>
                  <a:srgbClr val="669900"/>
                </a:solidFill>
                <a:miter lim="800000"/>
                <a:headEnd/>
                <a:tailEnd/>
              </a:ln>
              <a:effectLst/>
            </p:spPr>
            <p:txBody>
              <a:bodyPr wrap="none" lIns="36000" tIns="46038" rIns="36000" bIns="46038" anchor="ctr"/>
              <a:lstStyle/>
              <a:p>
                <a:pPr algn="ctr" eaLnBrk="0" latinLnBrk="0" hangingPunct="0">
                  <a:spcBef>
                    <a:spcPct val="20000"/>
                  </a:spcBef>
                </a:pPr>
                <a:r>
                  <a:rPr lang="en-US" altLang="ko-KR" sz="1200" b="1" dirty="0">
                    <a:solidFill>
                      <a:srgbClr val="0070C0"/>
                    </a:solidFill>
                    <a:latin typeface="Helvetica" pitchFamily="34" charset="0"/>
                    <a:ea typeface="돋움" pitchFamily="50" charset="-127"/>
                  </a:rPr>
                  <a:t>Date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7716264" y="4642080"/>
                <a:ext cx="92585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ko-KR" altLang="en-US" sz="1200" b="1" dirty="0"/>
                  <a:t>코어 객체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7948186" y="4204530"/>
                <a:ext cx="35871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dirty="0"/>
                  <a:t>…</a:t>
                </a:r>
                <a:endParaRPr lang="ko-KR" altLang="en-US" dirty="0"/>
              </a:p>
            </p:txBody>
          </p:sp>
          <p:sp>
            <p:nvSpPr>
              <p:cNvPr id="44" name="오른쪽 화살표 43"/>
              <p:cNvSpPr/>
              <p:nvPr/>
            </p:nvSpPr>
            <p:spPr>
              <a:xfrm rot="844174">
                <a:off x="4962588" y="4301820"/>
                <a:ext cx="1201645" cy="67789"/>
              </a:xfrm>
              <a:prstGeom prst="rightArrow">
                <a:avLst>
                  <a:gd name="adj1" fmla="val 50000"/>
                  <a:gd name="adj2" fmla="val 144694"/>
                </a:avLst>
              </a:prstGeom>
              <a:solidFill>
                <a:srgbClr val="66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오른쪽 화살표 44"/>
              <p:cNvSpPr/>
              <p:nvPr/>
            </p:nvSpPr>
            <p:spPr>
              <a:xfrm>
                <a:off x="4987801" y="4034792"/>
                <a:ext cx="2542276" cy="96685"/>
              </a:xfrm>
              <a:prstGeom prst="rightArrow">
                <a:avLst>
                  <a:gd name="adj1" fmla="val 50000"/>
                  <a:gd name="adj2" fmla="val 144694"/>
                </a:avLst>
              </a:prstGeom>
              <a:solidFill>
                <a:srgbClr val="6699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TextBox 45"/>
              <p:cNvSpPr txBox="1"/>
              <p:nvPr/>
            </p:nvSpPr>
            <p:spPr>
              <a:xfrm>
                <a:off x="5388054" y="4064220"/>
                <a:ext cx="453971" cy="25391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ko-KR" altLang="en-US" sz="1050" dirty="0">
                    <a:solidFill>
                      <a:schemeClr val="accent2">
                        <a:lumMod val="75000"/>
                      </a:schemeClr>
                    </a:solidFill>
                  </a:rPr>
                  <a:t>활용</a:t>
                </a:r>
              </a:p>
            </p:txBody>
          </p:sp>
        </p:grpSp>
      </p:grpSp>
      <p:sp>
        <p:nvSpPr>
          <p:cNvPr id="31" name="슬라이드 번호 개체 틀 3">
            <a:extLst>
              <a:ext uri="{FF2B5EF4-FFF2-40B4-BE49-F238E27FC236}">
                <a16:creationId xmlns:a16="http://schemas.microsoft.com/office/drawing/2014/main" id="{11C4341C-3F46-4397-B686-1A514664388C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3486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HTML DOM(Document Object Model)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ko-KR" dirty="0"/>
              <a:t>HTML DOM(</a:t>
            </a:r>
            <a:r>
              <a:rPr lang="ko-KR" altLang="en-US" dirty="0"/>
              <a:t>간단히 </a:t>
            </a:r>
            <a:r>
              <a:rPr lang="en-US" altLang="ko-KR" dirty="0"/>
              <a:t>DOM)</a:t>
            </a:r>
          </a:p>
          <a:p>
            <a:pPr lvl="1"/>
            <a:r>
              <a:rPr lang="ko-KR" altLang="en-US" dirty="0"/>
              <a:t>웹 페이지에 작성된 </a:t>
            </a:r>
            <a:r>
              <a:rPr lang="en-US" altLang="ko-KR" dirty="0"/>
              <a:t>HTML </a:t>
            </a:r>
            <a:r>
              <a:rPr lang="ko-KR" altLang="en-US" dirty="0"/>
              <a:t>태그 당 객체</a:t>
            </a:r>
            <a:r>
              <a:rPr lang="en-US" altLang="ko-KR" dirty="0"/>
              <a:t>(DOM 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 생성</a:t>
            </a:r>
            <a:endParaRPr lang="en-US" altLang="ko-KR" dirty="0"/>
          </a:p>
          <a:p>
            <a:pPr lvl="1"/>
            <a:r>
              <a:rPr lang="ko-KR" altLang="en-US" dirty="0"/>
              <a:t>목적</a:t>
            </a:r>
            <a:endParaRPr lang="en-US" altLang="ko-KR" dirty="0"/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태그가 출력된 모양이나 </a:t>
            </a:r>
            <a:r>
              <a:rPr lang="ko-KR" altLang="en-US" dirty="0" err="1"/>
              <a:t>콘텐츠를</a:t>
            </a:r>
            <a:r>
              <a:rPr lang="ko-KR" altLang="en-US" dirty="0"/>
              <a:t> 제어하기 위해</a:t>
            </a:r>
          </a:p>
          <a:p>
            <a:pPr lvl="3"/>
            <a:r>
              <a:rPr lang="en-US" altLang="ko-KR" dirty="0"/>
              <a:t>DOM </a:t>
            </a:r>
            <a:r>
              <a:rPr lang="ko-KR" altLang="en-US" dirty="0"/>
              <a:t>객체를 통해 각 태그의 </a:t>
            </a:r>
            <a:r>
              <a:rPr lang="en-US" altLang="ko-KR" dirty="0"/>
              <a:t>CSS3 </a:t>
            </a:r>
            <a:r>
              <a:rPr lang="ko-KR" altLang="en-US" dirty="0"/>
              <a:t>스타일 시트 접근 및 변경</a:t>
            </a:r>
            <a:endParaRPr lang="en-US" altLang="ko-KR" dirty="0"/>
          </a:p>
          <a:p>
            <a:pPr lvl="3"/>
            <a:r>
              <a:rPr lang="en-US" altLang="ko-KR" dirty="0"/>
              <a:t>HTML </a:t>
            </a:r>
            <a:r>
              <a:rPr lang="ko-KR" altLang="en-US" dirty="0"/>
              <a:t>태그에 의해 출력된 텍스트나 이미지 변경</a:t>
            </a:r>
            <a:endParaRPr lang="en-US" altLang="ko-KR" dirty="0"/>
          </a:p>
          <a:p>
            <a:r>
              <a:rPr lang="en-US" altLang="ko-KR" dirty="0"/>
              <a:t>DOM </a:t>
            </a:r>
            <a:r>
              <a:rPr lang="ko-KR" altLang="en-US" dirty="0"/>
              <a:t>트리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태그의 포함관계에 따라 </a:t>
            </a:r>
            <a:r>
              <a:rPr lang="en-US" altLang="ko-KR" dirty="0"/>
              <a:t>DOM </a:t>
            </a:r>
            <a:r>
              <a:rPr lang="ko-KR" altLang="en-US" dirty="0"/>
              <a:t>객체의 트리</a:t>
            </a:r>
            <a:r>
              <a:rPr lang="en-US" altLang="ko-KR" dirty="0"/>
              <a:t>(tree)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en-US" altLang="ko-KR" dirty="0"/>
              <a:t>DOM </a:t>
            </a:r>
            <a:r>
              <a:rPr lang="ko-KR" altLang="en-US" dirty="0" err="1"/>
              <a:t>트리는</a:t>
            </a:r>
            <a:r>
              <a:rPr lang="ko-KR" altLang="en-US" dirty="0"/>
              <a:t> 부모 자식 관계</a:t>
            </a:r>
            <a:endParaRPr lang="en-US" altLang="ko-KR" dirty="0"/>
          </a:p>
          <a:p>
            <a:r>
              <a:rPr lang="en-US" altLang="ko-KR" dirty="0"/>
              <a:t>DOM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en-US" altLang="ko-KR" dirty="0"/>
              <a:t>DOM </a:t>
            </a:r>
            <a:r>
              <a:rPr lang="ko-KR" altLang="en-US" dirty="0" err="1"/>
              <a:t>트리의</a:t>
            </a:r>
            <a:r>
              <a:rPr lang="ko-KR" altLang="en-US" dirty="0"/>
              <a:t> 한 </a:t>
            </a:r>
            <a:r>
              <a:rPr lang="ko-KR" altLang="en-US" dirty="0" err="1"/>
              <a:t>노드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태그 당 하나의 </a:t>
            </a:r>
            <a:r>
              <a:rPr lang="en-US" altLang="ko-KR" dirty="0"/>
              <a:t>DOM </a:t>
            </a:r>
            <a:r>
              <a:rPr lang="ko-KR" altLang="en-US" dirty="0"/>
              <a:t>객체 생성</a:t>
            </a:r>
          </a:p>
          <a:p>
            <a:pPr lvl="2"/>
            <a:r>
              <a:rPr lang="en-US" altLang="ko-KR" dirty="0"/>
              <a:t>DOM </a:t>
            </a:r>
            <a:r>
              <a:rPr lang="ko-KR" altLang="en-US" dirty="0" err="1"/>
              <a:t>노드</a:t>
            </a:r>
            <a:r>
              <a:rPr lang="en-US" altLang="ko-KR" dirty="0"/>
              <a:t>(Node), DOM </a:t>
            </a:r>
            <a:r>
              <a:rPr lang="ko-KR" altLang="en-US" dirty="0" err="1"/>
              <a:t>엘리먼트</a:t>
            </a:r>
            <a:r>
              <a:rPr lang="en-US" altLang="ko-KR" dirty="0"/>
              <a:t>(Element) </a:t>
            </a:r>
            <a:r>
              <a:rPr lang="ko-KR" altLang="en-US" dirty="0"/>
              <a:t>라고도 불림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4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4F19F720-97EC-4283-A2E9-E8114AC0BD5E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072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5</a:t>
            </a:fld>
            <a:endParaRPr lang="ko-KR" altLang="en-US" dirty="0"/>
          </a:p>
        </p:txBody>
      </p:sp>
      <p:grpSp>
        <p:nvGrpSpPr>
          <p:cNvPr id="37" name="그룹 36"/>
          <p:cNvGrpSpPr/>
          <p:nvPr/>
        </p:nvGrpSpPr>
        <p:grpSpPr>
          <a:xfrm>
            <a:off x="1919537" y="271736"/>
            <a:ext cx="8618863" cy="5976664"/>
            <a:chOff x="179513" y="260648"/>
            <a:chExt cx="8618863" cy="5976664"/>
          </a:xfrm>
        </p:grpSpPr>
        <p:grpSp>
          <p:nvGrpSpPr>
            <p:cNvPr id="7" name="그룹 6"/>
            <p:cNvGrpSpPr/>
            <p:nvPr/>
          </p:nvGrpSpPr>
          <p:grpSpPr>
            <a:xfrm>
              <a:off x="179513" y="2593745"/>
              <a:ext cx="3168351" cy="3231654"/>
              <a:chOff x="179513" y="2306475"/>
              <a:chExt cx="3168351" cy="3231654"/>
            </a:xfrm>
          </p:grpSpPr>
          <p:sp>
            <p:nvSpPr>
              <p:cNvPr id="52" name="직사각형 51"/>
              <p:cNvSpPr/>
              <p:nvPr/>
            </p:nvSpPr>
            <p:spPr>
              <a:xfrm>
                <a:off x="179513" y="2306475"/>
                <a:ext cx="3168351" cy="323165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chemeClr val="accent1">
                    <a:lumMod val="7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108000" rIns="36000">
                <a:spAutoFit/>
              </a:bodyPr>
              <a:lstStyle/>
              <a:p>
                <a:r>
                  <a:rPr lang="en-US" altLang="ko-KR" sz="1200" dirty="0"/>
                  <a:t>&lt;!DOCTYPE html&gt;</a:t>
                </a:r>
              </a:p>
              <a:p>
                <a:r>
                  <a:rPr lang="en-US" altLang="ko-KR" sz="1200" dirty="0"/>
                  <a:t>&lt;html&gt;</a:t>
                </a:r>
              </a:p>
              <a:p>
                <a:r>
                  <a:rPr lang="en-US" altLang="ko-KR" sz="1200" dirty="0"/>
                  <a:t>&lt;head&gt;</a:t>
                </a:r>
              </a:p>
              <a:p>
                <a:r>
                  <a:rPr lang="en-US" altLang="ko-KR" sz="1200" dirty="0"/>
                  <a:t>    &lt;title&gt;HTML DOM </a:t>
                </a:r>
                <a:r>
                  <a:rPr lang="ko-KR" altLang="en-US" sz="1200" dirty="0"/>
                  <a:t>트리</a:t>
                </a:r>
                <a:r>
                  <a:rPr lang="en-US" altLang="ko-KR" sz="1200" dirty="0"/>
                  <a:t>&lt;/title&gt;</a:t>
                </a:r>
              </a:p>
              <a:p>
                <a:r>
                  <a:rPr lang="en-US" altLang="ko-KR" sz="1200" dirty="0"/>
                  <a:t>&lt;/head&gt;</a:t>
                </a:r>
              </a:p>
              <a:p>
                <a:r>
                  <a:rPr lang="en-US" altLang="ko-KR" sz="1200" dirty="0"/>
                  <a:t>&lt;body&gt;</a:t>
                </a:r>
              </a:p>
              <a:p>
                <a:r>
                  <a:rPr lang="en-US" altLang="ko-KR" sz="1200" dirty="0"/>
                  <a:t>&lt;p style="</a:t>
                </a:r>
                <a:r>
                  <a:rPr lang="en-US" altLang="ko-KR" sz="1200" dirty="0" err="1"/>
                  <a:t>color:blue</a:t>
                </a:r>
                <a:r>
                  <a:rPr lang="en-US" altLang="ko-KR" sz="1200" dirty="0"/>
                  <a:t>"&gt;</a:t>
                </a:r>
                <a:r>
                  <a:rPr lang="ko-KR" altLang="en-US" sz="1200" dirty="0"/>
                  <a:t>이것은 </a:t>
                </a:r>
              </a:p>
              <a:p>
                <a:r>
                  <a:rPr lang="en-US" altLang="ko-KR" sz="1200" dirty="0"/>
                  <a:t>    &lt;span style="</a:t>
                </a:r>
                <a:r>
                  <a:rPr lang="en-US" altLang="ko-KR" sz="1200" dirty="0" err="1"/>
                  <a:t>color:red</a:t>
                </a:r>
                <a:r>
                  <a:rPr lang="en-US" altLang="ko-KR" sz="1200" dirty="0"/>
                  <a:t>"&gt;</a:t>
                </a:r>
                <a:r>
                  <a:rPr lang="ko-KR" altLang="en-US" sz="1200" dirty="0"/>
                  <a:t>문장입니다</a:t>
                </a:r>
                <a:r>
                  <a:rPr lang="en-US" altLang="ko-KR" sz="1200" dirty="0"/>
                  <a:t>.</a:t>
                </a:r>
              </a:p>
              <a:p>
                <a:r>
                  <a:rPr lang="en-US" altLang="ko-KR" sz="1200" dirty="0"/>
                  <a:t>    &lt;/span&gt;</a:t>
                </a:r>
              </a:p>
              <a:p>
                <a:r>
                  <a:rPr lang="en-US" altLang="ko-KR" sz="1200" dirty="0"/>
                  <a:t>&lt;/p&gt;</a:t>
                </a:r>
              </a:p>
              <a:p>
                <a:r>
                  <a:rPr lang="en-US" altLang="ko-KR" sz="1200" dirty="0"/>
                  <a:t>&lt;form&gt;</a:t>
                </a:r>
              </a:p>
              <a:p>
                <a:r>
                  <a:rPr lang="en-US" altLang="ko-KR" sz="1200" dirty="0"/>
                  <a:t>    &lt;input type="text"&gt;</a:t>
                </a:r>
              </a:p>
              <a:p>
                <a:r>
                  <a:rPr lang="en-US" altLang="ko-KR" sz="1200" dirty="0"/>
                  <a:t>    &lt;input type="button" value="</a:t>
                </a:r>
                <a:r>
                  <a:rPr lang="ko-KR" altLang="en-US" sz="1200" dirty="0"/>
                  <a:t>테스트</a:t>
                </a:r>
                <a:r>
                  <a:rPr lang="en-US" altLang="ko-KR" sz="1200" dirty="0"/>
                  <a:t>"&gt;</a:t>
                </a:r>
                <a:endParaRPr lang="ko-KR" altLang="en-US" sz="1200" dirty="0"/>
              </a:p>
              <a:p>
                <a:r>
                  <a:rPr lang="en-US" altLang="ko-KR" sz="1200" dirty="0"/>
                  <a:t>    &lt;</a:t>
                </a:r>
                <a:r>
                  <a:rPr lang="en-US" altLang="ko-KR" sz="1200" dirty="0" err="1"/>
                  <a:t>hr</a:t>
                </a:r>
                <a:r>
                  <a:rPr lang="en-US" altLang="ko-KR" sz="1200" dirty="0"/>
                  <a:t>&gt;</a:t>
                </a:r>
              </a:p>
              <a:p>
                <a:r>
                  <a:rPr lang="en-US" altLang="ko-KR" sz="1200" dirty="0"/>
                  <a:t>&lt;/form&gt;</a:t>
                </a:r>
              </a:p>
              <a:p>
                <a:r>
                  <a:rPr lang="en-US" altLang="ko-KR" sz="1200" dirty="0"/>
                  <a:t>&lt;/body&gt;</a:t>
                </a:r>
              </a:p>
              <a:p>
                <a:r>
                  <a:rPr lang="en-US" altLang="ko-KR" sz="1200" dirty="0"/>
                  <a:t>&lt;/html&gt;</a:t>
                </a: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259295" y="2533559"/>
                <a:ext cx="557849" cy="19177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&lt;html&gt;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1" name="직사각형 70"/>
              <p:cNvSpPr/>
              <p:nvPr/>
            </p:nvSpPr>
            <p:spPr>
              <a:xfrm>
                <a:off x="459635" y="2899797"/>
                <a:ext cx="475423" cy="19177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&lt;title&gt;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2" name="직사각형 71"/>
              <p:cNvSpPr/>
              <p:nvPr/>
            </p:nvSpPr>
            <p:spPr>
              <a:xfrm>
                <a:off x="2070823" y="2899797"/>
                <a:ext cx="557849" cy="19177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&lt;/title&gt;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7" name="직사각형 76"/>
              <p:cNvSpPr/>
              <p:nvPr/>
            </p:nvSpPr>
            <p:spPr>
              <a:xfrm>
                <a:off x="279615" y="5286966"/>
                <a:ext cx="598351" cy="19177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&lt;/html&gt;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9" name="직사각형 78"/>
              <p:cNvSpPr/>
              <p:nvPr/>
            </p:nvSpPr>
            <p:spPr>
              <a:xfrm>
                <a:off x="459636" y="4738183"/>
                <a:ext cx="444942" cy="191774"/>
              </a:xfrm>
              <a:prstGeom prst="rect">
                <a:avLst/>
              </a:prstGeom>
              <a:solidFill>
                <a:srgbClr val="FFFF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36000" rIns="0" bIns="36000" rtlCol="0" anchor="ctr"/>
              <a:lstStyle/>
              <a:p>
                <a:pPr algn="ctr"/>
                <a:r>
                  <a:rPr lang="en-US" altLang="ko-KR" sz="1200" dirty="0">
                    <a:solidFill>
                      <a:schemeClr val="tx1"/>
                    </a:solidFill>
                  </a:rPr>
                  <a:t>&lt;</a:t>
                </a:r>
                <a:r>
                  <a:rPr lang="en-US" altLang="ko-KR" sz="1200" dirty="0" err="1">
                    <a:solidFill>
                      <a:schemeClr val="tx1"/>
                    </a:solidFill>
                  </a:rPr>
                  <a:t>hr</a:t>
                </a:r>
                <a:r>
                  <a:rPr lang="en-US" altLang="ko-KR" sz="1200" dirty="0">
                    <a:solidFill>
                      <a:schemeClr val="tx1"/>
                    </a:solidFill>
                  </a:rPr>
                  <a:t>&gt;</a:t>
                </a:r>
                <a:endParaRPr lang="ko-KR" altLang="en-US" sz="1200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" name="모서리가 둥근 직사각형 3"/>
            <p:cNvSpPr/>
            <p:nvPr/>
          </p:nvSpPr>
          <p:spPr>
            <a:xfrm>
              <a:off x="3779912" y="2204864"/>
              <a:ext cx="5018464" cy="4032448"/>
            </a:xfrm>
            <a:prstGeom prst="roundRect">
              <a:avLst>
                <a:gd name="adj" fmla="val 3898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3779912" y="260648"/>
              <a:ext cx="5018464" cy="1739403"/>
            </a:xfrm>
            <a:prstGeom prst="roundRect">
              <a:avLst>
                <a:gd name="adj" fmla="val 7823"/>
              </a:avLst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Rectangle 413"/>
            <p:cNvSpPr>
              <a:spLocks noChangeArrowheads="1"/>
            </p:cNvSpPr>
            <p:nvPr/>
          </p:nvSpPr>
          <p:spPr bwMode="auto">
            <a:xfrm>
              <a:off x="5922202" y="1408599"/>
              <a:ext cx="708185" cy="308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history</a:t>
              </a:r>
            </a:p>
          </p:txBody>
        </p:sp>
        <p:sp>
          <p:nvSpPr>
            <p:cNvPr id="9" name="Rectangle 414"/>
            <p:cNvSpPr>
              <a:spLocks noChangeArrowheads="1"/>
            </p:cNvSpPr>
            <p:nvPr/>
          </p:nvSpPr>
          <p:spPr bwMode="auto">
            <a:xfrm>
              <a:off x="3995936" y="1411765"/>
              <a:ext cx="900545" cy="308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navigator</a:t>
              </a:r>
            </a:p>
          </p:txBody>
        </p:sp>
        <p:sp>
          <p:nvSpPr>
            <p:cNvPr id="10" name="Rectangle 415"/>
            <p:cNvSpPr>
              <a:spLocks noChangeArrowheads="1"/>
            </p:cNvSpPr>
            <p:nvPr/>
          </p:nvSpPr>
          <p:spPr bwMode="auto">
            <a:xfrm>
              <a:off x="7868424" y="1405433"/>
              <a:ext cx="664016" cy="308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screen</a:t>
              </a:r>
            </a:p>
          </p:txBody>
        </p:sp>
        <p:sp>
          <p:nvSpPr>
            <p:cNvPr id="11" name="Rectangle 416"/>
            <p:cNvSpPr>
              <a:spLocks noChangeArrowheads="1"/>
            </p:cNvSpPr>
            <p:nvPr/>
          </p:nvSpPr>
          <p:spPr bwMode="auto">
            <a:xfrm>
              <a:off x="6858669" y="1405433"/>
              <a:ext cx="755703" cy="3084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location</a:t>
              </a:r>
            </a:p>
          </p:txBody>
        </p:sp>
        <p:sp>
          <p:nvSpPr>
            <p:cNvPr id="12" name="Line 420"/>
            <p:cNvSpPr>
              <a:spLocks noChangeShapeType="1"/>
            </p:cNvSpPr>
            <p:nvPr/>
          </p:nvSpPr>
          <p:spPr bwMode="auto">
            <a:xfrm flipV="1">
              <a:off x="4446208" y="1174882"/>
              <a:ext cx="3754223" cy="3678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ko-KR" altLang="en-US">
                <a:solidFill>
                  <a:srgbClr val="0070C0"/>
                </a:solidFill>
              </a:endParaRPr>
            </a:p>
          </p:txBody>
        </p:sp>
        <p:sp>
          <p:nvSpPr>
            <p:cNvPr id="13" name="Rectangle 410"/>
            <p:cNvSpPr>
              <a:spLocks noChangeArrowheads="1"/>
            </p:cNvSpPr>
            <p:nvPr/>
          </p:nvSpPr>
          <p:spPr bwMode="auto">
            <a:xfrm>
              <a:off x="5018405" y="492710"/>
              <a:ext cx="1046673" cy="28803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window</a:t>
              </a:r>
            </a:p>
          </p:txBody>
        </p:sp>
        <p:cxnSp>
          <p:nvCxnSpPr>
            <p:cNvPr id="14" name="직선 연결선 13"/>
            <p:cNvCxnSpPr>
              <a:stCxn id="13" idx="2"/>
            </p:cNvCxnSpPr>
            <p:nvPr/>
          </p:nvCxnSpPr>
          <p:spPr>
            <a:xfrm flipH="1">
              <a:off x="5536454" y="780742"/>
              <a:ext cx="5288" cy="400472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/>
            <p:cNvCxnSpPr>
              <a:endCxn id="11" idx="0"/>
            </p:cNvCxnSpPr>
            <p:nvPr/>
          </p:nvCxnSpPr>
          <p:spPr>
            <a:xfrm>
              <a:off x="7236520" y="1174882"/>
              <a:ext cx="1" cy="23055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/>
            <p:cNvCxnSpPr>
              <a:endCxn id="10" idx="0"/>
            </p:cNvCxnSpPr>
            <p:nvPr/>
          </p:nvCxnSpPr>
          <p:spPr>
            <a:xfrm>
              <a:off x="8194113" y="1174882"/>
              <a:ext cx="6319" cy="23055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>
              <a:endCxn id="8" idx="0"/>
            </p:cNvCxnSpPr>
            <p:nvPr/>
          </p:nvCxnSpPr>
          <p:spPr>
            <a:xfrm flipH="1">
              <a:off x="6276295" y="1178048"/>
              <a:ext cx="3552" cy="23055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>
              <a:endCxn id="9" idx="0"/>
            </p:cNvCxnSpPr>
            <p:nvPr/>
          </p:nvCxnSpPr>
          <p:spPr>
            <a:xfrm>
              <a:off x="4446208" y="1181214"/>
              <a:ext cx="1" cy="230551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>
              <a:endCxn id="20" idx="0"/>
            </p:cNvCxnSpPr>
            <p:nvPr/>
          </p:nvCxnSpPr>
          <p:spPr>
            <a:xfrm>
              <a:off x="5559638" y="1174882"/>
              <a:ext cx="0" cy="132312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Rectangle 411"/>
            <p:cNvSpPr>
              <a:spLocks noChangeArrowheads="1"/>
            </p:cNvSpPr>
            <p:nvPr/>
          </p:nvSpPr>
          <p:spPr bwMode="auto">
            <a:xfrm>
              <a:off x="4988138" y="2498008"/>
              <a:ext cx="1143000" cy="288032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document</a:t>
              </a:r>
            </a:p>
          </p:txBody>
        </p:sp>
        <p:sp>
          <p:nvSpPr>
            <p:cNvPr id="21" name="Rectangle 411"/>
            <p:cNvSpPr>
              <a:spLocks noChangeArrowheads="1"/>
            </p:cNvSpPr>
            <p:nvPr/>
          </p:nvSpPr>
          <p:spPr bwMode="auto">
            <a:xfrm>
              <a:off x="4988138" y="3106553"/>
              <a:ext cx="1143000" cy="31268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html</a:t>
              </a:r>
            </a:p>
          </p:txBody>
        </p:sp>
        <p:cxnSp>
          <p:nvCxnSpPr>
            <p:cNvPr id="22" name="직선 연결선 21"/>
            <p:cNvCxnSpPr>
              <a:stCxn id="20" idx="2"/>
              <a:endCxn id="21" idx="0"/>
            </p:cNvCxnSpPr>
            <p:nvPr/>
          </p:nvCxnSpPr>
          <p:spPr>
            <a:xfrm>
              <a:off x="5559638" y="2786040"/>
              <a:ext cx="0" cy="320513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411"/>
            <p:cNvSpPr>
              <a:spLocks noChangeArrowheads="1"/>
            </p:cNvSpPr>
            <p:nvPr/>
          </p:nvSpPr>
          <p:spPr bwMode="auto">
            <a:xfrm>
              <a:off x="4089748" y="3961639"/>
              <a:ext cx="770691" cy="32487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head</a:t>
              </a:r>
            </a:p>
          </p:txBody>
        </p:sp>
        <p:cxnSp>
          <p:nvCxnSpPr>
            <p:cNvPr id="24" name="직선 연결선 23"/>
            <p:cNvCxnSpPr>
              <a:endCxn id="23" idx="0"/>
            </p:cNvCxnSpPr>
            <p:nvPr/>
          </p:nvCxnSpPr>
          <p:spPr>
            <a:xfrm>
              <a:off x="4475094" y="3743757"/>
              <a:ext cx="0" cy="217882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ectangle 411"/>
            <p:cNvSpPr>
              <a:spLocks noChangeArrowheads="1"/>
            </p:cNvSpPr>
            <p:nvPr/>
          </p:nvSpPr>
          <p:spPr bwMode="auto">
            <a:xfrm>
              <a:off x="6243718" y="3953484"/>
              <a:ext cx="765182" cy="32487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body</a:t>
              </a:r>
            </a:p>
          </p:txBody>
        </p:sp>
        <p:cxnSp>
          <p:nvCxnSpPr>
            <p:cNvPr id="26" name="직선 연결선 25"/>
            <p:cNvCxnSpPr>
              <a:endCxn id="25" idx="0"/>
            </p:cNvCxnSpPr>
            <p:nvPr/>
          </p:nvCxnSpPr>
          <p:spPr>
            <a:xfrm flipH="1">
              <a:off x="6626273" y="3716218"/>
              <a:ext cx="778" cy="23726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Rectangle 411"/>
            <p:cNvSpPr>
              <a:spLocks noChangeArrowheads="1"/>
            </p:cNvSpPr>
            <p:nvPr/>
          </p:nvSpPr>
          <p:spPr bwMode="auto">
            <a:xfrm>
              <a:off x="4067944" y="4690394"/>
              <a:ext cx="831953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title</a:t>
              </a:r>
            </a:p>
          </p:txBody>
        </p:sp>
        <p:cxnSp>
          <p:nvCxnSpPr>
            <p:cNvPr id="28" name="직선 연결선 27"/>
            <p:cNvCxnSpPr>
              <a:stCxn id="23" idx="2"/>
              <a:endCxn id="27" idx="0"/>
            </p:cNvCxnSpPr>
            <p:nvPr/>
          </p:nvCxnSpPr>
          <p:spPr>
            <a:xfrm>
              <a:off x="4475094" y="4286518"/>
              <a:ext cx="8827" cy="40387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411"/>
            <p:cNvSpPr>
              <a:spLocks noChangeArrowheads="1"/>
            </p:cNvSpPr>
            <p:nvPr/>
          </p:nvSpPr>
          <p:spPr bwMode="auto">
            <a:xfrm>
              <a:off x="5436096" y="4690395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p</a:t>
              </a:r>
            </a:p>
          </p:txBody>
        </p:sp>
        <p:sp>
          <p:nvSpPr>
            <p:cNvPr id="30" name="Line 420"/>
            <p:cNvSpPr>
              <a:spLocks noChangeShapeType="1"/>
            </p:cNvSpPr>
            <p:nvPr/>
          </p:nvSpPr>
          <p:spPr bwMode="auto">
            <a:xfrm flipV="1">
              <a:off x="4475093" y="3716216"/>
              <a:ext cx="2151180" cy="1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ko-KR" altLang="en-US">
                <a:solidFill>
                  <a:srgbClr val="0070C0"/>
                </a:solidFill>
              </a:endParaRPr>
            </a:p>
          </p:txBody>
        </p:sp>
        <p:cxnSp>
          <p:nvCxnSpPr>
            <p:cNvPr id="31" name="직선 연결선 30"/>
            <p:cNvCxnSpPr>
              <a:stCxn id="21" idx="2"/>
            </p:cNvCxnSpPr>
            <p:nvPr/>
          </p:nvCxnSpPr>
          <p:spPr>
            <a:xfrm>
              <a:off x="5559638" y="3419241"/>
              <a:ext cx="0" cy="324516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>
              <a:endCxn id="29" idx="0"/>
            </p:cNvCxnSpPr>
            <p:nvPr/>
          </p:nvCxnSpPr>
          <p:spPr>
            <a:xfrm>
              <a:off x="5705888" y="4475095"/>
              <a:ext cx="11603" cy="215300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>
              <a:endCxn id="36" idx="0"/>
            </p:cNvCxnSpPr>
            <p:nvPr/>
          </p:nvCxnSpPr>
          <p:spPr>
            <a:xfrm>
              <a:off x="7583026" y="4487270"/>
              <a:ext cx="1" cy="232643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Line 420"/>
            <p:cNvSpPr>
              <a:spLocks noChangeShapeType="1"/>
            </p:cNvSpPr>
            <p:nvPr/>
          </p:nvSpPr>
          <p:spPr bwMode="auto">
            <a:xfrm>
              <a:off x="5719586" y="4475095"/>
              <a:ext cx="1863439" cy="0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ko-KR" altLang="en-US">
                <a:solidFill>
                  <a:srgbClr val="0070C0"/>
                </a:solidFill>
              </a:endParaRPr>
            </a:p>
          </p:txBody>
        </p:sp>
        <p:cxnSp>
          <p:nvCxnSpPr>
            <p:cNvPr id="35" name="직선 연결선 34"/>
            <p:cNvCxnSpPr/>
            <p:nvPr/>
          </p:nvCxnSpPr>
          <p:spPr>
            <a:xfrm flipH="1">
              <a:off x="6637429" y="4291286"/>
              <a:ext cx="1" cy="203664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Rectangle 411"/>
            <p:cNvSpPr>
              <a:spLocks noChangeArrowheads="1"/>
            </p:cNvSpPr>
            <p:nvPr/>
          </p:nvSpPr>
          <p:spPr bwMode="auto">
            <a:xfrm>
              <a:off x="7294994" y="4719913"/>
              <a:ext cx="576065" cy="30196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form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421565" y="394413"/>
              <a:ext cx="21926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i="1" dirty="0">
                  <a:latin typeface="Helvetica" panose="020B0604020202020204" pitchFamily="34" charset="0"/>
                  <a:cs typeface="Helvetica" panose="020B0604020202020204" pitchFamily="34" charset="0"/>
                </a:rPr>
                <a:t>BOM(Browser Object Model)</a:t>
              </a:r>
              <a:endParaRPr lang="ko-KR" altLang="en-US" sz="1200" i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309718" y="2422919"/>
              <a:ext cx="22926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i="1" dirty="0">
                  <a:latin typeface="Helvetica" panose="020B0604020202020204" pitchFamily="34" charset="0"/>
                  <a:cs typeface="Helvetica" panose="020B0604020202020204" pitchFamily="34" charset="0"/>
                </a:rPr>
                <a:t>DOM(Document Object Model)</a:t>
              </a:r>
              <a:endParaRPr lang="ko-KR" altLang="en-US" sz="1200" i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8" name="Rectangle 411"/>
            <p:cNvSpPr>
              <a:spLocks noChangeArrowheads="1"/>
            </p:cNvSpPr>
            <p:nvPr/>
          </p:nvSpPr>
          <p:spPr bwMode="auto">
            <a:xfrm>
              <a:off x="5440288" y="5481979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span</a:t>
              </a:r>
            </a:p>
          </p:txBody>
        </p:sp>
        <p:cxnSp>
          <p:nvCxnSpPr>
            <p:cNvPr id="109" name="직선 연결선 108"/>
            <p:cNvCxnSpPr>
              <a:stCxn id="29" idx="2"/>
              <a:endCxn id="108" idx="0"/>
            </p:cNvCxnSpPr>
            <p:nvPr/>
          </p:nvCxnSpPr>
          <p:spPr>
            <a:xfrm>
              <a:off x="5717282" y="5009704"/>
              <a:ext cx="4611" cy="472275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ectangle 411"/>
            <p:cNvSpPr>
              <a:spLocks noChangeArrowheads="1"/>
            </p:cNvSpPr>
            <p:nvPr/>
          </p:nvSpPr>
          <p:spPr bwMode="auto">
            <a:xfrm>
              <a:off x="6652805" y="5481979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input</a:t>
              </a:r>
            </a:p>
          </p:txBody>
        </p:sp>
        <p:cxnSp>
          <p:nvCxnSpPr>
            <p:cNvPr id="117" name="직선 연결선 116"/>
            <p:cNvCxnSpPr>
              <a:endCxn id="116" idx="0"/>
            </p:cNvCxnSpPr>
            <p:nvPr/>
          </p:nvCxnSpPr>
          <p:spPr>
            <a:xfrm flipH="1">
              <a:off x="6933923" y="5246106"/>
              <a:ext cx="6097" cy="235873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Rectangle 411"/>
            <p:cNvSpPr>
              <a:spLocks noChangeArrowheads="1"/>
            </p:cNvSpPr>
            <p:nvPr/>
          </p:nvSpPr>
          <p:spPr bwMode="auto">
            <a:xfrm>
              <a:off x="7349490" y="5485955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input</a:t>
              </a:r>
            </a:p>
          </p:txBody>
        </p:sp>
        <p:cxnSp>
          <p:nvCxnSpPr>
            <p:cNvPr id="119" name="직선 연결선 118"/>
            <p:cNvCxnSpPr/>
            <p:nvPr/>
          </p:nvCxnSpPr>
          <p:spPr>
            <a:xfrm flipH="1">
              <a:off x="7596664" y="5242128"/>
              <a:ext cx="688" cy="234482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Line 420"/>
            <p:cNvSpPr>
              <a:spLocks noChangeShapeType="1"/>
            </p:cNvSpPr>
            <p:nvPr/>
          </p:nvSpPr>
          <p:spPr bwMode="auto">
            <a:xfrm>
              <a:off x="6948040" y="5242128"/>
              <a:ext cx="1298622" cy="3978"/>
            </a:xfrm>
            <a:prstGeom prst="line">
              <a:avLst/>
            </a:prstGeom>
            <a:noFill/>
            <a:ln w="9525">
              <a:solidFill>
                <a:srgbClr val="C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92075" tIns="46038" rIns="92075" bIns="46038"/>
            <a:lstStyle/>
            <a:p>
              <a:endParaRPr lang="ko-KR" altLang="en-US">
                <a:solidFill>
                  <a:srgbClr val="0070C0"/>
                </a:solidFill>
              </a:endParaRPr>
            </a:p>
          </p:txBody>
        </p:sp>
        <p:cxnSp>
          <p:nvCxnSpPr>
            <p:cNvPr id="138" name="직선 연결선 137"/>
            <p:cNvCxnSpPr/>
            <p:nvPr/>
          </p:nvCxnSpPr>
          <p:spPr>
            <a:xfrm flipH="1">
              <a:off x="8238614" y="5246106"/>
              <a:ext cx="5792" cy="239849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Rectangle 411"/>
            <p:cNvSpPr>
              <a:spLocks noChangeArrowheads="1"/>
            </p:cNvSpPr>
            <p:nvPr/>
          </p:nvSpPr>
          <p:spPr bwMode="auto">
            <a:xfrm>
              <a:off x="8099168" y="5481977"/>
              <a:ext cx="361264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 err="1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hr</a:t>
              </a:r>
              <a:endPara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endParaRPr>
            </a:p>
          </p:txBody>
        </p:sp>
        <p:cxnSp>
          <p:nvCxnSpPr>
            <p:cNvPr id="141" name="직선 연결선 140"/>
            <p:cNvCxnSpPr>
              <a:stCxn id="36" idx="2"/>
            </p:cNvCxnSpPr>
            <p:nvPr/>
          </p:nvCxnSpPr>
          <p:spPr>
            <a:xfrm>
              <a:off x="7583027" y="5021879"/>
              <a:ext cx="0" cy="231654"/>
            </a:xfrm>
            <a:prstGeom prst="line">
              <a:avLst/>
            </a:prstGeom>
            <a:ln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Box 50"/>
            <p:cNvSpPr txBox="1"/>
            <p:nvPr/>
          </p:nvSpPr>
          <p:spPr>
            <a:xfrm>
              <a:off x="7871381" y="4319690"/>
              <a:ext cx="816838" cy="272415"/>
            </a:xfrm>
            <a:prstGeom prst="wedgeRoundRectCallout">
              <a:avLst>
                <a:gd name="adj1" fmla="val -50756"/>
                <a:gd name="adj2" fmla="val 115738"/>
                <a:gd name="adj3" fmla="val 16667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altLang="ko-KR" sz="1000"/>
                <a:t>DOM </a:t>
              </a:r>
              <a:r>
                <a:rPr lang="ko-KR" altLang="en-US" sz="1000" dirty="0"/>
                <a:t>객체</a:t>
              </a:r>
            </a:p>
          </p:txBody>
        </p:sp>
        <p:cxnSp>
          <p:nvCxnSpPr>
            <p:cNvPr id="40" name="직선 화살표 연결선 39"/>
            <p:cNvCxnSpPr>
              <a:endCxn id="20" idx="1"/>
            </p:cNvCxnSpPr>
            <p:nvPr/>
          </p:nvCxnSpPr>
          <p:spPr>
            <a:xfrm>
              <a:off x="3347864" y="2642024"/>
              <a:ext cx="1640274" cy="0"/>
            </a:xfrm>
            <a:prstGeom prst="straightConnector1">
              <a:avLst/>
            </a:prstGeom>
            <a:ln w="19050">
              <a:solidFill>
                <a:srgbClr val="669900"/>
              </a:solidFill>
              <a:prstDash val="sysDot"/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50" idx="3"/>
              <a:endCxn id="21" idx="1"/>
            </p:cNvCxnSpPr>
            <p:nvPr/>
          </p:nvCxnSpPr>
          <p:spPr>
            <a:xfrm>
              <a:off x="817144" y="2916716"/>
              <a:ext cx="4170994" cy="346181"/>
            </a:xfrm>
            <a:prstGeom prst="bentConnector3">
              <a:avLst>
                <a:gd name="adj1" fmla="val 67538"/>
              </a:avLst>
            </a:prstGeom>
            <a:ln w="19050">
              <a:solidFill>
                <a:srgbClr val="6699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꺾인 연결선 72"/>
            <p:cNvCxnSpPr>
              <a:stCxn id="72" idx="3"/>
              <a:endCxn id="27" idx="1"/>
            </p:cNvCxnSpPr>
            <p:nvPr/>
          </p:nvCxnSpPr>
          <p:spPr>
            <a:xfrm>
              <a:off x="2628672" y="3282954"/>
              <a:ext cx="1439272" cy="1567095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6699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꺾인 연결선 79"/>
            <p:cNvCxnSpPr>
              <a:stCxn id="79" idx="3"/>
              <a:endCxn id="139" idx="2"/>
            </p:cNvCxnSpPr>
            <p:nvPr/>
          </p:nvCxnSpPr>
          <p:spPr>
            <a:xfrm>
              <a:off x="904578" y="5121340"/>
              <a:ext cx="7375222" cy="679946"/>
            </a:xfrm>
            <a:prstGeom prst="bentConnector4">
              <a:avLst>
                <a:gd name="adj1" fmla="val 48775"/>
                <a:gd name="adj2" fmla="val 133620"/>
              </a:avLst>
            </a:prstGeom>
            <a:ln w="19050">
              <a:solidFill>
                <a:srgbClr val="669900"/>
              </a:solidFill>
              <a:prstDash val="sysDot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0" name="그림 59">
            <a:extLst>
              <a:ext uri="{FF2B5EF4-FFF2-40B4-BE49-F238E27FC236}">
                <a16:creationId xmlns:a16="http://schemas.microsoft.com/office/drawing/2014/main" id="{DB6E2567-2A4B-4C7F-BE7D-54C708E01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525" y="485338"/>
            <a:ext cx="3218532" cy="1560029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</p:spTree>
    <p:extLst>
      <p:ext uri="{BB962C8B-B14F-4D97-AF65-F5344CB8AC3E}">
        <p14:creationId xmlns:p14="http://schemas.microsoft.com/office/powerpoint/2010/main" val="1629956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 </a:t>
            </a:r>
            <a:r>
              <a:rPr lang="ko-KR" altLang="en-US" dirty="0" err="1"/>
              <a:t>트리의</a:t>
            </a:r>
            <a:r>
              <a:rPr lang="ko-KR" altLang="en-US" dirty="0"/>
              <a:t> 특징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DOM </a:t>
            </a:r>
            <a:r>
              <a:rPr lang="ko-KR" altLang="en-US" dirty="0" err="1"/>
              <a:t>트리의</a:t>
            </a:r>
            <a:r>
              <a:rPr lang="ko-KR" altLang="en-US" dirty="0"/>
              <a:t> 특징</a:t>
            </a:r>
            <a:endParaRPr lang="en-US" altLang="ko-KR" dirty="0"/>
          </a:p>
          <a:p>
            <a:pPr lvl="1"/>
            <a:r>
              <a:rPr lang="en-US" altLang="ko-KR" dirty="0"/>
              <a:t>DOM </a:t>
            </a:r>
            <a:r>
              <a:rPr lang="ko-KR" altLang="en-US" dirty="0" err="1"/>
              <a:t>트리의</a:t>
            </a:r>
            <a:r>
              <a:rPr lang="ko-KR" altLang="en-US" dirty="0"/>
              <a:t> 루트는 </a:t>
            </a:r>
            <a:r>
              <a:rPr lang="en-US" altLang="ko-KR" dirty="0"/>
              <a:t>document </a:t>
            </a:r>
            <a:r>
              <a:rPr lang="ko-KR" altLang="en-US" dirty="0"/>
              <a:t>객체</a:t>
            </a:r>
            <a:endParaRPr lang="en-US" altLang="ko-KR" dirty="0"/>
          </a:p>
          <a:p>
            <a:pPr lvl="1"/>
            <a:r>
              <a:rPr lang="en-US" altLang="ko-KR" dirty="0"/>
              <a:t>DOM </a:t>
            </a:r>
            <a:r>
              <a:rPr lang="ko-KR" altLang="en-US" dirty="0"/>
              <a:t>객체의 종류는 </a:t>
            </a:r>
            <a:r>
              <a:rPr lang="en-US" altLang="ko-KR" dirty="0"/>
              <a:t>HTML </a:t>
            </a:r>
            <a:r>
              <a:rPr lang="ko-KR" altLang="en-US" dirty="0"/>
              <a:t>태그 종류만큼</a:t>
            </a:r>
            <a:endParaRPr lang="en-US" altLang="ko-KR" dirty="0"/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태그 당 </a:t>
            </a:r>
            <a:r>
              <a:rPr lang="en-US" altLang="ko-KR" dirty="0"/>
              <a:t>DOM </a:t>
            </a:r>
            <a:r>
              <a:rPr lang="ko-KR" altLang="en-US" dirty="0"/>
              <a:t>객체가 하나씩 생성</a:t>
            </a:r>
            <a:endParaRPr lang="en-US" altLang="ko-KR" dirty="0"/>
          </a:p>
          <a:p>
            <a:pPr lvl="1"/>
            <a:r>
              <a:rPr lang="en-US" altLang="ko-KR" dirty="0"/>
              <a:t>HTML</a:t>
            </a:r>
            <a:r>
              <a:rPr lang="ko-KR" altLang="en-US" dirty="0"/>
              <a:t> 태그의 포함관계에 따라 </a:t>
            </a:r>
            <a:r>
              <a:rPr lang="en-US" altLang="ko-KR" dirty="0"/>
              <a:t>DOM </a:t>
            </a:r>
            <a:r>
              <a:rPr lang="ko-KR" altLang="en-US" dirty="0" err="1"/>
              <a:t>트리에</a:t>
            </a:r>
            <a:r>
              <a:rPr lang="ko-KR" altLang="en-US" dirty="0"/>
              <a:t> 부모 자식 관계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브라우저가 </a:t>
            </a:r>
            <a:r>
              <a:rPr lang="en-US" altLang="ko-KR" dirty="0"/>
              <a:t>HTML </a:t>
            </a:r>
            <a:r>
              <a:rPr lang="ko-KR" altLang="en-US" dirty="0"/>
              <a:t>태그를 화면에 그리는 과정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브라우저가 </a:t>
            </a:r>
            <a:r>
              <a:rPr lang="en-US" altLang="ko-KR" dirty="0"/>
              <a:t>DOM </a:t>
            </a:r>
            <a:r>
              <a:rPr lang="ko-KR" altLang="en-US" dirty="0" err="1"/>
              <a:t>트리의</a:t>
            </a:r>
            <a:r>
              <a:rPr lang="ko-KR" altLang="en-US" dirty="0"/>
              <a:t> 틀</a:t>
            </a:r>
            <a:r>
              <a:rPr lang="en-US" altLang="ko-KR" dirty="0"/>
              <a:t>(document </a:t>
            </a:r>
            <a:r>
              <a:rPr lang="ko-KR" altLang="en-US" dirty="0"/>
              <a:t>객체</a:t>
            </a:r>
            <a:r>
              <a:rPr lang="en-US" altLang="ko-KR" dirty="0"/>
              <a:t>)</a:t>
            </a:r>
            <a:r>
              <a:rPr lang="ko-KR" altLang="en-US" dirty="0"/>
              <a:t> 생성</a:t>
            </a:r>
          </a:p>
          <a:p>
            <a:pPr marL="365760" lvl="1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브라우저가 </a:t>
            </a:r>
            <a:r>
              <a:rPr lang="en-US" altLang="ko-KR" dirty="0"/>
              <a:t>HTML </a:t>
            </a:r>
            <a:r>
              <a:rPr lang="ko-KR" altLang="en-US" dirty="0"/>
              <a:t>태그를 읽고 </a:t>
            </a:r>
            <a:r>
              <a:rPr lang="en-US" altLang="ko-KR" dirty="0"/>
              <a:t>DOM </a:t>
            </a:r>
            <a:r>
              <a:rPr lang="ko-KR" altLang="en-US" dirty="0" err="1"/>
              <a:t>트리에</a:t>
            </a:r>
            <a:r>
              <a:rPr lang="ko-KR" altLang="en-US" dirty="0"/>
              <a:t> </a:t>
            </a:r>
            <a:r>
              <a:rPr lang="en-US" altLang="ko-KR" dirty="0"/>
              <a:t>DOM </a:t>
            </a:r>
            <a:r>
              <a:rPr lang="ko-KR" altLang="en-US" dirty="0"/>
              <a:t>객체 생성</a:t>
            </a:r>
          </a:p>
          <a:p>
            <a:pPr marL="365760" lvl="1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브라우저는 </a:t>
            </a:r>
            <a:r>
              <a:rPr lang="en-US" altLang="ko-KR" dirty="0"/>
              <a:t>DOM </a:t>
            </a:r>
            <a:r>
              <a:rPr lang="ko-KR" altLang="en-US" dirty="0"/>
              <a:t>객체를 화면에 출력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4. HTML </a:t>
            </a:r>
            <a:r>
              <a:rPr lang="ko-KR" altLang="en-US" dirty="0"/>
              <a:t>문서 로딩이 완료되면 </a:t>
            </a:r>
            <a:r>
              <a:rPr lang="en-US" altLang="ko-KR" dirty="0"/>
              <a:t>DOM </a:t>
            </a:r>
            <a:r>
              <a:rPr lang="ko-KR" altLang="en-US" dirty="0"/>
              <a:t>트리 완성</a:t>
            </a:r>
            <a:endParaRPr lang="en-US" altLang="ko-KR" dirty="0"/>
          </a:p>
          <a:p>
            <a:pPr marL="365760" lvl="1" indent="0">
              <a:buNone/>
            </a:pPr>
            <a:r>
              <a:rPr lang="en-US" altLang="ko-KR" dirty="0"/>
              <a:t>5. DOM </a:t>
            </a:r>
            <a:r>
              <a:rPr lang="ko-KR" altLang="en-US" dirty="0"/>
              <a:t>객체 변경 시</a:t>
            </a:r>
            <a:r>
              <a:rPr lang="en-US" altLang="ko-KR" dirty="0"/>
              <a:t>,</a:t>
            </a:r>
            <a:r>
              <a:rPr lang="ko-KR" altLang="en-US" dirty="0"/>
              <a:t> 브라우저는 해당 </a:t>
            </a:r>
            <a:r>
              <a:rPr lang="en-US" altLang="ko-KR" dirty="0"/>
              <a:t>HTML </a:t>
            </a:r>
            <a:r>
              <a:rPr lang="ko-KR" altLang="en-US" dirty="0"/>
              <a:t>태그의 출력 모양을 바로 갱신</a:t>
            </a:r>
          </a:p>
          <a:p>
            <a:endParaRPr lang="ko-KR" altLang="en-US" dirty="0"/>
          </a:p>
          <a:p>
            <a:pPr lvl="0"/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B5106F6-4A67-4C05-9776-DAB9FB8A133F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0835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그림 37">
            <a:extLst>
              <a:ext uri="{FF2B5EF4-FFF2-40B4-BE49-F238E27FC236}">
                <a16:creationId xmlns:a16="http://schemas.microsoft.com/office/drawing/2014/main" id="{DB6E2567-2A4B-4C7F-BE7D-54C708E012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193" y="4510364"/>
            <a:ext cx="4643844" cy="2250881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7" name="제목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altLang="ko-KR" dirty="0"/>
              <a:t>DOM </a:t>
            </a:r>
            <a:r>
              <a:rPr lang="ko-KR" altLang="en-US" dirty="0"/>
              <a:t>객체와 </a:t>
            </a:r>
            <a:r>
              <a:rPr lang="en-US" altLang="ko-KR" dirty="0"/>
              <a:t>HTML </a:t>
            </a:r>
            <a:r>
              <a:rPr lang="ko-KR" altLang="en-US" dirty="0"/>
              <a:t>페이지의 화면 출력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Rectangle 411"/>
          <p:cNvSpPr>
            <a:spLocks noChangeArrowheads="1"/>
          </p:cNvSpPr>
          <p:nvPr/>
        </p:nvSpPr>
        <p:spPr bwMode="auto">
          <a:xfrm>
            <a:off x="5519936" y="1095511"/>
            <a:ext cx="1143000" cy="288032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document</a:t>
            </a:r>
          </a:p>
        </p:txBody>
      </p:sp>
      <p:sp>
        <p:nvSpPr>
          <p:cNvPr id="4" name="Rectangle 411"/>
          <p:cNvSpPr>
            <a:spLocks noChangeArrowheads="1"/>
          </p:cNvSpPr>
          <p:nvPr/>
        </p:nvSpPr>
        <p:spPr bwMode="auto">
          <a:xfrm>
            <a:off x="5519936" y="1628800"/>
            <a:ext cx="1143000" cy="312688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html</a:t>
            </a:r>
          </a:p>
        </p:txBody>
      </p:sp>
      <p:cxnSp>
        <p:nvCxnSpPr>
          <p:cNvPr id="5" name="직선 연결선 4"/>
          <p:cNvCxnSpPr>
            <a:stCxn id="3" idx="2"/>
            <a:endCxn id="4" idx="0"/>
          </p:cNvCxnSpPr>
          <p:nvPr/>
        </p:nvCxnSpPr>
        <p:spPr>
          <a:xfrm>
            <a:off x="6091436" y="1383544"/>
            <a:ext cx="0" cy="24525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411"/>
          <p:cNvSpPr>
            <a:spLocks noChangeArrowheads="1"/>
          </p:cNvSpPr>
          <p:nvPr/>
        </p:nvSpPr>
        <p:spPr bwMode="auto">
          <a:xfrm>
            <a:off x="3979415" y="2422825"/>
            <a:ext cx="770691" cy="324879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head</a:t>
            </a:r>
          </a:p>
        </p:txBody>
      </p:sp>
      <p:sp>
        <p:nvSpPr>
          <p:cNvPr id="8" name="Rectangle 411"/>
          <p:cNvSpPr>
            <a:spLocks noChangeArrowheads="1"/>
          </p:cNvSpPr>
          <p:nvPr/>
        </p:nvSpPr>
        <p:spPr bwMode="auto">
          <a:xfrm>
            <a:off x="7733680" y="2411948"/>
            <a:ext cx="765182" cy="324878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body</a:t>
            </a:r>
          </a:p>
        </p:txBody>
      </p:sp>
      <p:sp>
        <p:nvSpPr>
          <p:cNvPr id="10" name="Rectangle 411"/>
          <p:cNvSpPr>
            <a:spLocks noChangeArrowheads="1"/>
          </p:cNvSpPr>
          <p:nvPr/>
        </p:nvSpPr>
        <p:spPr bwMode="auto">
          <a:xfrm>
            <a:off x="3957611" y="3151580"/>
            <a:ext cx="831953" cy="319309"/>
          </a:xfrm>
          <a:prstGeom prst="rect">
            <a:avLst/>
          </a:prstGeom>
          <a:solidFill>
            <a:srgbClr val="FFFF66"/>
          </a:solidFill>
          <a:ln w="12700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title</a:t>
            </a:r>
          </a:p>
        </p:txBody>
      </p:sp>
      <p:cxnSp>
        <p:nvCxnSpPr>
          <p:cNvPr id="11" name="직선 연결선 10"/>
          <p:cNvCxnSpPr>
            <a:stCxn id="6" idx="2"/>
            <a:endCxn id="10" idx="0"/>
          </p:cNvCxnSpPr>
          <p:nvPr/>
        </p:nvCxnSpPr>
        <p:spPr>
          <a:xfrm>
            <a:off x="4364761" y="2747703"/>
            <a:ext cx="8827" cy="40387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411"/>
          <p:cNvSpPr>
            <a:spLocks noChangeArrowheads="1"/>
          </p:cNvSpPr>
          <p:nvPr/>
        </p:nvSpPr>
        <p:spPr bwMode="auto">
          <a:xfrm>
            <a:off x="7025752" y="3285171"/>
            <a:ext cx="562790" cy="319309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p</a:t>
            </a:r>
          </a:p>
        </p:txBody>
      </p:sp>
      <p:sp>
        <p:nvSpPr>
          <p:cNvPr id="19" name="Rectangle 411"/>
          <p:cNvSpPr>
            <a:spLocks noChangeArrowheads="1"/>
          </p:cNvSpPr>
          <p:nvPr/>
        </p:nvSpPr>
        <p:spPr bwMode="auto">
          <a:xfrm>
            <a:off x="8850313" y="3293841"/>
            <a:ext cx="576064" cy="301966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form</a:t>
            </a:r>
          </a:p>
        </p:txBody>
      </p:sp>
      <p:sp>
        <p:nvSpPr>
          <p:cNvPr id="20" name="Rectangle 411"/>
          <p:cNvSpPr>
            <a:spLocks noChangeArrowheads="1"/>
          </p:cNvSpPr>
          <p:nvPr/>
        </p:nvSpPr>
        <p:spPr bwMode="auto">
          <a:xfrm>
            <a:off x="7307146" y="4245194"/>
            <a:ext cx="562790" cy="319309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span</a:t>
            </a:r>
          </a:p>
        </p:txBody>
      </p:sp>
      <p:sp>
        <p:nvSpPr>
          <p:cNvPr id="22" name="Rectangle 411"/>
          <p:cNvSpPr>
            <a:spLocks noChangeArrowheads="1"/>
          </p:cNvSpPr>
          <p:nvPr/>
        </p:nvSpPr>
        <p:spPr bwMode="auto">
          <a:xfrm>
            <a:off x="8151874" y="4617965"/>
            <a:ext cx="562790" cy="319309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input</a:t>
            </a:r>
          </a:p>
        </p:txBody>
      </p:sp>
      <p:sp>
        <p:nvSpPr>
          <p:cNvPr id="24" name="Rectangle 411"/>
          <p:cNvSpPr>
            <a:spLocks noChangeArrowheads="1"/>
          </p:cNvSpPr>
          <p:nvPr/>
        </p:nvSpPr>
        <p:spPr bwMode="auto">
          <a:xfrm>
            <a:off x="8850313" y="5247241"/>
            <a:ext cx="562790" cy="319309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input</a:t>
            </a:r>
          </a:p>
        </p:txBody>
      </p:sp>
      <p:sp>
        <p:nvSpPr>
          <p:cNvPr id="28" name="Rectangle 411"/>
          <p:cNvSpPr>
            <a:spLocks noChangeArrowheads="1"/>
          </p:cNvSpPr>
          <p:nvPr/>
        </p:nvSpPr>
        <p:spPr bwMode="auto">
          <a:xfrm>
            <a:off x="9767358" y="5640122"/>
            <a:ext cx="499710" cy="319309"/>
          </a:xfrm>
          <a:prstGeom prst="rect">
            <a:avLst/>
          </a:prstGeom>
          <a:solidFill>
            <a:srgbClr val="FFFF66"/>
          </a:solidFill>
          <a:ln w="9525">
            <a:solidFill>
              <a:srgbClr val="C00000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36000" tIns="46038" rIns="36000" bIns="46038" anchor="ctr"/>
          <a:lstStyle/>
          <a:p>
            <a:pPr algn="ctr" eaLnBrk="0" latinLnBrk="0" hangingPunct="0">
              <a:spcBef>
                <a:spcPct val="20000"/>
              </a:spcBef>
            </a:pPr>
            <a:r>
              <a:rPr lang="en-US" altLang="ko-KR" sz="1400" dirty="0" err="1">
                <a:solidFill>
                  <a:srgbClr val="0070C0"/>
                </a:solidFill>
                <a:latin typeface="Helvetica" pitchFamily="34" charset="0"/>
                <a:ea typeface="돋움" pitchFamily="50" charset="-127"/>
              </a:rPr>
              <a:t>hr</a:t>
            </a:r>
            <a:endParaRPr lang="en-US" altLang="ko-KR" sz="1400" dirty="0">
              <a:solidFill>
                <a:srgbClr val="0070C0"/>
              </a:solidFill>
              <a:latin typeface="Helvetica" pitchFamily="34" charset="0"/>
              <a:ea typeface="돋움" pitchFamily="50" charset="-127"/>
            </a:endParaRPr>
          </a:p>
        </p:txBody>
      </p:sp>
      <p:sp>
        <p:nvSpPr>
          <p:cNvPr id="34" name="타원 33"/>
          <p:cNvSpPr/>
          <p:nvPr/>
        </p:nvSpPr>
        <p:spPr>
          <a:xfrm>
            <a:off x="2298125" y="4562530"/>
            <a:ext cx="1441325" cy="288032"/>
          </a:xfrm>
          <a:prstGeom prst="ellipse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모서리가 둥근 직사각형 38"/>
          <p:cNvSpPr/>
          <p:nvPr/>
        </p:nvSpPr>
        <p:spPr>
          <a:xfrm>
            <a:off x="2196093" y="5340630"/>
            <a:ext cx="1974201" cy="540875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0" name="꺾인 연결선 49"/>
          <p:cNvCxnSpPr>
            <a:stCxn id="4" idx="2"/>
            <a:endCxn id="8" idx="0"/>
          </p:cNvCxnSpPr>
          <p:nvPr/>
        </p:nvCxnSpPr>
        <p:spPr>
          <a:xfrm rot="16200000" flipH="1">
            <a:off x="6868623" y="1164301"/>
            <a:ext cx="470460" cy="2024835"/>
          </a:xfrm>
          <a:prstGeom prst="bentConnector3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4" idx="2"/>
            <a:endCxn id="6" idx="0"/>
          </p:cNvCxnSpPr>
          <p:nvPr/>
        </p:nvCxnSpPr>
        <p:spPr>
          <a:xfrm rot="5400000">
            <a:off x="4987430" y="1318818"/>
            <a:ext cx="481336" cy="1726676"/>
          </a:xfrm>
          <a:prstGeom prst="bentConnector3">
            <a:avLst/>
          </a:prstGeom>
          <a:ln>
            <a:solidFill>
              <a:schemeClr val="accent1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모서리가 둥근 직사각형 62"/>
          <p:cNvSpPr/>
          <p:nvPr/>
        </p:nvSpPr>
        <p:spPr>
          <a:xfrm>
            <a:off x="2882684" y="5416829"/>
            <a:ext cx="1191694" cy="388475"/>
          </a:xfrm>
          <a:prstGeom prst="roundRect">
            <a:avLst/>
          </a:prstGeom>
          <a:noFill/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자유형 67"/>
          <p:cNvSpPr/>
          <p:nvPr/>
        </p:nvSpPr>
        <p:spPr>
          <a:xfrm>
            <a:off x="3186229" y="3356992"/>
            <a:ext cx="888150" cy="1193462"/>
          </a:xfrm>
          <a:custGeom>
            <a:avLst/>
            <a:gdLst>
              <a:gd name="connsiteX0" fmla="*/ 626534 w 626534"/>
              <a:gd name="connsiteY0" fmla="*/ 0 h 855134"/>
              <a:gd name="connsiteX1" fmla="*/ 160867 w 626534"/>
              <a:gd name="connsiteY1" fmla="*/ 347134 h 855134"/>
              <a:gd name="connsiteX2" fmla="*/ 0 w 626534"/>
              <a:gd name="connsiteY2" fmla="*/ 855134 h 8551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26534" h="855134">
                <a:moveTo>
                  <a:pt x="626534" y="0"/>
                </a:moveTo>
                <a:cubicBezTo>
                  <a:pt x="445911" y="102306"/>
                  <a:pt x="265289" y="204612"/>
                  <a:pt x="160867" y="347134"/>
                </a:cubicBezTo>
                <a:cubicBezTo>
                  <a:pt x="56445" y="489656"/>
                  <a:pt x="31044" y="769056"/>
                  <a:pt x="0" y="855134"/>
                </a:cubicBezTo>
              </a:path>
            </a:pathLst>
          </a:custGeom>
          <a:noFill/>
          <a:ln w="19050"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72" name="꺾인 연결선 71"/>
          <p:cNvCxnSpPr>
            <a:stCxn id="19" idx="2"/>
            <a:endCxn id="22" idx="0"/>
          </p:cNvCxnSpPr>
          <p:nvPr/>
        </p:nvCxnSpPr>
        <p:spPr>
          <a:xfrm rot="5400000">
            <a:off x="8274730" y="3754347"/>
            <a:ext cx="1022157" cy="705076"/>
          </a:xfrm>
          <a:prstGeom prst="bentConnector3">
            <a:avLst/>
          </a:prstGeom>
          <a:ln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19" idx="2"/>
            <a:endCxn id="28" idx="0"/>
          </p:cNvCxnSpPr>
          <p:nvPr/>
        </p:nvCxnSpPr>
        <p:spPr>
          <a:xfrm rot="16200000" flipH="1">
            <a:off x="8555622" y="4178530"/>
            <a:ext cx="2044314" cy="878868"/>
          </a:xfrm>
          <a:prstGeom prst="bentConnector3">
            <a:avLst>
              <a:gd name="adj1" fmla="val 24736"/>
            </a:avLst>
          </a:prstGeom>
          <a:ln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19" idx="2"/>
            <a:endCxn id="24" idx="0"/>
          </p:cNvCxnSpPr>
          <p:nvPr/>
        </p:nvCxnSpPr>
        <p:spPr>
          <a:xfrm flipH="1">
            <a:off x="9131709" y="3595808"/>
            <a:ext cx="6637" cy="1651433"/>
          </a:xfrm>
          <a:prstGeom prst="straightConnector1">
            <a:avLst/>
          </a:prstGeom>
          <a:ln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 85"/>
          <p:cNvCxnSpPr>
            <a:stCxn id="8" idx="2"/>
            <a:endCxn id="19" idx="0"/>
          </p:cNvCxnSpPr>
          <p:nvPr/>
        </p:nvCxnSpPr>
        <p:spPr>
          <a:xfrm rot="16200000" flipH="1">
            <a:off x="8348802" y="2504296"/>
            <a:ext cx="557015" cy="1022074"/>
          </a:xfrm>
          <a:prstGeom prst="bentConnector3">
            <a:avLst/>
          </a:prstGeom>
          <a:ln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꺾인 연결선 87"/>
          <p:cNvCxnSpPr>
            <a:stCxn id="8" idx="2"/>
            <a:endCxn id="12" idx="0"/>
          </p:cNvCxnSpPr>
          <p:nvPr/>
        </p:nvCxnSpPr>
        <p:spPr>
          <a:xfrm rot="5400000">
            <a:off x="7437537" y="2606436"/>
            <a:ext cx="548344" cy="809124"/>
          </a:xfrm>
          <a:prstGeom prst="bentConnector3">
            <a:avLst/>
          </a:prstGeom>
          <a:ln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꺾인 연결선 100"/>
          <p:cNvCxnSpPr>
            <a:stCxn id="12" idx="2"/>
            <a:endCxn id="20" idx="0"/>
          </p:cNvCxnSpPr>
          <p:nvPr/>
        </p:nvCxnSpPr>
        <p:spPr>
          <a:xfrm rot="16200000" flipH="1">
            <a:off x="7127487" y="3784139"/>
            <a:ext cx="640714" cy="281394"/>
          </a:xfrm>
          <a:prstGeom prst="bentConnector3">
            <a:avLst/>
          </a:prstGeom>
          <a:ln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자유형 107"/>
          <p:cNvSpPr/>
          <p:nvPr/>
        </p:nvSpPr>
        <p:spPr>
          <a:xfrm>
            <a:off x="4176930" y="3470888"/>
            <a:ext cx="2926923" cy="1972812"/>
          </a:xfrm>
          <a:custGeom>
            <a:avLst/>
            <a:gdLst>
              <a:gd name="connsiteX0" fmla="*/ 2929466 w 2929466"/>
              <a:gd name="connsiteY0" fmla="*/ 0 h 1778000"/>
              <a:gd name="connsiteX1" fmla="*/ 2556933 w 2929466"/>
              <a:gd name="connsiteY1" fmla="*/ 1126067 h 1778000"/>
              <a:gd name="connsiteX2" fmla="*/ 1600200 w 2929466"/>
              <a:gd name="connsiteY2" fmla="*/ 1608667 h 1778000"/>
              <a:gd name="connsiteX3" fmla="*/ 0 w 2929466"/>
              <a:gd name="connsiteY3" fmla="*/ 1778000 h 177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29466" h="1778000">
                <a:moveTo>
                  <a:pt x="2929466" y="0"/>
                </a:moveTo>
                <a:cubicBezTo>
                  <a:pt x="2853971" y="428978"/>
                  <a:pt x="2778477" y="857956"/>
                  <a:pt x="2556933" y="1126067"/>
                </a:cubicBezTo>
                <a:cubicBezTo>
                  <a:pt x="2335389" y="1394178"/>
                  <a:pt x="2026355" y="1500012"/>
                  <a:pt x="1600200" y="1608667"/>
                </a:cubicBezTo>
                <a:cubicBezTo>
                  <a:pt x="1174044" y="1717323"/>
                  <a:pt x="276578" y="1754011"/>
                  <a:pt x="0" y="1778000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9" name="자유형 108"/>
          <p:cNvSpPr/>
          <p:nvPr/>
        </p:nvSpPr>
        <p:spPr>
          <a:xfrm>
            <a:off x="3979414" y="4564504"/>
            <a:ext cx="3609126" cy="1064915"/>
          </a:xfrm>
          <a:custGeom>
            <a:avLst/>
            <a:gdLst>
              <a:gd name="connsiteX0" fmla="*/ 3733800 w 3733800"/>
              <a:gd name="connsiteY0" fmla="*/ 0 h 778933"/>
              <a:gd name="connsiteX1" fmla="*/ 3115734 w 3733800"/>
              <a:gd name="connsiteY1" fmla="*/ 381000 h 778933"/>
              <a:gd name="connsiteX2" fmla="*/ 2082800 w 3733800"/>
              <a:gd name="connsiteY2" fmla="*/ 668867 h 778933"/>
              <a:gd name="connsiteX3" fmla="*/ 0 w 3733800"/>
              <a:gd name="connsiteY3" fmla="*/ 778933 h 778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33800" h="778933">
                <a:moveTo>
                  <a:pt x="3733800" y="0"/>
                </a:moveTo>
                <a:cubicBezTo>
                  <a:pt x="3562350" y="134761"/>
                  <a:pt x="3390901" y="269522"/>
                  <a:pt x="3115734" y="381000"/>
                </a:cubicBezTo>
                <a:cubicBezTo>
                  <a:pt x="2840567" y="492478"/>
                  <a:pt x="2602089" y="602545"/>
                  <a:pt x="2082800" y="668867"/>
                </a:cubicBezTo>
                <a:cubicBezTo>
                  <a:pt x="1563511" y="735189"/>
                  <a:pt x="349955" y="759178"/>
                  <a:pt x="0" y="778933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0" name="자유형 109"/>
          <p:cNvSpPr/>
          <p:nvPr/>
        </p:nvSpPr>
        <p:spPr>
          <a:xfrm>
            <a:off x="3642332" y="4937273"/>
            <a:ext cx="4790936" cy="1153027"/>
          </a:xfrm>
          <a:custGeom>
            <a:avLst/>
            <a:gdLst>
              <a:gd name="connsiteX0" fmla="*/ 4546600 w 4546600"/>
              <a:gd name="connsiteY0" fmla="*/ 0 h 829734"/>
              <a:gd name="connsiteX1" fmla="*/ 3462867 w 4546600"/>
              <a:gd name="connsiteY1" fmla="*/ 397934 h 829734"/>
              <a:gd name="connsiteX2" fmla="*/ 0 w 4546600"/>
              <a:gd name="connsiteY2" fmla="*/ 829734 h 82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6600" h="829734">
                <a:moveTo>
                  <a:pt x="4546600" y="0"/>
                </a:moveTo>
                <a:cubicBezTo>
                  <a:pt x="4383617" y="129822"/>
                  <a:pt x="4220634" y="259645"/>
                  <a:pt x="3462867" y="397934"/>
                </a:cubicBezTo>
                <a:cubicBezTo>
                  <a:pt x="2705100" y="536223"/>
                  <a:pt x="585611" y="759179"/>
                  <a:pt x="0" y="829734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1" name="자유형 110"/>
          <p:cNvSpPr/>
          <p:nvPr/>
        </p:nvSpPr>
        <p:spPr>
          <a:xfrm>
            <a:off x="4929942" y="5566549"/>
            <a:ext cx="4112991" cy="629276"/>
          </a:xfrm>
          <a:custGeom>
            <a:avLst/>
            <a:gdLst>
              <a:gd name="connsiteX0" fmla="*/ 4546600 w 4546600"/>
              <a:gd name="connsiteY0" fmla="*/ 0 h 829734"/>
              <a:gd name="connsiteX1" fmla="*/ 3462867 w 4546600"/>
              <a:gd name="connsiteY1" fmla="*/ 397934 h 829734"/>
              <a:gd name="connsiteX2" fmla="*/ 0 w 4546600"/>
              <a:gd name="connsiteY2" fmla="*/ 829734 h 82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6600" h="829734">
                <a:moveTo>
                  <a:pt x="4546600" y="0"/>
                </a:moveTo>
                <a:cubicBezTo>
                  <a:pt x="4383617" y="129822"/>
                  <a:pt x="4220634" y="259645"/>
                  <a:pt x="3462867" y="397934"/>
                </a:cubicBezTo>
                <a:cubicBezTo>
                  <a:pt x="2705100" y="536223"/>
                  <a:pt x="585611" y="759179"/>
                  <a:pt x="0" y="829734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2" name="자유형 111"/>
          <p:cNvSpPr/>
          <p:nvPr/>
        </p:nvSpPr>
        <p:spPr>
          <a:xfrm>
            <a:off x="5946588" y="5959431"/>
            <a:ext cx="3960440" cy="418229"/>
          </a:xfrm>
          <a:custGeom>
            <a:avLst/>
            <a:gdLst>
              <a:gd name="connsiteX0" fmla="*/ 4546600 w 4546600"/>
              <a:gd name="connsiteY0" fmla="*/ 0 h 829734"/>
              <a:gd name="connsiteX1" fmla="*/ 3462867 w 4546600"/>
              <a:gd name="connsiteY1" fmla="*/ 397934 h 829734"/>
              <a:gd name="connsiteX2" fmla="*/ 0 w 4546600"/>
              <a:gd name="connsiteY2" fmla="*/ 829734 h 829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46600" h="829734">
                <a:moveTo>
                  <a:pt x="4546600" y="0"/>
                </a:moveTo>
                <a:cubicBezTo>
                  <a:pt x="4383617" y="129822"/>
                  <a:pt x="4220634" y="259645"/>
                  <a:pt x="3462867" y="397934"/>
                </a:cubicBezTo>
                <a:cubicBezTo>
                  <a:pt x="2705100" y="536223"/>
                  <a:pt x="585611" y="759179"/>
                  <a:pt x="0" y="829734"/>
                </a:cubicBezTo>
              </a:path>
            </a:pathLst>
          </a:custGeom>
          <a:noFill/>
          <a:ln>
            <a:solidFill>
              <a:srgbClr val="FF000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3" name="모서리가 둥근 직사각형 112"/>
          <p:cNvSpPr/>
          <p:nvPr/>
        </p:nvSpPr>
        <p:spPr>
          <a:xfrm>
            <a:off x="2138630" y="5298715"/>
            <a:ext cx="4240006" cy="1372964"/>
          </a:xfrm>
          <a:prstGeom prst="roundRect">
            <a:avLst>
              <a:gd name="adj" fmla="val 8475"/>
            </a:avLst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5" name="자유형 114"/>
          <p:cNvSpPr/>
          <p:nvPr/>
        </p:nvSpPr>
        <p:spPr>
          <a:xfrm>
            <a:off x="4802926" y="2585263"/>
            <a:ext cx="3056686" cy="2698782"/>
          </a:xfrm>
          <a:custGeom>
            <a:avLst/>
            <a:gdLst>
              <a:gd name="connsiteX0" fmla="*/ 2590800 w 2590800"/>
              <a:gd name="connsiteY0" fmla="*/ 0 h 2336800"/>
              <a:gd name="connsiteX1" fmla="*/ 812800 w 2590800"/>
              <a:gd name="connsiteY1" fmla="*/ 508000 h 2336800"/>
              <a:gd name="connsiteX2" fmla="*/ 203200 w 2590800"/>
              <a:gd name="connsiteY2" fmla="*/ 1286934 h 2336800"/>
              <a:gd name="connsiteX3" fmla="*/ 0 w 2590800"/>
              <a:gd name="connsiteY3" fmla="*/ 2336800 h 233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90800" h="2336800">
                <a:moveTo>
                  <a:pt x="2590800" y="0"/>
                </a:moveTo>
                <a:cubicBezTo>
                  <a:pt x="1900766" y="146755"/>
                  <a:pt x="1210733" y="293511"/>
                  <a:pt x="812800" y="508000"/>
                </a:cubicBezTo>
                <a:cubicBezTo>
                  <a:pt x="414867" y="722489"/>
                  <a:pt x="338667" y="982134"/>
                  <a:pt x="203200" y="1286934"/>
                </a:cubicBezTo>
                <a:cubicBezTo>
                  <a:pt x="67733" y="1591734"/>
                  <a:pt x="33866" y="1964267"/>
                  <a:pt x="0" y="2336800"/>
                </a:cubicBezTo>
              </a:path>
            </a:pathLst>
          </a:custGeom>
          <a:noFill/>
          <a:ln w="28575">
            <a:solidFill>
              <a:srgbClr val="00B050"/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/>
          <p:cNvSpPr/>
          <p:nvPr/>
        </p:nvSpPr>
        <p:spPr>
          <a:xfrm>
            <a:off x="2119731" y="1327006"/>
            <a:ext cx="1664575" cy="738664"/>
          </a:xfrm>
          <a:prstGeom prst="rect">
            <a:avLst/>
          </a:prstGeom>
          <a:solidFill>
            <a:srgbClr val="FFFFFF"/>
          </a:solidFill>
          <a:ln>
            <a:solidFill>
              <a:srgbClr val="C00000"/>
            </a:solidFill>
          </a:ln>
          <a:effectLst/>
        </p:spPr>
        <p:txBody>
          <a:bodyPr wrap="square">
            <a:spAutoFit/>
          </a:bodyPr>
          <a:lstStyle/>
          <a:p>
            <a:pPr algn="just" fontAlgn="base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DOM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객체를 제어하면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HTML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태그 제어 효과 발생</a:t>
            </a:r>
          </a:p>
        </p:txBody>
      </p:sp>
      <p:sp>
        <p:nvSpPr>
          <p:cNvPr id="40" name="슬라이드 번호 개체 틀 3">
            <a:extLst>
              <a:ext uri="{FF2B5EF4-FFF2-40B4-BE49-F238E27FC236}">
                <a16:creationId xmlns:a16="http://schemas.microsoft.com/office/drawing/2014/main" id="{A9CF7B7C-2EB2-4D73-947A-AF0D2963ED9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2125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DOM </a:t>
            </a:r>
            <a:r>
              <a:rPr lang="ko-KR" altLang="en-US" dirty="0"/>
              <a:t>객체의 구성 요소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DOM </a:t>
            </a:r>
            <a:r>
              <a:rPr lang="ko-KR" altLang="en-US" dirty="0"/>
              <a:t>객체는 </a:t>
            </a:r>
            <a:r>
              <a:rPr lang="en-US" altLang="ko-KR" dirty="0"/>
              <a:t>5 </a:t>
            </a:r>
            <a:r>
              <a:rPr lang="ko-KR" altLang="en-US" dirty="0"/>
              <a:t>개의 요소 구성</a:t>
            </a:r>
            <a:endParaRPr lang="en-US" altLang="ko-KR" dirty="0"/>
          </a:p>
          <a:p>
            <a:pPr lvl="1"/>
            <a:r>
              <a:rPr lang="ko-KR" altLang="en-US" dirty="0" err="1"/>
              <a:t>프로퍼티</a:t>
            </a:r>
            <a:r>
              <a:rPr lang="en-US" altLang="ko-KR" dirty="0"/>
              <a:t>(property)</a:t>
            </a:r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태그의 속성</a:t>
            </a:r>
            <a:r>
              <a:rPr lang="en-US" altLang="ko-KR" dirty="0"/>
              <a:t>(attribute)</a:t>
            </a:r>
            <a:r>
              <a:rPr lang="ko-KR" altLang="en-US" dirty="0"/>
              <a:t> 반영</a:t>
            </a:r>
            <a:endParaRPr lang="en-US" altLang="ko-KR" dirty="0"/>
          </a:p>
          <a:p>
            <a:pPr lvl="1"/>
            <a:r>
              <a:rPr lang="ko-KR" altLang="en-US" dirty="0" err="1"/>
              <a:t>메소드</a:t>
            </a:r>
            <a:r>
              <a:rPr lang="en-US" altLang="ko-KR" dirty="0"/>
              <a:t>(method)</a:t>
            </a:r>
          </a:p>
          <a:p>
            <a:pPr lvl="2"/>
            <a:r>
              <a:rPr lang="en-US" altLang="ko-KR" dirty="0"/>
              <a:t>DOM</a:t>
            </a:r>
            <a:r>
              <a:rPr lang="ko-KR" altLang="en-US" dirty="0"/>
              <a:t> 객체의 멤버 함수로서</a:t>
            </a:r>
            <a:r>
              <a:rPr lang="en-US" altLang="ko-KR" dirty="0"/>
              <a:t>, HTML </a:t>
            </a:r>
            <a:r>
              <a:rPr lang="ko-KR" altLang="en-US" dirty="0"/>
              <a:t>태그 제어 가능</a:t>
            </a:r>
            <a:endParaRPr lang="en-US" altLang="ko-KR" dirty="0"/>
          </a:p>
          <a:p>
            <a:pPr lvl="1"/>
            <a:r>
              <a:rPr lang="ko-KR" altLang="en-US" dirty="0"/>
              <a:t>컬렉션</a:t>
            </a:r>
            <a:r>
              <a:rPr lang="en-US" altLang="ko-KR" dirty="0"/>
              <a:t>(collection)</a:t>
            </a:r>
          </a:p>
          <a:p>
            <a:pPr lvl="2"/>
            <a:r>
              <a:rPr lang="ko-KR" altLang="en-US" dirty="0"/>
              <a:t>자식 </a:t>
            </a:r>
            <a:r>
              <a:rPr lang="en-US" altLang="ko-KR" dirty="0"/>
              <a:t>DOM </a:t>
            </a:r>
            <a:r>
              <a:rPr lang="ko-KR" altLang="en-US" dirty="0"/>
              <a:t>객체들의 주소를 가지는 등 배열과 비슷한 집합적 정보</a:t>
            </a:r>
            <a:endParaRPr lang="en-US" altLang="ko-KR" dirty="0"/>
          </a:p>
          <a:p>
            <a:pPr lvl="1"/>
            <a:r>
              <a:rPr lang="ko-KR" altLang="en-US" dirty="0"/>
              <a:t>이벤트 </a:t>
            </a:r>
            <a:r>
              <a:rPr lang="ko-KR" altLang="en-US" dirty="0" err="1"/>
              <a:t>리스너</a:t>
            </a:r>
            <a:r>
              <a:rPr lang="en-US" altLang="ko-KR" dirty="0"/>
              <a:t>(event listener)</a:t>
            </a:r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태그에 작성된 이벤트 </a:t>
            </a:r>
            <a:r>
              <a:rPr lang="ko-KR" altLang="en-US" dirty="0" err="1"/>
              <a:t>리스너</a:t>
            </a:r>
            <a:r>
              <a:rPr lang="ko-KR" altLang="en-US" dirty="0"/>
              <a:t> 반영</a:t>
            </a:r>
            <a:endParaRPr lang="en-US" altLang="ko-KR" dirty="0"/>
          </a:p>
          <a:p>
            <a:pPr lvl="2"/>
            <a:r>
              <a:rPr lang="ko-KR" altLang="en-US" dirty="0"/>
              <a:t>약 </a:t>
            </a:r>
            <a:r>
              <a:rPr lang="en-US" altLang="ko-KR" dirty="0"/>
              <a:t>70</a:t>
            </a:r>
            <a:r>
              <a:rPr lang="ko-KR" altLang="en-US" dirty="0"/>
              <a:t>여 개의 이벤트 </a:t>
            </a:r>
            <a:r>
              <a:rPr lang="ko-KR" altLang="en-US" dirty="0" err="1"/>
              <a:t>리스너를</a:t>
            </a:r>
            <a:r>
              <a:rPr lang="ko-KR" altLang="en-US" dirty="0"/>
              <a:t> 가질 수 있음</a:t>
            </a:r>
            <a:endParaRPr lang="en-US" altLang="ko-KR" dirty="0"/>
          </a:p>
          <a:p>
            <a:pPr lvl="1"/>
            <a:r>
              <a:rPr lang="en-US" altLang="ko-KR" dirty="0"/>
              <a:t>CSS3 </a:t>
            </a:r>
            <a:r>
              <a:rPr lang="ko-KR" altLang="en-US" dirty="0"/>
              <a:t>스타일</a:t>
            </a:r>
            <a:endParaRPr lang="en-US" altLang="ko-KR" dirty="0"/>
          </a:p>
          <a:p>
            <a:pPr lvl="2"/>
            <a:r>
              <a:rPr lang="en-US" altLang="ko-KR" dirty="0"/>
              <a:t>HTML </a:t>
            </a:r>
            <a:r>
              <a:rPr lang="ko-KR" altLang="en-US" dirty="0"/>
              <a:t>태그에 설정된 </a:t>
            </a:r>
            <a:r>
              <a:rPr lang="en-US" altLang="ko-KR" dirty="0"/>
              <a:t>CSS3 </a:t>
            </a:r>
            <a:r>
              <a:rPr lang="ko-KR" altLang="en-US" dirty="0"/>
              <a:t>스타일 시트 정보를 반영</a:t>
            </a:r>
            <a:endParaRPr lang="en-US" altLang="ko-KR" dirty="0"/>
          </a:p>
          <a:p>
            <a:pPr lvl="2"/>
            <a:r>
              <a:rPr lang="en-US" altLang="ko-KR" dirty="0"/>
              <a:t>DOM </a:t>
            </a:r>
            <a:r>
              <a:rPr lang="ko-KR" altLang="en-US" dirty="0"/>
              <a:t>객체의 </a:t>
            </a:r>
            <a:r>
              <a:rPr lang="en-US" altLang="ko-KR" dirty="0"/>
              <a:t>style </a:t>
            </a:r>
            <a:r>
              <a:rPr lang="ko-KR" altLang="en-US" dirty="0" err="1"/>
              <a:t>프로퍼티를</a:t>
            </a:r>
            <a:r>
              <a:rPr lang="ko-KR" altLang="en-US" dirty="0"/>
              <a:t> 통해 </a:t>
            </a:r>
            <a:r>
              <a:rPr lang="en-US" altLang="ko-KR" dirty="0"/>
              <a:t>HTML </a:t>
            </a:r>
            <a:r>
              <a:rPr lang="ko-KR" altLang="en-US" dirty="0"/>
              <a:t>태그의 모양 제어</a:t>
            </a:r>
            <a:r>
              <a:rPr lang="en-US" altLang="ko-KR" dirty="0"/>
              <a:t> </a:t>
            </a:r>
            <a:r>
              <a:rPr lang="ko-KR" altLang="en-US" dirty="0"/>
              <a:t>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8</a:t>
            </a:fld>
            <a:endParaRPr lang="ko-KR" altLang="en-US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642EE5BB-7133-443F-9E61-2EA179510EF6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38899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>
          <a:xfrm>
            <a:off x="10759846" y="6288624"/>
            <a:ext cx="1096794" cy="365125"/>
          </a:xfrm>
        </p:spPr>
        <p:txBody>
          <a:bodyPr>
            <a:normAutofit/>
          </a:bodyPr>
          <a:lstStyle/>
          <a:p>
            <a:fld id="{01870596-DAFA-46D2-82A7-2B6B5F8E0E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34" name="그룹 33"/>
          <p:cNvGrpSpPr/>
          <p:nvPr/>
        </p:nvGrpSpPr>
        <p:grpSpPr>
          <a:xfrm>
            <a:off x="1847528" y="186795"/>
            <a:ext cx="8621598" cy="6552728"/>
            <a:chOff x="-109676" y="836712"/>
            <a:chExt cx="8621598" cy="6552728"/>
          </a:xfrm>
        </p:grpSpPr>
        <p:sp>
          <p:nvSpPr>
            <p:cNvPr id="4" name="모서리가 둥근 직사각형 3"/>
            <p:cNvSpPr/>
            <p:nvPr/>
          </p:nvSpPr>
          <p:spPr>
            <a:xfrm>
              <a:off x="4158952" y="4581128"/>
              <a:ext cx="3280811" cy="1179633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모서리가 둥근 직사각형 4"/>
            <p:cNvSpPr/>
            <p:nvPr/>
          </p:nvSpPr>
          <p:spPr>
            <a:xfrm>
              <a:off x="4158953" y="3645024"/>
              <a:ext cx="3280810" cy="783649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모서리가 둥근 직사각형 5"/>
            <p:cNvSpPr/>
            <p:nvPr/>
          </p:nvSpPr>
          <p:spPr>
            <a:xfrm>
              <a:off x="4158952" y="2924944"/>
              <a:ext cx="3280810" cy="611799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모서리가 둥근 직사각형 6"/>
            <p:cNvSpPr/>
            <p:nvPr/>
          </p:nvSpPr>
          <p:spPr>
            <a:xfrm>
              <a:off x="4158952" y="1096705"/>
              <a:ext cx="3280809" cy="1684223"/>
            </a:xfrm>
            <a:prstGeom prst="roundRect">
              <a:avLst>
                <a:gd name="adj" fmla="val 6189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모서리가 둥근 직사각형 7"/>
            <p:cNvSpPr/>
            <p:nvPr/>
          </p:nvSpPr>
          <p:spPr>
            <a:xfrm>
              <a:off x="3851920" y="836712"/>
              <a:ext cx="4104456" cy="5134450"/>
            </a:xfrm>
            <a:prstGeom prst="roundRect">
              <a:avLst>
                <a:gd name="adj" fmla="val 2337"/>
              </a:avLst>
            </a:prstGeom>
            <a:noFill/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978280" y="1209830"/>
              <a:ext cx="2244113" cy="2616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"</a:t>
              </a:r>
              <a:r>
                <a:rPr lang="en-US" altLang="ko-KR" sz="1100" dirty="0" err="1"/>
                <a:t>firstP</a:t>
              </a:r>
              <a:r>
                <a:rPr lang="en-US" altLang="ko-KR" sz="1100" dirty="0"/>
                <a:t>"</a:t>
              </a:r>
              <a:endParaRPr lang="ko-KR" altLang="en-US" sz="1100" dirty="0"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978280" y="1520260"/>
              <a:ext cx="2244113" cy="2616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100" dirty="0"/>
                <a:t>“P"</a:t>
              </a:r>
              <a:endParaRPr lang="ko-KR" altLang="en-US" sz="11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976886" y="2328296"/>
              <a:ext cx="2245480" cy="2616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endParaRPr lang="ko-KR" altLang="en-US" sz="1100" dirty="0"/>
            </a:p>
          </p:txBody>
        </p:sp>
        <p:sp>
          <p:nvSpPr>
            <p:cNvPr id="12" name="타원 11"/>
            <p:cNvSpPr/>
            <p:nvPr/>
          </p:nvSpPr>
          <p:spPr>
            <a:xfrm>
              <a:off x="4283968" y="2985034"/>
              <a:ext cx="712671" cy="3187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click()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타원 12"/>
            <p:cNvSpPr/>
            <p:nvPr/>
          </p:nvSpPr>
          <p:spPr>
            <a:xfrm>
              <a:off x="5044518" y="2985034"/>
              <a:ext cx="861580" cy="3187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focus()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6017163" y="2974853"/>
              <a:ext cx="1313761" cy="318716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tlCol="0" anchor="ctr"/>
            <a:lstStyle/>
            <a:p>
              <a:r>
                <a:rPr lang="en-US" altLang="ko-KR" sz="1050" dirty="0" err="1">
                  <a:solidFill>
                    <a:schemeClr val="tx1"/>
                  </a:solidFill>
                </a:rPr>
                <a:t>setAttribute</a:t>
              </a:r>
              <a:r>
                <a:rPr lang="en-US" altLang="ko-KR" sz="1050" dirty="0">
                  <a:solidFill>
                    <a:schemeClr val="tx1"/>
                  </a:solidFill>
                </a:rPr>
                <a:t>()</a:t>
              </a:r>
              <a:endParaRPr lang="ko-KR" altLang="en-US" sz="1050" dirty="0">
                <a:solidFill>
                  <a:schemeClr val="tx1"/>
                </a:solidFill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39761" y="3075988"/>
              <a:ext cx="6439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메소드</a:t>
              </a:r>
              <a:endPara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7309117" y="1782185"/>
              <a:ext cx="96849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프로퍼티</a:t>
              </a:r>
              <a:endPara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4964648" y="3748645"/>
              <a:ext cx="2256292" cy="503639"/>
              <a:chOff x="2443008" y="3284984"/>
              <a:chExt cx="1120880" cy="648072"/>
            </a:xfrm>
            <a:solidFill>
              <a:srgbClr val="FFFF66"/>
            </a:solidFill>
          </p:grpSpPr>
          <p:sp>
            <p:nvSpPr>
              <p:cNvPr id="20" name="모서리가 둥근 직사각형 19"/>
              <p:cNvSpPr/>
              <p:nvPr/>
            </p:nvSpPr>
            <p:spPr>
              <a:xfrm>
                <a:off x="2443008" y="3284984"/>
                <a:ext cx="1120880" cy="648072"/>
              </a:xfrm>
              <a:prstGeom prst="roundRect">
                <a:avLst/>
              </a:prstGeom>
              <a:grpFill/>
              <a:ln w="127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TextBox 20"/>
              <p:cNvSpPr txBox="1"/>
              <p:nvPr/>
            </p:nvSpPr>
            <p:spPr>
              <a:xfrm>
                <a:off x="2566752" y="3356992"/>
                <a:ext cx="709104" cy="33663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sz="1100" dirty="0"/>
              </a:p>
            </p:txBody>
          </p:sp>
          <p:sp>
            <p:nvSpPr>
              <p:cNvPr id="22" name="TextBox 21"/>
              <p:cNvSpPr txBox="1"/>
              <p:nvPr/>
            </p:nvSpPr>
            <p:spPr>
              <a:xfrm>
                <a:off x="2644749" y="3442210"/>
                <a:ext cx="709104" cy="33663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sz="1100" dirty="0"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2738302" y="3528757"/>
                <a:ext cx="709104" cy="33663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sz="1100" dirty="0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73C5FD8-D564-4F2C-8C88-FEEDF71F5515}"/>
                  </a:ext>
                </a:extLst>
              </p:cNvPr>
              <p:cNvSpPr txBox="1"/>
              <p:nvPr/>
            </p:nvSpPr>
            <p:spPr>
              <a:xfrm>
                <a:off x="2591039" y="3369027"/>
                <a:ext cx="709104" cy="33663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sz="1100" dirty="0"/>
              </a:p>
            </p:txBody>
          </p: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BE080CE4-F0BD-45BA-A147-3EA3F728B391}"/>
                  </a:ext>
                </a:extLst>
              </p:cNvPr>
              <p:cNvSpPr txBox="1"/>
              <p:nvPr/>
            </p:nvSpPr>
            <p:spPr>
              <a:xfrm>
                <a:off x="2669036" y="3454246"/>
                <a:ext cx="709104" cy="336634"/>
              </a:xfrm>
              <a:prstGeom prst="rect">
                <a:avLst/>
              </a:prstGeom>
              <a:solidFill>
                <a:srgbClr val="FFFFFF"/>
              </a:solidFill>
              <a:ln>
                <a:solidFill>
                  <a:srgbClr val="0070C0"/>
                </a:solidFill>
              </a:ln>
            </p:spPr>
            <p:txBody>
              <a:bodyPr wrap="square" rtlCol="0">
                <a:spAutoFit/>
              </a:bodyPr>
              <a:lstStyle/>
              <a:p>
                <a:endParaRPr lang="ko-KR" altLang="en-US" sz="1100" dirty="0"/>
              </a:p>
            </p:txBody>
          </p:sp>
        </p:grpSp>
        <p:sp>
          <p:nvSpPr>
            <p:cNvPr id="24" name="TextBox 23"/>
            <p:cNvSpPr txBox="1"/>
            <p:nvPr/>
          </p:nvSpPr>
          <p:spPr>
            <a:xfrm>
              <a:off x="7439761" y="3864572"/>
              <a:ext cx="6439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컬렉션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2590978" y="1129355"/>
              <a:ext cx="12282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b="1" dirty="0"/>
                <a:t>DOM </a:t>
              </a:r>
              <a:r>
                <a:rPr lang="ko-KR" altLang="en-US" sz="1400" b="1" dirty="0"/>
                <a:t>객체 </a:t>
              </a:r>
              <a:r>
                <a:rPr lang="en-US" altLang="ko-KR" sz="1400" b="1" dirty="0"/>
                <a:t>p</a:t>
              </a:r>
              <a:endParaRPr lang="ko-KR" altLang="en-US" sz="1400" b="1" dirty="0"/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194418" y="1528269"/>
              <a:ext cx="81758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tagName</a:t>
              </a:r>
              <a:endParaRPr lang="ko-KR" altLang="en-US" sz="1050" dirty="0"/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194417" y="1216309"/>
              <a:ext cx="32829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/>
                <a:t>id</a:t>
              </a:r>
              <a:endParaRPr lang="ko-KR" altLang="en-US" sz="1050" dirty="0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194418" y="2310988"/>
              <a:ext cx="503666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050" dirty="0"/>
                <a:t>style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4158952" y="3752310"/>
              <a:ext cx="853255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/>
                <a:t>children</a:t>
              </a:r>
              <a:endParaRPr lang="ko-KR" altLang="en-US" sz="1050" dirty="0"/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5562996" y="5442672"/>
              <a:ext cx="64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………..</a:t>
              </a:r>
              <a:endParaRPr lang="ko-KR" altLang="en-US" sz="1200" dirty="0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499585" y="3178212"/>
              <a:ext cx="75946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………..</a:t>
              </a:r>
              <a:endParaRPr lang="ko-KR" altLang="en-US" sz="1200" dirty="0"/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562996" y="4140332"/>
              <a:ext cx="64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………..</a:t>
              </a:r>
              <a:endParaRPr lang="ko-KR" altLang="en-US" sz="1200" dirty="0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7439761" y="4864305"/>
              <a:ext cx="64396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이벤트</a:t>
              </a:r>
              <a:endPara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  <a:p>
              <a:r>
                <a:rPr lang="ko-KR" altLang="en-US" sz="1200" b="1" dirty="0" err="1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리스너</a:t>
              </a:r>
              <a:endParaRPr lang="ko-KR" altLang="en-US" sz="1200" b="1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978280" y="1839374"/>
              <a:ext cx="2244113" cy="430887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Ins="0" rtlCol="0">
              <a:spAutoFit/>
            </a:bodyPr>
            <a:lstStyle/>
            <a:p>
              <a:r>
                <a:rPr lang="ko-KR" altLang="en-US" sz="1100" dirty="0"/>
                <a:t>이것은 </a:t>
              </a:r>
              <a:r>
                <a:rPr lang="en-US" altLang="ko-KR" sz="1100" dirty="0"/>
                <a:t>&lt;span style="</a:t>
              </a:r>
              <a:r>
                <a:rPr lang="en-US" altLang="ko-KR" sz="1100" dirty="0" err="1"/>
                <a:t>color:red</a:t>
              </a:r>
              <a:r>
                <a:rPr lang="en-US" altLang="ko-KR" sz="1100" dirty="0"/>
                <a:t>"&gt;</a:t>
              </a:r>
            </a:p>
            <a:p>
              <a:r>
                <a:rPr lang="ko-KR" altLang="en-US" sz="1100" dirty="0"/>
                <a:t>문장입니다</a:t>
              </a:r>
              <a:r>
                <a:rPr lang="en-US" altLang="ko-KR" sz="1100" dirty="0"/>
                <a:t>.&lt;/span&gt;</a:t>
              </a: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194418" y="1878940"/>
              <a:ext cx="933326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/>
              <a:r>
                <a:rPr lang="en-US" altLang="ko-KR" sz="1050" dirty="0" err="1"/>
                <a:t>innerHTML</a:t>
              </a:r>
              <a:endParaRPr lang="en-US" altLang="ko-KR" sz="1050" dirty="0"/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162250" y="4646845"/>
              <a:ext cx="66325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onclick</a:t>
              </a:r>
              <a:endParaRPr lang="ko-KR" altLang="en-US" sz="1050" dirty="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4987963" y="4646845"/>
              <a:ext cx="2234627" cy="2539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this.styl</a:t>
              </a:r>
              <a:r>
                <a:rPr lang="en-US" altLang="ko-KR" sz="1050" dirty="0"/>
                <a:t>	</a:t>
              </a:r>
              <a:r>
                <a:rPr lang="en-US" altLang="ko-KR" sz="1050" dirty="0" err="1"/>
                <a:t>e.color</a:t>
              </a:r>
              <a:r>
                <a:rPr lang="en-US" altLang="ko-KR" sz="1050" dirty="0"/>
                <a:t>='teal'</a:t>
              </a:r>
              <a:endParaRPr lang="ko-KR" altLang="en-US" sz="1050" dirty="0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162249" y="5189701"/>
              <a:ext cx="66676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onload</a:t>
              </a:r>
              <a:endParaRPr lang="ko-KR" altLang="en-US" sz="1050" dirty="0"/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000862" y="5257865"/>
              <a:ext cx="2221990" cy="2539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50" dirty="0"/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162250" y="4939698"/>
              <a:ext cx="971908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onkeydown</a:t>
              </a:r>
              <a:endParaRPr lang="ko-KR" altLang="en-US" sz="1050" dirty="0"/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562996" y="2492587"/>
              <a:ext cx="64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………..</a:t>
              </a:r>
              <a:endParaRPr lang="ko-KR" altLang="en-US" sz="1200" dirty="0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5000862" y="4939698"/>
              <a:ext cx="2221990" cy="2539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ko-KR" altLang="en-US" sz="1050" dirty="0"/>
            </a:p>
          </p:txBody>
        </p:sp>
        <p:sp>
          <p:nvSpPr>
            <p:cNvPr id="49" name="모서리가 둥근 직사각형 48"/>
            <p:cNvSpPr/>
            <p:nvPr/>
          </p:nvSpPr>
          <p:spPr>
            <a:xfrm>
              <a:off x="4158952" y="6115178"/>
              <a:ext cx="3280812" cy="1274262"/>
            </a:xfrm>
            <a:prstGeom prst="roundRect">
              <a:avLst>
                <a:gd name="adj" fmla="val 7413"/>
              </a:avLst>
            </a:prstGeom>
            <a:solidFill>
              <a:schemeClr val="accent1">
                <a:lumMod val="20000"/>
                <a:lumOff val="80000"/>
              </a:schemeClr>
            </a:solidFill>
            <a:ln w="127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4103080" y="6201693"/>
              <a:ext cx="698241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/>
                <a:t>color</a:t>
              </a:r>
              <a:endParaRPr lang="ko-KR" altLang="en-US" sz="1050" dirty="0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002400" y="6212725"/>
              <a:ext cx="2223493" cy="26161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050" dirty="0"/>
                <a:t>"blue"</a:t>
              </a:r>
              <a:endParaRPr lang="ko-KR" altLang="en-US" sz="1050" dirty="0"/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4103081" y="6514946"/>
              <a:ext cx="1316544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borderColor</a:t>
              </a:r>
              <a:endParaRPr lang="ko-KR" altLang="en-US" sz="1050" dirty="0"/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5000861" y="6525663"/>
              <a:ext cx="2220813" cy="2539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/>
                <a:t>…</a:t>
              </a:r>
              <a:endParaRPr lang="ko-KR" altLang="en-US" sz="1050" dirty="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103080" y="7019827"/>
              <a:ext cx="1208339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050" dirty="0" err="1"/>
                <a:t>marginTop</a:t>
              </a:r>
              <a:endParaRPr lang="ko-KR" altLang="en-US" sz="1050" dirty="0"/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5002399" y="7030544"/>
              <a:ext cx="2219307" cy="25391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50" dirty="0"/>
                <a:t>…</a:t>
              </a:r>
              <a:endParaRPr lang="ko-KR" altLang="en-US" sz="1050" dirty="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7415128" y="6652621"/>
              <a:ext cx="10967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b="1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CSS3 </a:t>
              </a:r>
            </a:p>
            <a:p>
              <a:r>
                <a:rPr lang="ko-KR" altLang="en-US" sz="1200" b="1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스타일 시트</a:t>
              </a:r>
              <a:endParaRPr lang="en-US" altLang="ko-KR" sz="1200" b="1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  <a:p>
              <a:r>
                <a:rPr lang="ko-KR" altLang="en-US" sz="1200" b="1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객체</a:t>
              </a:r>
              <a:endParaRPr lang="ko-KR" altLang="en-US" sz="1050" b="1" dirty="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5580112" y="6730025"/>
              <a:ext cx="64922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/>
                <a:t>………..</a:t>
              </a:r>
              <a:endParaRPr lang="ko-KR" altLang="en-US" sz="1200" dirty="0"/>
            </a:p>
          </p:txBody>
        </p:sp>
        <p:sp>
          <p:nvSpPr>
            <p:cNvPr id="81" name="자유형 80"/>
            <p:cNvSpPr/>
            <p:nvPr/>
          </p:nvSpPr>
          <p:spPr>
            <a:xfrm>
              <a:off x="7053208" y="2402198"/>
              <a:ext cx="1224402" cy="3987162"/>
            </a:xfrm>
            <a:custGeom>
              <a:avLst/>
              <a:gdLst>
                <a:gd name="connsiteX0" fmla="*/ 0 w 1119181"/>
                <a:gd name="connsiteY0" fmla="*/ 0 h 3830320"/>
                <a:gd name="connsiteX1" fmla="*/ 741680 w 1119181"/>
                <a:gd name="connsiteY1" fmla="*/ 426720 h 3830320"/>
                <a:gd name="connsiteX2" fmla="*/ 1066800 w 1119181"/>
                <a:gd name="connsiteY2" fmla="*/ 1168400 h 3830320"/>
                <a:gd name="connsiteX3" fmla="*/ 1046480 w 1119181"/>
                <a:gd name="connsiteY3" fmla="*/ 3129280 h 3830320"/>
                <a:gd name="connsiteX4" fmla="*/ 375920 w 1119181"/>
                <a:gd name="connsiteY4" fmla="*/ 3830320 h 3830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19181" h="3830320">
                  <a:moveTo>
                    <a:pt x="0" y="0"/>
                  </a:moveTo>
                  <a:cubicBezTo>
                    <a:pt x="281940" y="115993"/>
                    <a:pt x="563880" y="231987"/>
                    <a:pt x="741680" y="426720"/>
                  </a:cubicBezTo>
                  <a:cubicBezTo>
                    <a:pt x="919480" y="621453"/>
                    <a:pt x="1016000" y="717973"/>
                    <a:pt x="1066800" y="1168400"/>
                  </a:cubicBezTo>
                  <a:cubicBezTo>
                    <a:pt x="1117600" y="1618827"/>
                    <a:pt x="1161627" y="2685627"/>
                    <a:pt x="1046480" y="3129280"/>
                  </a:cubicBezTo>
                  <a:cubicBezTo>
                    <a:pt x="931333" y="3572933"/>
                    <a:pt x="375920" y="3830320"/>
                    <a:pt x="375920" y="3830320"/>
                  </a:cubicBezTo>
                </a:path>
              </a:pathLst>
            </a:custGeom>
            <a:noFill/>
            <a:ln w="12700">
              <a:solidFill>
                <a:srgbClr val="FF0000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-109676" y="4068312"/>
              <a:ext cx="3378224" cy="1815882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accent1">
                  <a:lumMod val="75000"/>
                </a:schemeClr>
              </a:solidFill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solidFill>
                    <a:srgbClr val="00B050"/>
                  </a:solidFill>
                </a:rPr>
                <a:t>&lt;</a:t>
              </a:r>
              <a:r>
                <a:rPr lang="en-US" altLang="ko-KR" sz="1400" b="1" dirty="0">
                  <a:solidFill>
                    <a:srgbClr val="00B050"/>
                  </a:solidFill>
                </a:rPr>
                <a:t>p</a:t>
              </a:r>
              <a:r>
                <a:rPr lang="en-US" altLang="ko-KR" sz="1400" dirty="0">
                  <a:solidFill>
                    <a:srgbClr val="00B050"/>
                  </a:solidFill>
                </a:rPr>
                <a:t> </a:t>
              </a:r>
              <a:r>
                <a:rPr lang="en-US" altLang="ko-KR" sz="1400" b="1" dirty="0">
                  <a:solidFill>
                    <a:srgbClr val="00B0F0"/>
                  </a:solidFill>
                </a:rPr>
                <a:t>id</a:t>
              </a:r>
              <a:r>
                <a:rPr lang="en-US" altLang="ko-KR" sz="1400" dirty="0"/>
                <a:t>=</a:t>
              </a:r>
              <a:r>
                <a:rPr lang="en-US" altLang="ko-KR" sz="1400" dirty="0">
                  <a:solidFill>
                    <a:srgbClr val="CC00CC"/>
                  </a:solidFill>
                </a:rPr>
                <a:t>"</a:t>
              </a:r>
              <a:r>
                <a:rPr lang="en-US" altLang="ko-KR" sz="1400" dirty="0" err="1">
                  <a:solidFill>
                    <a:srgbClr val="CC00CC"/>
                  </a:solidFill>
                </a:rPr>
                <a:t>firstP</a:t>
              </a:r>
              <a:r>
                <a:rPr lang="en-US" altLang="ko-KR" sz="1400" dirty="0">
                  <a:solidFill>
                    <a:srgbClr val="CC00CC"/>
                  </a:solidFill>
                </a:rPr>
                <a:t>"</a:t>
              </a:r>
            </a:p>
            <a:p>
              <a:r>
                <a:rPr lang="en-US" altLang="ko-KR" sz="1400" dirty="0"/>
                <a:t>     </a:t>
              </a:r>
              <a:r>
                <a:rPr lang="en-US" altLang="ko-KR" sz="1400" b="1" dirty="0">
                  <a:solidFill>
                    <a:srgbClr val="00B0F0"/>
                  </a:solidFill>
                </a:rPr>
                <a:t>style</a:t>
              </a:r>
              <a:r>
                <a:rPr lang="en-US" altLang="ko-KR" sz="1400" dirty="0"/>
                <a:t>=</a:t>
              </a:r>
              <a:r>
                <a:rPr lang="en-US" altLang="ko-KR" sz="1400" dirty="0">
                  <a:solidFill>
                    <a:srgbClr val="CC00CC"/>
                  </a:solidFill>
                </a:rPr>
                <a:t>"</a:t>
              </a:r>
              <a:r>
                <a:rPr lang="en-US" altLang="ko-KR" sz="1400" dirty="0" err="1">
                  <a:solidFill>
                    <a:srgbClr val="CC00CC"/>
                  </a:solidFill>
                </a:rPr>
                <a:t>color:blue</a:t>
              </a:r>
              <a:r>
                <a:rPr lang="en-US" altLang="ko-KR" sz="1400" dirty="0">
                  <a:solidFill>
                    <a:srgbClr val="CC00CC"/>
                  </a:solidFill>
                </a:rPr>
                <a:t>"</a:t>
              </a:r>
            </a:p>
            <a:p>
              <a:r>
                <a:rPr lang="en-US" altLang="ko-KR" sz="1400" dirty="0"/>
                <a:t>     </a:t>
              </a:r>
              <a:r>
                <a:rPr lang="en-US" altLang="ko-KR" sz="1400" b="1" dirty="0" err="1">
                  <a:solidFill>
                    <a:srgbClr val="00B0F0"/>
                  </a:solidFill>
                </a:rPr>
                <a:t>onclick</a:t>
              </a:r>
              <a:r>
                <a:rPr lang="en-US" altLang="ko-KR" sz="1400" dirty="0"/>
                <a:t>=</a:t>
              </a:r>
              <a:r>
                <a:rPr lang="en-US" altLang="ko-KR" sz="1400" dirty="0">
                  <a:solidFill>
                    <a:srgbClr val="CC00CC"/>
                  </a:solidFill>
                </a:rPr>
                <a:t>"</a:t>
              </a:r>
              <a:r>
                <a:rPr lang="en-US" altLang="ko-KR" sz="1400" dirty="0" err="1">
                  <a:solidFill>
                    <a:srgbClr val="CC00CC"/>
                  </a:solidFill>
                </a:rPr>
                <a:t>this.style.color</a:t>
              </a:r>
              <a:r>
                <a:rPr lang="en-US" altLang="ko-KR" sz="1400" dirty="0">
                  <a:solidFill>
                    <a:srgbClr val="CC00CC"/>
                  </a:solidFill>
                </a:rPr>
                <a:t>='teal'"</a:t>
              </a:r>
              <a:r>
                <a:rPr lang="en-US" altLang="ko-KR" sz="1400" dirty="0">
                  <a:solidFill>
                    <a:srgbClr val="00B050"/>
                  </a:solidFill>
                </a:rPr>
                <a:t>&gt;</a:t>
              </a:r>
            </a:p>
            <a:p>
              <a:r>
                <a:rPr lang="en-US" altLang="ko-KR" sz="1400" dirty="0">
                  <a:solidFill>
                    <a:srgbClr val="C00000"/>
                  </a:solidFill>
                </a:rPr>
                <a:t>   </a:t>
              </a:r>
              <a:r>
                <a:rPr lang="ko-KR" altLang="en-US" sz="1400" dirty="0">
                  <a:solidFill>
                    <a:srgbClr val="C00000"/>
                  </a:solidFill>
                </a:rPr>
                <a:t> 이것은 </a:t>
              </a:r>
            </a:p>
            <a:p>
              <a:r>
                <a:rPr lang="en-US" altLang="ko-KR" sz="1400" dirty="0">
                  <a:solidFill>
                    <a:srgbClr val="C00000"/>
                  </a:solidFill>
                </a:rPr>
                <a:t>    &lt;span style="</a:t>
              </a:r>
              <a:r>
                <a:rPr lang="en-US" altLang="ko-KR" sz="1400" dirty="0" err="1">
                  <a:solidFill>
                    <a:srgbClr val="C00000"/>
                  </a:solidFill>
                </a:rPr>
                <a:t>color:red</a:t>
              </a:r>
              <a:r>
                <a:rPr lang="en-US" altLang="ko-KR" sz="1400" dirty="0">
                  <a:solidFill>
                    <a:srgbClr val="C00000"/>
                  </a:solidFill>
                </a:rPr>
                <a:t>"&gt;</a:t>
              </a:r>
            </a:p>
            <a:p>
              <a:r>
                <a:rPr lang="en-US" altLang="ko-KR" sz="1400" dirty="0">
                  <a:solidFill>
                    <a:srgbClr val="C00000"/>
                  </a:solidFill>
                </a:rPr>
                <a:t>	</a:t>
              </a:r>
              <a:r>
                <a:rPr lang="ko-KR" altLang="en-US" sz="1400" dirty="0">
                  <a:solidFill>
                    <a:srgbClr val="C00000"/>
                  </a:solidFill>
                </a:rPr>
                <a:t>문장입니다</a:t>
              </a:r>
              <a:r>
                <a:rPr lang="en-US" altLang="ko-KR" sz="1400" dirty="0">
                  <a:solidFill>
                    <a:srgbClr val="C00000"/>
                  </a:solidFill>
                </a:rPr>
                <a:t>.</a:t>
              </a:r>
            </a:p>
            <a:p>
              <a:r>
                <a:rPr lang="en-US" altLang="ko-KR" sz="1400" dirty="0">
                  <a:solidFill>
                    <a:srgbClr val="C00000"/>
                  </a:solidFill>
                </a:rPr>
                <a:t>    &lt;/span&gt;</a:t>
              </a:r>
            </a:p>
            <a:p>
              <a:r>
                <a:rPr lang="en-US" altLang="ko-KR" sz="1400" dirty="0">
                  <a:solidFill>
                    <a:srgbClr val="00B050"/>
                  </a:solidFill>
                </a:rPr>
                <a:t>&lt;</a:t>
              </a:r>
              <a:r>
                <a:rPr lang="en-US" altLang="ko-KR" sz="1400" b="1" dirty="0">
                  <a:solidFill>
                    <a:srgbClr val="00B050"/>
                  </a:solidFill>
                </a:rPr>
                <a:t>/p</a:t>
              </a:r>
              <a:r>
                <a:rPr lang="en-US" altLang="ko-KR" sz="1400" dirty="0">
                  <a:solidFill>
                    <a:srgbClr val="00B050"/>
                  </a:solidFill>
                </a:rPr>
                <a:t>&gt;</a:t>
              </a:r>
            </a:p>
          </p:txBody>
        </p:sp>
        <p:sp>
          <p:nvSpPr>
            <p:cNvPr id="83" name="오른쪽 화살표 82"/>
            <p:cNvSpPr/>
            <p:nvPr/>
          </p:nvSpPr>
          <p:spPr>
            <a:xfrm>
              <a:off x="3316523" y="4851292"/>
              <a:ext cx="469955" cy="249921"/>
            </a:xfrm>
            <a:prstGeom prst="right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7" name="직선 화살표 연결선 16"/>
            <p:cNvCxnSpPr>
              <a:stCxn id="23" idx="3"/>
            </p:cNvCxnSpPr>
            <p:nvPr/>
          </p:nvCxnSpPr>
          <p:spPr>
            <a:xfrm>
              <a:off x="6986465" y="4068894"/>
              <a:ext cx="848585" cy="22420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/>
            <p:nvPr/>
          </p:nvCxnSpPr>
          <p:spPr>
            <a:xfrm>
              <a:off x="6798147" y="3864572"/>
              <a:ext cx="128557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/>
            <p:cNvCxnSpPr/>
            <p:nvPr/>
          </p:nvCxnSpPr>
          <p:spPr>
            <a:xfrm flipV="1">
              <a:off x="6516216" y="3536743"/>
              <a:ext cx="1318834" cy="2678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Box 58"/>
            <p:cNvSpPr txBox="1"/>
            <p:nvPr/>
          </p:nvSpPr>
          <p:spPr>
            <a:xfrm rot="1003456">
              <a:off x="6934364" y="4158521"/>
              <a:ext cx="1001173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900" dirty="0"/>
                <a:t>자식 </a:t>
              </a:r>
              <a:r>
                <a:rPr lang="en-US" altLang="ko-KR" sz="900" dirty="0"/>
                <a:t>DOM </a:t>
              </a:r>
              <a:r>
                <a:rPr lang="ko-KR" altLang="en-US" sz="900" dirty="0"/>
                <a:t>객체</a:t>
              </a: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693614" y="787215"/>
            <a:ext cx="3274522" cy="1815882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 lvl="0" algn="just" fontAlgn="base"/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DOM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객체의 구성</a:t>
            </a:r>
            <a:endParaRPr lang="en-US" altLang="ko-KR" sz="1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lvl="0" algn="just" fontAlgn="base"/>
            <a:endParaRPr lang="en-US" altLang="ko-KR" sz="16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ko-KR" altLang="en-US" sz="1600" kern="0" dirty="0" err="1">
                <a:solidFill>
                  <a:srgbClr val="000000"/>
                </a:solidFill>
                <a:latin typeface="+mj-ea"/>
                <a:ea typeface="+mj-ea"/>
              </a:rPr>
              <a:t>프로퍼티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(property)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ko-KR" altLang="en-US" sz="1600" kern="0" dirty="0" err="1">
                <a:solidFill>
                  <a:srgbClr val="000000"/>
                </a:solidFill>
                <a:latin typeface="+mj-ea"/>
                <a:ea typeface="+mj-ea"/>
              </a:rPr>
              <a:t>메소드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(method)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컬렉션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(collection)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이벤트 </a:t>
            </a:r>
            <a:r>
              <a:rPr lang="ko-KR" altLang="en-US" sz="1600" kern="0" dirty="0" err="1">
                <a:solidFill>
                  <a:srgbClr val="000000"/>
                </a:solidFill>
                <a:latin typeface="+mj-ea"/>
                <a:ea typeface="+mj-ea"/>
              </a:rPr>
              <a:t>리스너</a:t>
            </a: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(event listener)</a:t>
            </a:r>
          </a:p>
          <a:p>
            <a:pPr marL="285750" indent="-285750" algn="just" fontAlgn="base">
              <a:buFont typeface="Arial" panose="020B0604020202020204" pitchFamily="34" charset="0"/>
              <a:buChar char="•"/>
            </a:pPr>
            <a:r>
              <a:rPr lang="en-US" altLang="ko-KR" sz="1600" kern="0" dirty="0">
                <a:solidFill>
                  <a:srgbClr val="000000"/>
                </a:solidFill>
                <a:latin typeface="+mj-ea"/>
                <a:ea typeface="+mj-ea"/>
              </a:rPr>
              <a:t>CSS3 </a:t>
            </a:r>
            <a:r>
              <a:rPr lang="ko-KR" altLang="en-US" sz="1600" kern="0" dirty="0">
                <a:solidFill>
                  <a:srgbClr val="000000"/>
                </a:solidFill>
                <a:latin typeface="+mj-ea"/>
                <a:ea typeface="+mj-ea"/>
              </a:rPr>
              <a:t>스타일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681916" y="5234277"/>
            <a:ext cx="1649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/>
              <a:t>&lt;p&gt;…&lt;/p&gt;</a:t>
            </a:r>
            <a:r>
              <a:rPr lang="ko-KR" altLang="en-US" sz="1400" b="1" dirty="0"/>
              <a:t> 태그 </a:t>
            </a:r>
          </a:p>
        </p:txBody>
      </p:sp>
    </p:spTree>
    <p:extLst>
      <p:ext uri="{BB962C8B-B14F-4D97-AF65-F5344CB8AC3E}">
        <p14:creationId xmlns:p14="http://schemas.microsoft.com/office/powerpoint/2010/main" val="290962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ko-KR"/>
              <a:t>HTML </a:t>
            </a:r>
            <a:r>
              <a:rPr lang="ko-KR" altLang="en-US"/>
              <a:t>태그의 요소</a:t>
            </a:r>
            <a:endParaRPr lang="ko-KR" altLang="en-US" dirty="0"/>
          </a:p>
        </p:txBody>
      </p:sp>
      <p:sp>
        <p:nvSpPr>
          <p:cNvPr id="19" name="내용 개체 틀 18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HTML </a:t>
            </a:r>
            <a:r>
              <a:rPr lang="ko-KR" altLang="en-US" dirty="0"/>
              <a:t>태그</a:t>
            </a:r>
            <a:endParaRPr lang="en-US" altLang="ko-KR" dirty="0"/>
          </a:p>
          <a:p>
            <a:pPr lvl="1"/>
            <a:r>
              <a:rPr lang="ko-KR" altLang="en-US" dirty="0" err="1"/>
              <a:t>엘리먼트</a:t>
            </a:r>
            <a:r>
              <a:rPr lang="en-US" altLang="ko-KR" dirty="0"/>
              <a:t>(element)</a:t>
            </a:r>
            <a:r>
              <a:rPr lang="ko-KR" altLang="en-US" dirty="0"/>
              <a:t>로도 불림</a:t>
            </a:r>
          </a:p>
          <a:p>
            <a:pPr lvl="1"/>
            <a:r>
              <a:rPr lang="ko-KR" altLang="en-US" dirty="0"/>
              <a:t>다음 </a:t>
            </a:r>
            <a:r>
              <a:rPr lang="en-US" altLang="ko-KR" dirty="0"/>
              <a:t>5 </a:t>
            </a:r>
            <a:r>
              <a:rPr lang="ko-KR" altLang="en-US" dirty="0"/>
              <a:t>가지 요소로 구성</a:t>
            </a:r>
            <a:endParaRPr lang="en-US" altLang="ko-KR" dirty="0"/>
          </a:p>
          <a:p>
            <a:pPr lvl="2"/>
            <a:r>
              <a:rPr lang="ko-KR" altLang="en-US" dirty="0" err="1"/>
              <a:t>엘리먼트</a:t>
            </a:r>
            <a:r>
              <a:rPr lang="ko-KR" altLang="en-US" dirty="0"/>
              <a:t> 이름</a:t>
            </a:r>
            <a:endParaRPr lang="en-US" altLang="ko-KR" dirty="0"/>
          </a:p>
          <a:p>
            <a:pPr lvl="2"/>
            <a:r>
              <a:rPr lang="ko-KR" altLang="en-US" dirty="0"/>
              <a:t>속성</a:t>
            </a:r>
            <a:endParaRPr lang="en-US" altLang="ko-KR" dirty="0"/>
          </a:p>
          <a:p>
            <a:pPr lvl="2"/>
            <a:r>
              <a:rPr lang="en-US" altLang="ko-KR" dirty="0"/>
              <a:t>CSS3 </a:t>
            </a:r>
            <a:r>
              <a:rPr lang="ko-KR" altLang="en-US" dirty="0"/>
              <a:t>스타일</a:t>
            </a:r>
            <a:endParaRPr lang="en-US" altLang="ko-KR" dirty="0"/>
          </a:p>
          <a:p>
            <a:pPr lvl="2"/>
            <a:r>
              <a:rPr lang="ko-KR" altLang="en-US" dirty="0"/>
              <a:t>이벤트 </a:t>
            </a:r>
            <a:r>
              <a:rPr lang="ko-KR" altLang="en-US" dirty="0" err="1"/>
              <a:t>리스너</a:t>
            </a:r>
            <a:endParaRPr lang="en-US" altLang="ko-KR" dirty="0"/>
          </a:p>
          <a:p>
            <a:pPr lvl="2"/>
            <a:r>
              <a:rPr lang="ko-KR" altLang="en-US" dirty="0" err="1"/>
              <a:t>콘텐츠</a:t>
            </a:r>
            <a:r>
              <a:rPr lang="en-US" altLang="ko-KR" dirty="0"/>
              <a:t>(</a:t>
            </a:r>
            <a:r>
              <a:rPr lang="en-US" altLang="ko-KR" dirty="0" err="1"/>
              <a:t>innerHTML</a:t>
            </a:r>
            <a:r>
              <a:rPr lang="en-US" altLang="ko-KR" dirty="0"/>
              <a:t>)</a:t>
            </a:r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10</a:t>
            </a:fld>
            <a:endParaRPr lang="ko-KR" altLang="en-US"/>
          </a:p>
        </p:txBody>
      </p:sp>
      <p:pic>
        <p:nvPicPr>
          <p:cNvPr id="17" name="그림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577" y="4581128"/>
            <a:ext cx="7092315" cy="1645920"/>
          </a:xfrm>
          <a:prstGeom prst="rect">
            <a:avLst/>
          </a:prstGeom>
        </p:spPr>
      </p:pic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CA5253A-E864-4930-8291-BA0D4639F567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5874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제목 40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DOM </a:t>
            </a:r>
            <a:r>
              <a:rPr lang="ko-KR" altLang="en-US" dirty="0"/>
              <a:t>객체의 </a:t>
            </a:r>
            <a:r>
              <a:rPr lang="ko-KR" altLang="en-US" dirty="0" err="1"/>
              <a:t>프로퍼티와</a:t>
            </a:r>
            <a:r>
              <a:rPr lang="ko-KR" altLang="en-US" dirty="0"/>
              <a:t> </a:t>
            </a:r>
            <a:r>
              <a:rPr lang="en-US" altLang="ko-KR" dirty="0"/>
              <a:t>DOM </a:t>
            </a:r>
            <a:r>
              <a:rPr lang="ko-KR" altLang="en-US" dirty="0" err="1"/>
              <a:t>객체사이의</a:t>
            </a:r>
            <a:r>
              <a:rPr lang="ko-KR" altLang="en-US" dirty="0"/>
              <a:t> 관계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42" name="그룹 41"/>
          <p:cNvGrpSpPr/>
          <p:nvPr/>
        </p:nvGrpSpPr>
        <p:grpSpPr>
          <a:xfrm>
            <a:off x="2567609" y="1556792"/>
            <a:ext cx="7178559" cy="5092938"/>
            <a:chOff x="1110137" y="486973"/>
            <a:chExt cx="7178559" cy="5092938"/>
          </a:xfrm>
        </p:grpSpPr>
        <p:sp>
          <p:nvSpPr>
            <p:cNvPr id="3" name="모서리가 둥근 직사각형 2"/>
            <p:cNvSpPr/>
            <p:nvPr/>
          </p:nvSpPr>
          <p:spPr>
            <a:xfrm>
              <a:off x="1131760" y="3276277"/>
              <a:ext cx="5384455" cy="648072"/>
            </a:xfrm>
            <a:prstGeom prst="roundRect">
              <a:avLst>
                <a:gd name="adj" fmla="val 46715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모서리가 둥근 직사각형 3"/>
            <p:cNvSpPr/>
            <p:nvPr/>
          </p:nvSpPr>
          <p:spPr>
            <a:xfrm>
              <a:off x="1110137" y="2131393"/>
              <a:ext cx="4173896" cy="648072"/>
            </a:xfrm>
            <a:prstGeom prst="roundRect">
              <a:avLst>
                <a:gd name="adj" fmla="val 46715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" name="Rectangle 411"/>
            <p:cNvSpPr>
              <a:spLocks noChangeArrowheads="1"/>
            </p:cNvSpPr>
            <p:nvPr/>
          </p:nvSpPr>
          <p:spPr bwMode="auto">
            <a:xfrm>
              <a:off x="2770886" y="486973"/>
              <a:ext cx="1143000" cy="288032"/>
            </a:xfrm>
            <a:prstGeom prst="rect">
              <a:avLst/>
            </a:prstGeom>
            <a:solidFill>
              <a:schemeClr val="bg2">
                <a:lumMod val="20000"/>
                <a:lumOff val="80000"/>
              </a:schemeClr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>
                  <a:solidFill>
                    <a:schemeClr val="bg1"/>
                  </a:solidFill>
                  <a:latin typeface="Helvetica" pitchFamily="34" charset="0"/>
                  <a:ea typeface="돋움" pitchFamily="50" charset="-127"/>
                </a:rPr>
                <a:t>document</a:t>
              </a:r>
            </a:p>
          </p:txBody>
        </p:sp>
        <p:sp>
          <p:nvSpPr>
            <p:cNvPr id="6" name="Rectangle 411"/>
            <p:cNvSpPr>
              <a:spLocks noChangeArrowheads="1"/>
            </p:cNvSpPr>
            <p:nvPr/>
          </p:nvSpPr>
          <p:spPr bwMode="auto">
            <a:xfrm>
              <a:off x="2770886" y="1268211"/>
              <a:ext cx="1143000" cy="31268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html</a:t>
              </a:r>
            </a:p>
          </p:txBody>
        </p:sp>
        <p:cxnSp>
          <p:nvCxnSpPr>
            <p:cNvPr id="7" name="직선 연결선 6"/>
            <p:cNvCxnSpPr>
              <a:stCxn id="5" idx="2"/>
              <a:endCxn id="6" idx="0"/>
            </p:cNvCxnSpPr>
            <p:nvPr/>
          </p:nvCxnSpPr>
          <p:spPr>
            <a:xfrm>
              <a:off x="3342386" y="775005"/>
              <a:ext cx="0" cy="49320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411"/>
            <p:cNvSpPr>
              <a:spLocks noChangeArrowheads="1"/>
            </p:cNvSpPr>
            <p:nvPr/>
          </p:nvSpPr>
          <p:spPr bwMode="auto">
            <a:xfrm>
              <a:off x="1373099" y="2292990"/>
              <a:ext cx="770691" cy="32487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head</a:t>
              </a:r>
            </a:p>
          </p:txBody>
        </p:sp>
        <p:sp>
          <p:nvSpPr>
            <p:cNvPr id="9" name="Rectangle 411"/>
            <p:cNvSpPr>
              <a:spLocks noChangeArrowheads="1"/>
            </p:cNvSpPr>
            <p:nvPr/>
          </p:nvSpPr>
          <p:spPr bwMode="auto">
            <a:xfrm>
              <a:off x="4292264" y="2284835"/>
              <a:ext cx="765182" cy="324878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body</a:t>
              </a:r>
            </a:p>
          </p:txBody>
        </p:sp>
        <p:sp>
          <p:nvSpPr>
            <p:cNvPr id="10" name="Rectangle 411"/>
            <p:cNvSpPr>
              <a:spLocks noChangeArrowheads="1"/>
            </p:cNvSpPr>
            <p:nvPr/>
          </p:nvSpPr>
          <p:spPr bwMode="auto">
            <a:xfrm>
              <a:off x="1342467" y="3449330"/>
              <a:ext cx="831953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title</a:t>
              </a:r>
            </a:p>
          </p:txBody>
        </p:sp>
        <p:cxnSp>
          <p:nvCxnSpPr>
            <p:cNvPr id="11" name="직선 연결선 10"/>
            <p:cNvCxnSpPr>
              <a:stCxn id="8" idx="2"/>
              <a:endCxn id="10" idx="0"/>
            </p:cNvCxnSpPr>
            <p:nvPr/>
          </p:nvCxnSpPr>
          <p:spPr>
            <a:xfrm flipH="1">
              <a:off x="1758444" y="2617869"/>
              <a:ext cx="1" cy="831461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411"/>
            <p:cNvSpPr>
              <a:spLocks noChangeArrowheads="1"/>
            </p:cNvSpPr>
            <p:nvPr/>
          </p:nvSpPr>
          <p:spPr bwMode="auto">
            <a:xfrm>
              <a:off x="3219978" y="3449331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p</a:t>
              </a:r>
            </a:p>
          </p:txBody>
        </p:sp>
        <p:sp>
          <p:nvSpPr>
            <p:cNvPr id="13" name="Rectangle 411"/>
            <p:cNvSpPr>
              <a:spLocks noChangeArrowheads="1"/>
            </p:cNvSpPr>
            <p:nvPr/>
          </p:nvSpPr>
          <p:spPr bwMode="auto">
            <a:xfrm>
              <a:off x="5605180" y="3449330"/>
              <a:ext cx="576064" cy="301966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form</a:t>
              </a:r>
            </a:p>
          </p:txBody>
        </p:sp>
        <p:sp>
          <p:nvSpPr>
            <p:cNvPr id="14" name="Rectangle 411"/>
            <p:cNvSpPr>
              <a:spLocks noChangeArrowheads="1"/>
            </p:cNvSpPr>
            <p:nvPr/>
          </p:nvSpPr>
          <p:spPr bwMode="auto">
            <a:xfrm>
              <a:off x="3228477" y="4648543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span</a:t>
              </a:r>
            </a:p>
          </p:txBody>
        </p:sp>
        <p:sp>
          <p:nvSpPr>
            <p:cNvPr id="15" name="Rectangle 411"/>
            <p:cNvSpPr>
              <a:spLocks noChangeArrowheads="1"/>
            </p:cNvSpPr>
            <p:nvPr/>
          </p:nvSpPr>
          <p:spPr bwMode="auto">
            <a:xfrm>
              <a:off x="4887962" y="4646789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input</a:t>
              </a:r>
            </a:p>
          </p:txBody>
        </p:sp>
        <p:sp>
          <p:nvSpPr>
            <p:cNvPr id="16" name="Rectangle 411"/>
            <p:cNvSpPr>
              <a:spLocks noChangeArrowheads="1"/>
            </p:cNvSpPr>
            <p:nvPr/>
          </p:nvSpPr>
          <p:spPr bwMode="auto">
            <a:xfrm>
              <a:off x="5626952" y="4653136"/>
              <a:ext cx="562790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input</a:t>
              </a:r>
            </a:p>
          </p:txBody>
        </p:sp>
        <p:sp>
          <p:nvSpPr>
            <p:cNvPr id="17" name="Rectangle 411"/>
            <p:cNvSpPr>
              <a:spLocks noChangeArrowheads="1"/>
            </p:cNvSpPr>
            <p:nvPr/>
          </p:nvSpPr>
          <p:spPr bwMode="auto">
            <a:xfrm>
              <a:off x="6424489" y="4646787"/>
              <a:ext cx="361264" cy="319309"/>
            </a:xfrm>
            <a:prstGeom prst="rect">
              <a:avLst/>
            </a:prstGeom>
            <a:solidFill>
              <a:srgbClr val="FFFF66"/>
            </a:solidFill>
            <a:ln w="9525">
              <a:solidFill>
                <a:srgbClr val="C0000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lIns="36000" tIns="46038" rIns="36000" bIns="46038" anchor="ctr"/>
            <a:lstStyle/>
            <a:p>
              <a:pPr algn="ctr" eaLnBrk="0" latinLnBrk="0" hangingPunct="0">
                <a:spcBef>
                  <a:spcPct val="20000"/>
                </a:spcBef>
              </a:pPr>
              <a:r>
                <a:rPr lang="en-US" altLang="ko-KR" sz="1400" dirty="0" err="1">
                  <a:solidFill>
                    <a:srgbClr val="0070C0"/>
                  </a:solidFill>
                  <a:latin typeface="Helvetica" pitchFamily="34" charset="0"/>
                  <a:ea typeface="돋움" pitchFamily="50" charset="-127"/>
                </a:rPr>
                <a:t>hr</a:t>
              </a:r>
              <a:endParaRPr lang="en-US" altLang="ko-KR" sz="1400" dirty="0">
                <a:solidFill>
                  <a:srgbClr val="0070C0"/>
                </a:solidFill>
                <a:latin typeface="Helvetica" pitchFamily="34" charset="0"/>
                <a:ea typeface="돋움" pitchFamily="50" charset="-127"/>
              </a:endParaRPr>
            </a:p>
          </p:txBody>
        </p:sp>
        <p:cxnSp>
          <p:nvCxnSpPr>
            <p:cNvPr id="18" name="꺾인 연결선 17"/>
            <p:cNvCxnSpPr>
              <a:stCxn id="6" idx="2"/>
              <a:endCxn id="8" idx="0"/>
            </p:cNvCxnSpPr>
            <p:nvPr/>
          </p:nvCxnSpPr>
          <p:spPr>
            <a:xfrm rot="5400000">
              <a:off x="2194371" y="1144974"/>
              <a:ext cx="712091" cy="1583941"/>
            </a:xfrm>
            <a:prstGeom prst="bentConnector3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꺾인 연결선 18"/>
            <p:cNvCxnSpPr>
              <a:stCxn id="6" idx="2"/>
              <a:endCxn id="9" idx="0"/>
            </p:cNvCxnSpPr>
            <p:nvPr/>
          </p:nvCxnSpPr>
          <p:spPr>
            <a:xfrm rot="16200000" flipH="1">
              <a:off x="3656652" y="1266632"/>
              <a:ext cx="703936" cy="1332469"/>
            </a:xfrm>
            <a:prstGeom prst="bentConnector3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꺾인 연결선 19"/>
            <p:cNvCxnSpPr>
              <a:stCxn id="9" idx="2"/>
              <a:endCxn id="12" idx="0"/>
            </p:cNvCxnSpPr>
            <p:nvPr/>
          </p:nvCxnSpPr>
          <p:spPr>
            <a:xfrm rot="5400000">
              <a:off x="3668305" y="2442781"/>
              <a:ext cx="839618" cy="1173482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꺾인 연결선 20"/>
            <p:cNvCxnSpPr>
              <a:stCxn id="9" idx="2"/>
              <a:endCxn id="13" idx="0"/>
            </p:cNvCxnSpPr>
            <p:nvPr/>
          </p:nvCxnSpPr>
          <p:spPr>
            <a:xfrm rot="16200000" flipH="1">
              <a:off x="4864225" y="2420342"/>
              <a:ext cx="839617" cy="1218357"/>
            </a:xfrm>
            <a:prstGeom prst="bentConnector3">
              <a:avLst>
                <a:gd name="adj1" fmla="val 50000"/>
              </a:avLst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꺾인 연결선 21"/>
            <p:cNvCxnSpPr>
              <a:stCxn id="13" idx="2"/>
              <a:endCxn id="15" idx="0"/>
            </p:cNvCxnSpPr>
            <p:nvPr/>
          </p:nvCxnSpPr>
          <p:spPr>
            <a:xfrm rot="5400000">
              <a:off x="5083539" y="3837115"/>
              <a:ext cx="895493" cy="723855"/>
            </a:xfrm>
            <a:prstGeom prst="bentConnector3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꺾인 연결선 22"/>
            <p:cNvCxnSpPr>
              <a:stCxn id="13" idx="2"/>
              <a:endCxn id="16" idx="0"/>
            </p:cNvCxnSpPr>
            <p:nvPr/>
          </p:nvCxnSpPr>
          <p:spPr>
            <a:xfrm rot="16200000" flipH="1">
              <a:off x="5449859" y="4194648"/>
              <a:ext cx="901840" cy="15135"/>
            </a:xfrm>
            <a:prstGeom prst="bentConnector3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꺾인 연결선 23"/>
            <p:cNvCxnSpPr>
              <a:stCxn id="13" idx="2"/>
              <a:endCxn id="17" idx="0"/>
            </p:cNvCxnSpPr>
            <p:nvPr/>
          </p:nvCxnSpPr>
          <p:spPr>
            <a:xfrm rot="16200000" flipH="1">
              <a:off x="5801421" y="3843086"/>
              <a:ext cx="895491" cy="711909"/>
            </a:xfrm>
            <a:prstGeom prst="bentConnector3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/>
            <p:cNvCxnSpPr>
              <a:stCxn id="12" idx="2"/>
              <a:endCxn id="14" idx="0"/>
            </p:cNvCxnSpPr>
            <p:nvPr/>
          </p:nvCxnSpPr>
          <p:spPr>
            <a:xfrm>
              <a:off x="3501373" y="3768640"/>
              <a:ext cx="8499" cy="879903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4577315" y="1442399"/>
              <a:ext cx="12645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html</a:t>
              </a:r>
              <a:r>
                <a:rPr lang="ko-KR" altLang="en-US" sz="1200" dirty="0"/>
                <a:t>의 </a:t>
              </a:r>
              <a:r>
                <a:rPr lang="en-US" altLang="ko-KR" sz="1200" dirty="0"/>
                <a:t>children</a:t>
              </a:r>
              <a:endParaRPr lang="ko-KR" altLang="en-US" sz="1200" dirty="0"/>
            </a:p>
          </p:txBody>
        </p:sp>
        <p:cxnSp>
          <p:nvCxnSpPr>
            <p:cNvPr id="27" name="직선 화살표 연결선 26"/>
            <p:cNvCxnSpPr>
              <a:stCxn id="26" idx="2"/>
            </p:cNvCxnSpPr>
            <p:nvPr/>
          </p:nvCxnSpPr>
          <p:spPr>
            <a:xfrm flipH="1">
              <a:off x="5057446" y="1719398"/>
              <a:ext cx="152126" cy="411995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6785753" y="3176475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dirty="0"/>
                <a:t>서로 </a:t>
              </a:r>
              <a:r>
                <a:rPr lang="en-US" altLang="ko-KR" sz="1200" dirty="0"/>
                <a:t>sibling </a:t>
              </a:r>
              <a:r>
                <a:rPr lang="ko-KR" altLang="en-US" sz="1200" dirty="0"/>
                <a:t>관계</a:t>
              </a:r>
            </a:p>
          </p:txBody>
        </p:sp>
        <p:cxnSp>
          <p:nvCxnSpPr>
            <p:cNvPr id="29" name="직선 화살표 연결선 28"/>
            <p:cNvCxnSpPr>
              <a:stCxn id="28" idx="1"/>
            </p:cNvCxnSpPr>
            <p:nvPr/>
          </p:nvCxnSpPr>
          <p:spPr>
            <a:xfrm flipH="1">
              <a:off x="6424489" y="3314975"/>
              <a:ext cx="361264" cy="138499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/>
            <p:cNvSpPr txBox="1"/>
            <p:nvPr/>
          </p:nvSpPr>
          <p:spPr>
            <a:xfrm>
              <a:off x="3906388" y="5118246"/>
              <a:ext cx="136402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form</a:t>
              </a:r>
              <a:r>
                <a:rPr lang="ko-KR" altLang="en-US" sz="1200" dirty="0"/>
                <a:t>의</a:t>
              </a:r>
              <a:endParaRPr lang="en-US" altLang="ko-KR" sz="1200" dirty="0"/>
            </a:p>
            <a:p>
              <a:r>
                <a:rPr lang="en-US" altLang="ko-KR" sz="1200" dirty="0" err="1"/>
                <a:t>firstElementChild</a:t>
              </a:r>
              <a:endParaRPr lang="ko-KR" altLang="en-US" sz="1200" dirty="0"/>
            </a:p>
          </p:txBody>
        </p:sp>
        <p:cxnSp>
          <p:nvCxnSpPr>
            <p:cNvPr id="31" name="직선 화살표 연결선 30"/>
            <p:cNvCxnSpPr>
              <a:stCxn id="30" idx="0"/>
              <a:endCxn id="15" idx="1"/>
            </p:cNvCxnSpPr>
            <p:nvPr/>
          </p:nvCxnSpPr>
          <p:spPr>
            <a:xfrm flipV="1">
              <a:off x="4588402" y="4806444"/>
              <a:ext cx="299560" cy="31180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/>
            <p:cNvSpPr txBox="1"/>
            <p:nvPr/>
          </p:nvSpPr>
          <p:spPr>
            <a:xfrm>
              <a:off x="6948264" y="5118246"/>
              <a:ext cx="1340432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form</a:t>
              </a:r>
              <a:r>
                <a:rPr lang="ko-KR" altLang="en-US" sz="1200" dirty="0"/>
                <a:t>의</a:t>
              </a:r>
              <a:endParaRPr lang="en-US" altLang="ko-KR" sz="1200" dirty="0"/>
            </a:p>
            <a:p>
              <a:r>
                <a:rPr lang="en-US" altLang="ko-KR" sz="1200" dirty="0" err="1"/>
                <a:t>lastElementChild</a:t>
              </a:r>
              <a:endParaRPr lang="ko-KR" altLang="en-US" sz="1200" dirty="0"/>
            </a:p>
          </p:txBody>
        </p:sp>
        <p:cxnSp>
          <p:nvCxnSpPr>
            <p:cNvPr id="33" name="직선 화살표 연결선 32"/>
            <p:cNvCxnSpPr>
              <a:stCxn id="32" idx="0"/>
              <a:endCxn id="17" idx="3"/>
            </p:cNvCxnSpPr>
            <p:nvPr/>
          </p:nvCxnSpPr>
          <p:spPr>
            <a:xfrm flipH="1" flipV="1">
              <a:off x="6785753" y="4806442"/>
              <a:ext cx="832727" cy="3118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직사각형 33"/>
            <p:cNvSpPr/>
            <p:nvPr/>
          </p:nvSpPr>
          <p:spPr>
            <a:xfrm>
              <a:off x="5289402" y="2316929"/>
              <a:ext cx="225414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fontAlgn="base"/>
              <a:r>
                <a:rPr lang="en-US" altLang="ko-KR" sz="1200" dirty="0"/>
                <a:t>body</a:t>
              </a:r>
              <a:r>
                <a:rPr lang="ko-KR" altLang="en-US" sz="1200" dirty="0"/>
                <a:t>의 </a:t>
              </a:r>
              <a:r>
                <a:rPr lang="en-US" altLang="ko-KR" sz="1200" dirty="0" err="1"/>
                <a:t>childElementCount</a:t>
              </a:r>
              <a:r>
                <a:rPr lang="en-US" altLang="ko-KR" sz="1200" dirty="0"/>
                <a:t>=2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3714762" y="3630140"/>
              <a:ext cx="18165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</a:t>
              </a:r>
              <a:r>
                <a:rPr lang="ko-KR" altLang="en-US" sz="1200" dirty="0"/>
                <a:t>의 </a:t>
              </a:r>
              <a:r>
                <a:rPr lang="en-US" altLang="ko-KR" sz="1200" dirty="0" err="1"/>
                <a:t>nextElementSibling</a:t>
              </a:r>
              <a:endParaRPr lang="en-US" altLang="ko-KR" sz="1200" dirty="0"/>
            </a:p>
          </p:txBody>
        </p:sp>
        <p:cxnSp>
          <p:nvCxnSpPr>
            <p:cNvPr id="36" name="직선 화살표 연결선 35"/>
            <p:cNvCxnSpPr>
              <a:stCxn id="12" idx="3"/>
              <a:endCxn id="13" idx="1"/>
            </p:cNvCxnSpPr>
            <p:nvPr/>
          </p:nvCxnSpPr>
          <p:spPr>
            <a:xfrm flipV="1">
              <a:off x="3782768" y="3600313"/>
              <a:ext cx="1822412" cy="8673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직선 화살표 연결선 36"/>
            <p:cNvCxnSpPr>
              <a:stCxn id="12" idx="1"/>
              <a:endCxn id="10" idx="3"/>
            </p:cNvCxnSpPr>
            <p:nvPr/>
          </p:nvCxnSpPr>
          <p:spPr>
            <a:xfrm flipH="1" flipV="1">
              <a:off x="2174420" y="3608985"/>
              <a:ext cx="1045558" cy="1"/>
            </a:xfrm>
            <a:prstGeom prst="straightConnector1">
              <a:avLst/>
            </a:prstGeom>
            <a:ln>
              <a:solidFill>
                <a:srgbClr val="00B05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2448281" y="3600313"/>
              <a:ext cx="770788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</a:t>
              </a:r>
              <a:r>
                <a:rPr lang="ko-KR" altLang="en-US" sz="1200" dirty="0"/>
                <a:t>의 </a:t>
              </a:r>
              <a:endParaRPr lang="en-US" altLang="ko-KR" sz="1200" dirty="0"/>
            </a:p>
            <a:p>
              <a:r>
                <a:rPr lang="en-US" altLang="ko-KR" sz="1200" dirty="0"/>
                <a:t>previous</a:t>
              </a:r>
            </a:p>
            <a:p>
              <a:r>
                <a:rPr lang="en-US" altLang="ko-KR" sz="1200" dirty="0"/>
                <a:t>Element</a:t>
              </a:r>
            </a:p>
            <a:p>
              <a:r>
                <a:rPr lang="en-US" altLang="ko-KR" sz="1200" dirty="0"/>
                <a:t>Sibling</a:t>
              </a:r>
            </a:p>
          </p:txBody>
        </p:sp>
        <p:sp>
          <p:nvSpPr>
            <p:cNvPr id="39" name="자유형 38"/>
            <p:cNvSpPr/>
            <p:nvPr/>
          </p:nvSpPr>
          <p:spPr>
            <a:xfrm>
              <a:off x="3349926" y="2599267"/>
              <a:ext cx="1222074" cy="855133"/>
            </a:xfrm>
            <a:custGeom>
              <a:avLst/>
              <a:gdLst>
                <a:gd name="connsiteX0" fmla="*/ 79074 w 1222074"/>
                <a:gd name="connsiteY0" fmla="*/ 855133 h 855133"/>
                <a:gd name="connsiteX1" fmla="*/ 87541 w 1222074"/>
                <a:gd name="connsiteY1" fmla="*/ 431800 h 855133"/>
                <a:gd name="connsiteX2" fmla="*/ 968074 w 1222074"/>
                <a:gd name="connsiteY2" fmla="*/ 296333 h 855133"/>
                <a:gd name="connsiteX3" fmla="*/ 1222074 w 1222074"/>
                <a:gd name="connsiteY3" fmla="*/ 0 h 85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22074" h="855133">
                  <a:moveTo>
                    <a:pt x="79074" y="855133"/>
                  </a:moveTo>
                  <a:cubicBezTo>
                    <a:pt x="9224" y="690033"/>
                    <a:pt x="-60626" y="524933"/>
                    <a:pt x="87541" y="431800"/>
                  </a:cubicBezTo>
                  <a:cubicBezTo>
                    <a:pt x="235708" y="338667"/>
                    <a:pt x="778985" y="368300"/>
                    <a:pt x="968074" y="296333"/>
                  </a:cubicBezTo>
                  <a:cubicBezTo>
                    <a:pt x="1157163" y="224366"/>
                    <a:pt x="1183974" y="46567"/>
                    <a:pt x="1222074" y="0"/>
                  </a:cubicBezTo>
                </a:path>
              </a:pathLst>
            </a:custGeom>
            <a:noFill/>
            <a:ln w="9525">
              <a:solidFill>
                <a:srgbClr val="00B050"/>
              </a:solidFill>
              <a:prstDash val="dash"/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968179" y="2609713"/>
              <a:ext cx="14931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200" dirty="0"/>
                <a:t>p</a:t>
              </a:r>
              <a:r>
                <a:rPr lang="ko-KR" altLang="en-US" sz="1200" dirty="0"/>
                <a:t>의 </a:t>
              </a:r>
              <a:r>
                <a:rPr lang="en-US" altLang="ko-KR" sz="1200" dirty="0" err="1"/>
                <a:t>parentElement</a:t>
              </a:r>
              <a:endParaRPr lang="en-US" altLang="ko-KR" sz="1200" dirty="0"/>
            </a:p>
          </p:txBody>
        </p:sp>
      </p:grpSp>
      <p:sp>
        <p:nvSpPr>
          <p:cNvPr id="43" name="슬라이드 번호 개체 틀 3">
            <a:extLst>
              <a:ext uri="{FF2B5EF4-FFF2-40B4-BE49-F238E27FC236}">
                <a16:creationId xmlns:a16="http://schemas.microsoft.com/office/drawing/2014/main" id="{A99FF368-979B-4F3E-ACBA-7598EEB28503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23033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E2B73544-CEBD-48ED-AC8C-076F871F2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9522" y="3319971"/>
            <a:ext cx="3744416" cy="3085878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8-1 DOM </a:t>
            </a:r>
            <a:r>
              <a:rPr lang="ko-KR" altLang="en-US" dirty="0"/>
              <a:t>객체의 구조 출력 </a:t>
            </a:r>
            <a:r>
              <a:rPr lang="en-US" altLang="ko-KR" dirty="0"/>
              <a:t>: p </a:t>
            </a:r>
            <a:r>
              <a:rPr lang="ko-KR" altLang="en-US" dirty="0"/>
              <a:t>객체 사례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523492" y="943295"/>
            <a:ext cx="5112568" cy="54938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300" dirty="0"/>
              <a:t>&lt;!DOCTYPE html&gt;</a:t>
            </a:r>
          </a:p>
          <a:p>
            <a:pPr defTabSz="180000"/>
            <a:r>
              <a:rPr lang="en-US" altLang="ko-KR" sz="1300" dirty="0"/>
              <a:t>&lt;html&gt;</a:t>
            </a:r>
          </a:p>
          <a:p>
            <a:pPr defTabSz="180000"/>
            <a:r>
              <a:rPr lang="en-US" altLang="ko-KR" sz="1300" dirty="0"/>
              <a:t>&lt;head&gt;&lt;meta charset="</a:t>
            </a:r>
            <a:r>
              <a:rPr lang="en-US" altLang="ko-KR" sz="1300" dirty="0" err="1"/>
              <a:t>utf</a:t>
            </a:r>
            <a:r>
              <a:rPr lang="en-US" altLang="ko-KR" sz="1300" dirty="0"/>
              <a:t>-8"&gt;</a:t>
            </a:r>
          </a:p>
          <a:p>
            <a:pPr defTabSz="180000"/>
            <a:r>
              <a:rPr lang="en-US" altLang="ko-KR" sz="1300" dirty="0"/>
              <a:t>&lt;title&gt;HTML DOM </a:t>
            </a:r>
            <a:r>
              <a:rPr lang="ko-KR" altLang="en-US" sz="1300" dirty="0"/>
              <a:t>트리</a:t>
            </a:r>
            <a:r>
              <a:rPr lang="en-US" altLang="ko-KR" sz="1300" dirty="0"/>
              <a:t>&lt;/title&gt;&lt;/head&gt;</a:t>
            </a:r>
          </a:p>
          <a:p>
            <a:pPr defTabSz="180000"/>
            <a:r>
              <a:rPr lang="en-US" altLang="ko-KR" sz="1300" dirty="0"/>
              <a:t>&lt;body&gt;</a:t>
            </a:r>
          </a:p>
          <a:p>
            <a:pPr defTabSz="180000"/>
            <a:r>
              <a:rPr lang="en-US" altLang="ko-KR" sz="1300" dirty="0"/>
              <a:t>&lt;h3&gt;DOM </a:t>
            </a:r>
            <a:r>
              <a:rPr lang="ko-KR" altLang="en-US" sz="1300" dirty="0"/>
              <a:t>객체 </a:t>
            </a:r>
            <a:r>
              <a:rPr lang="en-US" altLang="ko-KR" sz="1300" dirty="0"/>
              <a:t>p</a:t>
            </a:r>
            <a:r>
              <a:rPr lang="ko-KR" altLang="en-US" sz="1300" dirty="0"/>
              <a:t>의 </a:t>
            </a:r>
            <a:r>
              <a:rPr lang="ko-KR" altLang="en-US" sz="1300" dirty="0" err="1"/>
              <a:t>프로퍼티</a:t>
            </a:r>
            <a:r>
              <a:rPr lang="en-US" altLang="ko-KR" sz="1300" dirty="0"/>
              <a:t>, </a:t>
            </a:r>
            <a:r>
              <a:rPr lang="ko-KR" altLang="en-US" sz="1300" dirty="0"/>
              <a:t>스타일</a:t>
            </a:r>
            <a:r>
              <a:rPr lang="en-US" altLang="ko-KR" sz="1300" dirty="0"/>
              <a:t>, </a:t>
            </a:r>
            <a:r>
              <a:rPr lang="ko-KR" altLang="en-US" sz="1300" dirty="0"/>
              <a:t>이벤트 </a:t>
            </a:r>
            <a:r>
              <a:rPr lang="ko-KR" altLang="en-US" sz="1300" dirty="0" err="1"/>
              <a:t>리스너</a:t>
            </a:r>
            <a:r>
              <a:rPr lang="en-US" altLang="ko-KR" sz="1300" dirty="0"/>
              <a:t>&lt;/h3&gt;</a:t>
            </a:r>
          </a:p>
          <a:p>
            <a:pPr defTabSz="180000"/>
            <a:r>
              <a:rPr lang="en-US" altLang="ko-KR" sz="1300" dirty="0"/>
              <a:t>&lt;</a:t>
            </a:r>
            <a:r>
              <a:rPr lang="en-US" altLang="ko-KR" sz="1300" dirty="0" err="1"/>
              <a:t>hr</a:t>
            </a:r>
            <a:r>
              <a:rPr lang="en-US" altLang="ko-KR" sz="1300" dirty="0"/>
              <a:t>&gt;</a:t>
            </a:r>
          </a:p>
          <a:p>
            <a:pPr defTabSz="180000"/>
            <a:r>
              <a:rPr lang="en-US" altLang="ko-KR" sz="1300" dirty="0"/>
              <a:t>&lt;p id="</a:t>
            </a:r>
            <a:r>
              <a:rPr lang="en-US" altLang="ko-KR" sz="1300" dirty="0" err="1"/>
              <a:t>firstP</a:t>
            </a:r>
            <a:r>
              <a:rPr lang="en-US" altLang="ko-KR" sz="1300" dirty="0"/>
              <a:t>" </a:t>
            </a:r>
          </a:p>
          <a:p>
            <a:pPr defTabSz="180000"/>
            <a:r>
              <a:rPr lang="en-US" altLang="ko-KR" sz="1300" dirty="0"/>
              <a:t>	style="</a:t>
            </a:r>
            <a:r>
              <a:rPr lang="en-US" altLang="ko-KR" sz="1300" dirty="0" err="1"/>
              <a:t>color:blue</a:t>
            </a:r>
            <a:r>
              <a:rPr lang="en-US" altLang="ko-KR" sz="1300" dirty="0"/>
              <a:t>; </a:t>
            </a:r>
            <a:r>
              <a:rPr lang="en-US" altLang="ko-KR" sz="1300" dirty="0" err="1"/>
              <a:t>background:yellow</a:t>
            </a:r>
            <a:r>
              <a:rPr lang="en-US" altLang="ko-KR" sz="1300" dirty="0"/>
              <a:t>" 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onclick</a:t>
            </a:r>
            <a:r>
              <a:rPr lang="en-US" altLang="ko-KR" sz="1300" dirty="0"/>
              <a:t>="</a:t>
            </a:r>
            <a:r>
              <a:rPr lang="en-US" altLang="ko-KR" sz="1300" dirty="0" err="1"/>
              <a:t>this.style.color</a:t>
            </a:r>
            <a:r>
              <a:rPr lang="en-US" altLang="ko-KR" sz="1300" dirty="0"/>
              <a:t>='teal'"&gt;</a:t>
            </a:r>
          </a:p>
          <a:p>
            <a:pPr defTabSz="180000"/>
            <a:r>
              <a:rPr lang="ko-KR" altLang="en-US" sz="1300" dirty="0"/>
              <a:t>    이것은 </a:t>
            </a:r>
            <a:r>
              <a:rPr lang="en-US" altLang="ko-KR" sz="1300" dirty="0"/>
              <a:t>&lt;span style="</a:t>
            </a:r>
            <a:r>
              <a:rPr lang="en-US" altLang="ko-KR" sz="1300" dirty="0" err="1"/>
              <a:t>color:red</a:t>
            </a:r>
            <a:r>
              <a:rPr lang="en-US" altLang="ko-KR" sz="1300" dirty="0"/>
              <a:t>"&gt;</a:t>
            </a:r>
            <a:r>
              <a:rPr lang="ko-KR" altLang="en-US" sz="1300" dirty="0"/>
              <a:t>문장입니다</a:t>
            </a:r>
            <a:r>
              <a:rPr lang="en-US" altLang="ko-KR" sz="1300" dirty="0"/>
              <a:t>.</a:t>
            </a:r>
          </a:p>
          <a:p>
            <a:pPr defTabSz="180000"/>
            <a:r>
              <a:rPr lang="en-US" altLang="ko-KR" sz="1300" dirty="0"/>
              <a:t>	&lt;/span&gt;</a:t>
            </a:r>
          </a:p>
          <a:p>
            <a:pPr defTabSz="180000"/>
            <a:r>
              <a:rPr lang="en-US" altLang="ko-KR" sz="1300" dirty="0"/>
              <a:t>&lt;/p&gt;</a:t>
            </a:r>
          </a:p>
          <a:p>
            <a:pPr defTabSz="180000"/>
            <a:r>
              <a:rPr lang="en-US" altLang="ko-KR" sz="1300" dirty="0"/>
              <a:t>&lt;script&gt;</a:t>
            </a:r>
          </a:p>
          <a:p>
            <a:pPr defTabSz="180000"/>
            <a:r>
              <a:rPr lang="en-US" altLang="ko-KR" sz="1300" b="1" dirty="0"/>
              <a:t>	let p = </a:t>
            </a:r>
            <a:r>
              <a:rPr lang="en-US" altLang="ko-KR" sz="1300" b="1" dirty="0" err="1"/>
              <a:t>document.getElementById</a:t>
            </a:r>
            <a:r>
              <a:rPr lang="en-US" altLang="ko-KR" sz="1300" b="1" dirty="0"/>
              <a:t>("</a:t>
            </a:r>
            <a:r>
              <a:rPr lang="en-US" altLang="ko-KR" sz="1300" b="1" dirty="0" err="1"/>
              <a:t>firstP</a:t>
            </a:r>
            <a:r>
              <a:rPr lang="en-US" altLang="ko-KR" sz="1300" b="1" dirty="0"/>
              <a:t>");</a:t>
            </a:r>
          </a:p>
          <a:p>
            <a:pPr defTabSz="180000"/>
            <a:r>
              <a:rPr lang="sv-SE" altLang="ko-KR" sz="1300" dirty="0"/>
              <a:t>	let text = "p.id = " + </a:t>
            </a:r>
            <a:r>
              <a:rPr lang="sv-SE" altLang="ko-KR" sz="1300" b="1" dirty="0"/>
              <a:t>p.id </a:t>
            </a:r>
            <a:r>
              <a:rPr lang="sv-SE" altLang="ko-KR" sz="1300" dirty="0"/>
              <a:t>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en-US" altLang="ko-KR" sz="1300" dirty="0" err="1"/>
              <a:t>p.tagName</a:t>
            </a:r>
            <a:r>
              <a:rPr lang="en-US" altLang="ko-KR" sz="1300" dirty="0"/>
              <a:t> = " + </a:t>
            </a:r>
            <a:r>
              <a:rPr lang="en-US" altLang="ko-KR" sz="1300" b="1" dirty="0" err="1"/>
              <a:t>p.tagName</a:t>
            </a:r>
            <a:r>
              <a:rPr lang="en-US" altLang="ko-KR" sz="1300" dirty="0"/>
              <a:t> 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en-US" altLang="ko-KR" sz="1300" dirty="0" err="1"/>
              <a:t>p.innerHTML</a:t>
            </a:r>
            <a:r>
              <a:rPr lang="en-US" altLang="ko-KR" sz="1300" dirty="0"/>
              <a:t> = " + </a:t>
            </a:r>
            <a:r>
              <a:rPr lang="en-US" altLang="ko-KR" sz="1300" b="1" dirty="0" err="1"/>
              <a:t>p.innerHTML</a:t>
            </a:r>
            <a:r>
              <a:rPr lang="en-US" altLang="ko-KR" sz="1300" b="1" dirty="0"/>
              <a:t> </a:t>
            </a:r>
            <a:r>
              <a:rPr lang="en-US" altLang="ko-KR" sz="1300" dirty="0"/>
              <a:t>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en-US" altLang="ko-KR" sz="1300" dirty="0" err="1"/>
              <a:t>p.style.color</a:t>
            </a:r>
            <a:r>
              <a:rPr lang="en-US" altLang="ko-KR" sz="1300" dirty="0"/>
              <a:t> = " + </a:t>
            </a:r>
            <a:r>
              <a:rPr lang="en-US" altLang="ko-KR" sz="1300" b="1" dirty="0" err="1"/>
              <a:t>p.style.color</a:t>
            </a:r>
            <a:r>
              <a:rPr lang="en-US" altLang="ko-KR" sz="1300" dirty="0"/>
              <a:t> 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en-US" altLang="ko-KR" sz="1300" dirty="0" err="1"/>
              <a:t>p.onclick</a:t>
            </a:r>
            <a:r>
              <a:rPr lang="en-US" altLang="ko-KR" sz="1300" dirty="0"/>
              <a:t> = " + </a:t>
            </a:r>
            <a:r>
              <a:rPr lang="en-US" altLang="ko-KR" sz="1300" b="1" dirty="0" err="1"/>
              <a:t>p.onclick</a:t>
            </a:r>
            <a:r>
              <a:rPr lang="en-US" altLang="ko-KR" sz="1300" b="1" dirty="0"/>
              <a:t> </a:t>
            </a:r>
            <a:r>
              <a:rPr lang="en-US" altLang="ko-KR" sz="1300" dirty="0"/>
              <a:t>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en-US" altLang="ko-KR" sz="1300" dirty="0" err="1"/>
              <a:t>p.childElementCount</a:t>
            </a:r>
            <a:r>
              <a:rPr lang="en-US" altLang="ko-KR" sz="1300" dirty="0"/>
              <a:t> = " + </a:t>
            </a:r>
            <a:r>
              <a:rPr lang="en-US" altLang="ko-KR" sz="1300" b="1" dirty="0" err="1"/>
              <a:t>p.childElementCount</a:t>
            </a:r>
            <a:r>
              <a:rPr lang="en-US" altLang="ko-KR" sz="1300" dirty="0"/>
              <a:t> 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ko-KR" altLang="en-US" sz="1300" dirty="0"/>
              <a:t>너비 </a:t>
            </a:r>
            <a:r>
              <a:rPr lang="en-US" altLang="ko-KR" sz="1300" dirty="0"/>
              <a:t>= "</a:t>
            </a:r>
            <a:r>
              <a:rPr lang="ko-KR" altLang="en-US" sz="1300" dirty="0"/>
              <a:t> </a:t>
            </a:r>
            <a:r>
              <a:rPr lang="en-US" altLang="ko-KR" sz="1300" dirty="0"/>
              <a:t>+ </a:t>
            </a:r>
            <a:r>
              <a:rPr lang="en-US" altLang="ko-KR" sz="1300" b="1" dirty="0" err="1"/>
              <a:t>p.offsetWidth</a:t>
            </a:r>
            <a:r>
              <a:rPr lang="en-US" altLang="ko-KR" sz="1300" dirty="0"/>
              <a:t> + "\n";</a:t>
            </a:r>
          </a:p>
          <a:p>
            <a:pPr defTabSz="180000"/>
            <a:r>
              <a:rPr lang="en-US" altLang="ko-KR" sz="1300" dirty="0"/>
              <a:t>	text += "</a:t>
            </a:r>
            <a:r>
              <a:rPr lang="ko-KR" altLang="en-US" sz="1300" dirty="0"/>
              <a:t>높이 </a:t>
            </a:r>
            <a:r>
              <a:rPr lang="en-US" altLang="ko-KR" sz="1300" dirty="0"/>
              <a:t>= "</a:t>
            </a:r>
            <a:r>
              <a:rPr lang="ko-KR" altLang="en-US" sz="1300" dirty="0"/>
              <a:t> </a:t>
            </a:r>
            <a:r>
              <a:rPr lang="en-US" altLang="ko-KR" sz="1300" dirty="0"/>
              <a:t>+ </a:t>
            </a:r>
            <a:r>
              <a:rPr lang="en-US" altLang="ko-KR" sz="1300" b="1" dirty="0" err="1"/>
              <a:t>p.offsetHeight</a:t>
            </a:r>
            <a:r>
              <a:rPr lang="en-US" altLang="ko-KR" sz="1300" dirty="0"/>
              <a:t> + "\n";</a:t>
            </a:r>
          </a:p>
          <a:p>
            <a:pPr defTabSz="180000"/>
            <a:r>
              <a:rPr lang="en-US" altLang="ko-KR" sz="1300" dirty="0"/>
              <a:t>	alert(text);</a:t>
            </a:r>
          </a:p>
          <a:p>
            <a:pPr defTabSz="180000"/>
            <a:r>
              <a:rPr lang="en-US" altLang="ko-KR" sz="1300" dirty="0"/>
              <a:t>&lt;/script&gt;</a:t>
            </a:r>
          </a:p>
          <a:p>
            <a:pPr defTabSz="180000"/>
            <a:r>
              <a:rPr lang="en-US" altLang="ko-KR" sz="1300" dirty="0"/>
              <a:t>&lt;/body&gt;</a:t>
            </a:r>
          </a:p>
          <a:p>
            <a:pPr defTabSz="180000"/>
            <a:r>
              <a:rPr lang="en-US" altLang="ko-KR" sz="1300" dirty="0"/>
              <a:t>&lt;/html&gt;</a:t>
            </a:r>
            <a:endParaRPr lang="ko-KR" altLang="en-US" sz="1300" dirty="0"/>
          </a:p>
        </p:txBody>
      </p:sp>
      <p:sp>
        <p:nvSpPr>
          <p:cNvPr id="15" name="TextBox 14"/>
          <p:cNvSpPr txBox="1"/>
          <p:nvPr/>
        </p:nvSpPr>
        <p:spPr>
          <a:xfrm>
            <a:off x="3959697" y="3292792"/>
            <a:ext cx="2324499" cy="306467"/>
          </a:xfrm>
          <a:prstGeom prst="wedgeRoundRectCallout">
            <a:avLst>
              <a:gd name="adj1" fmla="val -32988"/>
              <a:gd name="adj2" fmla="val 9939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id</a:t>
            </a:r>
            <a:r>
              <a:rPr lang="ko-KR" altLang="en-US" sz="1200" dirty="0"/>
              <a:t>가 </a:t>
            </a:r>
            <a:r>
              <a:rPr lang="en-US" altLang="ko-KR" sz="1200" dirty="0" err="1"/>
              <a:t>firstP</a:t>
            </a:r>
            <a:r>
              <a:rPr lang="ko-KR" altLang="en-US" sz="1200" dirty="0"/>
              <a:t>인 태그의  </a:t>
            </a:r>
            <a:r>
              <a:rPr lang="en-US" altLang="ko-KR" sz="1200" dirty="0"/>
              <a:t>DOM</a:t>
            </a:r>
            <a:r>
              <a:rPr lang="ko-KR" altLang="en-US" sz="1200" dirty="0"/>
              <a:t> 찾기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2C1FAAC-4BD6-40A0-89CD-F898B64057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802" y="1293109"/>
            <a:ext cx="2299399" cy="1999028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FE3C9BF8-A9B3-4555-8294-6D17C1E078B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A970F1FF-2F39-4E0C-A07E-1900852AA980}"/>
              </a:ext>
            </a:extLst>
          </p:cNvPr>
          <p:cNvCxnSpPr/>
          <p:nvPr/>
        </p:nvCxnSpPr>
        <p:spPr bwMode="auto">
          <a:xfrm>
            <a:off x="2567608" y="5661248"/>
            <a:ext cx="4301914" cy="0"/>
          </a:xfrm>
          <a:prstGeom prst="straightConnector1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D525D534-ED3D-40E7-8969-25A4E5448B8C}"/>
              </a:ext>
            </a:extLst>
          </p:cNvPr>
          <p:cNvSpPr/>
          <p:nvPr/>
        </p:nvSpPr>
        <p:spPr bwMode="auto">
          <a:xfrm>
            <a:off x="1703512" y="5517232"/>
            <a:ext cx="864096" cy="288032"/>
          </a:xfrm>
          <a:prstGeom prst="roundRect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9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7855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DOM </a:t>
            </a:r>
            <a:r>
              <a:rPr lang="ko-KR" altLang="en-US" dirty="0"/>
              <a:t>객체 다루기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sz="2000" dirty="0"/>
              <a:t>DOM </a:t>
            </a:r>
            <a:r>
              <a:rPr lang="ko-KR" altLang="en-US" sz="2000" dirty="0"/>
              <a:t>객체 구분</a:t>
            </a:r>
            <a:r>
              <a:rPr lang="en-US" altLang="ko-KR" sz="2000" dirty="0"/>
              <a:t>, id </a:t>
            </a:r>
            <a:r>
              <a:rPr lang="ko-KR" altLang="en-US" sz="2000" dirty="0"/>
              <a:t>태그 속성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DOM </a:t>
            </a:r>
            <a:r>
              <a:rPr lang="ko-KR" altLang="en-US" sz="2000" dirty="0"/>
              <a:t>객체 찾기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document.getElementById</a:t>
            </a:r>
            <a:r>
              <a:rPr lang="en-US" altLang="ko-KR" sz="2000" dirty="0"/>
              <a:t>()</a:t>
            </a:r>
          </a:p>
          <a:p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DOM </a:t>
            </a:r>
            <a:r>
              <a:rPr lang="ko-KR" altLang="en-US" sz="2000" dirty="0"/>
              <a:t>객체의 </a:t>
            </a:r>
            <a:r>
              <a:rPr lang="en-US" altLang="ko-KR" sz="2000" dirty="0"/>
              <a:t>CSS3 </a:t>
            </a:r>
            <a:r>
              <a:rPr lang="ko-KR" altLang="en-US" sz="2000" dirty="0"/>
              <a:t>스타일 동적 변경</a:t>
            </a:r>
            <a:endParaRPr lang="en-US" altLang="ko-KR" sz="2000" dirty="0"/>
          </a:p>
          <a:p>
            <a:pPr lvl="1"/>
            <a:r>
              <a:rPr lang="en-US" altLang="ko-KR" sz="1600" dirty="0"/>
              <a:t>CSS3 </a:t>
            </a:r>
            <a:r>
              <a:rPr lang="ko-KR" altLang="en-US" sz="1600" dirty="0"/>
              <a:t>스타일</a:t>
            </a:r>
            <a:r>
              <a:rPr lang="en-US" altLang="ko-KR" sz="1600" dirty="0"/>
              <a:t> </a:t>
            </a:r>
            <a:r>
              <a:rPr lang="ko-KR" altLang="en-US" sz="1600" dirty="0" err="1"/>
              <a:t>프로퍼티는</a:t>
            </a:r>
            <a:r>
              <a:rPr lang="ko-KR" altLang="en-US" sz="1600" dirty="0"/>
              <a:t> 다음과 같이 사용</a:t>
            </a:r>
            <a:endParaRPr lang="en-US" altLang="ko-KR" sz="1600" dirty="0"/>
          </a:p>
          <a:p>
            <a:pPr lvl="2"/>
            <a:r>
              <a:rPr lang="en-US" altLang="ko-KR" sz="1400" dirty="0"/>
              <a:t>background-color </a:t>
            </a:r>
            <a:r>
              <a:rPr lang="ko-KR" altLang="en-US" sz="1400" dirty="0"/>
              <a:t>스타일 </a:t>
            </a:r>
            <a:r>
              <a:rPr lang="ko-KR" altLang="en-US" sz="1400" dirty="0" err="1"/>
              <a:t>프로퍼티</a:t>
            </a:r>
            <a:r>
              <a:rPr lang="en-US" altLang="ko-KR" sz="1400" dirty="0"/>
              <a:t> -&gt; </a:t>
            </a:r>
            <a:r>
              <a:rPr lang="en-US" altLang="ko-KR" sz="1400" dirty="0" err="1"/>
              <a:t>backgroundColor</a:t>
            </a:r>
            <a:r>
              <a:rPr lang="en-US" altLang="ko-KR" sz="1400" dirty="0"/>
              <a:t> </a:t>
            </a:r>
          </a:p>
          <a:p>
            <a:pPr lvl="2"/>
            <a:r>
              <a:rPr lang="en-US" altLang="ko-KR" sz="1400" dirty="0"/>
              <a:t>font-size </a:t>
            </a:r>
            <a:r>
              <a:rPr lang="ko-KR" altLang="en-US" sz="1400" dirty="0"/>
              <a:t>스타일 </a:t>
            </a:r>
            <a:r>
              <a:rPr lang="ko-KR" altLang="en-US" sz="1400" dirty="0" err="1"/>
              <a:t>프로퍼티</a:t>
            </a:r>
            <a:r>
              <a:rPr lang="en-US" altLang="ko-KR" sz="1400" dirty="0"/>
              <a:t> -&gt; </a:t>
            </a:r>
            <a:r>
              <a:rPr lang="en-US" altLang="ko-KR" sz="1400" dirty="0" err="1"/>
              <a:t>fontSize</a:t>
            </a:r>
            <a:endParaRPr lang="ko-KR" altLang="en-US" sz="1400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775520" y="1549472"/>
            <a:ext cx="4572000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&lt;p id="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firstP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안녕하세요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&lt;/p&gt;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775520" y="2332079"/>
            <a:ext cx="6768752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p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document.getElementById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firstP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");	// id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값이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firstP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인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DOM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객체 리턴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p.style.color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"red"; 											// p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객체의 글자 색을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red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로 변경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423592" y="4437112"/>
            <a:ext cx="6768752" cy="307777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&lt;span id="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mySpan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 style="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color:red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문장입니다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.&lt;/span&gt;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429704" y="4869160"/>
            <a:ext cx="67687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span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document.getElementById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mySpan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"); 	// id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가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mySpan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인 객체 찾기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429704" y="5261836"/>
            <a:ext cx="67687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span.style.color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"green"; 				// </a:t>
            </a:r>
            <a:r>
              <a:rPr lang="ko-KR" altLang="en-US" sz="1400" dirty="0"/>
              <a:t>‘문장입니다’의 글자 색을 </a:t>
            </a:r>
            <a:r>
              <a:rPr lang="en-US" altLang="ko-KR" sz="1400" dirty="0"/>
              <a:t>green</a:t>
            </a:r>
            <a:r>
              <a:rPr lang="ko-KR" altLang="en-US" sz="1400" dirty="0"/>
              <a:t>으로 변경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429704" y="5621876"/>
            <a:ext cx="67687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span.style.fontSize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"30px";				// </a:t>
            </a:r>
            <a:r>
              <a:rPr lang="ko-KR" altLang="en-US" sz="1400" dirty="0"/>
              <a:t>‘문장입니다’의 폰트를 </a:t>
            </a:r>
            <a:r>
              <a:rPr lang="en-US" altLang="ko-KR" sz="1400" dirty="0"/>
              <a:t>30px </a:t>
            </a:r>
            <a:r>
              <a:rPr lang="ko-KR" altLang="en-US" sz="1400" dirty="0"/>
              <a:t>크기로 변경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423915" y="6009117"/>
            <a:ext cx="6774541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span.style.border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"3px dotted magenta"; // 3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픽셀의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magenta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점선 테두리</a:t>
            </a:r>
          </a:p>
        </p:txBody>
      </p:sp>
      <p:sp>
        <p:nvSpPr>
          <p:cNvPr id="13" name="슬라이드 번호 개체 틀 3">
            <a:extLst>
              <a:ext uri="{FF2B5EF4-FFF2-40B4-BE49-F238E27FC236}">
                <a16:creationId xmlns:a16="http://schemas.microsoft.com/office/drawing/2014/main" id="{B59D2165-7A78-4B53-BA2D-8ED5F77D7DD7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2285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D4CD2121-3AAD-4A44-9FB7-6DD0B1780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7633" y="1157306"/>
            <a:ext cx="2539967" cy="2407797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AF451EC-72A9-4421-8B81-92B910A04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8787" y="3651241"/>
            <a:ext cx="2643101" cy="302581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8–2 &lt;span&gt;</a:t>
            </a:r>
            <a:r>
              <a:rPr lang="ko-KR" altLang="en-US" dirty="0"/>
              <a:t>의 </a:t>
            </a:r>
            <a:r>
              <a:rPr lang="en-US" altLang="ko-KR" dirty="0"/>
              <a:t>CSS3 </a:t>
            </a:r>
            <a:r>
              <a:rPr lang="ko-KR" altLang="en-US" dirty="0"/>
              <a:t>스타일 동적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0160049" y="2280128"/>
            <a:ext cx="1365646" cy="612934"/>
          </a:xfrm>
          <a:prstGeom prst="wedgeRoundRectCallout">
            <a:avLst>
              <a:gd name="adj1" fmla="val -164641"/>
              <a:gd name="adj2" fmla="val 7903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버튼을 클릭하면</a:t>
            </a:r>
            <a:endParaRPr lang="en-US" altLang="ko-KR" sz="1000" dirty="0"/>
          </a:p>
          <a:p>
            <a:r>
              <a:rPr lang="en-US" altLang="ko-KR" sz="1000" dirty="0"/>
              <a:t>change() </a:t>
            </a:r>
            <a:r>
              <a:rPr lang="ko-KR" altLang="en-US" sz="1000" dirty="0"/>
              <a:t>함수 호출</a:t>
            </a:r>
            <a:r>
              <a:rPr lang="en-US" altLang="ko-KR" sz="1000" dirty="0"/>
              <a:t>.</a:t>
            </a:r>
          </a:p>
          <a:p>
            <a:r>
              <a:rPr lang="ko-KR" altLang="en-US" sz="1000" dirty="0"/>
              <a:t>스타일</a:t>
            </a:r>
            <a:r>
              <a:rPr lang="en-US" altLang="ko-KR" sz="1000" dirty="0"/>
              <a:t> </a:t>
            </a:r>
            <a:r>
              <a:rPr lang="ko-KR" altLang="en-US" sz="1000" dirty="0"/>
              <a:t>변경</a:t>
            </a:r>
          </a:p>
        </p:txBody>
      </p:sp>
      <p:sp>
        <p:nvSpPr>
          <p:cNvPr id="8" name="타원 7"/>
          <p:cNvSpPr/>
          <p:nvPr/>
        </p:nvSpPr>
        <p:spPr>
          <a:xfrm>
            <a:off x="8184232" y="2420888"/>
            <a:ext cx="1008112" cy="432048"/>
          </a:xfrm>
          <a:prstGeom prst="ellipse">
            <a:avLst/>
          </a:prstGeom>
          <a:noFill/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9193268" y="6034122"/>
            <a:ext cx="1295220" cy="442674"/>
          </a:xfrm>
          <a:prstGeom prst="wedgeRoundRectCallout">
            <a:avLst>
              <a:gd name="adj1" fmla="val -49381"/>
              <a:gd name="adj2" fmla="val -7129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 err="1"/>
              <a:t>인라인</a:t>
            </a:r>
            <a:r>
              <a:rPr lang="ko-KR" altLang="en-US" sz="1000" dirty="0"/>
              <a:t> 박스가 블록 박스로 변경</a:t>
            </a:r>
          </a:p>
        </p:txBody>
      </p:sp>
      <p:sp>
        <p:nvSpPr>
          <p:cNvPr id="10" name="자유형 9"/>
          <p:cNvSpPr/>
          <p:nvPr/>
        </p:nvSpPr>
        <p:spPr>
          <a:xfrm>
            <a:off x="9192345" y="2708921"/>
            <a:ext cx="999053" cy="2817897"/>
          </a:xfrm>
          <a:custGeom>
            <a:avLst/>
            <a:gdLst>
              <a:gd name="connsiteX0" fmla="*/ 0 w 1000129"/>
              <a:gd name="connsiteY0" fmla="*/ 0 h 2987692"/>
              <a:gd name="connsiteX1" fmla="*/ 953519 w 1000129"/>
              <a:gd name="connsiteY1" fmla="*/ 811713 h 2987692"/>
              <a:gd name="connsiteX2" fmla="*/ 782375 w 1000129"/>
              <a:gd name="connsiteY2" fmla="*/ 2308004 h 2987692"/>
              <a:gd name="connsiteX3" fmla="*/ 171145 w 1000129"/>
              <a:gd name="connsiteY3" fmla="*/ 2987692 h 29876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0129" h="2987692">
                <a:moveTo>
                  <a:pt x="0" y="0"/>
                </a:moveTo>
                <a:cubicBezTo>
                  <a:pt x="411561" y="213523"/>
                  <a:pt x="823123" y="427046"/>
                  <a:pt x="953519" y="811713"/>
                </a:cubicBezTo>
                <a:cubicBezTo>
                  <a:pt x="1083915" y="1196380"/>
                  <a:pt x="912771" y="1945341"/>
                  <a:pt x="782375" y="2308004"/>
                </a:cubicBezTo>
                <a:cubicBezTo>
                  <a:pt x="651979" y="2670667"/>
                  <a:pt x="284426" y="2874411"/>
                  <a:pt x="171145" y="2987692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08D70791-B2DC-42D8-902A-159236BAA8F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14</a:t>
            </a:fld>
            <a:endParaRPr lang="ko-KR" altLang="en-US" dirty="0"/>
          </a:p>
        </p:txBody>
      </p:sp>
      <p:sp>
        <p:nvSpPr>
          <p:cNvPr id="4" name="직사각형 3"/>
          <p:cNvSpPr/>
          <p:nvPr/>
        </p:nvSpPr>
        <p:spPr>
          <a:xfrm>
            <a:off x="1713472" y="861452"/>
            <a:ext cx="5495504" cy="54938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300" dirty="0"/>
              <a:t>&lt;!DOCTYPE html&gt;</a:t>
            </a:r>
          </a:p>
          <a:p>
            <a:pPr defTabSz="180000"/>
            <a:r>
              <a:rPr lang="en-US" altLang="ko-KR" sz="1300" dirty="0"/>
              <a:t>&lt;html&gt;</a:t>
            </a:r>
          </a:p>
          <a:p>
            <a:pPr defTabSz="180000"/>
            <a:r>
              <a:rPr lang="en-US" altLang="ko-KR" sz="1300" dirty="0"/>
              <a:t>&lt;head&gt;</a:t>
            </a:r>
          </a:p>
          <a:p>
            <a:pPr defTabSz="180000"/>
            <a:r>
              <a:rPr lang="en-US" altLang="ko-KR" sz="1300" dirty="0"/>
              <a:t>&lt;meta charset="</a:t>
            </a:r>
            <a:r>
              <a:rPr lang="en-US" altLang="ko-KR" sz="1300" dirty="0" err="1"/>
              <a:t>utf</a:t>
            </a:r>
            <a:r>
              <a:rPr lang="en-US" altLang="ko-KR" sz="1300" dirty="0"/>
              <a:t>-8"&gt;</a:t>
            </a:r>
          </a:p>
          <a:p>
            <a:pPr defTabSz="180000"/>
            <a:r>
              <a:rPr lang="en-US" altLang="ko-KR" sz="1300" dirty="0"/>
              <a:t>&lt;title&gt;CSS </a:t>
            </a:r>
            <a:r>
              <a:rPr lang="ko-KR" altLang="en-US" sz="1300" dirty="0"/>
              <a:t>스타일 동적 변경</a:t>
            </a:r>
            <a:r>
              <a:rPr lang="en-US" altLang="ko-KR" sz="1300" dirty="0"/>
              <a:t>&lt;/title&gt;</a:t>
            </a:r>
          </a:p>
          <a:p>
            <a:pPr defTabSz="180000"/>
            <a:r>
              <a:rPr lang="en-US" altLang="ko-KR" sz="1300" dirty="0"/>
              <a:t>&lt;script&gt;</a:t>
            </a:r>
          </a:p>
          <a:p>
            <a:pPr defTabSz="180000"/>
            <a:r>
              <a:rPr lang="en-US" altLang="ko-KR" sz="1300" b="1" dirty="0"/>
              <a:t>function change() </a:t>
            </a:r>
            <a:r>
              <a:rPr lang="en-US" altLang="ko-KR" sz="1300" dirty="0"/>
              <a:t>{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b="1" dirty="0"/>
              <a:t>let span = </a:t>
            </a:r>
            <a:r>
              <a:rPr lang="en-US" altLang="ko-KR" sz="1300" b="1" dirty="0" err="1"/>
              <a:t>document.getElementById</a:t>
            </a:r>
            <a:r>
              <a:rPr lang="en-US" altLang="ko-KR" sz="1300" b="1" dirty="0"/>
              <a:t>("</a:t>
            </a:r>
            <a:r>
              <a:rPr lang="en-US" altLang="ko-KR" sz="1300" b="1" dirty="0" err="1"/>
              <a:t>mySpan</a:t>
            </a:r>
            <a:r>
              <a:rPr lang="en-US" altLang="ko-KR" sz="1300" b="1" dirty="0"/>
              <a:t>"); 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b="1" dirty="0" err="1"/>
              <a:t>span.style.color</a:t>
            </a:r>
            <a:r>
              <a:rPr lang="en-US" altLang="ko-KR" sz="1300" b="1" dirty="0"/>
              <a:t> = "green";</a:t>
            </a:r>
            <a:r>
              <a:rPr lang="en-US" altLang="ko-KR" sz="1300" dirty="0"/>
              <a:t> // </a:t>
            </a:r>
            <a:r>
              <a:rPr lang="ko-KR" altLang="en-US" sz="1300" dirty="0"/>
              <a:t>글자 색 </a:t>
            </a:r>
            <a:r>
              <a:rPr lang="en-US" altLang="ko-KR" sz="1300" dirty="0"/>
              <a:t>green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span.style.fontSize</a:t>
            </a:r>
            <a:r>
              <a:rPr lang="en-US" altLang="ko-KR" sz="1300" dirty="0"/>
              <a:t> = "30px"; // </a:t>
            </a:r>
            <a:r>
              <a:rPr lang="ko-KR" altLang="en-US" sz="1300" dirty="0"/>
              <a:t>글자 크기는 </a:t>
            </a:r>
            <a:r>
              <a:rPr lang="en-US" altLang="ko-KR" sz="1300" dirty="0"/>
              <a:t>30</a:t>
            </a:r>
            <a:r>
              <a:rPr lang="ko-KR" altLang="en-US" sz="1300" dirty="0"/>
              <a:t>픽셀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span.style.display</a:t>
            </a:r>
            <a:r>
              <a:rPr lang="en-US" altLang="ko-KR" sz="1300" dirty="0"/>
              <a:t> = "block"; // </a:t>
            </a:r>
            <a:r>
              <a:rPr lang="ko-KR" altLang="en-US" sz="1300" dirty="0"/>
              <a:t>블록 박스로 변경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span.style.width</a:t>
            </a:r>
            <a:r>
              <a:rPr lang="en-US" altLang="ko-KR" sz="1300" dirty="0"/>
              <a:t> = "6em"; // </a:t>
            </a:r>
            <a:r>
              <a:rPr lang="ko-KR" altLang="en-US" sz="1300" dirty="0"/>
              <a:t>박스의 폭</a:t>
            </a:r>
            <a:r>
              <a:rPr lang="en-US" altLang="ko-KR" sz="1300" dirty="0"/>
              <a:t>. 6 </a:t>
            </a:r>
            <a:r>
              <a:rPr lang="ko-KR" altLang="en-US" sz="1300" dirty="0"/>
              <a:t>글자 크기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dirty="0" err="1"/>
              <a:t>span.style.border</a:t>
            </a:r>
            <a:r>
              <a:rPr lang="en-US" altLang="ko-KR" sz="1300" dirty="0"/>
              <a:t> = "3px dotted magenta"; // 3</a:t>
            </a:r>
            <a:r>
              <a:rPr lang="ko-KR" altLang="en-US" sz="1300" dirty="0"/>
              <a:t>픽셀 점선 </a:t>
            </a:r>
            <a:r>
              <a:rPr lang="en-US" altLang="ko-KR" sz="1300" dirty="0"/>
              <a:t>magenta</a:t>
            </a:r>
            <a:r>
              <a:rPr lang="ko-KR" altLang="en-US" sz="1300" dirty="0"/>
              <a:t> 테두리</a:t>
            </a:r>
          </a:p>
          <a:p>
            <a:pPr defTabSz="180000"/>
            <a:r>
              <a:rPr lang="en-US" altLang="ko-KR" sz="1300" dirty="0"/>
              <a:t>	</a:t>
            </a:r>
            <a:r>
              <a:rPr lang="en-US" altLang="ko-KR" sz="1300" b="1" dirty="0" err="1"/>
              <a:t>span.style.margin</a:t>
            </a:r>
            <a:r>
              <a:rPr lang="en-US" altLang="ko-KR" sz="1300" b="1" dirty="0"/>
              <a:t> = "20px"; </a:t>
            </a:r>
            <a:r>
              <a:rPr lang="en-US" altLang="ko-KR" sz="1300" dirty="0"/>
              <a:t>// </a:t>
            </a:r>
            <a:r>
              <a:rPr lang="ko-KR" altLang="en-US" sz="1300" dirty="0"/>
              <a:t>상하좌우 여백 </a:t>
            </a:r>
            <a:r>
              <a:rPr lang="en-US" altLang="ko-KR" sz="1300" dirty="0"/>
              <a:t>20px</a:t>
            </a:r>
          </a:p>
          <a:p>
            <a:pPr defTabSz="180000"/>
            <a:r>
              <a:rPr lang="en-US" altLang="ko-KR" sz="1300" dirty="0"/>
              <a:t>}</a:t>
            </a:r>
          </a:p>
          <a:p>
            <a:pPr defTabSz="180000"/>
            <a:r>
              <a:rPr lang="en-US" altLang="ko-KR" sz="1300" dirty="0"/>
              <a:t>&lt;/script&gt;</a:t>
            </a:r>
          </a:p>
          <a:p>
            <a:pPr defTabSz="180000"/>
            <a:r>
              <a:rPr lang="en-US" altLang="ko-KR" sz="1300" dirty="0"/>
              <a:t>&lt;/head&gt;</a:t>
            </a:r>
          </a:p>
          <a:p>
            <a:pPr defTabSz="180000"/>
            <a:r>
              <a:rPr lang="en-US" altLang="ko-KR" sz="1300" dirty="0"/>
              <a:t>&lt;body&gt;</a:t>
            </a:r>
          </a:p>
          <a:p>
            <a:pPr defTabSz="180000"/>
            <a:r>
              <a:rPr lang="en-US" altLang="ko-KR" sz="1300" dirty="0"/>
              <a:t>&lt;h3&gt;CSS </a:t>
            </a:r>
            <a:r>
              <a:rPr lang="ko-KR" altLang="en-US" sz="1300" dirty="0"/>
              <a:t>스타일 동적 변경</a:t>
            </a:r>
            <a:r>
              <a:rPr lang="en-US" altLang="ko-KR" sz="1300" dirty="0"/>
              <a:t>&lt;/h3&gt;</a:t>
            </a:r>
          </a:p>
          <a:p>
            <a:pPr defTabSz="180000"/>
            <a:r>
              <a:rPr lang="en-US" altLang="ko-KR" sz="1300" dirty="0"/>
              <a:t>&lt;</a:t>
            </a:r>
            <a:r>
              <a:rPr lang="en-US" altLang="ko-KR" sz="1300" dirty="0" err="1"/>
              <a:t>hr</a:t>
            </a:r>
            <a:r>
              <a:rPr lang="en-US" altLang="ko-KR" sz="1300" dirty="0"/>
              <a:t>&gt;</a:t>
            </a:r>
          </a:p>
          <a:p>
            <a:pPr defTabSz="180000"/>
            <a:r>
              <a:rPr lang="en-US" altLang="ko-KR" sz="1300" dirty="0"/>
              <a:t>&lt;p style="</a:t>
            </a:r>
            <a:r>
              <a:rPr lang="en-US" altLang="ko-KR" sz="1300" dirty="0" err="1"/>
              <a:t>color:blue</a:t>
            </a:r>
            <a:r>
              <a:rPr lang="en-US" altLang="ko-KR" sz="1300" dirty="0"/>
              <a:t>" &gt;</a:t>
            </a:r>
            <a:r>
              <a:rPr lang="ko-KR" altLang="en-US" sz="1300" dirty="0"/>
              <a:t>이것은 </a:t>
            </a:r>
          </a:p>
          <a:p>
            <a:pPr defTabSz="180000"/>
            <a:r>
              <a:rPr lang="en-US" altLang="ko-KR" sz="1300" dirty="0"/>
              <a:t>    </a:t>
            </a:r>
            <a:r>
              <a:rPr lang="en-US" altLang="ko-KR" sz="1300" b="1" dirty="0"/>
              <a:t>&lt;span id="</a:t>
            </a:r>
            <a:r>
              <a:rPr lang="en-US" altLang="ko-KR" sz="1300" b="1" dirty="0" err="1">
                <a:highlight>
                  <a:srgbClr val="FFFF00"/>
                </a:highlight>
              </a:rPr>
              <a:t>mySpan</a:t>
            </a:r>
            <a:r>
              <a:rPr lang="en-US" altLang="ko-KR" sz="1300" b="1" dirty="0"/>
              <a:t>" style="</a:t>
            </a:r>
            <a:r>
              <a:rPr lang="en-US" altLang="ko-KR" sz="1300" b="1" dirty="0" err="1"/>
              <a:t>color:red</a:t>
            </a:r>
            <a:r>
              <a:rPr lang="en-US" altLang="ko-KR" sz="1300" b="1" dirty="0"/>
              <a:t>"&gt;</a:t>
            </a:r>
            <a:r>
              <a:rPr lang="ko-KR" altLang="en-US" sz="1300" b="1" dirty="0"/>
              <a:t>문장입니다</a:t>
            </a:r>
            <a:r>
              <a:rPr lang="en-US" altLang="ko-KR" sz="1300" b="1" dirty="0"/>
              <a:t>.&lt;/span&gt;</a:t>
            </a:r>
          </a:p>
          <a:p>
            <a:pPr defTabSz="180000"/>
            <a:r>
              <a:rPr lang="en-US" altLang="ko-KR" sz="1300" dirty="0"/>
              <a:t>&lt;/p&gt;</a:t>
            </a:r>
          </a:p>
          <a:p>
            <a:pPr defTabSz="180000"/>
            <a:r>
              <a:rPr lang="en-US" altLang="ko-KR" sz="1300" dirty="0"/>
              <a:t>&lt;input type="button" value="</a:t>
            </a:r>
            <a:r>
              <a:rPr lang="ko-KR" altLang="en-US" sz="1300" dirty="0"/>
              <a:t>스타일변경</a:t>
            </a:r>
            <a:r>
              <a:rPr lang="en-US" altLang="ko-KR" sz="1300" dirty="0"/>
              <a:t>" </a:t>
            </a:r>
            <a:r>
              <a:rPr lang="en-US" altLang="ko-KR" sz="1300" b="1" dirty="0" err="1"/>
              <a:t>onclick</a:t>
            </a:r>
            <a:r>
              <a:rPr lang="en-US" altLang="ko-KR" sz="1300" b="1" dirty="0"/>
              <a:t>="change()"</a:t>
            </a:r>
            <a:r>
              <a:rPr lang="en-US" altLang="ko-KR" sz="1300" dirty="0"/>
              <a:t>&gt;</a:t>
            </a:r>
          </a:p>
          <a:p>
            <a:pPr defTabSz="180000"/>
            <a:r>
              <a:rPr lang="en-US" altLang="ko-KR" sz="1300" dirty="0"/>
              <a:t>&lt;/body&gt;</a:t>
            </a:r>
          </a:p>
          <a:p>
            <a:pPr defTabSz="180000"/>
            <a:r>
              <a:rPr lang="en-US" altLang="ko-KR" sz="1300" dirty="0"/>
              <a:t>&lt;/html&gt;</a:t>
            </a:r>
            <a:endParaRPr lang="ko-KR" altLang="en-US" sz="1300" dirty="0"/>
          </a:p>
        </p:txBody>
      </p:sp>
    </p:spTree>
    <p:extLst>
      <p:ext uri="{BB962C8B-B14F-4D97-AF65-F5344CB8AC3E}">
        <p14:creationId xmlns:p14="http://schemas.microsoft.com/office/powerpoint/2010/main" val="5889381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innerHTML</a:t>
            </a:r>
            <a:r>
              <a:rPr lang="en-US" altLang="ko-KR" dirty="0"/>
              <a:t> </a:t>
            </a:r>
            <a:r>
              <a:rPr lang="ko-KR" altLang="en-US" dirty="0" err="1"/>
              <a:t>프로퍼티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23392" y="1340768"/>
            <a:ext cx="11101716" cy="5040560"/>
          </a:xfrm>
        </p:spPr>
        <p:txBody>
          <a:bodyPr/>
          <a:lstStyle/>
          <a:p>
            <a:r>
              <a:rPr lang="en-US" altLang="ko-KR" dirty="0" err="1"/>
              <a:t>innerHTML</a:t>
            </a:r>
            <a:r>
              <a:rPr lang="en-US" altLang="ko-KR" dirty="0"/>
              <a:t> </a:t>
            </a:r>
            <a:r>
              <a:rPr lang="ko-KR" altLang="en-US" dirty="0" err="1"/>
              <a:t>프로퍼티</a:t>
            </a:r>
            <a:endParaRPr lang="en-US" altLang="ko-KR" dirty="0"/>
          </a:p>
          <a:p>
            <a:pPr lvl="1"/>
            <a:r>
              <a:rPr lang="ko-KR" altLang="en-US" dirty="0"/>
              <a:t>시작 태그와 종료 태그 사이에 들어 있는 </a:t>
            </a:r>
            <a:r>
              <a:rPr lang="en-US" altLang="ko-KR" dirty="0"/>
              <a:t>HTML </a:t>
            </a:r>
            <a:r>
              <a:rPr lang="ko-KR" altLang="en-US" dirty="0" err="1"/>
              <a:t>콘텐츠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 err="1"/>
              <a:t>innerHTML</a:t>
            </a:r>
            <a:r>
              <a:rPr lang="ko-KR" altLang="en-US" dirty="0"/>
              <a:t> </a:t>
            </a:r>
            <a:r>
              <a:rPr lang="ko-KR" altLang="en-US" dirty="0" err="1"/>
              <a:t>프로퍼티</a:t>
            </a:r>
            <a:r>
              <a:rPr lang="en-US" altLang="ko-KR" dirty="0"/>
              <a:t> </a:t>
            </a:r>
            <a:r>
              <a:rPr lang="ko-KR" altLang="en-US" dirty="0"/>
              <a:t>수정 </a:t>
            </a:r>
            <a:r>
              <a:rPr lang="en-US" altLang="ko-KR" dirty="0"/>
              <a:t>-&gt; HTML </a:t>
            </a:r>
            <a:r>
              <a:rPr lang="ko-KR" altLang="en-US" dirty="0"/>
              <a:t>태그의 </a:t>
            </a:r>
            <a:r>
              <a:rPr lang="ko-KR" altLang="en-US" dirty="0" err="1"/>
              <a:t>콘텐츠</a:t>
            </a:r>
            <a:r>
              <a:rPr lang="ko-KR" altLang="en-US" dirty="0"/>
              <a:t> 변경</a:t>
            </a:r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15</a:t>
            </a:fld>
            <a:endParaRPr lang="ko-KR" altLang="en-US"/>
          </a:p>
        </p:txBody>
      </p:sp>
      <p:grpSp>
        <p:nvGrpSpPr>
          <p:cNvPr id="6" name="그룹 5"/>
          <p:cNvGrpSpPr/>
          <p:nvPr/>
        </p:nvGrpSpPr>
        <p:grpSpPr>
          <a:xfrm>
            <a:off x="3143672" y="2271732"/>
            <a:ext cx="5040560" cy="1126843"/>
            <a:chOff x="1547664" y="2207313"/>
            <a:chExt cx="5040560" cy="1108098"/>
          </a:xfrm>
          <a:solidFill>
            <a:srgbClr val="FFFFFF"/>
          </a:solidFill>
        </p:grpSpPr>
        <p:sp>
          <p:nvSpPr>
            <p:cNvPr id="5" name="직사각형 4"/>
            <p:cNvSpPr/>
            <p:nvPr/>
          </p:nvSpPr>
          <p:spPr>
            <a:xfrm>
              <a:off x="1547664" y="2207313"/>
              <a:ext cx="5040560" cy="1108098"/>
            </a:xfrm>
            <a:prstGeom prst="rect">
              <a:avLst/>
            </a:prstGeom>
            <a:grpFill/>
            <a:ln w="1270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691680" y="2247355"/>
              <a:ext cx="3213535" cy="954107"/>
            </a:xfrm>
            <a:prstGeom prst="rect">
              <a:avLst/>
            </a:prstGeom>
            <a:grpFill/>
            <a:ln w="19050">
              <a:noFill/>
            </a:ln>
          </p:spPr>
          <p:txBody>
            <a:bodyPr wrap="square" rtlCol="0">
              <a:spAutoFit/>
            </a:bodyPr>
            <a:lstStyle/>
            <a:p>
              <a:pPr defTabSz="180000"/>
              <a:r>
                <a:rPr lang="en-US" altLang="ko-KR" sz="1400" dirty="0"/>
                <a:t>&lt;p id="</a:t>
              </a:r>
              <a:r>
                <a:rPr lang="en-US" altLang="ko-KR" sz="1400" dirty="0" err="1"/>
                <a:t>firstP</a:t>
              </a:r>
              <a:r>
                <a:rPr lang="en-US" altLang="ko-KR" sz="1400" dirty="0"/>
                <a:t>" style="</a:t>
              </a:r>
              <a:r>
                <a:rPr lang="en-US" altLang="ko-KR" sz="1400" dirty="0" err="1"/>
                <a:t>color:blue</a:t>
              </a:r>
              <a:r>
                <a:rPr lang="en-US" altLang="ko-KR" sz="1400" dirty="0"/>
                <a:t>"&gt;</a:t>
              </a:r>
            </a:p>
            <a:p>
              <a:pPr defTabSz="180000"/>
              <a:r>
                <a:rPr lang="en-US" altLang="ko-KR" sz="1400" dirty="0">
                  <a:solidFill>
                    <a:srgbClr val="0070C0"/>
                  </a:solidFill>
                </a:rPr>
                <a:t>	</a:t>
              </a:r>
              <a:r>
                <a:rPr lang="ko-KR" altLang="en-US" sz="1400" dirty="0"/>
                <a:t>이것은</a:t>
              </a:r>
              <a:r>
                <a:rPr lang="en-US" altLang="ko-KR" sz="1400" dirty="0"/>
                <a:t>&lt;span style="</a:t>
              </a:r>
              <a:r>
                <a:rPr lang="en-US" altLang="ko-KR" sz="1400" dirty="0" err="1"/>
                <a:t>color:red</a:t>
              </a:r>
              <a:r>
                <a:rPr lang="en-US" altLang="ko-KR" sz="1400" dirty="0"/>
                <a:t>"&gt;</a:t>
              </a:r>
            </a:p>
            <a:p>
              <a:pPr defTabSz="180000"/>
              <a:r>
                <a:rPr lang="en-US" altLang="ko-KR" sz="1400" dirty="0"/>
                <a:t>	</a:t>
              </a:r>
              <a:r>
                <a:rPr lang="ko-KR" altLang="en-US" sz="1400" dirty="0"/>
                <a:t>문</a:t>
              </a:r>
              <a:r>
                <a:rPr lang="en-US" altLang="ko-KR" sz="1400" dirty="0"/>
                <a:t>	</a:t>
              </a:r>
              <a:r>
                <a:rPr lang="ko-KR" altLang="en-US" sz="1400" dirty="0"/>
                <a:t>장입니다</a:t>
              </a:r>
              <a:r>
                <a:rPr lang="en-US" altLang="ko-KR" sz="1400" dirty="0"/>
                <a:t>.&lt;/span&gt;</a:t>
              </a:r>
            </a:p>
            <a:p>
              <a:pPr defTabSz="180000"/>
              <a:r>
                <a:rPr lang="en-US" altLang="ko-KR" sz="1400" dirty="0"/>
                <a:t>&lt;/p&gt;</a:t>
              </a:r>
              <a:endParaRPr lang="ko-KR" alt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364088" y="2571174"/>
              <a:ext cx="975416" cy="306467"/>
            </a:xfrm>
            <a:prstGeom prst="wedgeRoundRectCallout">
              <a:avLst>
                <a:gd name="adj1" fmla="val -137163"/>
                <a:gd name="adj2" fmla="val -8446"/>
                <a:gd name="adj3" fmla="val 16667"/>
              </a:avLst>
            </a:prstGeom>
            <a:grpFill/>
            <a:ln w="95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ko-KR" sz="1200" dirty="0" err="1"/>
                <a:t>innerHTML</a:t>
              </a:r>
              <a:r>
                <a:rPr lang="en-US" altLang="ko-KR" sz="1200" dirty="0"/>
                <a:t> </a:t>
              </a:r>
              <a:endParaRPr lang="ko-KR" altLang="en-US" sz="1200" dirty="0"/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1952888" y="2501933"/>
              <a:ext cx="2664296" cy="48673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0" rIns="36000" bIns="0" rtlCol="0" anchor="ctr"/>
            <a:lstStyle/>
            <a:p>
              <a:r>
                <a:rPr lang="ko-KR" altLang="en-US" sz="1400" dirty="0">
                  <a:solidFill>
                    <a:schemeClr val="accent2">
                      <a:lumMod val="75000"/>
                    </a:schemeClr>
                  </a:solidFill>
                </a:rPr>
                <a:t>여기에</a:t>
              </a:r>
              <a:r>
                <a:rPr lang="en-US" altLang="ko-KR" sz="1400" dirty="0">
                  <a:solidFill>
                    <a:schemeClr val="accent2">
                      <a:lumMod val="75000"/>
                    </a:schemeClr>
                  </a:solidFill>
                </a:rPr>
                <a:t>&lt;span style="</a:t>
              </a:r>
              <a:r>
                <a:rPr lang="en-US" altLang="ko-KR" sz="1400" dirty="0" err="1">
                  <a:solidFill>
                    <a:schemeClr val="accent2">
                      <a:lumMod val="75000"/>
                    </a:schemeClr>
                  </a:solidFill>
                </a:rPr>
                <a:t>color:red</a:t>
              </a:r>
              <a:r>
                <a:rPr lang="en-US" altLang="ko-KR" sz="1400" dirty="0">
                  <a:solidFill>
                    <a:schemeClr val="accent2">
                      <a:lumMod val="75000"/>
                    </a:schemeClr>
                  </a:solidFill>
                </a:rPr>
                <a:t>"&gt;</a:t>
              </a:r>
            </a:p>
            <a:p>
              <a:r>
                <a:rPr lang="ko-KR" altLang="en-US" sz="1400" dirty="0">
                  <a:solidFill>
                    <a:schemeClr val="accent2">
                      <a:lumMod val="75000"/>
                    </a:schemeClr>
                  </a:solidFill>
                </a:rPr>
                <a:t>클릭하세요</a:t>
              </a:r>
              <a:r>
                <a:rPr lang="en-US" altLang="ko-KR" sz="1400" dirty="0">
                  <a:solidFill>
                    <a:schemeClr val="accent2">
                      <a:lumMod val="75000"/>
                    </a:schemeClr>
                  </a:solidFill>
                </a:rPr>
                <a:t>.&lt;/span&gt;</a:t>
              </a:r>
            </a:p>
          </p:txBody>
        </p:sp>
      </p:grpSp>
      <p:grpSp>
        <p:nvGrpSpPr>
          <p:cNvPr id="9" name="그룹 8"/>
          <p:cNvGrpSpPr/>
          <p:nvPr/>
        </p:nvGrpSpPr>
        <p:grpSpPr>
          <a:xfrm>
            <a:off x="3126741" y="4221088"/>
            <a:ext cx="5112568" cy="1892854"/>
            <a:chOff x="1691680" y="4103545"/>
            <a:chExt cx="5112568" cy="1892854"/>
          </a:xfrm>
        </p:grpSpPr>
        <p:grpSp>
          <p:nvGrpSpPr>
            <p:cNvPr id="8" name="그룹 7"/>
            <p:cNvGrpSpPr/>
            <p:nvPr/>
          </p:nvGrpSpPr>
          <p:grpSpPr>
            <a:xfrm>
              <a:off x="1718483" y="5042292"/>
              <a:ext cx="5040560" cy="954107"/>
              <a:chOff x="1619672" y="5058367"/>
              <a:chExt cx="5040560" cy="954107"/>
            </a:xfrm>
          </p:grpSpPr>
          <p:sp>
            <p:nvSpPr>
              <p:cNvPr id="41" name="TextBox 40"/>
              <p:cNvSpPr txBox="1"/>
              <p:nvPr/>
            </p:nvSpPr>
            <p:spPr>
              <a:xfrm>
                <a:off x="1619672" y="5058367"/>
                <a:ext cx="5040560" cy="954107"/>
              </a:xfrm>
              <a:prstGeom prst="rect">
                <a:avLst/>
              </a:prstGeom>
              <a:noFill/>
              <a:ln w="12700">
                <a:solidFill>
                  <a:srgbClr val="00B0F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defTabSz="180000"/>
                <a:r>
                  <a:rPr lang="en-US" altLang="ko-KR" sz="1400" dirty="0"/>
                  <a:t>&lt;p id="</a:t>
                </a:r>
                <a:r>
                  <a:rPr lang="en-US" altLang="ko-KR" sz="1400" dirty="0" err="1"/>
                  <a:t>firstP</a:t>
                </a:r>
                <a:r>
                  <a:rPr lang="en-US" altLang="ko-KR" sz="1400" dirty="0"/>
                  <a:t>" style="</a:t>
                </a:r>
                <a:r>
                  <a:rPr lang="en-US" altLang="ko-KR" sz="1400" dirty="0" err="1"/>
                  <a:t>color:blue</a:t>
                </a:r>
                <a:r>
                  <a:rPr lang="en-US" altLang="ko-KR" sz="1400" dirty="0"/>
                  <a:t>"&gt;</a:t>
                </a:r>
              </a:p>
              <a:p>
                <a:pPr defTabSz="180000"/>
                <a:r>
                  <a:rPr lang="en-US" altLang="ko-KR" sz="1400" dirty="0">
                    <a:solidFill>
                      <a:srgbClr val="0070C0"/>
                    </a:solidFill>
                  </a:rPr>
                  <a:t>	</a:t>
                </a:r>
                <a:r>
                  <a:rPr lang="ko-KR" altLang="en-US" sz="1400" dirty="0"/>
                  <a:t>이것은</a:t>
                </a:r>
                <a:r>
                  <a:rPr lang="en-US" altLang="ko-KR" sz="1400" dirty="0"/>
                  <a:t>&lt;span style="</a:t>
                </a:r>
                <a:r>
                  <a:rPr lang="en-US" altLang="ko-KR" sz="1400" dirty="0" err="1"/>
                  <a:t>color:red</a:t>
                </a:r>
                <a:r>
                  <a:rPr lang="en-US" altLang="ko-KR" sz="1400" dirty="0"/>
                  <a:t>"&gt;</a:t>
                </a:r>
              </a:p>
              <a:p>
                <a:pPr defTabSz="180000"/>
                <a:r>
                  <a:rPr lang="en-US" altLang="ko-KR" sz="1400" dirty="0"/>
                  <a:t>	</a:t>
                </a:r>
                <a:r>
                  <a:rPr lang="ko-KR" altLang="en-US" sz="1400" dirty="0"/>
                  <a:t>문</a:t>
                </a:r>
                <a:r>
                  <a:rPr lang="en-US" altLang="ko-KR" sz="1400" dirty="0"/>
                  <a:t>	</a:t>
                </a:r>
                <a:r>
                  <a:rPr lang="ko-KR" altLang="en-US" sz="1400" dirty="0"/>
                  <a:t>장입니다</a:t>
                </a:r>
                <a:r>
                  <a:rPr lang="en-US" altLang="ko-KR" sz="1400" dirty="0"/>
                  <a:t>.&lt;/span&gt;</a:t>
                </a:r>
              </a:p>
              <a:p>
                <a:pPr defTabSz="180000"/>
                <a:r>
                  <a:rPr lang="en-US" altLang="ko-KR" sz="1400" dirty="0"/>
                  <a:t>&lt;/p&gt;</a:t>
                </a:r>
                <a:endParaRPr lang="ko-KR" altLang="en-US" sz="1400" dirty="0"/>
              </a:p>
            </p:txBody>
          </p:sp>
          <p:sp>
            <p:nvSpPr>
              <p:cNvPr id="42" name="직사각형 41"/>
              <p:cNvSpPr/>
              <p:nvPr/>
            </p:nvSpPr>
            <p:spPr>
              <a:xfrm>
                <a:off x="1835696" y="5302468"/>
                <a:ext cx="2664296" cy="486730"/>
              </a:xfrm>
              <a:prstGeom prst="rect">
                <a:avLst/>
              </a:prstGeom>
              <a:solidFill>
                <a:srgbClr val="DCF0C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0" rIns="36000" bIns="0" rtlCol="0" anchor="ctr"/>
              <a:lstStyle/>
              <a:p>
                <a:pPr fontAlgn="base" latinLnBrk="0"/>
                <a:r>
                  <a:rPr lang="ko-KR" alt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나의 </a:t>
                </a:r>
                <a:r>
                  <a:rPr lang="en-US" altLang="ko-KR" sz="1400" dirty="0">
                    <a:solidFill>
                      <a:schemeClr val="accent2">
                        <a:lumMod val="75000"/>
                      </a:schemeClr>
                    </a:solidFill>
                  </a:rPr>
                  <a:t>&lt;</a:t>
                </a:r>
                <a:r>
                  <a:rPr lang="en-US" altLang="ko-KR" sz="1400" dirty="0" err="1">
                    <a:solidFill>
                      <a:schemeClr val="accent2">
                        <a:lumMod val="75000"/>
                      </a:schemeClr>
                    </a:solidFill>
                  </a:rPr>
                  <a:t>img</a:t>
                </a:r>
                <a:r>
                  <a:rPr lang="en-US" altLang="ko-KR" sz="1400" dirty="0">
                    <a:solidFill>
                      <a:schemeClr val="accent2">
                        <a:lumMod val="75000"/>
                      </a:schemeClr>
                    </a:solidFill>
                  </a:rPr>
                  <a:t> </a:t>
                </a:r>
                <a:r>
                  <a:rPr lang="en-US" altLang="ko-KR" sz="1400" dirty="0" err="1">
                    <a:solidFill>
                      <a:schemeClr val="accent2">
                        <a:lumMod val="75000"/>
                      </a:schemeClr>
                    </a:solidFill>
                  </a:rPr>
                  <a:t>src</a:t>
                </a:r>
                <a:r>
                  <a:rPr lang="en-US" altLang="ko-KR" sz="1400" dirty="0">
                    <a:solidFill>
                      <a:schemeClr val="accent2">
                        <a:lumMod val="75000"/>
                      </a:schemeClr>
                    </a:solidFill>
                  </a:rPr>
                  <a:t>=‘puppy.jpg’&gt; </a:t>
                </a:r>
                <a:r>
                  <a:rPr lang="ko-KR" altLang="en-US" sz="1400" dirty="0">
                    <a:solidFill>
                      <a:schemeClr val="accent2">
                        <a:lumMod val="75000"/>
                      </a:schemeClr>
                    </a:solidFill>
                  </a:rPr>
                  <a:t>강아지입니다</a:t>
                </a:r>
                <a:r>
                  <a:rPr lang="en-US" altLang="ko-KR" sz="1400" dirty="0">
                    <a:solidFill>
                      <a:schemeClr val="accent2">
                        <a:lumMod val="75000"/>
                      </a:schemeClr>
                    </a:solidFill>
                  </a:rPr>
                  <a:t>.</a:t>
                </a:r>
              </a:p>
            </p:txBody>
          </p:sp>
        </p:grpSp>
        <p:sp>
          <p:nvSpPr>
            <p:cNvPr id="43" name="아래쪽 화살표 42"/>
            <p:cNvSpPr/>
            <p:nvPr/>
          </p:nvSpPr>
          <p:spPr>
            <a:xfrm>
              <a:off x="3995936" y="4762854"/>
              <a:ext cx="216024" cy="216024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1691680" y="4103545"/>
              <a:ext cx="5112568" cy="52322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fontAlgn="base" latinLnBrk="0"/>
              <a:r>
                <a:rPr lang="en-US" altLang="ko-KR" sz="1400" dirty="0"/>
                <a:t>let p = </a:t>
              </a:r>
              <a:r>
                <a:rPr lang="en-US" altLang="ko-KR" sz="1400" dirty="0" err="1"/>
                <a:t>document.getElementById</a:t>
              </a:r>
              <a:r>
                <a:rPr lang="en-US" altLang="ko-KR" sz="1400" dirty="0"/>
                <a:t>("</a:t>
              </a:r>
              <a:r>
                <a:rPr lang="en-US" altLang="ko-KR" sz="1400" dirty="0" err="1"/>
                <a:t>firstP</a:t>
              </a:r>
              <a:r>
                <a:rPr lang="en-US" altLang="ko-KR" sz="1400" dirty="0"/>
                <a:t>"); </a:t>
              </a:r>
            </a:p>
            <a:p>
              <a:pPr fontAlgn="base" latinLnBrk="0"/>
              <a:r>
                <a:rPr lang="en-US" altLang="ko-KR" sz="1400" dirty="0" err="1"/>
                <a:t>p.innerHTML</a:t>
              </a:r>
              <a:r>
                <a:rPr lang="en-US" altLang="ko-KR" sz="1400" dirty="0"/>
                <a:t>= “</a:t>
              </a:r>
              <a:r>
                <a:rPr lang="ko-KR" altLang="en-US" sz="1400" dirty="0"/>
                <a:t>나의 </a:t>
              </a:r>
              <a:r>
                <a:rPr lang="en-US" altLang="ko-KR" sz="1400" dirty="0"/>
                <a:t>&lt;</a:t>
              </a:r>
              <a:r>
                <a:rPr lang="en-US" altLang="ko-KR" sz="1400" dirty="0" err="1"/>
                <a:t>img</a:t>
              </a:r>
              <a:r>
                <a:rPr lang="en-US" altLang="ko-KR" sz="1400" dirty="0"/>
                <a:t> </a:t>
              </a:r>
              <a:r>
                <a:rPr lang="en-US" altLang="ko-KR" sz="1400" dirty="0" err="1"/>
                <a:t>src</a:t>
              </a:r>
              <a:r>
                <a:rPr lang="en-US" altLang="ko-KR" sz="1400" dirty="0"/>
                <a:t>=‘puppy.jpg’&gt;</a:t>
              </a:r>
              <a:r>
                <a:rPr lang="ko-KR" altLang="en-US" sz="1400" dirty="0"/>
                <a:t>강아지입니다</a:t>
              </a:r>
              <a:r>
                <a:rPr lang="en-US" altLang="ko-KR" sz="1400" dirty="0"/>
                <a:t>.”;</a:t>
              </a:r>
              <a:endParaRPr lang="ko-KR" altLang="en-US" sz="1400" dirty="0"/>
            </a:p>
          </p:txBody>
        </p:sp>
      </p:grpSp>
      <p:sp>
        <p:nvSpPr>
          <p:cNvPr id="17" name="슬라이드 번호 개체 틀 3">
            <a:extLst>
              <a:ext uri="{FF2B5EF4-FFF2-40B4-BE49-F238E27FC236}">
                <a16:creationId xmlns:a16="http://schemas.microsoft.com/office/drawing/2014/main" id="{FDD6A7E6-F635-407F-90AE-A19EE690EDC4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25067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E102DEC6-D634-4BB4-B379-8DB3F7092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6" y="1174989"/>
            <a:ext cx="3252740" cy="221476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83C5AE5-A9F3-4917-BEA4-87D0389D81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097" y="3568620"/>
            <a:ext cx="3221643" cy="2946698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1919536" y="1556792"/>
            <a:ext cx="4896544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</a:t>
            </a:r>
          </a:p>
          <a:p>
            <a:pPr defTabSz="180000"/>
            <a:r>
              <a:rPr lang="en-US" altLang="ko-KR" sz="1200" dirty="0"/>
              <a:t>&lt;title&gt;</a:t>
            </a:r>
            <a:r>
              <a:rPr lang="en-US" altLang="ko-KR" sz="1200" dirty="0" err="1"/>
              <a:t>innerHTML</a:t>
            </a:r>
            <a:r>
              <a:rPr lang="en-US" altLang="ko-KR" sz="1200" dirty="0"/>
              <a:t> </a:t>
            </a:r>
            <a:r>
              <a:rPr lang="ko-KR" altLang="en-US" sz="1200" dirty="0"/>
              <a:t>활용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b="1" dirty="0"/>
              <a:t>function change() {</a:t>
            </a:r>
          </a:p>
          <a:p>
            <a:pPr defTabSz="180000"/>
            <a:r>
              <a:rPr lang="en-US" altLang="ko-KR" sz="1200" b="1" dirty="0"/>
              <a:t>	let p = </a:t>
            </a:r>
            <a:r>
              <a:rPr lang="en-US" altLang="ko-KR" sz="1200" b="1" dirty="0" err="1"/>
              <a:t>document.getElementById</a:t>
            </a:r>
            <a:r>
              <a:rPr lang="en-US" altLang="ko-KR" sz="1200" b="1" dirty="0"/>
              <a:t>("</a:t>
            </a:r>
            <a:r>
              <a:rPr lang="en-US" altLang="ko-KR" sz="1200" b="1" dirty="0" err="1"/>
              <a:t>firstP</a:t>
            </a:r>
            <a:r>
              <a:rPr lang="en-US" altLang="ko-KR" sz="1200" b="1" dirty="0"/>
              <a:t>");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/>
              <a:t>p.innerHTML</a:t>
            </a:r>
            <a:r>
              <a:rPr lang="en-US" altLang="ko-KR" sz="1200" b="1" dirty="0"/>
              <a:t>= "</a:t>
            </a:r>
            <a:r>
              <a:rPr lang="ko-KR" altLang="en-US" sz="1200" b="1" dirty="0"/>
              <a:t>나의 </a:t>
            </a:r>
            <a:r>
              <a:rPr lang="en-US" altLang="ko-KR" sz="1200" b="1" dirty="0"/>
              <a:t>&lt;</a:t>
            </a:r>
            <a:r>
              <a:rPr lang="en-US" altLang="ko-KR" sz="1200" b="1" dirty="0" err="1"/>
              <a:t>img</a:t>
            </a:r>
            <a:r>
              <a:rPr lang="en-US" altLang="ko-KR" sz="1200" b="1" dirty="0"/>
              <a:t> </a:t>
            </a:r>
            <a:r>
              <a:rPr lang="en-US" altLang="ko-KR" sz="1200" b="1" dirty="0" err="1"/>
              <a:t>src</a:t>
            </a:r>
            <a:r>
              <a:rPr lang="en-US" altLang="ko-KR" sz="1200" b="1" dirty="0"/>
              <a:t>='puppy.png'&gt; </a:t>
            </a:r>
            <a:r>
              <a:rPr lang="ko-KR" altLang="en-US" sz="1200" b="1" dirty="0"/>
              <a:t>강아지</a:t>
            </a:r>
            <a:r>
              <a:rPr lang="en-US" altLang="ko-KR" sz="1200" b="1" dirty="0"/>
              <a:t>";</a:t>
            </a:r>
          </a:p>
          <a:p>
            <a:pPr defTabSz="180000"/>
            <a:r>
              <a:rPr lang="en-US" altLang="ko-KR" sz="1200" b="1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en-US" altLang="ko-KR" sz="1200" dirty="0" err="1"/>
              <a:t>innerHTML</a:t>
            </a:r>
            <a:r>
              <a:rPr lang="en-US" altLang="ko-KR" sz="1200" dirty="0"/>
              <a:t> </a:t>
            </a:r>
            <a:r>
              <a:rPr lang="ko-KR" altLang="en-US" sz="1200" dirty="0"/>
              <a:t>활용 </a:t>
            </a:r>
            <a:r>
              <a:rPr lang="en-US" altLang="ko-KR" sz="1200" dirty="0"/>
              <a:t>: </a:t>
            </a:r>
            <a:r>
              <a:rPr lang="ko-KR" altLang="en-US" sz="1200" dirty="0"/>
              <a:t>아래 글자에 클릭하면</a:t>
            </a:r>
            <a:endParaRPr lang="en-US" altLang="ko-KR" sz="1200" dirty="0"/>
          </a:p>
          <a:p>
            <a:pPr defTabSz="180000"/>
            <a:r>
              <a:rPr lang="ko-KR" altLang="en-US" sz="1200" dirty="0"/>
              <a:t> 예쁜 강아지가 보입니다</a:t>
            </a:r>
            <a:r>
              <a:rPr lang="en-US" altLang="ko-KR" sz="1200" dirty="0"/>
              <a:t>.&lt;/h3&gt;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 id="</a:t>
            </a:r>
            <a:r>
              <a:rPr lang="en-US" altLang="ko-KR" sz="1200" dirty="0" err="1"/>
              <a:t>firstP</a:t>
            </a:r>
            <a:r>
              <a:rPr lang="en-US" altLang="ko-KR" sz="1200" dirty="0"/>
              <a:t>" style="</a:t>
            </a:r>
            <a:r>
              <a:rPr lang="en-US" altLang="ko-KR" sz="1200" dirty="0" err="1"/>
              <a:t>color:blue</a:t>
            </a:r>
            <a:r>
              <a:rPr lang="en-US" altLang="ko-KR" sz="1200" dirty="0"/>
              <a:t>" 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 err="1"/>
              <a:t>onclick</a:t>
            </a:r>
            <a:r>
              <a:rPr lang="en-US" altLang="ko-KR" sz="1200" b="1" dirty="0"/>
              <a:t>="change()</a:t>
            </a:r>
            <a:r>
              <a:rPr lang="en-US" altLang="ko-KR" sz="1200" dirty="0"/>
              <a:t>"&gt;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ko-KR" altLang="en-US" sz="1200" dirty="0"/>
              <a:t>여기에</a:t>
            </a:r>
            <a:r>
              <a:rPr lang="en-US" altLang="ko-KR" sz="1200" dirty="0"/>
              <a:t>	&lt;span style="</a:t>
            </a:r>
            <a:r>
              <a:rPr lang="en-US" altLang="ko-KR" sz="1200" dirty="0" err="1"/>
              <a:t>color:red</a:t>
            </a:r>
            <a:r>
              <a:rPr lang="en-US" altLang="ko-KR" sz="1200" dirty="0"/>
              <a:t>"&gt;</a:t>
            </a:r>
            <a:r>
              <a:rPr lang="ko-KR" altLang="en-US" sz="1200" dirty="0"/>
              <a:t>클릭하세요</a:t>
            </a:r>
            <a:r>
              <a:rPr lang="en-US" altLang="ko-KR" sz="1200" dirty="0"/>
              <a:t>&lt;/span&gt;</a:t>
            </a:r>
          </a:p>
          <a:p>
            <a:pPr defTabSz="180000"/>
            <a:r>
              <a:rPr lang="en-US" altLang="ko-KR" sz="1200" dirty="0"/>
              <a:t>&lt;/p&gt;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8-3 </a:t>
            </a:r>
            <a:r>
              <a:rPr lang="en-US" altLang="ko-KR" dirty="0" err="1"/>
              <a:t>innerHTML</a:t>
            </a:r>
            <a:r>
              <a:rPr lang="ko-KR" altLang="en-US" dirty="0"/>
              <a:t>을 이용하여 </a:t>
            </a:r>
            <a:r>
              <a:rPr lang="en-US" altLang="ko-KR" dirty="0"/>
              <a:t>HTML </a:t>
            </a:r>
            <a:r>
              <a:rPr lang="ko-KR" altLang="en-US" dirty="0" err="1"/>
              <a:t>콘텐츠</a:t>
            </a:r>
            <a:r>
              <a:rPr lang="ko-KR" altLang="en-US" dirty="0"/>
              <a:t> 동적 변경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8616280" y="2876661"/>
            <a:ext cx="1872208" cy="510778"/>
          </a:xfrm>
          <a:prstGeom prst="wedgeRoundRectCallout">
            <a:avLst>
              <a:gd name="adj1" fmla="val -57489"/>
              <a:gd name="adj2" fmla="val -1972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마우스 클릭하면 아래와 같이 변경됩니다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E6489A73-B9B7-4068-88EB-8EBD663F044E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59528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this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ko-KR" dirty="0"/>
              <a:t>this </a:t>
            </a:r>
            <a:r>
              <a:rPr lang="ko-KR" altLang="en-US" dirty="0"/>
              <a:t>키워드</a:t>
            </a:r>
            <a:endParaRPr lang="en-US" altLang="ko-KR" dirty="0"/>
          </a:p>
          <a:p>
            <a:pPr lvl="1"/>
            <a:r>
              <a:rPr lang="ko-KR" altLang="en-US" dirty="0"/>
              <a:t>객체 자신을 가리키는 자바스크립트 키워드</a:t>
            </a:r>
          </a:p>
          <a:p>
            <a:pPr lvl="1"/>
            <a:r>
              <a:rPr lang="en-US" altLang="ko-KR" dirty="0"/>
              <a:t>DOM </a:t>
            </a:r>
            <a:r>
              <a:rPr lang="ko-KR" altLang="en-US" dirty="0"/>
              <a:t>객체에서 객체 자신을 가리키는 용도로 사용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&lt;div&gt; </a:t>
            </a:r>
            <a:r>
              <a:rPr lang="ko-KR" altLang="en-US" dirty="0"/>
              <a:t>태그 자신의 배경을 </a:t>
            </a:r>
            <a:r>
              <a:rPr lang="en-US" altLang="ko-KR" dirty="0"/>
              <a:t>orange </a:t>
            </a:r>
            <a:r>
              <a:rPr lang="ko-KR" altLang="en-US" dirty="0"/>
              <a:t>색으로 변경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</a:t>
            </a:r>
            <a:r>
              <a:rPr lang="ko-KR" altLang="en-US" dirty="0"/>
              <a:t>버튼이 클릭되면 자신의 배경색을 </a:t>
            </a:r>
            <a:r>
              <a:rPr lang="en-US" altLang="ko-KR" dirty="0"/>
              <a:t>orange</a:t>
            </a:r>
            <a:r>
              <a:rPr lang="ko-KR" altLang="en-US" dirty="0"/>
              <a:t>로 변경</a:t>
            </a:r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287688" y="2996953"/>
            <a:ext cx="53103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&lt;div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onclick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="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j-ea"/>
                <a:ea typeface="+mj-ea"/>
              </a:rPr>
              <a:t>this.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style.backgroundColor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='orange'"&gt;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287688" y="3985320"/>
            <a:ext cx="53103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&lt;button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onclick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="</a:t>
            </a:r>
            <a:r>
              <a:rPr lang="en-US" altLang="ko-KR" sz="1400" b="1" kern="0" dirty="0" err="1">
                <a:solidFill>
                  <a:srgbClr val="000000"/>
                </a:solidFill>
                <a:latin typeface="+mj-ea"/>
                <a:ea typeface="+mj-ea"/>
              </a:rPr>
              <a:t>this.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style.backgroundColor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='orange'"&gt;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6F7A9017-C099-4678-BB21-A7E044BCF1C7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93300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B731BCD1-6FB9-4A66-A60D-08805F17BA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960" y="1332306"/>
            <a:ext cx="2759101" cy="206651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5768662-6A85-468A-A2E5-0A4FA174BC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959" y="3629839"/>
            <a:ext cx="3332039" cy="2812596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8-4 this </a:t>
            </a:r>
            <a:r>
              <a:rPr lang="ko-KR" altLang="en-US" dirty="0"/>
              <a:t>활용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2133600" y="1505990"/>
            <a:ext cx="4572000" cy="415498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</a:t>
            </a:r>
          </a:p>
          <a:p>
            <a:pPr defTabSz="180000"/>
            <a:r>
              <a:rPr lang="en-US" altLang="ko-KR" sz="1200" dirty="0"/>
              <a:t>&lt;title&gt;this </a:t>
            </a:r>
            <a:r>
              <a:rPr lang="ko-KR" altLang="en-US" sz="1200" dirty="0"/>
              <a:t>활용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b="1" dirty="0"/>
              <a:t>function change(</a:t>
            </a:r>
            <a:r>
              <a:rPr lang="en-US" altLang="ko-KR" sz="1200" b="1" dirty="0" err="1">
                <a:solidFill>
                  <a:schemeClr val="accent2">
                    <a:lumMod val="75000"/>
                  </a:schemeClr>
                </a:solidFill>
              </a:rPr>
              <a:t>obj</a:t>
            </a:r>
            <a:r>
              <a:rPr lang="en-US" altLang="ko-KR" sz="1200" b="1" dirty="0"/>
              <a:t>, size, color) {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>
                <a:solidFill>
                  <a:schemeClr val="accent2">
                    <a:lumMod val="75000"/>
                  </a:schemeClr>
                </a:solidFill>
              </a:rPr>
              <a:t>obj</a:t>
            </a:r>
            <a:r>
              <a:rPr lang="en-US" altLang="ko-KR" sz="1200" b="1" dirty="0" err="1"/>
              <a:t>.style.color</a:t>
            </a:r>
            <a:r>
              <a:rPr lang="en-US" altLang="ko-KR" sz="1200" b="1" dirty="0"/>
              <a:t> = color;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>
                <a:solidFill>
                  <a:schemeClr val="accent2">
                    <a:lumMod val="75000"/>
                  </a:schemeClr>
                </a:solidFill>
              </a:rPr>
              <a:t>obj</a:t>
            </a:r>
            <a:r>
              <a:rPr lang="en-US" altLang="ko-KR" sz="1200" b="1" dirty="0" err="1"/>
              <a:t>.style.fontSize</a:t>
            </a:r>
            <a:r>
              <a:rPr lang="en-US" altLang="ko-KR" sz="1200" b="1" dirty="0"/>
              <a:t> = size;</a:t>
            </a:r>
          </a:p>
          <a:p>
            <a:pPr defTabSz="180000"/>
            <a:r>
              <a:rPr lang="en-US" altLang="ko-KR" sz="1200" b="1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&lt;h3&gt;this </a:t>
            </a:r>
            <a:r>
              <a:rPr lang="ko-KR" altLang="en-US" sz="1200" dirty="0"/>
              <a:t>활용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&lt;button </a:t>
            </a:r>
            <a:r>
              <a:rPr lang="en-US" altLang="ko-KR" sz="1200" dirty="0" err="1"/>
              <a:t>onclick</a:t>
            </a:r>
            <a:r>
              <a:rPr lang="en-US" altLang="ko-KR" sz="1200" dirty="0"/>
              <a:t>="</a:t>
            </a:r>
            <a:r>
              <a:rPr lang="en-US" altLang="ko-KR" sz="1200" b="1" dirty="0"/>
              <a:t>change(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this</a:t>
            </a:r>
            <a:r>
              <a:rPr lang="en-US" altLang="ko-KR" sz="1200" b="1" dirty="0"/>
              <a:t>, '30px', 'red')</a:t>
            </a:r>
            <a:r>
              <a:rPr lang="en-US" altLang="ko-KR" sz="1200" dirty="0"/>
              <a:t>"&gt;</a:t>
            </a:r>
            <a:r>
              <a:rPr lang="ko-KR" altLang="en-US" sz="1200" dirty="0"/>
              <a:t>버튼</a:t>
            </a:r>
            <a:r>
              <a:rPr lang="en-US" altLang="ko-KR" sz="1200" dirty="0"/>
              <a:t>&lt;/button&gt;</a:t>
            </a:r>
          </a:p>
          <a:p>
            <a:pPr defTabSz="180000"/>
            <a:r>
              <a:rPr lang="en-US" altLang="ko-KR" sz="1200" dirty="0"/>
              <a:t>&lt;button </a:t>
            </a:r>
            <a:r>
              <a:rPr lang="en-US" altLang="ko-KR" sz="1200" dirty="0" err="1"/>
              <a:t>onclick</a:t>
            </a:r>
            <a:r>
              <a:rPr lang="en-US" altLang="ko-KR" sz="1200" dirty="0"/>
              <a:t>="</a:t>
            </a:r>
            <a:r>
              <a:rPr lang="en-US" altLang="ko-KR" sz="1200" b="1" dirty="0"/>
              <a:t>change(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this</a:t>
            </a:r>
            <a:r>
              <a:rPr lang="en-US" altLang="ko-KR" sz="1200" b="1" dirty="0"/>
              <a:t>, '30px', 'blue')</a:t>
            </a:r>
            <a:r>
              <a:rPr lang="en-US" altLang="ko-KR" sz="1200" dirty="0"/>
              <a:t>"&gt;</a:t>
            </a:r>
            <a:r>
              <a:rPr lang="ko-KR" altLang="en-US" sz="1200" dirty="0"/>
              <a:t>버튼</a:t>
            </a:r>
            <a:r>
              <a:rPr lang="en-US" altLang="ko-KR" sz="1200" dirty="0"/>
              <a:t>&lt;/button&gt;</a:t>
            </a:r>
          </a:p>
          <a:p>
            <a:pPr defTabSz="180000"/>
            <a:r>
              <a:rPr lang="en-US" altLang="ko-KR" sz="1200" dirty="0"/>
              <a:t>&lt;div </a:t>
            </a:r>
            <a:r>
              <a:rPr lang="en-US" altLang="ko-KR" sz="1200" dirty="0" err="1"/>
              <a:t>onclick</a:t>
            </a:r>
            <a:r>
              <a:rPr lang="en-US" altLang="ko-KR" sz="1200" dirty="0"/>
              <a:t>="</a:t>
            </a:r>
            <a:r>
              <a:rPr lang="en-US" altLang="ko-KR" sz="1200" b="1" dirty="0"/>
              <a:t>change(</a:t>
            </a:r>
            <a:r>
              <a:rPr lang="en-US" altLang="ko-KR" sz="1200" b="1" dirty="0">
                <a:solidFill>
                  <a:schemeClr val="accent2">
                    <a:lumMod val="75000"/>
                  </a:schemeClr>
                </a:solidFill>
              </a:rPr>
              <a:t>this</a:t>
            </a:r>
            <a:r>
              <a:rPr lang="en-US" altLang="ko-KR" sz="1200" b="1" dirty="0"/>
              <a:t>, '25px', 'orange')</a:t>
            </a:r>
            <a:r>
              <a:rPr lang="en-US" altLang="ko-KR" sz="1200" dirty="0"/>
              <a:t>"&gt;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ko-KR" altLang="en-US" sz="1200" dirty="0"/>
              <a:t>여기 클릭하면 크기와 색 변경</a:t>
            </a:r>
            <a:endParaRPr lang="en-US" altLang="ko-KR" sz="1200" dirty="0"/>
          </a:p>
          <a:p>
            <a:pPr defTabSz="180000"/>
            <a:r>
              <a:rPr lang="en-US" altLang="ko-KR" sz="1200" dirty="0"/>
              <a:t>&lt;/div&gt;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5" name="모서리가 둥근 직사각형 4"/>
          <p:cNvSpPr/>
          <p:nvPr/>
        </p:nvSpPr>
        <p:spPr>
          <a:xfrm>
            <a:off x="3493106" y="4271071"/>
            <a:ext cx="1852988" cy="238043"/>
          </a:xfrm>
          <a:prstGeom prst="roundRect">
            <a:avLst>
              <a:gd name="adj" fmla="val 29974"/>
            </a:avLst>
          </a:prstGeom>
          <a:noFill/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131568" y="3861049"/>
            <a:ext cx="2429052" cy="306467"/>
          </a:xfrm>
          <a:prstGeom prst="wedgeRoundRectCallout">
            <a:avLst>
              <a:gd name="adj1" fmla="val -43621"/>
              <a:gd name="adj2" fmla="val 9685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this</a:t>
            </a:r>
            <a:r>
              <a:rPr lang="ko-KR" altLang="en-US" sz="1200" dirty="0"/>
              <a:t>는 이 </a:t>
            </a:r>
            <a:r>
              <a:rPr lang="en-US" altLang="ko-KR" sz="1200" dirty="0"/>
              <a:t>&lt;button&gt; </a:t>
            </a:r>
            <a:r>
              <a:rPr lang="ko-KR" altLang="en-US" sz="1200" dirty="0"/>
              <a:t>객체의 주소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9617" y="5820079"/>
            <a:ext cx="1366702" cy="306467"/>
          </a:xfrm>
          <a:prstGeom prst="wedgeRoundRectCallout">
            <a:avLst>
              <a:gd name="adj1" fmla="val 61574"/>
              <a:gd name="adj2" fmla="val -2792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텍스트 클릭 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9216" y="5033264"/>
            <a:ext cx="1206526" cy="306467"/>
          </a:xfrm>
          <a:prstGeom prst="wedgeRoundRectCallout">
            <a:avLst>
              <a:gd name="adj1" fmla="val -76063"/>
              <a:gd name="adj2" fmla="val 32177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버튼 클릭 시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9A5015D5-BC6A-4610-97C1-E06CDC364958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440977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document</a:t>
            </a:r>
            <a:r>
              <a:rPr lang="ko-KR" altLang="en-US" dirty="0"/>
              <a:t> 객체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23392" y="962427"/>
            <a:ext cx="11130293" cy="5040560"/>
          </a:xfrm>
        </p:spPr>
        <p:txBody>
          <a:bodyPr/>
          <a:lstStyle/>
          <a:p>
            <a:r>
              <a:rPr lang="en-US" altLang="ko-KR" dirty="0"/>
              <a:t> document</a:t>
            </a:r>
          </a:p>
          <a:p>
            <a:pPr lvl="1"/>
            <a:r>
              <a:rPr lang="en-US" altLang="ko-KR" dirty="0"/>
              <a:t>HTML </a:t>
            </a:r>
            <a:r>
              <a:rPr lang="ko-KR" altLang="en-US" dirty="0"/>
              <a:t>문서 전체를 대변하는 객체</a:t>
            </a:r>
            <a:endParaRPr lang="en-US" altLang="ko-KR" dirty="0"/>
          </a:p>
          <a:p>
            <a:pPr lvl="2"/>
            <a:r>
              <a:rPr lang="ko-KR" altLang="en-US" dirty="0" err="1"/>
              <a:t>프로퍼티</a:t>
            </a:r>
            <a:r>
              <a:rPr lang="ko-KR" altLang="en-US" dirty="0"/>
              <a:t> </a:t>
            </a:r>
            <a:r>
              <a:rPr lang="en-US" altLang="ko-KR" dirty="0"/>
              <a:t>- HTML </a:t>
            </a:r>
            <a:r>
              <a:rPr lang="ko-KR" altLang="en-US" dirty="0"/>
              <a:t>문서의 전반적인 속성 내포</a:t>
            </a:r>
            <a:endParaRPr lang="en-US" altLang="ko-KR" dirty="0"/>
          </a:p>
          <a:p>
            <a:pPr lvl="2"/>
            <a:r>
              <a:rPr lang="ko-KR" altLang="en-US" dirty="0" err="1"/>
              <a:t>메소드</a:t>
            </a:r>
            <a:r>
              <a:rPr lang="ko-KR" altLang="en-US" dirty="0"/>
              <a:t> </a:t>
            </a:r>
            <a:r>
              <a:rPr lang="en-US" altLang="ko-KR" dirty="0"/>
              <a:t>- DOM </a:t>
            </a:r>
            <a:r>
              <a:rPr lang="ko-KR" altLang="en-US" dirty="0"/>
              <a:t>객체 검색</a:t>
            </a:r>
            <a:r>
              <a:rPr lang="en-US" altLang="ko-KR" dirty="0"/>
              <a:t>, DOM </a:t>
            </a:r>
            <a:r>
              <a:rPr lang="ko-KR" altLang="en-US" dirty="0"/>
              <a:t>객체 생성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HTML </a:t>
            </a:r>
            <a:r>
              <a:rPr lang="ko-KR" altLang="en-US" dirty="0"/>
              <a:t>문서 전반적 제어</a:t>
            </a:r>
          </a:p>
          <a:p>
            <a:pPr lvl="1"/>
            <a:r>
              <a:rPr lang="en-US" altLang="ko-KR" dirty="0"/>
              <a:t>DOM </a:t>
            </a:r>
            <a:r>
              <a:rPr lang="ko-KR" altLang="en-US" dirty="0"/>
              <a:t>객체를 접근하는 경로의 시작점</a:t>
            </a:r>
            <a:endParaRPr lang="en-US" altLang="ko-KR" dirty="0"/>
          </a:p>
          <a:p>
            <a:pPr lvl="1"/>
            <a:r>
              <a:rPr lang="en-US" altLang="ko-KR" dirty="0"/>
              <a:t>DOM </a:t>
            </a:r>
            <a:r>
              <a:rPr lang="ko-KR" altLang="en-US" dirty="0" err="1"/>
              <a:t>트리의</a:t>
            </a:r>
            <a:r>
              <a:rPr lang="ko-KR" altLang="en-US" dirty="0"/>
              <a:t> 최상위 객체</a:t>
            </a:r>
            <a:endParaRPr lang="en-US" altLang="ko-KR" dirty="0"/>
          </a:p>
          <a:p>
            <a:pPr lvl="2"/>
            <a:r>
              <a:rPr lang="ko-KR" altLang="en-US" dirty="0"/>
              <a:t>브라우저는 </a:t>
            </a:r>
            <a:r>
              <a:rPr lang="en-US" altLang="ko-KR" dirty="0"/>
              <a:t>HTML </a:t>
            </a:r>
            <a:r>
              <a:rPr lang="ko-KR" altLang="en-US" dirty="0"/>
              <a:t>문서 로드 전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en-US" altLang="ko-KR" dirty="0"/>
              <a:t>document </a:t>
            </a:r>
            <a:r>
              <a:rPr lang="ko-KR" altLang="en-US" dirty="0"/>
              <a:t>객체를 먼저 생성</a:t>
            </a:r>
            <a:endParaRPr lang="en-US" altLang="ko-KR" dirty="0"/>
          </a:p>
          <a:p>
            <a:pPr lvl="2"/>
            <a:r>
              <a:rPr lang="en-US" altLang="ko-KR" dirty="0"/>
              <a:t>document </a:t>
            </a:r>
            <a:r>
              <a:rPr lang="ko-KR" altLang="en-US" dirty="0"/>
              <a:t>객체를 뿌리로 하여 </a:t>
            </a:r>
            <a:r>
              <a:rPr lang="en-US" altLang="ko-KR" dirty="0"/>
              <a:t>DOM </a:t>
            </a:r>
            <a:r>
              <a:rPr lang="ko-KR" altLang="en-US" dirty="0"/>
              <a:t>트리 생성</a:t>
            </a:r>
            <a:endParaRPr lang="en-US" altLang="ko-KR" dirty="0"/>
          </a:p>
          <a:p>
            <a:r>
              <a:rPr lang="en-US" altLang="ko-KR" dirty="0"/>
              <a:t>document </a:t>
            </a:r>
            <a:r>
              <a:rPr lang="ko-KR" altLang="en-US" dirty="0"/>
              <a:t>객체 접근</a:t>
            </a:r>
            <a:endParaRPr lang="en-US" altLang="ko-KR" dirty="0"/>
          </a:p>
          <a:p>
            <a:pPr lvl="1"/>
            <a:r>
              <a:rPr lang="en-US" altLang="ko-KR" dirty="0" err="1"/>
              <a:t>window.document</a:t>
            </a:r>
            <a:r>
              <a:rPr lang="en-US" altLang="ko-KR" dirty="0"/>
              <a:t> </a:t>
            </a:r>
            <a:r>
              <a:rPr lang="ko-KR" altLang="en-US" dirty="0"/>
              <a:t>또는 </a:t>
            </a:r>
            <a:r>
              <a:rPr lang="en-US" altLang="ko-KR" dirty="0"/>
              <a:t>document </a:t>
            </a:r>
            <a:r>
              <a:rPr lang="ko-KR" altLang="en-US" dirty="0"/>
              <a:t>이름으로</a:t>
            </a:r>
            <a:r>
              <a:rPr lang="en-US" altLang="ko-KR" dirty="0"/>
              <a:t> </a:t>
            </a:r>
            <a:r>
              <a:rPr lang="ko-KR" altLang="en-US" dirty="0"/>
              <a:t>접근</a:t>
            </a:r>
            <a:endParaRPr lang="en-US" altLang="ko-KR" dirty="0"/>
          </a:p>
          <a:p>
            <a:pPr lvl="1"/>
            <a:r>
              <a:rPr lang="en-US" altLang="ko-KR" dirty="0"/>
              <a:t>document</a:t>
            </a:r>
            <a:r>
              <a:rPr lang="ko-KR" altLang="en-US" dirty="0"/>
              <a:t> 객체는</a:t>
            </a:r>
            <a:r>
              <a:rPr lang="en-US" altLang="ko-KR" dirty="0"/>
              <a:t> DOM</a:t>
            </a:r>
            <a:r>
              <a:rPr lang="ko-KR" altLang="en-US" dirty="0"/>
              <a:t>에 속하는 객체이지만 </a:t>
            </a:r>
            <a:r>
              <a:rPr lang="en-US" altLang="ko-KR" dirty="0"/>
              <a:t>Element </a:t>
            </a:r>
            <a:r>
              <a:rPr lang="ko-KR" altLang="en-US"/>
              <a:t>객체는 </a:t>
            </a:r>
            <a:r>
              <a:rPr lang="ko-KR" altLang="en-US" dirty="0"/>
              <a:t>아님</a:t>
            </a:r>
            <a:endParaRPr lang="en-US" altLang="ko-KR" dirty="0"/>
          </a:p>
          <a:p>
            <a:pPr lvl="2"/>
            <a:r>
              <a:rPr lang="ko-KR" altLang="en-US" dirty="0"/>
              <a:t>연결된 스타일 시트가 없음</a:t>
            </a:r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207568" y="5975395"/>
            <a:ext cx="8424936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strike="sngStrike" kern="0" dirty="0" err="1">
                <a:solidFill>
                  <a:srgbClr val="000000"/>
                </a:solidFill>
                <a:latin typeface="+mj-ea"/>
                <a:ea typeface="+mj-ea"/>
              </a:rPr>
              <a:t>document.style.color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"red"; // </a:t>
            </a:r>
            <a:r>
              <a:rPr lang="ko-KR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오류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. document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에는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CSS3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스타일 시트가 연결되지 않음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5E60C5D9-C05D-432E-BCA0-C83071C1B87F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67641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8-5 document </a:t>
            </a:r>
            <a:r>
              <a:rPr lang="ko-KR" altLang="en-US" dirty="0"/>
              <a:t>객체의 </a:t>
            </a:r>
            <a:r>
              <a:rPr lang="ko-KR" altLang="en-US" dirty="0" err="1"/>
              <a:t>프로퍼티</a:t>
            </a:r>
            <a:r>
              <a:rPr lang="ko-KR" altLang="en-US" dirty="0"/>
              <a:t> 출력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494208" y="1034980"/>
            <a:ext cx="4896544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 id="</a:t>
            </a:r>
            <a:r>
              <a:rPr lang="en-US" altLang="ko-KR" sz="1400" dirty="0" err="1"/>
              <a:t>myHead</a:t>
            </a:r>
            <a:r>
              <a:rPr lang="en-US" altLang="ko-KR" sz="1400" dirty="0"/>
              <a:t>"&gt;&lt;meta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pPr defTabSz="180000"/>
            <a:r>
              <a:rPr lang="en-US" altLang="ko-KR" sz="1400" dirty="0"/>
              <a:t>&lt;title&gt;document </a:t>
            </a:r>
            <a:r>
              <a:rPr lang="ko-KR" altLang="en-US" sz="1400" dirty="0"/>
              <a:t>객체의 주요 </a:t>
            </a:r>
            <a:r>
              <a:rPr lang="ko-KR" altLang="en-US" sz="1400" dirty="0" err="1"/>
              <a:t>프로퍼티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&lt;script&gt;</a:t>
            </a:r>
          </a:p>
          <a:p>
            <a:pPr defTabSz="180000"/>
            <a:r>
              <a:rPr lang="en-US" altLang="ko-KR" sz="1400" b="1" dirty="0"/>
              <a:t>	let text = "</a:t>
            </a:r>
            <a:r>
              <a:rPr lang="ko-KR" altLang="en-US" sz="1400" b="1" dirty="0"/>
              <a:t>문서 로딩 중일 때 </a:t>
            </a:r>
            <a:r>
              <a:rPr lang="en-US" altLang="ko-KR" sz="1400" b="1" dirty="0" err="1"/>
              <a:t>readyState</a:t>
            </a:r>
            <a:r>
              <a:rPr lang="en-US" altLang="ko-KR" sz="1400" b="1" dirty="0"/>
              <a:t> = " + </a:t>
            </a:r>
            <a:r>
              <a:rPr lang="en-US" altLang="ko-KR" sz="1400" b="1" dirty="0" err="1"/>
              <a:t>document.readyState</a:t>
            </a:r>
            <a:r>
              <a:rPr lang="en-US" altLang="ko-KR" sz="1400" b="1" dirty="0"/>
              <a:t> + "\n";</a:t>
            </a:r>
          </a:p>
          <a:p>
            <a:pPr defTabSz="180000"/>
            <a:r>
              <a:rPr lang="en-US" altLang="ko-KR" sz="1400" dirty="0"/>
              <a:t>&lt;/script&gt;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 style="</a:t>
            </a:r>
            <a:r>
              <a:rPr lang="en-US" altLang="ko-KR" sz="1400" dirty="0" err="1"/>
              <a:t>background-color:yellow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color:blue</a:t>
            </a:r>
            <a:r>
              <a:rPr lang="en-US" altLang="ko-KR" sz="1400" dirty="0"/>
              <a:t>; </a:t>
            </a:r>
            <a:r>
              <a:rPr lang="en-US" altLang="ko-KR" sz="1400" dirty="0" err="1"/>
              <a:t>direction:rtl</a:t>
            </a:r>
            <a:r>
              <a:rPr lang="en-US" altLang="ko-KR" sz="1400" dirty="0"/>
              <a:t>"</a:t>
            </a:r>
          </a:p>
          <a:p>
            <a:pPr defTabSz="180000"/>
            <a:r>
              <a:rPr lang="en-US" altLang="ko-KR" sz="1400" dirty="0"/>
              <a:t>      	</a:t>
            </a:r>
            <a:r>
              <a:rPr lang="en-US" altLang="ko-KR" sz="1400" b="1" dirty="0" err="1"/>
              <a:t>onload</a:t>
            </a:r>
            <a:r>
              <a:rPr lang="en-US" altLang="ko-KR" sz="1400" b="1" dirty="0"/>
              <a:t>="</a:t>
            </a:r>
            <a:r>
              <a:rPr lang="en-US" altLang="ko-KR" sz="1400" b="1" dirty="0" err="1"/>
              <a:t>printProperties</a:t>
            </a:r>
            <a:r>
              <a:rPr lang="en-US" altLang="ko-KR" sz="1400" b="1" dirty="0"/>
              <a:t>()"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&lt;h3&gt;document</a:t>
            </a:r>
            <a:r>
              <a:rPr lang="ko-KR" altLang="en-US" sz="1400" dirty="0"/>
              <a:t>의 주요 </a:t>
            </a:r>
            <a:r>
              <a:rPr lang="ko-KR" altLang="en-US" sz="1400" dirty="0" err="1"/>
              <a:t>프로퍼티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&lt;a </a:t>
            </a:r>
            <a:r>
              <a:rPr lang="en-US" altLang="ko-KR" sz="1400" dirty="0" err="1"/>
              <a:t>href</a:t>
            </a:r>
            <a:r>
              <a:rPr lang="en-US" altLang="ko-KR" sz="1400" dirty="0"/>
              <a:t>="http://www.naver.com"&gt;</a:t>
            </a:r>
            <a:r>
              <a:rPr lang="ko-KR" altLang="en-US" sz="1400" dirty="0" err="1"/>
              <a:t>네이버</a:t>
            </a:r>
            <a:r>
              <a:rPr lang="ko-KR" altLang="en-US" sz="1400" dirty="0"/>
              <a:t> 홈페이지</a:t>
            </a:r>
            <a:r>
              <a:rPr lang="en-US" altLang="ko-KR" sz="1400" dirty="0"/>
              <a:t>&lt;/a&gt;</a:t>
            </a:r>
          </a:p>
          <a:p>
            <a:pPr defTabSz="180000"/>
            <a:r>
              <a:rPr lang="en-US" altLang="ko-KR" sz="1400" dirty="0"/>
              <a:t>&lt;div&gt;</a:t>
            </a:r>
            <a:r>
              <a:rPr lang="ko-KR" altLang="en-US" sz="1400" dirty="0"/>
              <a:t>이곳은 </a:t>
            </a:r>
            <a:r>
              <a:rPr lang="en-US" altLang="ko-KR" sz="1400" dirty="0"/>
              <a:t>div </a:t>
            </a:r>
            <a:r>
              <a:rPr lang="ko-KR" altLang="en-US" sz="1400" dirty="0"/>
              <a:t>영역입니다</a:t>
            </a:r>
            <a:r>
              <a:rPr lang="en-US" altLang="ko-KR" sz="1400" dirty="0"/>
              <a:t>.&lt;/div&gt;</a:t>
            </a:r>
          </a:p>
          <a:p>
            <a:pPr defTabSz="180000"/>
            <a:r>
              <a:rPr lang="en-US" altLang="ko-KR" sz="1400" dirty="0"/>
              <a:t>&lt;input id="input" type="text" value="</a:t>
            </a:r>
            <a:r>
              <a:rPr lang="ko-KR" altLang="en-US" sz="1400" dirty="0"/>
              <a:t>여기 포커스가 있습니다</a:t>
            </a:r>
            <a:r>
              <a:rPr lang="en-US" altLang="ko-KR" sz="1400" dirty="0"/>
              <a:t>"&gt;</a:t>
            </a:r>
            <a:endParaRPr lang="en-US" altLang="ko-KR" sz="1000" dirty="0"/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79825601-07B8-46F7-B6E9-713F6DB886E2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20</a:t>
            </a:fld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B979C2A0-709F-4829-918D-99FB2309D889}"/>
              </a:ext>
            </a:extLst>
          </p:cNvPr>
          <p:cNvSpPr/>
          <p:nvPr/>
        </p:nvSpPr>
        <p:spPr>
          <a:xfrm>
            <a:off x="5680676" y="1008361"/>
            <a:ext cx="6247972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&lt;script&gt;</a:t>
            </a:r>
          </a:p>
          <a:p>
            <a:pPr defTabSz="180000"/>
            <a:r>
              <a:rPr lang="en-US" altLang="ko-KR" sz="1400" dirty="0"/>
              <a:t>// </a:t>
            </a:r>
            <a:r>
              <a:rPr lang="ko-KR" altLang="en-US" sz="1400" dirty="0"/>
              <a:t>문서가 완전히 로드</a:t>
            </a:r>
            <a:r>
              <a:rPr lang="en-US" altLang="ko-KR" sz="1400" dirty="0"/>
              <a:t>(</a:t>
            </a:r>
            <a:r>
              <a:rPr lang="ko-KR" altLang="en-US" sz="1400" dirty="0"/>
              <a:t>출력</a:t>
            </a:r>
            <a:r>
              <a:rPr lang="en-US" altLang="ko-KR" sz="1400" dirty="0"/>
              <a:t>)</a:t>
            </a:r>
            <a:r>
              <a:rPr lang="ko-KR" altLang="en-US" sz="1400" dirty="0"/>
              <a:t>되었을 때</a:t>
            </a:r>
            <a:r>
              <a:rPr lang="en-US" altLang="ko-KR" sz="1400" dirty="0"/>
              <a:t>, </a:t>
            </a:r>
            <a:r>
              <a:rPr lang="ko-KR" altLang="en-US" sz="1400" dirty="0"/>
              <a:t>현재 </a:t>
            </a:r>
            <a:r>
              <a:rPr lang="en-US" altLang="ko-KR" sz="1400" dirty="0"/>
              <a:t>document</a:t>
            </a:r>
            <a:r>
              <a:rPr lang="ko-KR" altLang="en-US" sz="1400" dirty="0"/>
              <a:t>의 </a:t>
            </a:r>
            <a:r>
              <a:rPr lang="ko-KR" altLang="en-US" sz="1400" dirty="0" err="1"/>
              <a:t>프로퍼티</a:t>
            </a:r>
            <a:r>
              <a:rPr lang="ko-KR" altLang="en-US" sz="1400" dirty="0"/>
              <a:t> 출력 </a:t>
            </a:r>
          </a:p>
          <a:p>
            <a:pPr defTabSz="180000"/>
            <a:r>
              <a:rPr lang="en-US" altLang="ko-KR" sz="1400" b="1" dirty="0"/>
              <a:t>function </a:t>
            </a:r>
            <a:r>
              <a:rPr lang="en-US" altLang="ko-KR" sz="1400" b="1" dirty="0" err="1"/>
              <a:t>printProperties</a:t>
            </a:r>
            <a:r>
              <a:rPr lang="en-US" altLang="ko-KR" sz="1400" b="1" dirty="0"/>
              <a:t>() {  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document.getElementById</a:t>
            </a:r>
            <a:r>
              <a:rPr lang="en-US" altLang="ko-KR" sz="1400" dirty="0"/>
              <a:t>("input").focus(); // &lt;input&gt; </a:t>
            </a:r>
            <a:r>
              <a:rPr lang="ko-KR" altLang="en-US" sz="1400" dirty="0"/>
              <a:t>태그에 포커스를 줌</a:t>
            </a:r>
          </a:p>
          <a:p>
            <a:pPr defTabSz="180000"/>
            <a:endParaRPr lang="ko-KR" altLang="en-US" sz="1400" dirty="0"/>
          </a:p>
          <a:p>
            <a:pPr defTabSz="180000"/>
            <a:r>
              <a:rPr lang="fr-FR" altLang="ko-KR" sz="1400" dirty="0"/>
              <a:t>	text += "1. location =" + document.location + "\n";</a:t>
            </a:r>
          </a:p>
          <a:p>
            <a:pPr defTabSz="180000"/>
            <a:r>
              <a:rPr lang="pt-BR" altLang="ko-KR" sz="1400" dirty="0"/>
              <a:t>	text += "2. URL =" + document.URL + "\n";</a:t>
            </a:r>
          </a:p>
          <a:p>
            <a:pPr defTabSz="180000"/>
            <a:r>
              <a:rPr lang="en-US" altLang="ko-KR" sz="1400" dirty="0"/>
              <a:t>	text += "3. title =" + </a:t>
            </a:r>
            <a:r>
              <a:rPr lang="en-US" altLang="ko-KR" sz="1400" dirty="0" err="1"/>
              <a:t>document.title</a:t>
            </a:r>
            <a:r>
              <a:rPr lang="en-US" altLang="ko-KR" sz="1400" dirty="0"/>
              <a:t> + "\n";</a:t>
            </a:r>
          </a:p>
          <a:p>
            <a:pPr defTabSz="180000"/>
            <a:r>
              <a:rPr lang="en-US" altLang="ko-KR" sz="1400" dirty="0"/>
              <a:t>	text += "4. head</a:t>
            </a:r>
            <a:r>
              <a:rPr lang="ko-KR" altLang="en-US" sz="1400" dirty="0"/>
              <a:t>의 </a:t>
            </a:r>
            <a:r>
              <a:rPr lang="en-US" altLang="ko-KR" sz="1400" dirty="0"/>
              <a:t>id =" + document.head.id + "\n";</a:t>
            </a:r>
          </a:p>
          <a:p>
            <a:pPr defTabSz="180000"/>
            <a:r>
              <a:rPr lang="en-US" altLang="ko-KR" sz="1400" dirty="0"/>
              <a:t>	text += "5. body color =" + </a:t>
            </a:r>
            <a:r>
              <a:rPr lang="en-US" altLang="ko-KR" sz="1400" dirty="0" err="1"/>
              <a:t>document.body.style.color</a:t>
            </a:r>
            <a:r>
              <a:rPr lang="en-US" altLang="ko-KR" sz="1400" dirty="0"/>
              <a:t> + "\n";</a:t>
            </a:r>
          </a:p>
          <a:p>
            <a:pPr defTabSz="180000"/>
            <a:r>
              <a:rPr lang="fr-FR" altLang="ko-KR" sz="1400" dirty="0"/>
              <a:t>	text += "6. domain =" + document.domain + "\n";;</a:t>
            </a:r>
          </a:p>
          <a:p>
            <a:pPr defTabSz="180000"/>
            <a:r>
              <a:rPr lang="en-US" altLang="ko-KR" sz="1400" dirty="0"/>
              <a:t>	text += "7. </a:t>
            </a:r>
            <a:r>
              <a:rPr lang="en-US" altLang="ko-KR" sz="1400" dirty="0" err="1"/>
              <a:t>lastModified</a:t>
            </a:r>
            <a:r>
              <a:rPr lang="en-US" altLang="ko-KR" sz="1400" dirty="0"/>
              <a:t> =" + </a:t>
            </a:r>
            <a:r>
              <a:rPr lang="en-US" altLang="ko-KR" sz="1400" dirty="0" err="1"/>
              <a:t>document.lastModified</a:t>
            </a:r>
            <a:r>
              <a:rPr lang="en-US" altLang="ko-KR" sz="1400" dirty="0"/>
              <a:t> + "\n";</a:t>
            </a:r>
          </a:p>
          <a:p>
            <a:pPr defTabSz="180000"/>
            <a:r>
              <a:rPr lang="en-US" altLang="ko-KR" sz="1400" dirty="0"/>
              <a:t>	text += "8. </a:t>
            </a:r>
            <a:r>
              <a:rPr lang="en-US" altLang="ko-KR" sz="1400" dirty="0" err="1"/>
              <a:t>defaultView</a:t>
            </a:r>
            <a:r>
              <a:rPr lang="en-US" altLang="ko-KR" sz="1400" dirty="0"/>
              <a:t> = " + </a:t>
            </a:r>
            <a:r>
              <a:rPr lang="en-US" altLang="ko-KR" sz="1400" dirty="0" err="1"/>
              <a:t>document.defaultView</a:t>
            </a:r>
            <a:r>
              <a:rPr lang="en-US" altLang="ko-KR" sz="1400" dirty="0"/>
              <a:t> + "\n";</a:t>
            </a:r>
          </a:p>
          <a:p>
            <a:pPr defTabSz="180000"/>
            <a:r>
              <a:rPr lang="en-US" altLang="ko-KR" sz="1400" dirty="0"/>
              <a:t>	text += "9. </a:t>
            </a:r>
            <a:r>
              <a:rPr lang="ko-KR" altLang="en-US" sz="1400" dirty="0"/>
              <a:t>문서의 로드 완료 후 </a:t>
            </a:r>
            <a:r>
              <a:rPr lang="en-US" altLang="ko-KR" sz="1400" dirty="0" err="1"/>
              <a:t>readyState</a:t>
            </a:r>
            <a:r>
              <a:rPr lang="en-US" altLang="ko-KR" sz="1400" dirty="0"/>
              <a:t> = " + </a:t>
            </a:r>
            <a:r>
              <a:rPr lang="en-US" altLang="ko-KR" sz="1400" dirty="0" err="1"/>
              <a:t>document.readyState</a:t>
            </a:r>
            <a:r>
              <a:rPr lang="en-US" altLang="ko-KR" sz="1400" dirty="0"/>
              <a:t> + "\n";</a:t>
            </a:r>
          </a:p>
          <a:p>
            <a:pPr defTabSz="180000"/>
            <a:r>
              <a:rPr lang="pt-BR" altLang="ko-KR" sz="1400" dirty="0"/>
              <a:t>	text += "10. referrer = " + document.referrer + "\n";</a:t>
            </a:r>
          </a:p>
          <a:p>
            <a:pPr defTabSz="180000"/>
            <a:r>
              <a:rPr lang="fr-FR" altLang="ko-KR" sz="1400" dirty="0"/>
              <a:t>	text += "11. activeElement = " + document.activeElement.value + "\n";</a:t>
            </a:r>
          </a:p>
          <a:p>
            <a:pPr defTabSz="180000"/>
            <a:r>
              <a:rPr lang="en-US" altLang="ko-KR" sz="1400" dirty="0"/>
              <a:t>	text += "12. </a:t>
            </a:r>
            <a:r>
              <a:rPr lang="en-US" altLang="ko-KR" sz="1400" dirty="0" err="1"/>
              <a:t>documentElement</a:t>
            </a:r>
            <a:r>
              <a:rPr lang="ko-KR" altLang="en-US" sz="1400" dirty="0"/>
              <a:t>의 태그 이름 </a:t>
            </a:r>
            <a:r>
              <a:rPr lang="en-US" altLang="ko-KR" sz="1400" dirty="0"/>
              <a:t>= "</a:t>
            </a:r>
            <a:r>
              <a:rPr lang="ko-KR" altLang="en-US" sz="1400" dirty="0"/>
              <a:t> </a:t>
            </a:r>
            <a:r>
              <a:rPr lang="en-US" altLang="ko-KR" sz="1400" dirty="0"/>
              <a:t>+ </a:t>
            </a:r>
            <a:r>
              <a:rPr lang="en-US" altLang="ko-KR" sz="1400" dirty="0" err="1"/>
              <a:t>document.documentElement.tagName</a:t>
            </a:r>
            <a:r>
              <a:rPr lang="en-US" altLang="ko-KR" sz="1400" dirty="0"/>
              <a:t> + "\n";</a:t>
            </a:r>
          </a:p>
          <a:p>
            <a:pPr defTabSz="180000"/>
            <a:r>
              <a:rPr lang="en-US" altLang="ko-KR" sz="1400" dirty="0"/>
              <a:t>	alert(text);</a:t>
            </a:r>
          </a:p>
          <a:p>
            <a:pPr defTabSz="180000"/>
            <a:r>
              <a:rPr lang="en-US" altLang="ko-KR" sz="1400" dirty="0"/>
              <a:t>}</a:t>
            </a:r>
          </a:p>
          <a:p>
            <a:pPr defTabSz="180000"/>
            <a:r>
              <a:rPr lang="en-US" altLang="ko-KR" sz="1400" dirty="0"/>
              <a:t>&lt;/script&gt;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572856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>
            <a:extLst>
              <a:ext uri="{FF2B5EF4-FFF2-40B4-BE49-F238E27FC236}">
                <a16:creationId xmlns:a16="http://schemas.microsoft.com/office/drawing/2014/main" id="{CE1DF4F2-559F-416A-B700-08CD45A32B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959" y="1405502"/>
            <a:ext cx="4358581" cy="375169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CC81BCC-8E21-4A4F-A33D-FC28954A1A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3955" y="1819458"/>
            <a:ext cx="3275780" cy="254643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8-5 document </a:t>
            </a:r>
            <a:r>
              <a:rPr lang="ko-KR" altLang="en-US" dirty="0"/>
              <a:t>객체의 </a:t>
            </a:r>
            <a:r>
              <a:rPr lang="ko-KR" altLang="en-US" dirty="0" err="1"/>
              <a:t>프로퍼티</a:t>
            </a:r>
            <a:r>
              <a:rPr lang="ko-KR" altLang="en-US" dirty="0"/>
              <a:t> 출력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032400" y="2005965"/>
            <a:ext cx="614271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로드 후</a:t>
            </a:r>
            <a:endParaRPr lang="en-US" altLang="ko-KR" sz="1000" dirty="0"/>
          </a:p>
          <a:p>
            <a:r>
              <a:rPr lang="ko-KR" altLang="en-US" sz="1000" dirty="0"/>
              <a:t>경고 창</a:t>
            </a:r>
            <a:endParaRPr lang="en-US" altLang="ko-KR" sz="1000" dirty="0"/>
          </a:p>
          <a:p>
            <a:r>
              <a:rPr lang="ko-KR" altLang="en-US" sz="1000" dirty="0"/>
              <a:t>출력</a:t>
            </a:r>
            <a:endParaRPr lang="en-US" altLang="ko-KR" sz="1000" dirty="0"/>
          </a:p>
        </p:txBody>
      </p:sp>
      <p:sp>
        <p:nvSpPr>
          <p:cNvPr id="12" name="TextBox 11"/>
          <p:cNvSpPr txBox="1"/>
          <p:nvPr/>
        </p:nvSpPr>
        <p:spPr>
          <a:xfrm>
            <a:off x="6160592" y="5426304"/>
            <a:ext cx="4016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/>
              <a:t>경고창에</a:t>
            </a:r>
            <a:r>
              <a:rPr lang="ko-KR" altLang="en-US" sz="1400" dirty="0"/>
              <a:t> </a:t>
            </a:r>
            <a:r>
              <a:rPr lang="en-US" altLang="ko-KR" sz="1400" dirty="0"/>
              <a:t>document </a:t>
            </a:r>
            <a:r>
              <a:rPr lang="ko-KR" altLang="en-US" sz="1400" dirty="0"/>
              <a:t>객체의 주요 </a:t>
            </a:r>
            <a:r>
              <a:rPr lang="ko-KR" altLang="en-US" sz="1400" dirty="0" err="1"/>
              <a:t>프로퍼티</a:t>
            </a:r>
            <a:r>
              <a:rPr lang="ko-KR" altLang="en-US" sz="1400" dirty="0"/>
              <a:t> 출력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09791" y="4511923"/>
            <a:ext cx="1822113" cy="510778"/>
          </a:xfrm>
          <a:prstGeom prst="wedgeRoundRectCallout">
            <a:avLst>
              <a:gd name="adj1" fmla="val 42872"/>
              <a:gd name="adj2" fmla="val -18109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커서가 깜박이고 있음</a:t>
            </a:r>
            <a:r>
              <a:rPr lang="en-US" altLang="ko-KR" sz="1200" dirty="0"/>
              <a:t>.</a:t>
            </a:r>
          </a:p>
          <a:p>
            <a:r>
              <a:rPr lang="ko-KR" altLang="en-US" sz="1200" dirty="0"/>
              <a:t>포커스가 있다는 뜻</a:t>
            </a:r>
          </a:p>
        </p:txBody>
      </p:sp>
      <p:sp>
        <p:nvSpPr>
          <p:cNvPr id="8" name="자유형 7"/>
          <p:cNvSpPr/>
          <p:nvPr/>
        </p:nvSpPr>
        <p:spPr>
          <a:xfrm>
            <a:off x="4946369" y="2557126"/>
            <a:ext cx="823494" cy="524591"/>
          </a:xfrm>
          <a:custGeom>
            <a:avLst/>
            <a:gdLst>
              <a:gd name="connsiteX0" fmla="*/ 0 w 823494"/>
              <a:gd name="connsiteY0" fmla="*/ 524042 h 524591"/>
              <a:gd name="connsiteX1" fmla="*/ 385010 w 823494"/>
              <a:gd name="connsiteY1" fmla="*/ 454526 h 524591"/>
              <a:gd name="connsiteX2" fmla="*/ 518694 w 823494"/>
              <a:gd name="connsiteY2" fmla="*/ 85558 h 524591"/>
              <a:gd name="connsiteX3" fmla="*/ 823494 w 823494"/>
              <a:gd name="connsiteY3" fmla="*/ 0 h 5245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494" h="524591">
                <a:moveTo>
                  <a:pt x="0" y="524042"/>
                </a:moveTo>
                <a:cubicBezTo>
                  <a:pt x="149280" y="525824"/>
                  <a:pt x="298561" y="527607"/>
                  <a:pt x="385010" y="454526"/>
                </a:cubicBezTo>
                <a:cubicBezTo>
                  <a:pt x="471459" y="381445"/>
                  <a:pt x="445613" y="161312"/>
                  <a:pt x="518694" y="85558"/>
                </a:cubicBezTo>
                <a:cubicBezTo>
                  <a:pt x="591775" y="9804"/>
                  <a:pt x="741501" y="14260"/>
                  <a:pt x="823494" y="0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D30D4307-4959-43BF-8E8E-B737D137C734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65251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DOM </a:t>
            </a:r>
            <a:r>
              <a:rPr lang="ko-KR" altLang="en-US" dirty="0" err="1"/>
              <a:t>트리에서</a:t>
            </a:r>
            <a:r>
              <a:rPr lang="ko-KR" altLang="en-US" dirty="0"/>
              <a:t> </a:t>
            </a:r>
            <a:r>
              <a:rPr lang="en-US" altLang="ko-KR" dirty="0"/>
              <a:t>DOM </a:t>
            </a:r>
            <a:r>
              <a:rPr lang="ko-KR" altLang="en-US" dirty="0"/>
              <a:t>객체 찾기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ko-KR" altLang="en-US" dirty="0"/>
              <a:t>태그 이름으로 찾기</a:t>
            </a:r>
          </a:p>
          <a:p>
            <a:pPr lvl="1"/>
            <a:r>
              <a:rPr lang="en-US" altLang="ko-KR" dirty="0" err="1"/>
              <a:t>document.getElementsByTagName</a:t>
            </a:r>
            <a:r>
              <a:rPr lang="en-US" altLang="ko-KR" dirty="0"/>
              <a:t>()</a:t>
            </a:r>
          </a:p>
          <a:p>
            <a:pPr lvl="2"/>
            <a:r>
              <a:rPr lang="ko-KR" altLang="en-US" u="sng" dirty="0"/>
              <a:t>태그 이름이</a:t>
            </a:r>
            <a:r>
              <a:rPr lang="en-US" altLang="ko-KR" u="sng" dirty="0"/>
              <a:t> </a:t>
            </a:r>
            <a:r>
              <a:rPr lang="ko-KR" altLang="en-US" u="sng" dirty="0"/>
              <a:t>같은 모든 </a:t>
            </a:r>
            <a:r>
              <a:rPr lang="en-US" altLang="ko-KR" u="sng" dirty="0"/>
              <a:t>DOM </a:t>
            </a:r>
            <a:r>
              <a:rPr lang="ko-KR" altLang="en-US" u="sng" dirty="0"/>
              <a:t>객체들을 찾아 컬렉션 리턴</a:t>
            </a:r>
            <a:endParaRPr lang="en-US" altLang="ko-KR" u="sng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 &lt;div&gt; </a:t>
            </a:r>
            <a:r>
              <a:rPr lang="ko-KR" altLang="en-US" dirty="0"/>
              <a:t>태그의 모든 </a:t>
            </a:r>
            <a:r>
              <a:rPr lang="en-US" altLang="ko-KR" dirty="0"/>
              <a:t>DOM </a:t>
            </a:r>
            <a:r>
              <a:rPr lang="ko-KR" altLang="en-US" dirty="0"/>
              <a:t>객체 찾기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sz="1000" dirty="0"/>
          </a:p>
          <a:p>
            <a:r>
              <a:rPr lang="en-US" altLang="ko-KR" dirty="0"/>
              <a:t>class </a:t>
            </a:r>
            <a:r>
              <a:rPr lang="ko-KR" altLang="en-US" dirty="0"/>
              <a:t>속성으로 찾기 </a:t>
            </a:r>
            <a:r>
              <a:rPr lang="en-US" altLang="ko-KR" dirty="0"/>
              <a:t>(id</a:t>
            </a:r>
            <a:r>
              <a:rPr lang="ko-KR" altLang="en-US" dirty="0"/>
              <a:t>와 유사하나 유일성의 차이</a:t>
            </a:r>
            <a:r>
              <a:rPr lang="en-US" altLang="ko-KR" dirty="0"/>
              <a:t>, array</a:t>
            </a:r>
            <a:r>
              <a:rPr lang="ko-KR" altLang="en-US" dirty="0"/>
              <a:t>처럼 여러 개 나옴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 err="1"/>
              <a:t>Document.getElementsByClassName</a:t>
            </a:r>
            <a:r>
              <a:rPr lang="en-US" altLang="ko-KR" dirty="0"/>
              <a:t>()</a:t>
            </a:r>
          </a:p>
          <a:p>
            <a:pPr lvl="2"/>
            <a:r>
              <a:rPr lang="en-US" altLang="ko-KR" dirty="0"/>
              <a:t>class </a:t>
            </a:r>
            <a:r>
              <a:rPr lang="ko-KR" altLang="en-US" dirty="0"/>
              <a:t>속성이</a:t>
            </a:r>
            <a:r>
              <a:rPr lang="en-US" altLang="ko-KR" dirty="0"/>
              <a:t> </a:t>
            </a:r>
            <a:r>
              <a:rPr lang="ko-KR" altLang="en-US" dirty="0"/>
              <a:t>같은 모든 </a:t>
            </a:r>
            <a:r>
              <a:rPr lang="en-US" altLang="ko-KR" dirty="0"/>
              <a:t>DOM </a:t>
            </a:r>
            <a:r>
              <a:rPr lang="ko-KR" altLang="en-US" dirty="0"/>
              <a:t>객체들을 찾아 컬렉션 리턴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lvl="2"/>
            <a:endParaRPr lang="en-US" altLang="ko-KR" dirty="0"/>
          </a:p>
          <a:p>
            <a:pPr lvl="1"/>
            <a:endParaRPr lang="ko-KR" altLang="en-US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3071664" y="2924945"/>
            <a:ext cx="574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divTags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document.getElementsByTagName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en-US" altLang="ko-KR" sz="1400" dirty="0"/>
              <a:t>"</a:t>
            </a:r>
            <a:r>
              <a:rPr lang="en-US" altLang="ko-KR" sz="1400" kern="0" dirty="0">
                <a:solidFill>
                  <a:srgbClr val="000000"/>
                </a:solidFill>
                <a:highlight>
                  <a:srgbClr val="FF0000"/>
                </a:highlight>
                <a:latin typeface="+mj-ea"/>
                <a:ea typeface="+mj-ea"/>
              </a:rPr>
              <a:t>div</a:t>
            </a:r>
            <a:r>
              <a:rPr lang="en-US" altLang="ko-KR" sz="1400" dirty="0"/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071664" y="3359499"/>
            <a:ext cx="5742384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n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divTags.length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 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웹 페이지에 있는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&lt;div&gt;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태그의 개수</a:t>
            </a:r>
            <a:endParaRPr lang="en-US" altLang="ko-KR" sz="14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724200" y="5032923"/>
            <a:ext cx="3168352" cy="73866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&lt;div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class=</a:t>
            </a:r>
            <a:r>
              <a:rPr lang="en-US" altLang="ko-KR" sz="1400" dirty="0"/>
              <a:t>"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plain</a:t>
            </a:r>
            <a:r>
              <a:rPr lang="en-US" altLang="ko-KR" sz="1400" dirty="0"/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&gt;...&lt;/div&gt;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&lt;div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class=</a:t>
            </a:r>
            <a:r>
              <a:rPr lang="en-US" altLang="ko-KR" sz="1400" dirty="0"/>
              <a:t>"</a:t>
            </a:r>
            <a:r>
              <a:rPr lang="en-US" altLang="ko-KR" sz="1400" b="1" dirty="0"/>
              <a:t>i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mportant</a:t>
            </a:r>
            <a:r>
              <a:rPr lang="en-US" altLang="ko-KR" sz="1400" dirty="0"/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&gt;...&lt;/div&gt;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&lt;div 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class=</a:t>
            </a:r>
            <a:r>
              <a:rPr lang="en-US" altLang="ko-KR" sz="1400" dirty="0"/>
              <a:t>"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plain</a:t>
            </a:r>
            <a:r>
              <a:rPr lang="en-US" altLang="ko-KR" sz="1400" dirty="0"/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&gt;...&lt;/div&gt;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711624" y="6001479"/>
            <a:ext cx="7704856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plainClasses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document.getElementsByClassName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en-US" altLang="ko-KR" sz="1400" dirty="0"/>
              <a:t>"</a:t>
            </a:r>
            <a:r>
              <a:rPr lang="en-US" altLang="ko-KR" sz="1400" b="1" kern="0" dirty="0">
                <a:solidFill>
                  <a:srgbClr val="000000"/>
                </a:solidFill>
                <a:latin typeface="+mj-ea"/>
                <a:ea typeface="+mj-ea"/>
              </a:rPr>
              <a:t>plain</a:t>
            </a:r>
            <a:r>
              <a:rPr lang="en-US" altLang="ko-KR" sz="1400" dirty="0"/>
              <a:t>"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let n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plainClasses.length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; 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웹 페이지에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class=“plain”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속성을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</a:rPr>
              <a:t>가진 태그의 개수</a:t>
            </a:r>
            <a:endParaRPr lang="en-US" altLang="ko-KR" sz="1400" kern="0" dirty="0">
              <a:solidFill>
                <a:srgbClr val="000000"/>
              </a:solidFill>
              <a:latin typeface="+mj-ea"/>
            </a:endParaRPr>
          </a:p>
        </p:txBody>
      </p:sp>
      <p:sp>
        <p:nvSpPr>
          <p:cNvPr id="9" name="슬라이드 번호 개체 틀 3">
            <a:extLst>
              <a:ext uri="{FF2B5EF4-FFF2-40B4-BE49-F238E27FC236}">
                <a16:creationId xmlns:a16="http://schemas.microsoft.com/office/drawing/2014/main" id="{78F46C80-1D3B-4922-B1B1-79C2D5763138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9501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DF0ADA87-8506-4FB4-AC1E-1AC5A862E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893" y="1484784"/>
            <a:ext cx="2228922" cy="2256610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D0C26D0A-36ED-41E0-9DB4-E164309B87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3419" y="3933057"/>
            <a:ext cx="2228922" cy="2547339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ko-KR" altLang="en-US" sz="2400" dirty="0"/>
              <a:t>예제 </a:t>
            </a:r>
            <a:r>
              <a:rPr lang="en-US" altLang="ko-KR" sz="2400" dirty="0"/>
              <a:t>8-6 </a:t>
            </a:r>
            <a:r>
              <a:rPr lang="en-US" altLang="ko-KR" sz="2400" dirty="0" err="1"/>
              <a:t>태그</a:t>
            </a:r>
            <a:r>
              <a:rPr lang="en-US" altLang="ko-KR" sz="2400" dirty="0"/>
              <a:t> </a:t>
            </a:r>
            <a:r>
              <a:rPr lang="en-US" altLang="ko-KR" sz="2400" dirty="0" err="1"/>
              <a:t>이름으로</a:t>
            </a:r>
            <a:r>
              <a:rPr lang="en-US" altLang="ko-KR" sz="2400" dirty="0"/>
              <a:t> DOM </a:t>
            </a:r>
            <a:r>
              <a:rPr lang="en-US" altLang="ko-KR" sz="2400" dirty="0" err="1"/>
              <a:t>객체</a:t>
            </a:r>
            <a:r>
              <a:rPr lang="en-US" altLang="ko-KR" sz="2400" dirty="0"/>
              <a:t> </a:t>
            </a:r>
            <a:r>
              <a:rPr lang="en-US" altLang="ko-KR" sz="2400" dirty="0" err="1"/>
              <a:t>찾기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getElementsByTagName</a:t>
            </a:r>
            <a:r>
              <a:rPr lang="en-US" altLang="ko-KR" sz="2400" dirty="0"/>
              <a:t>()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23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847528" y="1003411"/>
            <a:ext cx="4695397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</a:t>
            </a:r>
          </a:p>
          <a:p>
            <a:pPr defTabSz="180000"/>
            <a:r>
              <a:rPr lang="en-US" altLang="ko-KR" sz="1200" dirty="0"/>
              <a:t>&lt;title&gt;</a:t>
            </a:r>
            <a:r>
              <a:rPr lang="en-US" altLang="ko-KR" sz="1200" dirty="0" err="1"/>
              <a:t>document.getElementsByTagName</a:t>
            </a:r>
            <a:r>
              <a:rPr lang="en-US" altLang="ko-KR" sz="1200" dirty="0"/>
              <a:t>()&lt;/title&gt;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dirty="0"/>
              <a:t>function change() {</a:t>
            </a:r>
          </a:p>
          <a:p>
            <a:pPr defTabSz="180000"/>
            <a:r>
              <a:rPr lang="en-US" altLang="ko-KR" sz="1200" dirty="0"/>
              <a:t>	let </a:t>
            </a:r>
            <a:r>
              <a:rPr lang="en-US" altLang="ko-KR" sz="1200" dirty="0" err="1"/>
              <a:t>spanArray</a:t>
            </a:r>
            <a:r>
              <a:rPr lang="en-US" altLang="ko-KR" sz="1200" dirty="0"/>
              <a:t> = </a:t>
            </a:r>
            <a:r>
              <a:rPr lang="en-US" altLang="ko-KR" sz="1200" b="1" dirty="0" err="1"/>
              <a:t>document.getElementsByTagName</a:t>
            </a:r>
            <a:r>
              <a:rPr lang="en-US" altLang="ko-KR" sz="1200" b="1" dirty="0"/>
              <a:t>("span");</a:t>
            </a:r>
          </a:p>
          <a:p>
            <a:pPr defTabSz="180000"/>
            <a:r>
              <a:rPr lang="en-US" altLang="ko-KR" sz="1200" dirty="0"/>
              <a:t>	for(let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=0;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&lt;</a:t>
            </a:r>
            <a:r>
              <a:rPr lang="en-US" altLang="ko-KR" sz="1200" dirty="0" err="1"/>
              <a:t>spanArray.length</a:t>
            </a:r>
            <a:r>
              <a:rPr lang="en-US" altLang="ko-KR" sz="1200" dirty="0"/>
              <a:t>; </a:t>
            </a:r>
            <a:r>
              <a:rPr lang="en-US" altLang="ko-KR" sz="1200" dirty="0" err="1"/>
              <a:t>i</a:t>
            </a:r>
            <a:r>
              <a:rPr lang="en-US" altLang="ko-KR" sz="1200" dirty="0"/>
              <a:t>++) {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en-US" altLang="ko-KR" sz="1200" dirty="0" err="1"/>
              <a:t>var</a:t>
            </a:r>
            <a:r>
              <a:rPr lang="en-US" altLang="ko-KR" sz="1200" dirty="0"/>
              <a:t> span = </a:t>
            </a:r>
            <a:r>
              <a:rPr lang="en-US" altLang="ko-KR" sz="1200" dirty="0" err="1"/>
              <a:t>spanArray</a:t>
            </a:r>
            <a:r>
              <a:rPr lang="en-US" altLang="ko-KR" sz="1200" dirty="0"/>
              <a:t>[</a:t>
            </a:r>
            <a:r>
              <a:rPr lang="en-US" altLang="ko-KR" sz="1200" dirty="0" err="1"/>
              <a:t>i</a:t>
            </a:r>
            <a:r>
              <a:rPr lang="en-US" altLang="ko-KR" sz="1200" dirty="0"/>
              <a:t>];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en-US" altLang="ko-KR" sz="1200" dirty="0" err="1"/>
              <a:t>span.style.color</a:t>
            </a:r>
            <a:r>
              <a:rPr lang="en-US" altLang="ko-KR" sz="1200" dirty="0"/>
              <a:t> = "orchid";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en-US" altLang="ko-KR" sz="1200" dirty="0" err="1"/>
              <a:t>span.style.fontSize</a:t>
            </a:r>
            <a:r>
              <a:rPr lang="en-US" altLang="ko-KR" sz="1200" dirty="0"/>
              <a:t> = "20px";</a:t>
            </a:r>
          </a:p>
          <a:p>
            <a:pPr defTabSz="180000"/>
            <a:r>
              <a:rPr lang="en-US" altLang="ko-KR" sz="1200" dirty="0"/>
              <a:t>	}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</a:t>
            </a:r>
            <a:r>
              <a:rPr lang="ko-KR" altLang="en-US" sz="1200" dirty="0"/>
              <a:t>내가 좋아하는 과일</a:t>
            </a:r>
          </a:p>
          <a:p>
            <a:pPr defTabSz="180000"/>
            <a:r>
              <a:rPr lang="en-US" altLang="ko-KR" sz="1200" dirty="0"/>
              <a:t>	&lt;button </a:t>
            </a:r>
            <a:r>
              <a:rPr lang="en-US" altLang="ko-KR" sz="1200" dirty="0" err="1"/>
              <a:t>onclick</a:t>
            </a:r>
            <a:r>
              <a:rPr lang="en-US" altLang="ko-KR" sz="1200" dirty="0"/>
              <a:t>="change()"&gt;</a:t>
            </a:r>
            <a:r>
              <a:rPr lang="ko-KR" altLang="en-US" sz="1200" dirty="0"/>
              <a:t>누르세요</a:t>
            </a:r>
            <a:r>
              <a:rPr lang="en-US" altLang="ko-KR" sz="1200" dirty="0"/>
              <a:t>&lt;/button&gt;</a:t>
            </a:r>
          </a:p>
          <a:p>
            <a:pPr defTabSz="180000"/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ko-KR" altLang="en-US" sz="1200" dirty="0"/>
              <a:t>저는 빨간 </a:t>
            </a:r>
            <a:r>
              <a:rPr lang="en-US" altLang="ko-KR" sz="1200" b="1" dirty="0"/>
              <a:t>&lt;span&gt;</a:t>
            </a:r>
            <a:r>
              <a:rPr lang="ko-KR" altLang="en-US" sz="1200" b="1" dirty="0"/>
              <a:t>사과</a:t>
            </a:r>
            <a:r>
              <a:rPr lang="en-US" altLang="ko-KR" sz="1200" b="1" dirty="0"/>
              <a:t>&lt;/span&gt;</a:t>
            </a:r>
            <a:r>
              <a:rPr lang="ko-KR" altLang="en-US" sz="1200" dirty="0"/>
              <a:t>를 좋아해서</a:t>
            </a:r>
          </a:p>
          <a:p>
            <a:pPr defTabSz="180000"/>
            <a:r>
              <a:rPr lang="ko-KR" altLang="en-US" sz="1200" dirty="0"/>
              <a:t>아침마다 한 개씩 먹고 있어요</a:t>
            </a:r>
            <a:r>
              <a:rPr lang="en-US" altLang="ko-KR" sz="1200" dirty="0"/>
              <a:t>. </a:t>
            </a:r>
            <a:r>
              <a:rPr lang="ko-KR" altLang="en-US" sz="1200" dirty="0"/>
              <a:t>운동할 때는 중간 중간에</a:t>
            </a:r>
          </a:p>
          <a:p>
            <a:pPr defTabSz="180000"/>
            <a:r>
              <a:rPr lang="en-US" altLang="ko-KR" sz="1200" b="1" dirty="0"/>
              <a:t>&lt;span&gt;</a:t>
            </a:r>
            <a:r>
              <a:rPr lang="ko-KR" altLang="en-US" sz="1200" b="1" dirty="0"/>
              <a:t>바나나</a:t>
            </a:r>
            <a:r>
              <a:rPr lang="en-US" altLang="ko-KR" sz="1200" b="1" dirty="0"/>
              <a:t>&lt;/span&gt;</a:t>
            </a:r>
            <a:r>
              <a:rPr lang="ko-KR" altLang="en-US" sz="1200" dirty="0"/>
              <a:t>를 먹지요</a:t>
            </a:r>
            <a:r>
              <a:rPr lang="en-US" altLang="ko-KR" sz="1200" dirty="0"/>
              <a:t>. </a:t>
            </a:r>
            <a:r>
              <a:rPr lang="ko-KR" altLang="en-US" sz="1200" dirty="0"/>
              <a:t>탄수화물 섭취가 빨라</a:t>
            </a:r>
          </a:p>
          <a:p>
            <a:pPr defTabSz="180000"/>
            <a:r>
              <a:rPr lang="ko-KR" altLang="en-US" sz="1200" dirty="0"/>
              <a:t>힘이 납니다</a:t>
            </a:r>
            <a:r>
              <a:rPr lang="en-US" altLang="ko-KR" sz="1200" dirty="0"/>
              <a:t>. </a:t>
            </a:r>
            <a:r>
              <a:rPr lang="ko-KR" altLang="en-US" sz="1200" dirty="0"/>
              <a:t>또한 달콤한 향기를 품은 </a:t>
            </a:r>
            <a:r>
              <a:rPr lang="en-US" altLang="ko-KR" sz="1200" b="1" dirty="0"/>
              <a:t>&lt;span&gt;</a:t>
            </a:r>
            <a:r>
              <a:rPr lang="ko-KR" altLang="en-US" sz="1200" b="1" dirty="0"/>
              <a:t>체리</a:t>
            </a:r>
            <a:r>
              <a:rPr lang="en-US" altLang="ko-KR" sz="1200" b="1" dirty="0"/>
              <a:t>&lt;/span&gt;</a:t>
            </a:r>
            <a:r>
              <a:rPr lang="ko-KR" altLang="en-US" sz="1200" dirty="0"/>
              <a:t>와</a:t>
            </a:r>
          </a:p>
          <a:p>
            <a:pPr defTabSz="180000"/>
            <a:r>
              <a:rPr lang="ko-KR" altLang="en-US" sz="1200" dirty="0"/>
              <a:t>여름 냄새 물씬 나는 </a:t>
            </a:r>
            <a:r>
              <a:rPr lang="en-US" altLang="ko-KR" sz="1200" b="1" dirty="0"/>
              <a:t>&lt;span&gt;</a:t>
            </a:r>
            <a:r>
              <a:rPr lang="ko-KR" altLang="en-US" sz="1200" b="1" dirty="0"/>
              <a:t>자두</a:t>
            </a:r>
            <a:r>
              <a:rPr lang="en-US" altLang="ko-KR" sz="1200" b="1" dirty="0"/>
              <a:t>&lt;/span&gt;</a:t>
            </a:r>
            <a:r>
              <a:rPr lang="ko-KR" altLang="en-US" sz="1200" dirty="0"/>
              <a:t>를 좋아합니다</a:t>
            </a:r>
            <a:r>
              <a:rPr lang="en-US" altLang="ko-KR" sz="1200" dirty="0"/>
              <a:t>.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9120337" y="4293097"/>
            <a:ext cx="546247" cy="272415"/>
          </a:xfrm>
          <a:prstGeom prst="wedgeRoundRectCallout">
            <a:avLst>
              <a:gd name="adj1" fmla="val -76684"/>
              <a:gd name="adj2" fmla="val 67630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/>
              <a:t>클릭</a:t>
            </a:r>
            <a:endParaRPr lang="ko-KR" altLang="en-US" sz="1000" dirty="0"/>
          </a:p>
        </p:txBody>
      </p: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90A429EE-8EE8-4FEA-B2BA-1EED20A8F288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85605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1919537" y="980728"/>
            <a:ext cx="4536504" cy="39703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/>
            <a:r>
              <a:rPr lang="en-US" altLang="ko-KR" sz="1050" dirty="0"/>
              <a:t>&lt;!</a:t>
            </a:r>
            <a:r>
              <a:rPr lang="en-US" altLang="ko-KR" sz="1050" dirty="0" err="1"/>
              <a:t>DOCTYPE</a:t>
            </a:r>
            <a:r>
              <a:rPr lang="en-US" altLang="ko-KR" sz="1050" dirty="0"/>
              <a:t> html&gt;</a:t>
            </a:r>
          </a:p>
          <a:p>
            <a:pPr defTabSz="180000" fontAlgn="base"/>
            <a:r>
              <a:rPr lang="en-US" altLang="ko-KR" sz="1050" dirty="0"/>
              <a:t>&lt;html&gt;</a:t>
            </a:r>
          </a:p>
          <a:p>
            <a:pPr defTabSz="180000" fontAlgn="base"/>
            <a:r>
              <a:rPr lang="en-US" altLang="ko-KR" sz="1050" dirty="0"/>
              <a:t>&lt;head&gt;</a:t>
            </a:r>
          </a:p>
          <a:p>
            <a:pPr defTabSz="180000" fontAlgn="base"/>
            <a:r>
              <a:rPr lang="en-US" altLang="ko-KR" sz="1050" dirty="0"/>
              <a:t>&lt;meta charset="</a:t>
            </a:r>
            <a:r>
              <a:rPr lang="en-US" altLang="ko-KR" sz="1050" dirty="0" err="1"/>
              <a:t>utf</a:t>
            </a:r>
            <a:r>
              <a:rPr lang="en-US" altLang="ko-KR" sz="1050" dirty="0"/>
              <a:t>-8"&gt;</a:t>
            </a:r>
          </a:p>
          <a:p>
            <a:pPr defTabSz="180000" fontAlgn="base"/>
            <a:r>
              <a:rPr lang="en-US" altLang="ko-KR" sz="1050" dirty="0"/>
              <a:t>&lt;title&gt;</a:t>
            </a:r>
            <a:r>
              <a:rPr lang="en-US" altLang="ko-KR" sz="1050" dirty="0" err="1"/>
              <a:t>document.getElementsByClassName</a:t>
            </a:r>
            <a:r>
              <a:rPr lang="en-US" altLang="ko-KR" sz="1050" dirty="0"/>
              <a:t>()&lt;/title&gt;</a:t>
            </a:r>
          </a:p>
          <a:p>
            <a:pPr defTabSz="180000" fontAlgn="base"/>
            <a:r>
              <a:rPr lang="en-US" altLang="ko-KR" sz="1050" dirty="0"/>
              <a:t>&lt;script&gt;</a:t>
            </a:r>
          </a:p>
          <a:p>
            <a:pPr defTabSz="180000" fontAlgn="base"/>
            <a:r>
              <a:rPr lang="en-US" altLang="ko-KR" sz="1050" dirty="0"/>
              <a:t>function </a:t>
            </a:r>
            <a:r>
              <a:rPr lang="en-US" altLang="ko-KR" sz="1050" dirty="0" err="1"/>
              <a:t>viewPlace</a:t>
            </a:r>
            <a:r>
              <a:rPr lang="en-US" altLang="ko-KR" sz="1050" dirty="0"/>
              <a:t>() {</a:t>
            </a:r>
          </a:p>
          <a:p>
            <a:pPr defTabSz="180000" fontAlgn="base"/>
            <a:r>
              <a:rPr lang="en-US" altLang="ko-KR" sz="1050" dirty="0"/>
              <a:t>	let </a:t>
            </a:r>
            <a:r>
              <a:rPr lang="en-US" altLang="ko-KR" sz="1050" dirty="0" err="1"/>
              <a:t>tagArray</a:t>
            </a:r>
            <a:r>
              <a:rPr lang="en-US" altLang="ko-KR" sz="1050" dirty="0"/>
              <a:t> = </a:t>
            </a:r>
            <a:r>
              <a:rPr lang="en-US" altLang="ko-KR" sz="1050" b="1" dirty="0" err="1"/>
              <a:t>document.getElementsByClassName</a:t>
            </a:r>
            <a:r>
              <a:rPr lang="en-US" altLang="ko-KR" sz="1050" b="1" dirty="0"/>
              <a:t>("place")</a:t>
            </a:r>
            <a:r>
              <a:rPr lang="en-US" altLang="ko-KR" sz="1050" dirty="0"/>
              <a:t>;</a:t>
            </a:r>
          </a:p>
          <a:p>
            <a:pPr defTabSz="180000" fontAlgn="base"/>
            <a:r>
              <a:rPr lang="en-US" altLang="ko-KR" sz="1050" dirty="0"/>
              <a:t>	for(let </a:t>
            </a:r>
            <a:r>
              <a:rPr lang="en-US" altLang="ko-KR" sz="1050" dirty="0" err="1"/>
              <a:t>i</a:t>
            </a:r>
            <a:r>
              <a:rPr lang="en-US" altLang="ko-KR" sz="1050" dirty="0"/>
              <a:t>=0; </a:t>
            </a:r>
            <a:r>
              <a:rPr lang="en-US" altLang="ko-KR" sz="1050" dirty="0" err="1"/>
              <a:t>i</a:t>
            </a:r>
            <a:r>
              <a:rPr lang="en-US" altLang="ko-KR" sz="1050" dirty="0"/>
              <a:t>&lt;</a:t>
            </a:r>
            <a:r>
              <a:rPr lang="en-US" altLang="ko-KR" sz="1050" dirty="0" err="1"/>
              <a:t>tagArray.length</a:t>
            </a:r>
            <a:r>
              <a:rPr lang="en-US" altLang="ko-KR" sz="1050" dirty="0"/>
              <a:t>; </a:t>
            </a:r>
            <a:r>
              <a:rPr lang="en-US" altLang="ko-KR" sz="1050" dirty="0" err="1"/>
              <a:t>i</a:t>
            </a:r>
            <a:r>
              <a:rPr lang="en-US" altLang="ko-KR" sz="1050" dirty="0"/>
              <a:t>++) {</a:t>
            </a:r>
          </a:p>
          <a:p>
            <a:pPr defTabSz="180000" fontAlgn="base"/>
            <a:r>
              <a:rPr lang="en-US" altLang="ko-KR" sz="1050" dirty="0"/>
              <a:t>		let tag = </a:t>
            </a:r>
            <a:r>
              <a:rPr lang="en-US" altLang="ko-KR" sz="1050" dirty="0" err="1"/>
              <a:t>tagArray</a:t>
            </a:r>
            <a:r>
              <a:rPr lang="en-US" altLang="ko-KR" sz="1050" dirty="0"/>
              <a:t>[</a:t>
            </a:r>
            <a:r>
              <a:rPr lang="en-US" altLang="ko-KR" sz="1050" dirty="0" err="1"/>
              <a:t>i</a:t>
            </a:r>
            <a:r>
              <a:rPr lang="en-US" altLang="ko-KR" sz="1050" dirty="0"/>
              <a:t>];</a:t>
            </a:r>
          </a:p>
          <a:p>
            <a:pPr defTabSz="180000" fontAlgn="base"/>
            <a:r>
              <a:rPr lang="en-US" altLang="ko-KR" sz="1050" dirty="0"/>
              <a:t>		</a:t>
            </a:r>
            <a:r>
              <a:rPr lang="en-US" altLang="ko-KR" sz="1050" dirty="0" err="1"/>
              <a:t>tag.style.color</a:t>
            </a:r>
            <a:r>
              <a:rPr lang="en-US" altLang="ko-KR" sz="1050" dirty="0"/>
              <a:t> = "orchid";</a:t>
            </a:r>
          </a:p>
          <a:p>
            <a:pPr defTabSz="180000" fontAlgn="base"/>
            <a:r>
              <a:rPr lang="en-US" altLang="ko-KR" sz="1050" dirty="0"/>
              <a:t>		</a:t>
            </a:r>
            <a:r>
              <a:rPr lang="en-US" altLang="ko-KR" sz="1050" dirty="0" err="1"/>
              <a:t>tag.style.fontSize</a:t>
            </a:r>
            <a:r>
              <a:rPr lang="en-US" altLang="ko-KR" sz="1050" dirty="0"/>
              <a:t> = "</a:t>
            </a:r>
            <a:r>
              <a:rPr lang="en-US" altLang="ko-KR" sz="1050" dirty="0" err="1"/>
              <a:t>20px</a:t>
            </a:r>
            <a:r>
              <a:rPr lang="en-US" altLang="ko-KR" sz="1050" dirty="0"/>
              <a:t>";</a:t>
            </a:r>
          </a:p>
          <a:p>
            <a:pPr defTabSz="180000" fontAlgn="base"/>
            <a:r>
              <a:rPr lang="en-US" altLang="ko-KR" sz="1050" dirty="0"/>
              <a:t>		</a:t>
            </a:r>
            <a:r>
              <a:rPr lang="en-US" altLang="ko-KR" sz="1050" dirty="0" err="1"/>
              <a:t>tag.style.textDecoration</a:t>
            </a:r>
            <a:r>
              <a:rPr lang="en-US" altLang="ko-KR" sz="1050" dirty="0"/>
              <a:t> = "underline";</a:t>
            </a:r>
          </a:p>
          <a:p>
            <a:pPr defTabSz="180000" fontAlgn="base"/>
            <a:r>
              <a:rPr lang="en-US" altLang="ko-KR" sz="1050" dirty="0"/>
              <a:t>	}</a:t>
            </a:r>
          </a:p>
          <a:p>
            <a:pPr defTabSz="180000" fontAlgn="base"/>
            <a:r>
              <a:rPr lang="en-US" altLang="ko-KR" sz="1050" dirty="0"/>
              <a:t>}</a:t>
            </a:r>
          </a:p>
          <a:p>
            <a:pPr defTabSz="180000" fontAlgn="base"/>
            <a:r>
              <a:rPr lang="en-US" altLang="ko-KR" sz="1050" dirty="0"/>
              <a:t>function </a:t>
            </a:r>
            <a:r>
              <a:rPr lang="en-US" altLang="ko-KR" sz="1050" dirty="0" err="1"/>
              <a:t>viewFood</a:t>
            </a:r>
            <a:r>
              <a:rPr lang="en-US" altLang="ko-KR" sz="1050" dirty="0"/>
              <a:t>() {</a:t>
            </a:r>
          </a:p>
          <a:p>
            <a:pPr defTabSz="180000" fontAlgn="base"/>
            <a:r>
              <a:rPr lang="en-US" altLang="ko-KR" sz="1050" dirty="0"/>
              <a:t>	let </a:t>
            </a:r>
            <a:r>
              <a:rPr lang="en-US" altLang="ko-KR" sz="1050" dirty="0" err="1"/>
              <a:t>tagArray</a:t>
            </a:r>
            <a:r>
              <a:rPr lang="en-US" altLang="ko-KR" sz="1050" dirty="0"/>
              <a:t> = </a:t>
            </a:r>
            <a:r>
              <a:rPr lang="en-US" altLang="ko-KR" sz="1050" b="1" dirty="0" err="1"/>
              <a:t>document.getElementsByClassName</a:t>
            </a:r>
            <a:r>
              <a:rPr lang="en-US" altLang="ko-KR" sz="1050" b="1" dirty="0"/>
              <a:t>("food")</a:t>
            </a:r>
            <a:r>
              <a:rPr lang="en-US" altLang="ko-KR" sz="1050" dirty="0"/>
              <a:t>;</a:t>
            </a:r>
          </a:p>
          <a:p>
            <a:pPr defTabSz="180000" fontAlgn="base"/>
            <a:r>
              <a:rPr lang="en-US" altLang="ko-KR" sz="1050" dirty="0"/>
              <a:t>	for(let </a:t>
            </a:r>
            <a:r>
              <a:rPr lang="en-US" altLang="ko-KR" sz="1050" dirty="0" err="1"/>
              <a:t>i</a:t>
            </a:r>
            <a:r>
              <a:rPr lang="en-US" altLang="ko-KR" sz="1050" dirty="0"/>
              <a:t>=0; </a:t>
            </a:r>
            <a:r>
              <a:rPr lang="en-US" altLang="ko-KR" sz="1050" dirty="0" err="1"/>
              <a:t>i</a:t>
            </a:r>
            <a:r>
              <a:rPr lang="en-US" altLang="ko-KR" sz="1050" dirty="0"/>
              <a:t>&lt;</a:t>
            </a:r>
            <a:r>
              <a:rPr lang="en-US" altLang="ko-KR" sz="1050" dirty="0" err="1"/>
              <a:t>tagArray.length</a:t>
            </a:r>
            <a:r>
              <a:rPr lang="en-US" altLang="ko-KR" sz="1050" dirty="0"/>
              <a:t>; </a:t>
            </a:r>
            <a:r>
              <a:rPr lang="en-US" altLang="ko-KR" sz="1050" dirty="0" err="1"/>
              <a:t>i</a:t>
            </a:r>
            <a:r>
              <a:rPr lang="en-US" altLang="ko-KR" sz="1050" dirty="0"/>
              <a:t>++) {</a:t>
            </a:r>
          </a:p>
          <a:p>
            <a:pPr defTabSz="180000" fontAlgn="base"/>
            <a:r>
              <a:rPr lang="en-US" altLang="ko-KR" sz="1050" dirty="0"/>
              <a:t>		</a:t>
            </a:r>
            <a:r>
              <a:rPr lang="en-US" altLang="ko-KR" sz="1050" dirty="0" err="1"/>
              <a:t>var</a:t>
            </a:r>
            <a:r>
              <a:rPr lang="en-US" altLang="ko-KR" sz="1050" dirty="0"/>
              <a:t> tag = </a:t>
            </a:r>
            <a:r>
              <a:rPr lang="en-US" altLang="ko-KR" sz="1050" dirty="0" err="1"/>
              <a:t>tagArray</a:t>
            </a:r>
            <a:r>
              <a:rPr lang="en-US" altLang="ko-KR" sz="1050" dirty="0"/>
              <a:t>[</a:t>
            </a:r>
            <a:r>
              <a:rPr lang="en-US" altLang="ko-KR" sz="1050" dirty="0" err="1"/>
              <a:t>i</a:t>
            </a:r>
            <a:r>
              <a:rPr lang="en-US" altLang="ko-KR" sz="1050" dirty="0"/>
              <a:t>];</a:t>
            </a:r>
          </a:p>
          <a:p>
            <a:pPr defTabSz="180000" fontAlgn="base"/>
            <a:r>
              <a:rPr lang="en-US" altLang="ko-KR" sz="1050" dirty="0"/>
              <a:t>		</a:t>
            </a:r>
            <a:r>
              <a:rPr lang="en-US" altLang="ko-KR" sz="1050" dirty="0" err="1"/>
              <a:t>tag.style.color</a:t>
            </a:r>
            <a:r>
              <a:rPr lang="en-US" altLang="ko-KR" sz="1050" dirty="0"/>
              <a:t> = "</a:t>
            </a:r>
            <a:r>
              <a:rPr lang="en-US" altLang="ko-KR" sz="1050" dirty="0" err="1"/>
              <a:t>darkcyan</a:t>
            </a:r>
            <a:r>
              <a:rPr lang="en-US" altLang="ko-KR" sz="1050" dirty="0"/>
              <a:t>";</a:t>
            </a:r>
          </a:p>
          <a:p>
            <a:pPr defTabSz="180000" fontAlgn="base"/>
            <a:r>
              <a:rPr lang="en-US" altLang="ko-KR" sz="1050" dirty="0"/>
              <a:t>	}</a:t>
            </a:r>
          </a:p>
          <a:p>
            <a:pPr defTabSz="180000" fontAlgn="base"/>
            <a:r>
              <a:rPr lang="en-US" altLang="ko-KR" sz="1050" dirty="0"/>
              <a:t>}</a:t>
            </a:r>
          </a:p>
          <a:p>
            <a:pPr defTabSz="180000" fontAlgn="base"/>
            <a:r>
              <a:rPr lang="en-US" altLang="ko-KR" sz="1050" dirty="0"/>
              <a:t>&lt;/script&gt;</a:t>
            </a:r>
          </a:p>
          <a:p>
            <a:pPr defTabSz="180000" fontAlgn="base"/>
            <a:r>
              <a:rPr lang="en-US" altLang="ko-KR" sz="1050" dirty="0"/>
              <a:t>&lt;/head&gt;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6168008" y="1052737"/>
            <a:ext cx="3960440" cy="235449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 fontAlgn="base"/>
            <a:r>
              <a:rPr lang="en-US" altLang="ko-KR" sz="1050" dirty="0"/>
              <a:t>&lt;body&gt;</a:t>
            </a:r>
          </a:p>
          <a:p>
            <a:pPr defTabSz="180000" fontAlgn="base"/>
            <a:r>
              <a:rPr lang="en-US" altLang="ko-KR" sz="1050" dirty="0"/>
              <a:t>&lt;</a:t>
            </a:r>
            <a:r>
              <a:rPr lang="en-US" altLang="ko-KR" sz="1050" dirty="0" err="1"/>
              <a:t>h3</a:t>
            </a:r>
            <a:r>
              <a:rPr lang="en-US" altLang="ko-KR" sz="1050" dirty="0"/>
              <a:t>&gt;</a:t>
            </a:r>
            <a:r>
              <a:rPr lang="ko-KR" altLang="en-US" sz="1050" dirty="0"/>
              <a:t>가고 싶은 곳 먹고 싶은 것</a:t>
            </a:r>
            <a:r>
              <a:rPr lang="en-US" altLang="ko-KR" sz="1050" dirty="0"/>
              <a:t>&lt;/</a:t>
            </a:r>
            <a:r>
              <a:rPr lang="en-US" altLang="ko-KR" sz="1050" dirty="0" err="1"/>
              <a:t>h3</a:t>
            </a:r>
            <a:r>
              <a:rPr lang="en-US" altLang="ko-KR" sz="1050" dirty="0"/>
              <a:t>&gt;&lt;</a:t>
            </a:r>
            <a:r>
              <a:rPr lang="en-US" altLang="ko-KR" sz="1050" dirty="0" err="1"/>
              <a:t>br</a:t>
            </a:r>
            <a:r>
              <a:rPr lang="en-US" altLang="ko-KR" sz="1050" dirty="0"/>
              <a:t>&gt;</a:t>
            </a:r>
          </a:p>
          <a:p>
            <a:pPr defTabSz="180000" fontAlgn="base"/>
            <a:r>
              <a:rPr lang="en-US" altLang="ko-KR" sz="1050" dirty="0"/>
              <a:t>	&lt;button </a:t>
            </a:r>
            <a:r>
              <a:rPr lang="en-US" altLang="ko-KR" sz="1050" b="1" dirty="0" err="1"/>
              <a:t>onclick</a:t>
            </a:r>
            <a:r>
              <a:rPr lang="en-US" altLang="ko-KR" sz="1050" b="1" dirty="0"/>
              <a:t>="</a:t>
            </a:r>
            <a:r>
              <a:rPr lang="en-US" altLang="ko-KR" sz="1050" b="1" dirty="0" err="1"/>
              <a:t>viewPlace</a:t>
            </a:r>
            <a:r>
              <a:rPr lang="en-US" altLang="ko-KR" sz="1050" b="1" dirty="0"/>
              <a:t>()</a:t>
            </a:r>
            <a:r>
              <a:rPr lang="en-US" altLang="ko-KR" sz="1050" dirty="0"/>
              <a:t>"&gt;</a:t>
            </a:r>
            <a:r>
              <a:rPr lang="ko-KR" altLang="en-US" sz="1050" dirty="0"/>
              <a:t>가고 싶은 곳</a:t>
            </a:r>
            <a:r>
              <a:rPr lang="en-US" altLang="ko-KR" sz="1050" dirty="0"/>
              <a:t>&lt;/button&gt;</a:t>
            </a:r>
          </a:p>
          <a:p>
            <a:pPr defTabSz="180000" fontAlgn="base"/>
            <a:r>
              <a:rPr lang="en-US" altLang="ko-KR" sz="1050" dirty="0"/>
              <a:t>	&lt;button </a:t>
            </a:r>
            <a:r>
              <a:rPr lang="en-US" altLang="ko-KR" sz="1050" b="1" dirty="0" err="1"/>
              <a:t>onclick</a:t>
            </a:r>
            <a:r>
              <a:rPr lang="en-US" altLang="ko-KR" sz="1050" b="1" dirty="0"/>
              <a:t>="</a:t>
            </a:r>
            <a:r>
              <a:rPr lang="en-US" altLang="ko-KR" sz="1050" b="1" dirty="0" err="1"/>
              <a:t>viewFood</a:t>
            </a:r>
            <a:r>
              <a:rPr lang="en-US" altLang="ko-KR" sz="1050" b="1" dirty="0"/>
              <a:t>()</a:t>
            </a:r>
            <a:r>
              <a:rPr lang="en-US" altLang="ko-KR" sz="1050" dirty="0"/>
              <a:t>"&gt;</a:t>
            </a:r>
            <a:r>
              <a:rPr lang="ko-KR" altLang="en-US" sz="1050" dirty="0"/>
              <a:t>먹고 싶은 것</a:t>
            </a:r>
            <a:r>
              <a:rPr lang="en-US" altLang="ko-KR" sz="1050" dirty="0"/>
              <a:t>&lt;/button&gt;</a:t>
            </a:r>
          </a:p>
          <a:p>
            <a:pPr defTabSz="180000" fontAlgn="base"/>
            <a:r>
              <a:rPr lang="en-US" altLang="ko-KR" sz="1050" dirty="0"/>
              <a:t>&lt;/</a:t>
            </a:r>
            <a:r>
              <a:rPr lang="en-US" altLang="ko-KR" sz="1050" dirty="0" err="1"/>
              <a:t>h3</a:t>
            </a:r>
            <a:r>
              <a:rPr lang="en-US" altLang="ko-KR" sz="1050" dirty="0"/>
              <a:t>&gt;</a:t>
            </a:r>
          </a:p>
          <a:p>
            <a:pPr defTabSz="180000" fontAlgn="base"/>
            <a:r>
              <a:rPr lang="en-US" altLang="ko-KR" sz="1050" dirty="0"/>
              <a:t>&lt;</a:t>
            </a:r>
            <a:r>
              <a:rPr lang="en-US" altLang="ko-KR" sz="1050" dirty="0" err="1"/>
              <a:t>hr</a:t>
            </a:r>
            <a:r>
              <a:rPr lang="en-US" altLang="ko-KR" sz="1050" dirty="0"/>
              <a:t>&gt;</a:t>
            </a:r>
          </a:p>
          <a:p>
            <a:pPr defTabSz="180000" fontAlgn="base"/>
            <a:r>
              <a:rPr lang="en-US" altLang="ko-KR" sz="1050" dirty="0"/>
              <a:t>&lt;p&gt;</a:t>
            </a:r>
            <a:r>
              <a:rPr lang="en-US" altLang="ko-KR" sz="1050" b="1" dirty="0"/>
              <a:t>&lt;span class="place"&gt;</a:t>
            </a:r>
            <a:r>
              <a:rPr lang="ko-KR" altLang="en-US" sz="1050" b="1" dirty="0"/>
              <a:t>제주도</a:t>
            </a:r>
            <a:r>
              <a:rPr lang="en-US" altLang="ko-KR" sz="1050" b="1" dirty="0"/>
              <a:t>&lt;/span&gt;</a:t>
            </a:r>
            <a:r>
              <a:rPr lang="ko-KR" altLang="en-US" sz="1050" dirty="0"/>
              <a:t>에 가서 </a:t>
            </a:r>
            <a:r>
              <a:rPr lang="en-US" altLang="ko-KR" sz="1050" b="1" dirty="0"/>
              <a:t>&lt;span class="food"&gt;</a:t>
            </a:r>
            <a:r>
              <a:rPr lang="ko-KR" altLang="en-US" sz="1050" b="1" dirty="0" err="1"/>
              <a:t>흑돼지</a:t>
            </a:r>
            <a:r>
              <a:rPr lang="en-US" altLang="ko-KR" sz="1050" b="1" dirty="0"/>
              <a:t>&lt;/span&gt;</a:t>
            </a:r>
            <a:r>
              <a:rPr lang="ko-KR" altLang="en-US" sz="1050" dirty="0"/>
              <a:t>를 먹고 싶고요</a:t>
            </a:r>
            <a:r>
              <a:rPr lang="en-US" altLang="ko-KR" sz="1050" dirty="0"/>
              <a:t>.</a:t>
            </a:r>
            <a:endParaRPr lang="ko-KR" altLang="en-US" sz="1050" dirty="0"/>
          </a:p>
          <a:p>
            <a:pPr defTabSz="180000" fontAlgn="base"/>
            <a:r>
              <a:rPr lang="en-US" altLang="ko-KR" sz="1050" b="1" dirty="0"/>
              <a:t>&lt;span class="place"&gt;</a:t>
            </a:r>
            <a:r>
              <a:rPr lang="ko-KR" altLang="en-US" sz="1050" b="1" dirty="0"/>
              <a:t>독도</a:t>
            </a:r>
            <a:r>
              <a:rPr lang="en-US" altLang="ko-KR" sz="1050" b="1" dirty="0"/>
              <a:t>&lt;/span&gt;</a:t>
            </a:r>
            <a:r>
              <a:rPr lang="ko-KR" altLang="en-US" sz="1050" dirty="0"/>
              <a:t>에 가서 </a:t>
            </a:r>
            <a:r>
              <a:rPr lang="en-US" altLang="ko-KR" sz="1050" b="1" dirty="0"/>
              <a:t>&lt;span class="food"&gt;</a:t>
            </a:r>
            <a:r>
              <a:rPr lang="ko-KR" altLang="en-US" sz="1050" b="1" dirty="0"/>
              <a:t>독도 새우</a:t>
            </a:r>
            <a:r>
              <a:rPr lang="en-US" altLang="ko-KR" sz="1050" b="1" dirty="0"/>
              <a:t>&lt;/span&gt;</a:t>
            </a:r>
            <a:r>
              <a:rPr lang="ko-KR" altLang="en-US" sz="1050" dirty="0"/>
              <a:t>도 먹고 싶어요</a:t>
            </a:r>
            <a:r>
              <a:rPr lang="en-US" altLang="ko-KR" sz="1050" dirty="0"/>
              <a:t>. </a:t>
            </a:r>
            <a:r>
              <a:rPr lang="ko-KR" altLang="en-US" sz="1050" dirty="0"/>
              <a:t>제일 가고 싶은 곳 </a:t>
            </a:r>
            <a:r>
              <a:rPr lang="en-US" altLang="ko-KR" sz="1050" b="1" dirty="0"/>
              <a:t>&lt;span class="place"&gt;</a:t>
            </a:r>
            <a:r>
              <a:rPr lang="ko-KR" altLang="en-US" sz="1050" b="1" dirty="0"/>
              <a:t>부산 자갈치 시장</a:t>
            </a:r>
            <a:r>
              <a:rPr lang="en-US" altLang="ko-KR" sz="1050" b="1" dirty="0"/>
              <a:t>&lt;/span&gt;</a:t>
            </a:r>
            <a:r>
              <a:rPr lang="ko-KR" altLang="en-US" sz="1050" dirty="0"/>
              <a:t>에서 </a:t>
            </a:r>
            <a:r>
              <a:rPr lang="en-US" altLang="ko-KR" sz="1050" b="1" dirty="0"/>
              <a:t>&lt;span class="food"&gt;</a:t>
            </a:r>
            <a:r>
              <a:rPr lang="ko-KR" altLang="en-US" sz="1050" b="1" dirty="0" err="1"/>
              <a:t>꼼장어</a:t>
            </a:r>
            <a:r>
              <a:rPr lang="ko-KR" altLang="en-US" sz="1050" b="1" dirty="0"/>
              <a:t> 구이</a:t>
            </a:r>
            <a:r>
              <a:rPr lang="en-US" altLang="ko-KR" sz="1050" b="1" dirty="0"/>
              <a:t>&lt;/span&gt;</a:t>
            </a:r>
            <a:r>
              <a:rPr lang="ko-KR" altLang="en-US" sz="1050" dirty="0"/>
              <a:t>도 먹고 싶어요</a:t>
            </a:r>
            <a:r>
              <a:rPr lang="en-US" altLang="ko-KR" sz="1050" dirty="0"/>
              <a:t>&lt;/p&gt;</a:t>
            </a:r>
          </a:p>
          <a:p>
            <a:pPr defTabSz="180000" fontAlgn="base"/>
            <a:r>
              <a:rPr lang="en-US" altLang="ko-KR" sz="1050" dirty="0"/>
              <a:t>&lt;/body&gt;</a:t>
            </a:r>
          </a:p>
          <a:p>
            <a:pPr defTabSz="180000" fontAlgn="base"/>
            <a:r>
              <a:rPr lang="en-US" altLang="ko-KR" sz="1050" dirty="0"/>
              <a:t>&lt;/html&gt;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5969615-A369-4853-970E-08D6BC74E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538" y="4281028"/>
            <a:ext cx="3528086" cy="2142199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B016DF2-A361-4621-B2BF-5964012B5E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092" y="4284621"/>
            <a:ext cx="3533365" cy="2145403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base"/>
            <a:r>
              <a:rPr lang="ko-KR" altLang="en-US" sz="2400" dirty="0"/>
              <a:t>예제 </a:t>
            </a:r>
            <a:r>
              <a:rPr lang="en-US" altLang="ko-KR" sz="2400" dirty="0"/>
              <a:t>8-7 class </a:t>
            </a:r>
            <a:r>
              <a:rPr lang="ko-KR" altLang="en-US" sz="2400" dirty="0"/>
              <a:t>속성으로 </a:t>
            </a:r>
            <a:r>
              <a:rPr lang="en-US" altLang="ko-KR" sz="2400" dirty="0"/>
              <a:t>DOM </a:t>
            </a:r>
            <a:r>
              <a:rPr lang="ko-KR" altLang="en-US" sz="2400" dirty="0"/>
              <a:t>객체 찾기</a:t>
            </a:r>
            <a:r>
              <a:rPr lang="en-US" altLang="ko-KR" sz="2400" dirty="0"/>
              <a:t>, </a:t>
            </a:r>
            <a:r>
              <a:rPr lang="en-US" altLang="ko-KR" sz="2400" dirty="0" err="1"/>
              <a:t>getElementsByClassName</a:t>
            </a:r>
            <a:r>
              <a:rPr lang="en-US" altLang="ko-KR" sz="2400" dirty="0"/>
              <a:t>()</a:t>
            </a:r>
            <a:br>
              <a:rPr lang="en-US" altLang="ko-KR" sz="2400" dirty="0"/>
            </a:br>
            <a:r>
              <a:rPr lang="en-US" altLang="ko-KR" sz="2400" dirty="0"/>
              <a:t>food class</a:t>
            </a:r>
            <a:r>
              <a:rPr lang="ko-KR" altLang="en-US" sz="2400" dirty="0"/>
              <a:t>와 </a:t>
            </a:r>
            <a:r>
              <a:rPr lang="en-US" altLang="ko-KR" sz="2400" dirty="0"/>
              <a:t>place class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8256241" y="5048830"/>
            <a:ext cx="546247" cy="272415"/>
          </a:xfrm>
          <a:prstGeom prst="wedgeRoundRectCallout">
            <a:avLst>
              <a:gd name="adj1" fmla="val -94076"/>
              <a:gd name="adj2" fmla="val 80395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ko-KR" altLang="en-US" sz="1000"/>
              <a:t>클릭</a:t>
            </a:r>
            <a:endParaRPr lang="ko-KR" altLang="en-US" sz="1000" dirty="0"/>
          </a:p>
        </p:txBody>
      </p:sp>
      <p:sp>
        <p:nvSpPr>
          <p:cNvPr id="10" name="TextBox 9"/>
          <p:cNvSpPr txBox="1"/>
          <p:nvPr/>
        </p:nvSpPr>
        <p:spPr>
          <a:xfrm>
            <a:off x="6139944" y="5079713"/>
            <a:ext cx="546247" cy="272415"/>
          </a:xfrm>
          <a:prstGeom prst="wedgeRoundRectCallout">
            <a:avLst>
              <a:gd name="adj1" fmla="val 63538"/>
              <a:gd name="adj2" fmla="val 9635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 anchor="ctr">
            <a:spAutoFit/>
          </a:bodyPr>
          <a:lstStyle/>
          <a:p>
            <a:r>
              <a:rPr lang="ko-KR" altLang="en-US" sz="1000"/>
              <a:t>클릭</a:t>
            </a:r>
            <a:endParaRPr lang="ko-KR" altLang="en-US" sz="1000" dirty="0"/>
          </a:p>
        </p:txBody>
      </p:sp>
      <p:sp>
        <p:nvSpPr>
          <p:cNvPr id="12" name="슬라이드 번호 개체 틀 3">
            <a:extLst>
              <a:ext uri="{FF2B5EF4-FFF2-40B4-BE49-F238E27FC236}">
                <a16:creationId xmlns:a16="http://schemas.microsoft.com/office/drawing/2014/main" id="{A8B8F44D-53A6-46BA-B759-00E81AF0A47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265187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 err="1"/>
              <a:t>document.write</a:t>
            </a:r>
            <a:r>
              <a:rPr lang="en-US" altLang="ko-KR" dirty="0"/>
              <a:t>()</a:t>
            </a:r>
            <a:r>
              <a:rPr lang="ko-KR" altLang="en-US" dirty="0"/>
              <a:t>와 </a:t>
            </a:r>
            <a:r>
              <a:rPr lang="en-US" altLang="ko-KR" dirty="0" err="1"/>
              <a:t>document.writeln</a:t>
            </a:r>
            <a:r>
              <a:rPr lang="en-US" altLang="ko-KR" dirty="0"/>
              <a:t>()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623392" y="1124744"/>
            <a:ext cx="11130293" cy="5040560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sz="2600" dirty="0"/>
              <a:t>HTML </a:t>
            </a:r>
            <a:r>
              <a:rPr lang="ko-KR" altLang="en-US" sz="2600" dirty="0"/>
              <a:t>페이지 로딩 과정</a:t>
            </a:r>
            <a:endParaRPr lang="en-US" altLang="ko-KR" sz="2600" dirty="0"/>
          </a:p>
          <a:p>
            <a:pPr marL="365760" lvl="1" indent="0">
              <a:buNone/>
            </a:pPr>
            <a:r>
              <a:rPr lang="en-US" altLang="ko-KR" sz="2200" dirty="0"/>
              <a:t>1. </a:t>
            </a:r>
            <a:r>
              <a:rPr lang="ko-KR" altLang="en-US" sz="2200" dirty="0"/>
              <a:t>브라우저는 </a:t>
            </a:r>
            <a:r>
              <a:rPr lang="en-US" altLang="ko-KR" sz="2200" dirty="0"/>
              <a:t>HTML </a:t>
            </a:r>
            <a:r>
              <a:rPr lang="ko-KR" altLang="en-US" sz="2200" dirty="0"/>
              <a:t>페이지 로드 전 빈 상태 </a:t>
            </a:r>
            <a:r>
              <a:rPr lang="en-US" altLang="ko-KR" sz="2200" dirty="0"/>
              <a:t>document </a:t>
            </a:r>
            <a:r>
              <a:rPr lang="ko-KR" altLang="en-US" sz="2200" dirty="0"/>
              <a:t>생성</a:t>
            </a:r>
            <a:endParaRPr lang="en-US" altLang="ko-KR" sz="2200" dirty="0"/>
          </a:p>
          <a:p>
            <a:pPr marL="365760" lvl="1" indent="0">
              <a:buNone/>
            </a:pPr>
            <a:r>
              <a:rPr lang="en-US" altLang="ko-KR" sz="2200" dirty="0"/>
              <a:t>2. </a:t>
            </a:r>
            <a:r>
              <a:rPr lang="ko-KR" altLang="en-US" sz="2200" dirty="0"/>
              <a:t>브라우저는 </a:t>
            </a:r>
            <a:r>
              <a:rPr lang="en-US" altLang="ko-KR" sz="2200" dirty="0"/>
              <a:t>HTML </a:t>
            </a:r>
            <a:r>
              <a:rPr lang="ko-KR" altLang="en-US" sz="2200" dirty="0"/>
              <a:t>페이지를 위에서 아래로 해석</a:t>
            </a:r>
            <a:endParaRPr lang="en-US" altLang="ko-KR" sz="2200" dirty="0"/>
          </a:p>
          <a:p>
            <a:pPr marL="365760" lvl="1" indent="0">
              <a:buNone/>
            </a:pPr>
            <a:r>
              <a:rPr lang="en-US" altLang="ko-KR" sz="2200" dirty="0"/>
              <a:t>3. HTML </a:t>
            </a:r>
            <a:r>
              <a:rPr lang="ko-KR" altLang="en-US" sz="2200" dirty="0"/>
              <a:t>태그들을 </a:t>
            </a:r>
            <a:r>
              <a:rPr lang="en-US" altLang="ko-KR" sz="2200" dirty="0"/>
              <a:t>document </a:t>
            </a:r>
            <a:r>
              <a:rPr lang="ko-KR" altLang="en-US" sz="2200" dirty="0"/>
              <a:t>객체에 담아간다</a:t>
            </a:r>
            <a:r>
              <a:rPr lang="en-US" altLang="ko-KR" sz="2200" dirty="0"/>
              <a:t>(DOM </a:t>
            </a:r>
            <a:r>
              <a:rPr lang="ko-KR" altLang="en-US" sz="2200" dirty="0"/>
              <a:t>객체 생성</a:t>
            </a:r>
            <a:r>
              <a:rPr lang="en-US" altLang="ko-KR" sz="2200" dirty="0"/>
              <a:t>).</a:t>
            </a:r>
          </a:p>
          <a:p>
            <a:pPr marL="365760" lvl="1" indent="0">
              <a:spcAft>
                <a:spcPts val="1200"/>
              </a:spcAft>
              <a:buNone/>
            </a:pPr>
            <a:r>
              <a:rPr lang="en-US" altLang="ko-KR" sz="2200" dirty="0"/>
              <a:t>4. &lt;/html&gt; </a:t>
            </a:r>
            <a:r>
              <a:rPr lang="ko-KR" altLang="en-US" sz="2200" dirty="0"/>
              <a:t>태그를 만나면 </a:t>
            </a:r>
            <a:r>
              <a:rPr lang="en-US" altLang="ko-KR" sz="2200" dirty="0"/>
              <a:t>document </a:t>
            </a:r>
            <a:r>
              <a:rPr lang="ko-KR" altLang="en-US" sz="2200" dirty="0"/>
              <a:t>객체를 완성하고 닫는다</a:t>
            </a:r>
            <a:r>
              <a:rPr lang="en-US" altLang="ko-KR" sz="2200" dirty="0"/>
              <a:t>.</a:t>
            </a:r>
            <a:endParaRPr lang="ko-KR" altLang="en-US" sz="2200" dirty="0"/>
          </a:p>
          <a:p>
            <a:r>
              <a:rPr lang="en-US" altLang="ko-KR" sz="2600" dirty="0"/>
              <a:t>write()</a:t>
            </a:r>
          </a:p>
          <a:p>
            <a:pPr lvl="1"/>
            <a:r>
              <a:rPr lang="en-US" altLang="ko-KR" sz="2200" dirty="0"/>
              <a:t>document </a:t>
            </a:r>
            <a:r>
              <a:rPr lang="ko-KR" altLang="en-US" sz="2200" dirty="0"/>
              <a:t>객체에 담긴 </a:t>
            </a:r>
            <a:r>
              <a:rPr lang="en-US" altLang="ko-KR" sz="2200" dirty="0"/>
              <a:t>HTML </a:t>
            </a:r>
            <a:r>
              <a:rPr lang="ko-KR" altLang="en-US" sz="2200" dirty="0" err="1"/>
              <a:t>콘텐츠</a:t>
            </a:r>
            <a:r>
              <a:rPr lang="ko-KR" altLang="en-US" sz="2200" dirty="0"/>
              <a:t> 마지막에 </a:t>
            </a:r>
            <a:r>
              <a:rPr lang="en-US" altLang="ko-KR" sz="2200" dirty="0"/>
              <a:t>HTML </a:t>
            </a:r>
            <a:r>
              <a:rPr lang="ko-KR" altLang="en-US" sz="2200" dirty="0"/>
              <a:t>태그들을 추가</a:t>
            </a:r>
            <a:endParaRPr lang="en-US" altLang="ko-KR" sz="2200" dirty="0"/>
          </a:p>
          <a:p>
            <a:pPr lvl="2"/>
            <a:r>
              <a:rPr lang="ko-KR" altLang="en-US" sz="1900" dirty="0"/>
              <a:t>추가되는 </a:t>
            </a:r>
            <a:r>
              <a:rPr lang="en-US" altLang="ko-KR" sz="1900" dirty="0"/>
              <a:t>HTML </a:t>
            </a:r>
            <a:r>
              <a:rPr lang="ko-KR" altLang="en-US" sz="1900" dirty="0"/>
              <a:t>태그들은 </a:t>
            </a:r>
            <a:r>
              <a:rPr lang="en-US" altLang="ko-KR" sz="1900" dirty="0"/>
              <a:t>DOM </a:t>
            </a:r>
            <a:r>
              <a:rPr lang="ko-KR" altLang="en-US" sz="1900" dirty="0"/>
              <a:t>객체로 바뀌고 </a:t>
            </a:r>
            <a:r>
              <a:rPr lang="en-US" altLang="ko-KR" sz="1900" dirty="0"/>
              <a:t>DOM </a:t>
            </a:r>
            <a:r>
              <a:rPr lang="ko-KR" altLang="en-US" sz="1900" dirty="0" err="1"/>
              <a:t>트리에</a:t>
            </a:r>
            <a:r>
              <a:rPr lang="ko-KR" altLang="en-US" sz="1900" dirty="0"/>
              <a:t> 추가</a:t>
            </a:r>
            <a:endParaRPr lang="en-US" altLang="ko-KR" sz="1900" dirty="0"/>
          </a:p>
          <a:p>
            <a:pPr lvl="2"/>
            <a:r>
              <a:rPr lang="ko-KR" altLang="en-US" sz="1900" dirty="0"/>
              <a:t>삽입된 </a:t>
            </a:r>
            <a:r>
              <a:rPr lang="en-US" altLang="ko-KR" sz="1900" dirty="0"/>
              <a:t>HTML </a:t>
            </a:r>
            <a:r>
              <a:rPr lang="ko-KR" altLang="en-US" sz="1900" dirty="0"/>
              <a:t>태그들이 브라우저 화면에 출력</a:t>
            </a:r>
            <a:endParaRPr lang="en-US" altLang="ko-KR" sz="1900" dirty="0"/>
          </a:p>
          <a:p>
            <a:pPr lvl="2"/>
            <a:r>
              <a:rPr lang="ko-KR" altLang="en-US" sz="1900" dirty="0"/>
              <a:t>예</a:t>
            </a:r>
            <a:r>
              <a:rPr lang="en-US" altLang="ko-KR" sz="1900" dirty="0"/>
              <a:t>)</a:t>
            </a:r>
          </a:p>
          <a:p>
            <a:pPr lvl="1"/>
            <a:endParaRPr lang="en-US" altLang="ko-KR" sz="1900" dirty="0"/>
          </a:p>
          <a:p>
            <a:pPr lvl="1"/>
            <a:endParaRPr lang="en-US" altLang="ko-KR" sz="1900" dirty="0"/>
          </a:p>
          <a:p>
            <a:pPr lvl="1"/>
            <a:endParaRPr lang="en-US" altLang="ko-KR" sz="1900" dirty="0"/>
          </a:p>
          <a:p>
            <a:r>
              <a:rPr lang="en-US" altLang="ko-KR" sz="2600" dirty="0" err="1"/>
              <a:t>writeln</a:t>
            </a:r>
            <a:r>
              <a:rPr lang="en-US" altLang="ko-KR" sz="2600" dirty="0"/>
              <a:t>()</a:t>
            </a:r>
          </a:p>
          <a:p>
            <a:pPr lvl="1"/>
            <a:r>
              <a:rPr lang="en-US" altLang="ko-KR" sz="2200" dirty="0"/>
              <a:t>HTML </a:t>
            </a:r>
            <a:r>
              <a:rPr lang="ko-KR" altLang="en-US" sz="2200" dirty="0"/>
              <a:t>텍스트에 </a:t>
            </a:r>
            <a:r>
              <a:rPr lang="en-US" altLang="ko-KR" sz="2200" dirty="0">
                <a:highlight>
                  <a:srgbClr val="FFFF00"/>
                </a:highlight>
              </a:rPr>
              <a:t>'\n'</a:t>
            </a:r>
            <a:r>
              <a:rPr lang="ko-KR" altLang="en-US" sz="2200" dirty="0"/>
              <a:t>을 덧붙여 출력</a:t>
            </a:r>
            <a:r>
              <a:rPr lang="en-US" altLang="ko-KR" sz="2200" dirty="0"/>
              <a:t>. </a:t>
            </a:r>
            <a:r>
              <a:rPr lang="ko-KR" altLang="en-US" sz="2200" u="sng" dirty="0"/>
              <a:t>한 칸 띄는 효과</a:t>
            </a:r>
            <a:endParaRPr lang="en-US" altLang="ko-KR" sz="2200" u="sng" dirty="0"/>
          </a:p>
          <a:p>
            <a:pPr lvl="1"/>
            <a:r>
              <a:rPr lang="ko-KR" altLang="en-US" sz="2200" dirty="0" err="1"/>
              <a:t>한줄을</a:t>
            </a:r>
            <a:r>
              <a:rPr lang="ko-KR" altLang="en-US" sz="2200" dirty="0"/>
              <a:t> 띄려면</a:t>
            </a:r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2"/>
            <a:endParaRPr lang="ko-KR" altLang="en-US" dirty="0"/>
          </a:p>
          <a:p>
            <a:pPr lvl="1"/>
            <a:endParaRPr lang="ko-KR" altLang="en-US" dirty="0"/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351584" y="3933056"/>
            <a:ext cx="525658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("&lt;h3&gt;Welcome to my home&lt;/h3&gt;");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(2+3); 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합한 결과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5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출력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("&lt;p&gt;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오늘은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 + "sunny day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입니다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&lt;/p&gt;");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3215680" y="5579367"/>
            <a:ext cx="2353529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("&lt;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br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&gt;");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8DF58FD3-48C8-47B3-84AB-555A49B6E064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80071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4528D243-414C-4C08-AE58-AE0E6B1143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8306" y="2381933"/>
            <a:ext cx="2537475" cy="2816256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8-8 write()</a:t>
            </a:r>
            <a:r>
              <a:rPr lang="ko-KR" altLang="en-US" dirty="0"/>
              <a:t>와 </a:t>
            </a:r>
            <a:r>
              <a:rPr lang="en-US" altLang="ko-KR" dirty="0" err="1"/>
              <a:t>writeln</a:t>
            </a:r>
            <a:r>
              <a:rPr lang="en-US" altLang="ko-KR" dirty="0"/>
              <a:t>() </a:t>
            </a:r>
            <a:r>
              <a:rPr lang="ko-KR" altLang="en-US" dirty="0" err="1"/>
              <a:t>메소드</a:t>
            </a:r>
            <a:r>
              <a:rPr lang="ko-KR" altLang="en-US" dirty="0"/>
              <a:t> 활용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26</a:t>
            </a:fld>
            <a:endParaRPr lang="ko-KR" altLang="en-US" dirty="0"/>
          </a:p>
        </p:txBody>
      </p:sp>
      <p:sp>
        <p:nvSpPr>
          <p:cNvPr id="2" name="직사각형 1"/>
          <p:cNvSpPr/>
          <p:nvPr/>
        </p:nvSpPr>
        <p:spPr>
          <a:xfrm>
            <a:off x="2030232" y="1046736"/>
            <a:ext cx="4929864" cy="461664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400" dirty="0"/>
              <a:t>&lt;!DOCTYPE html&gt;</a:t>
            </a:r>
          </a:p>
          <a:p>
            <a:pPr defTabSz="180000"/>
            <a:r>
              <a:rPr lang="en-US" altLang="ko-KR" sz="1400" dirty="0"/>
              <a:t>&lt;html&gt;</a:t>
            </a:r>
          </a:p>
          <a:p>
            <a:pPr defTabSz="180000"/>
            <a:r>
              <a:rPr lang="en-US" altLang="ko-KR" sz="1400" dirty="0"/>
              <a:t>&lt;head&gt;</a:t>
            </a:r>
          </a:p>
          <a:p>
            <a:pPr defTabSz="180000"/>
            <a:r>
              <a:rPr lang="en-US" altLang="ko-KR" sz="1400" dirty="0"/>
              <a:t>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pPr defTabSz="180000"/>
            <a:r>
              <a:rPr lang="en-US" altLang="ko-KR" sz="1400" dirty="0"/>
              <a:t>&lt;title&gt;write()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writeln</a:t>
            </a:r>
            <a:r>
              <a:rPr lang="en-US" altLang="ko-KR" sz="1400" dirty="0"/>
              <a:t>() </a:t>
            </a:r>
            <a:r>
              <a:rPr lang="ko-KR" altLang="en-US" sz="1400" dirty="0"/>
              <a:t>활용</a:t>
            </a:r>
            <a:r>
              <a:rPr lang="en-US" altLang="ko-KR" sz="1400" dirty="0"/>
              <a:t>&lt;/title&gt;</a:t>
            </a:r>
          </a:p>
          <a:p>
            <a:pPr defTabSz="180000"/>
            <a:r>
              <a:rPr lang="en-US" altLang="ko-KR" sz="1400" dirty="0"/>
              <a:t>&lt;/head&gt;</a:t>
            </a:r>
          </a:p>
          <a:p>
            <a:pPr defTabSz="180000"/>
            <a:r>
              <a:rPr lang="en-US" altLang="ko-KR" sz="1400" dirty="0"/>
              <a:t>&lt;body&gt;</a:t>
            </a:r>
          </a:p>
          <a:p>
            <a:pPr defTabSz="180000"/>
            <a:r>
              <a:rPr lang="en-US" altLang="ko-KR" sz="1400" dirty="0"/>
              <a:t>&lt;h3&gt;write()</a:t>
            </a:r>
            <a:r>
              <a:rPr lang="ko-KR" altLang="en-US" sz="1400" dirty="0"/>
              <a:t>와 </a:t>
            </a:r>
            <a:r>
              <a:rPr lang="en-US" altLang="ko-KR" sz="1400" dirty="0" err="1"/>
              <a:t>writeln</a:t>
            </a:r>
            <a:r>
              <a:rPr lang="en-US" altLang="ko-KR" sz="1400" dirty="0"/>
              <a:t>() </a:t>
            </a:r>
            <a:r>
              <a:rPr lang="ko-KR" altLang="en-US" sz="1400" dirty="0"/>
              <a:t>활용</a:t>
            </a:r>
            <a:r>
              <a:rPr lang="en-US" altLang="ko-KR" sz="1400" dirty="0"/>
              <a:t>&lt;/h3&gt;</a:t>
            </a:r>
          </a:p>
          <a:p>
            <a:pPr defTabSz="180000"/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pPr defTabSz="180000"/>
            <a:r>
              <a:rPr lang="en-US" altLang="ko-KR" sz="1400" dirty="0"/>
              <a:t>&lt;script&gt;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</a:t>
            </a:r>
            <a:r>
              <a:rPr lang="en-US" altLang="ko-KR" sz="1400" dirty="0"/>
              <a:t>("&lt;h3&gt;</a:t>
            </a:r>
            <a:r>
              <a:rPr lang="ko-KR" altLang="en-US" sz="1400" dirty="0"/>
              <a:t>동물원에 </a:t>
            </a:r>
            <a:r>
              <a:rPr lang="ko-KR" altLang="en-US" sz="1400" dirty="0" err="1"/>
              <a:t>소풍갑시다</a:t>
            </a:r>
            <a:r>
              <a:rPr lang="en-US" altLang="ko-KR" sz="1400" dirty="0"/>
              <a:t>&lt;/h3&gt;");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</a:t>
            </a:r>
            <a:r>
              <a:rPr lang="en-US" altLang="ko-KR" sz="1400" dirty="0"/>
              <a:t>("&lt;p style='</a:t>
            </a:r>
            <a:r>
              <a:rPr lang="en-US" altLang="ko-KR" sz="1400" dirty="0" err="1"/>
              <a:t>color:blue</a:t>
            </a:r>
            <a:r>
              <a:rPr lang="en-US" altLang="ko-KR" sz="1400" dirty="0"/>
              <a:t>'&gt;</a:t>
            </a:r>
            <a:r>
              <a:rPr lang="ko-KR" altLang="en-US" sz="1400" dirty="0"/>
              <a:t>날씨가 좋아 </a:t>
            </a:r>
            <a:r>
              <a:rPr lang="en-US" altLang="ko-KR" sz="1400" dirty="0"/>
              <a:t>");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</a:t>
            </a:r>
            <a:r>
              <a:rPr lang="en-US" altLang="ko-KR" sz="1400" dirty="0"/>
              <a:t>("</a:t>
            </a:r>
            <a:r>
              <a:rPr lang="ko-KR" altLang="en-US" sz="1400" dirty="0" err="1"/>
              <a:t>소풍갑니다</a:t>
            </a:r>
            <a:r>
              <a:rPr lang="en-US" altLang="ko-KR" sz="1400" dirty="0"/>
              <a:t>&lt;/p&gt;");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</a:t>
            </a:r>
            <a:r>
              <a:rPr lang="en-US" altLang="ko-KR" sz="1400" dirty="0"/>
              <a:t>(2+3);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</a:t>
            </a:r>
            <a:r>
              <a:rPr lang="en-US" altLang="ko-KR" sz="1400" dirty="0"/>
              <a:t>("</a:t>
            </a:r>
            <a:r>
              <a:rPr lang="ko-KR" altLang="en-US" sz="1400" dirty="0"/>
              <a:t>명입니다</a:t>
            </a:r>
            <a:r>
              <a:rPr lang="en-US" altLang="ko-KR" sz="1400" dirty="0"/>
              <a:t>.&lt;</a:t>
            </a:r>
            <a:r>
              <a:rPr lang="en-US" altLang="ko-KR" sz="1400" dirty="0" err="1"/>
              <a:t>br</a:t>
            </a:r>
            <a:r>
              <a:rPr lang="en-US" altLang="ko-KR" sz="1400" dirty="0"/>
              <a:t>&gt;"); // </a:t>
            </a:r>
            <a:r>
              <a:rPr lang="ko-KR" altLang="en-US" sz="1400" dirty="0"/>
              <a:t>다음 줄로 넘어가기</a:t>
            </a:r>
          </a:p>
          <a:p>
            <a:pPr defTabSz="180000"/>
            <a:endParaRPr lang="ko-KR" altLang="en-US" sz="1400" dirty="0"/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document.writeln</a:t>
            </a:r>
            <a:r>
              <a:rPr lang="en-US" altLang="ko-KR" sz="1400" dirty="0"/>
              <a:t>(5); // </a:t>
            </a:r>
            <a:r>
              <a:rPr lang="ko-KR" altLang="en-US" sz="1400" dirty="0"/>
              <a:t>다음 줄에 넘어가지 못함</a:t>
            </a:r>
          </a:p>
          <a:p>
            <a:pPr defTabSz="180000"/>
            <a:r>
              <a:rPr lang="en-US" altLang="ko-KR" sz="1400" dirty="0"/>
              <a:t>	</a:t>
            </a:r>
            <a:r>
              <a:rPr lang="en-US" altLang="ko-KR" sz="1400" dirty="0" err="1"/>
              <a:t>document.writeln</a:t>
            </a:r>
            <a:r>
              <a:rPr lang="en-US" altLang="ko-KR" sz="1400" dirty="0"/>
              <a:t>("</a:t>
            </a:r>
            <a:r>
              <a:rPr lang="ko-KR" altLang="en-US" sz="1400" dirty="0"/>
              <a:t>명입니다</a:t>
            </a:r>
            <a:r>
              <a:rPr lang="en-US" altLang="ko-KR" sz="1400" dirty="0"/>
              <a:t>.&lt;</a:t>
            </a:r>
            <a:r>
              <a:rPr lang="en-US" altLang="ko-KR" sz="1400" dirty="0" err="1"/>
              <a:t>br</a:t>
            </a:r>
            <a:r>
              <a:rPr lang="en-US" altLang="ko-KR" sz="1400" dirty="0"/>
              <a:t>&gt;");</a:t>
            </a:r>
          </a:p>
          <a:p>
            <a:pPr defTabSz="180000"/>
            <a:r>
              <a:rPr lang="en-US" altLang="ko-KR" sz="1400" dirty="0"/>
              <a:t>&lt;/script&gt;</a:t>
            </a:r>
          </a:p>
          <a:p>
            <a:pPr defTabSz="180000"/>
            <a:r>
              <a:rPr lang="en-US" altLang="ko-KR" sz="1400" dirty="0"/>
              <a:t>&lt;/body&gt;</a:t>
            </a:r>
          </a:p>
          <a:p>
            <a:pPr defTabSz="180000"/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sp>
        <p:nvSpPr>
          <p:cNvPr id="8" name="자유형 7"/>
          <p:cNvSpPr/>
          <p:nvPr/>
        </p:nvSpPr>
        <p:spPr>
          <a:xfrm>
            <a:off x="2146218" y="3212976"/>
            <a:ext cx="4741869" cy="1872209"/>
          </a:xfrm>
          <a:custGeom>
            <a:avLst/>
            <a:gdLst>
              <a:gd name="connsiteX0" fmla="*/ 121920 w 4836160"/>
              <a:gd name="connsiteY0" fmla="*/ 112090 h 2398090"/>
              <a:gd name="connsiteX1" fmla="*/ 111760 w 4836160"/>
              <a:gd name="connsiteY1" fmla="*/ 173050 h 2398090"/>
              <a:gd name="connsiteX2" fmla="*/ 101600 w 4836160"/>
              <a:gd name="connsiteY2" fmla="*/ 254330 h 2398090"/>
              <a:gd name="connsiteX3" fmla="*/ 81280 w 4836160"/>
              <a:gd name="connsiteY3" fmla="*/ 284810 h 2398090"/>
              <a:gd name="connsiteX4" fmla="*/ 60960 w 4836160"/>
              <a:gd name="connsiteY4" fmla="*/ 508330 h 2398090"/>
              <a:gd name="connsiteX5" fmla="*/ 50800 w 4836160"/>
              <a:gd name="connsiteY5" fmla="*/ 538810 h 2398090"/>
              <a:gd name="connsiteX6" fmla="*/ 30480 w 4836160"/>
              <a:gd name="connsiteY6" fmla="*/ 660730 h 2398090"/>
              <a:gd name="connsiteX7" fmla="*/ 20320 w 4836160"/>
              <a:gd name="connsiteY7" fmla="*/ 721690 h 2398090"/>
              <a:gd name="connsiteX8" fmla="*/ 0 w 4836160"/>
              <a:gd name="connsiteY8" fmla="*/ 996010 h 2398090"/>
              <a:gd name="connsiteX9" fmla="*/ 10160 w 4836160"/>
              <a:gd name="connsiteY9" fmla="*/ 1991690 h 2398090"/>
              <a:gd name="connsiteX10" fmla="*/ 30480 w 4836160"/>
              <a:gd name="connsiteY10" fmla="*/ 2022170 h 2398090"/>
              <a:gd name="connsiteX11" fmla="*/ 50800 w 4836160"/>
              <a:gd name="connsiteY11" fmla="*/ 2093290 h 2398090"/>
              <a:gd name="connsiteX12" fmla="*/ 111760 w 4836160"/>
              <a:gd name="connsiteY12" fmla="*/ 2174570 h 2398090"/>
              <a:gd name="connsiteX13" fmla="*/ 132080 w 4836160"/>
              <a:gd name="connsiteY13" fmla="*/ 2205050 h 2398090"/>
              <a:gd name="connsiteX14" fmla="*/ 213360 w 4836160"/>
              <a:gd name="connsiteY14" fmla="*/ 2255850 h 2398090"/>
              <a:gd name="connsiteX15" fmla="*/ 274320 w 4836160"/>
              <a:gd name="connsiteY15" fmla="*/ 2296490 h 2398090"/>
              <a:gd name="connsiteX16" fmla="*/ 345440 w 4836160"/>
              <a:gd name="connsiteY16" fmla="*/ 2326970 h 2398090"/>
              <a:gd name="connsiteX17" fmla="*/ 386080 w 4836160"/>
              <a:gd name="connsiteY17" fmla="*/ 2337130 h 2398090"/>
              <a:gd name="connsiteX18" fmla="*/ 497840 w 4836160"/>
              <a:gd name="connsiteY18" fmla="*/ 2367610 h 2398090"/>
              <a:gd name="connsiteX19" fmla="*/ 1899920 w 4836160"/>
              <a:gd name="connsiteY19" fmla="*/ 2377770 h 2398090"/>
              <a:gd name="connsiteX20" fmla="*/ 2286000 w 4836160"/>
              <a:gd name="connsiteY20" fmla="*/ 2387930 h 2398090"/>
              <a:gd name="connsiteX21" fmla="*/ 2540000 w 4836160"/>
              <a:gd name="connsiteY21" fmla="*/ 2398090 h 2398090"/>
              <a:gd name="connsiteX22" fmla="*/ 4155440 w 4836160"/>
              <a:gd name="connsiteY22" fmla="*/ 2387930 h 2398090"/>
              <a:gd name="connsiteX23" fmla="*/ 4389120 w 4836160"/>
              <a:gd name="connsiteY23" fmla="*/ 2377770 h 2398090"/>
              <a:gd name="connsiteX24" fmla="*/ 4490720 w 4836160"/>
              <a:gd name="connsiteY24" fmla="*/ 2337130 h 2398090"/>
              <a:gd name="connsiteX25" fmla="*/ 4541520 w 4836160"/>
              <a:gd name="connsiteY25" fmla="*/ 2326970 h 2398090"/>
              <a:gd name="connsiteX26" fmla="*/ 4612640 w 4836160"/>
              <a:gd name="connsiteY26" fmla="*/ 2296490 h 2398090"/>
              <a:gd name="connsiteX27" fmla="*/ 4643120 w 4836160"/>
              <a:gd name="connsiteY27" fmla="*/ 2266010 h 2398090"/>
              <a:gd name="connsiteX28" fmla="*/ 4683760 w 4836160"/>
              <a:gd name="connsiteY28" fmla="*/ 2174570 h 2398090"/>
              <a:gd name="connsiteX29" fmla="*/ 4693920 w 4836160"/>
              <a:gd name="connsiteY29" fmla="*/ 2123770 h 2398090"/>
              <a:gd name="connsiteX30" fmla="*/ 4734560 w 4836160"/>
              <a:gd name="connsiteY30" fmla="*/ 2032330 h 2398090"/>
              <a:gd name="connsiteX31" fmla="*/ 4754880 w 4836160"/>
              <a:gd name="connsiteY31" fmla="*/ 1910410 h 2398090"/>
              <a:gd name="connsiteX32" fmla="*/ 4785360 w 4836160"/>
              <a:gd name="connsiteY32" fmla="*/ 1524330 h 2398090"/>
              <a:gd name="connsiteX33" fmla="*/ 4795520 w 4836160"/>
              <a:gd name="connsiteY33" fmla="*/ 1483690 h 2398090"/>
              <a:gd name="connsiteX34" fmla="*/ 4815840 w 4836160"/>
              <a:gd name="connsiteY34" fmla="*/ 1382090 h 2398090"/>
              <a:gd name="connsiteX35" fmla="*/ 4826000 w 4836160"/>
              <a:gd name="connsiteY35" fmla="*/ 1260170 h 2398090"/>
              <a:gd name="connsiteX36" fmla="*/ 4836160 w 4836160"/>
              <a:gd name="connsiteY36" fmla="*/ 1158570 h 2398090"/>
              <a:gd name="connsiteX37" fmla="*/ 4826000 w 4836160"/>
              <a:gd name="connsiteY37" fmla="*/ 437210 h 2398090"/>
              <a:gd name="connsiteX38" fmla="*/ 4815840 w 4836160"/>
              <a:gd name="connsiteY38" fmla="*/ 396570 h 2398090"/>
              <a:gd name="connsiteX39" fmla="*/ 4785360 w 4836160"/>
              <a:gd name="connsiteY39" fmla="*/ 274650 h 2398090"/>
              <a:gd name="connsiteX40" fmla="*/ 4775200 w 4836160"/>
              <a:gd name="connsiteY40" fmla="*/ 244170 h 2398090"/>
              <a:gd name="connsiteX41" fmla="*/ 4754880 w 4836160"/>
              <a:gd name="connsiteY41" fmla="*/ 213690 h 2398090"/>
              <a:gd name="connsiteX42" fmla="*/ 4744720 w 4836160"/>
              <a:gd name="connsiteY42" fmla="*/ 173050 h 2398090"/>
              <a:gd name="connsiteX43" fmla="*/ 4693920 w 4836160"/>
              <a:gd name="connsiteY43" fmla="*/ 112090 h 2398090"/>
              <a:gd name="connsiteX44" fmla="*/ 4612640 w 4836160"/>
              <a:gd name="connsiteY44" fmla="*/ 81610 h 2398090"/>
              <a:gd name="connsiteX45" fmla="*/ 4572000 w 4836160"/>
              <a:gd name="connsiteY45" fmla="*/ 61290 h 2398090"/>
              <a:gd name="connsiteX46" fmla="*/ 4541520 w 4836160"/>
              <a:gd name="connsiteY46" fmla="*/ 51130 h 2398090"/>
              <a:gd name="connsiteX47" fmla="*/ 4500880 w 4836160"/>
              <a:gd name="connsiteY47" fmla="*/ 30810 h 2398090"/>
              <a:gd name="connsiteX48" fmla="*/ 4378960 w 4836160"/>
              <a:gd name="connsiteY48" fmla="*/ 20650 h 2398090"/>
              <a:gd name="connsiteX49" fmla="*/ 1635760 w 4836160"/>
              <a:gd name="connsiteY49" fmla="*/ 10490 h 2398090"/>
              <a:gd name="connsiteX50" fmla="*/ 1381760 w 4836160"/>
              <a:gd name="connsiteY50" fmla="*/ 330 h 2398090"/>
              <a:gd name="connsiteX51" fmla="*/ 284480 w 4836160"/>
              <a:gd name="connsiteY51" fmla="*/ 20650 h 2398090"/>
              <a:gd name="connsiteX52" fmla="*/ 193040 w 4836160"/>
              <a:gd name="connsiteY52" fmla="*/ 61290 h 2398090"/>
              <a:gd name="connsiteX53" fmla="*/ 142240 w 4836160"/>
              <a:gd name="connsiteY53" fmla="*/ 112090 h 2398090"/>
              <a:gd name="connsiteX54" fmla="*/ 121920 w 4836160"/>
              <a:gd name="connsiteY54" fmla="*/ 142570 h 2398090"/>
              <a:gd name="connsiteX55" fmla="*/ 91440 w 4836160"/>
              <a:gd name="connsiteY55" fmla="*/ 173050 h 2398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4836160" h="2398090">
                <a:moveTo>
                  <a:pt x="121920" y="112090"/>
                </a:moveTo>
                <a:cubicBezTo>
                  <a:pt x="118533" y="132410"/>
                  <a:pt x="114673" y="152657"/>
                  <a:pt x="111760" y="173050"/>
                </a:cubicBezTo>
                <a:cubicBezTo>
                  <a:pt x="107899" y="200080"/>
                  <a:pt x="108784" y="227988"/>
                  <a:pt x="101600" y="254330"/>
                </a:cubicBezTo>
                <a:cubicBezTo>
                  <a:pt x="98387" y="266111"/>
                  <a:pt x="88053" y="274650"/>
                  <a:pt x="81280" y="284810"/>
                </a:cubicBezTo>
                <a:cubicBezTo>
                  <a:pt x="74507" y="359317"/>
                  <a:pt x="69874" y="434049"/>
                  <a:pt x="60960" y="508330"/>
                </a:cubicBezTo>
                <a:cubicBezTo>
                  <a:pt x="59684" y="518963"/>
                  <a:pt x="52900" y="528308"/>
                  <a:pt x="50800" y="538810"/>
                </a:cubicBezTo>
                <a:cubicBezTo>
                  <a:pt x="42720" y="579210"/>
                  <a:pt x="37253" y="620090"/>
                  <a:pt x="30480" y="660730"/>
                </a:cubicBezTo>
                <a:cubicBezTo>
                  <a:pt x="27093" y="681050"/>
                  <a:pt x="22595" y="701216"/>
                  <a:pt x="20320" y="721690"/>
                </a:cubicBezTo>
                <a:cubicBezTo>
                  <a:pt x="3418" y="873811"/>
                  <a:pt x="11861" y="782510"/>
                  <a:pt x="0" y="996010"/>
                </a:cubicBezTo>
                <a:cubicBezTo>
                  <a:pt x="3387" y="1327903"/>
                  <a:pt x="306" y="1659926"/>
                  <a:pt x="10160" y="1991690"/>
                </a:cubicBezTo>
                <a:cubicBezTo>
                  <a:pt x="10523" y="2003895"/>
                  <a:pt x="25670" y="2010947"/>
                  <a:pt x="30480" y="2022170"/>
                </a:cubicBezTo>
                <a:cubicBezTo>
                  <a:pt x="35511" y="2033910"/>
                  <a:pt x="42150" y="2079697"/>
                  <a:pt x="50800" y="2093290"/>
                </a:cubicBezTo>
                <a:cubicBezTo>
                  <a:pt x="68982" y="2121862"/>
                  <a:pt x="92974" y="2146391"/>
                  <a:pt x="111760" y="2174570"/>
                </a:cubicBezTo>
                <a:cubicBezTo>
                  <a:pt x="118533" y="2184730"/>
                  <a:pt x="123446" y="2196416"/>
                  <a:pt x="132080" y="2205050"/>
                </a:cubicBezTo>
                <a:cubicBezTo>
                  <a:pt x="167456" y="2240426"/>
                  <a:pt x="173120" y="2231706"/>
                  <a:pt x="213360" y="2255850"/>
                </a:cubicBezTo>
                <a:cubicBezTo>
                  <a:pt x="234301" y="2268415"/>
                  <a:pt x="251152" y="2288767"/>
                  <a:pt x="274320" y="2296490"/>
                </a:cubicBezTo>
                <a:cubicBezTo>
                  <a:pt x="425699" y="2346950"/>
                  <a:pt x="144564" y="2251642"/>
                  <a:pt x="345440" y="2326970"/>
                </a:cubicBezTo>
                <a:cubicBezTo>
                  <a:pt x="358515" y="2331873"/>
                  <a:pt x="372705" y="2333118"/>
                  <a:pt x="386080" y="2337130"/>
                </a:cubicBezTo>
                <a:cubicBezTo>
                  <a:pt x="414514" y="2345660"/>
                  <a:pt x="465468" y="2367157"/>
                  <a:pt x="497840" y="2367610"/>
                </a:cubicBezTo>
                <a:lnTo>
                  <a:pt x="1899920" y="2377770"/>
                </a:lnTo>
                <a:lnTo>
                  <a:pt x="2286000" y="2387930"/>
                </a:lnTo>
                <a:cubicBezTo>
                  <a:pt x="2370692" y="2390619"/>
                  <a:pt x="2455266" y="2398090"/>
                  <a:pt x="2540000" y="2398090"/>
                </a:cubicBezTo>
                <a:lnTo>
                  <a:pt x="4155440" y="2387930"/>
                </a:lnTo>
                <a:cubicBezTo>
                  <a:pt x="4233333" y="2384543"/>
                  <a:pt x="4311567" y="2385793"/>
                  <a:pt x="4389120" y="2377770"/>
                </a:cubicBezTo>
                <a:cubicBezTo>
                  <a:pt x="4450431" y="2371427"/>
                  <a:pt x="4440834" y="2353759"/>
                  <a:pt x="4490720" y="2337130"/>
                </a:cubicBezTo>
                <a:cubicBezTo>
                  <a:pt x="4507103" y="2331669"/>
                  <a:pt x="4524767" y="2331158"/>
                  <a:pt x="4541520" y="2326970"/>
                </a:cubicBezTo>
                <a:cubicBezTo>
                  <a:pt x="4561929" y="2321868"/>
                  <a:pt x="4596983" y="2307674"/>
                  <a:pt x="4612640" y="2296490"/>
                </a:cubicBezTo>
                <a:cubicBezTo>
                  <a:pt x="4624332" y="2288139"/>
                  <a:pt x="4633922" y="2277048"/>
                  <a:pt x="4643120" y="2266010"/>
                </a:cubicBezTo>
                <a:cubicBezTo>
                  <a:pt x="4665523" y="2239126"/>
                  <a:pt x="4676765" y="2209545"/>
                  <a:pt x="4683760" y="2174570"/>
                </a:cubicBezTo>
                <a:cubicBezTo>
                  <a:pt x="4687147" y="2157637"/>
                  <a:pt x="4687857" y="2139939"/>
                  <a:pt x="4693920" y="2123770"/>
                </a:cubicBezTo>
                <a:cubicBezTo>
                  <a:pt x="4724985" y="2040931"/>
                  <a:pt x="4712372" y="2165457"/>
                  <a:pt x="4734560" y="2032330"/>
                </a:cubicBezTo>
                <a:lnTo>
                  <a:pt x="4754880" y="1910410"/>
                </a:lnTo>
                <a:cubicBezTo>
                  <a:pt x="4756212" y="1891098"/>
                  <a:pt x="4770901" y="1618315"/>
                  <a:pt x="4785360" y="1524330"/>
                </a:cubicBezTo>
                <a:cubicBezTo>
                  <a:pt x="4787483" y="1510529"/>
                  <a:pt x="4793022" y="1497428"/>
                  <a:pt x="4795520" y="1483690"/>
                </a:cubicBezTo>
                <a:cubicBezTo>
                  <a:pt x="4814199" y="1380954"/>
                  <a:pt x="4794975" y="1444686"/>
                  <a:pt x="4815840" y="1382090"/>
                </a:cubicBezTo>
                <a:cubicBezTo>
                  <a:pt x="4819227" y="1341450"/>
                  <a:pt x="4822308" y="1300783"/>
                  <a:pt x="4826000" y="1260170"/>
                </a:cubicBezTo>
                <a:cubicBezTo>
                  <a:pt x="4829081" y="1226274"/>
                  <a:pt x="4836160" y="1192606"/>
                  <a:pt x="4836160" y="1158570"/>
                </a:cubicBezTo>
                <a:cubicBezTo>
                  <a:pt x="4836160" y="918093"/>
                  <a:pt x="4832410" y="677602"/>
                  <a:pt x="4826000" y="437210"/>
                </a:cubicBezTo>
                <a:cubicBezTo>
                  <a:pt x="4825628" y="423251"/>
                  <a:pt x="4818578" y="410262"/>
                  <a:pt x="4815840" y="396570"/>
                </a:cubicBezTo>
                <a:cubicBezTo>
                  <a:pt x="4795318" y="293960"/>
                  <a:pt x="4819307" y="376491"/>
                  <a:pt x="4785360" y="274650"/>
                </a:cubicBezTo>
                <a:cubicBezTo>
                  <a:pt x="4781973" y="264490"/>
                  <a:pt x="4781141" y="253081"/>
                  <a:pt x="4775200" y="244170"/>
                </a:cubicBezTo>
                <a:lnTo>
                  <a:pt x="4754880" y="213690"/>
                </a:lnTo>
                <a:cubicBezTo>
                  <a:pt x="4751493" y="200143"/>
                  <a:pt x="4750221" y="185885"/>
                  <a:pt x="4744720" y="173050"/>
                </a:cubicBezTo>
                <a:cubicBezTo>
                  <a:pt x="4737527" y="156266"/>
                  <a:pt x="4708210" y="121021"/>
                  <a:pt x="4693920" y="112090"/>
                </a:cubicBezTo>
                <a:cubicBezTo>
                  <a:pt x="4663304" y="92955"/>
                  <a:pt x="4642731" y="94506"/>
                  <a:pt x="4612640" y="81610"/>
                </a:cubicBezTo>
                <a:cubicBezTo>
                  <a:pt x="4598719" y="75644"/>
                  <a:pt x="4585921" y="67256"/>
                  <a:pt x="4572000" y="61290"/>
                </a:cubicBezTo>
                <a:cubicBezTo>
                  <a:pt x="4562156" y="57071"/>
                  <a:pt x="4551364" y="55349"/>
                  <a:pt x="4541520" y="51130"/>
                </a:cubicBezTo>
                <a:cubicBezTo>
                  <a:pt x="4527599" y="45164"/>
                  <a:pt x="4515766" y="33601"/>
                  <a:pt x="4500880" y="30810"/>
                </a:cubicBezTo>
                <a:cubicBezTo>
                  <a:pt x="4460798" y="23295"/>
                  <a:pt x="4419740" y="20939"/>
                  <a:pt x="4378960" y="20650"/>
                </a:cubicBezTo>
                <a:lnTo>
                  <a:pt x="1635760" y="10490"/>
                </a:lnTo>
                <a:cubicBezTo>
                  <a:pt x="1551093" y="7103"/>
                  <a:pt x="1466494" y="330"/>
                  <a:pt x="1381760" y="330"/>
                </a:cubicBezTo>
                <a:cubicBezTo>
                  <a:pt x="601400" y="330"/>
                  <a:pt x="732634" y="-4247"/>
                  <a:pt x="284480" y="20650"/>
                </a:cubicBezTo>
                <a:cubicBezTo>
                  <a:pt x="211936" y="44831"/>
                  <a:pt x="241342" y="29089"/>
                  <a:pt x="193040" y="61290"/>
                </a:cubicBezTo>
                <a:cubicBezTo>
                  <a:pt x="138853" y="142570"/>
                  <a:pt x="209973" y="44357"/>
                  <a:pt x="142240" y="112090"/>
                </a:cubicBezTo>
                <a:cubicBezTo>
                  <a:pt x="133606" y="120724"/>
                  <a:pt x="130554" y="133936"/>
                  <a:pt x="121920" y="142570"/>
                </a:cubicBezTo>
                <a:cubicBezTo>
                  <a:pt x="88622" y="175868"/>
                  <a:pt x="91440" y="147601"/>
                  <a:pt x="91440" y="173050"/>
                </a:cubicBezTo>
              </a:path>
            </a:pathLst>
          </a:custGeom>
          <a:noFill/>
          <a:ln w="127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왼쪽 대괄호 52"/>
          <p:cNvSpPr/>
          <p:nvPr/>
        </p:nvSpPr>
        <p:spPr>
          <a:xfrm>
            <a:off x="7392144" y="3819102"/>
            <a:ext cx="116162" cy="1266083"/>
          </a:xfrm>
          <a:prstGeom prst="leftBracket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자유형 50"/>
          <p:cNvSpPr/>
          <p:nvPr/>
        </p:nvSpPr>
        <p:spPr>
          <a:xfrm>
            <a:off x="6888086" y="4077072"/>
            <a:ext cx="504057" cy="288032"/>
          </a:xfrm>
          <a:custGeom>
            <a:avLst/>
            <a:gdLst>
              <a:gd name="connsiteX0" fmla="*/ 0 w 325120"/>
              <a:gd name="connsiteY0" fmla="*/ 0 h 60960"/>
              <a:gd name="connsiteX1" fmla="*/ 243840 w 325120"/>
              <a:gd name="connsiteY1" fmla="*/ 10160 h 60960"/>
              <a:gd name="connsiteX2" fmla="*/ 325120 w 325120"/>
              <a:gd name="connsiteY2" fmla="*/ 60960 h 6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25120" h="60960">
                <a:moveTo>
                  <a:pt x="0" y="0"/>
                </a:moveTo>
                <a:cubicBezTo>
                  <a:pt x="94826" y="0"/>
                  <a:pt x="189653" y="0"/>
                  <a:pt x="243840" y="10160"/>
                </a:cubicBezTo>
                <a:cubicBezTo>
                  <a:pt x="298027" y="20320"/>
                  <a:pt x="313267" y="50800"/>
                  <a:pt x="325120" y="60960"/>
                </a:cubicBezTo>
              </a:path>
            </a:pathLst>
          </a:custGeom>
          <a:noFill/>
          <a:ln w="12700"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/>
          <p:cNvSpPr txBox="1"/>
          <p:nvPr/>
        </p:nvSpPr>
        <p:spPr>
          <a:xfrm>
            <a:off x="7608168" y="5157193"/>
            <a:ext cx="1224136" cy="272415"/>
          </a:xfrm>
          <a:prstGeom prst="wedgeRoundRectCallout">
            <a:avLst>
              <a:gd name="adj1" fmla="val -40555"/>
              <a:gd name="adj2" fmla="val -118313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주목 </a:t>
            </a:r>
            <a:r>
              <a:rPr lang="en-US" altLang="ko-KR" sz="1000" dirty="0"/>
              <a:t>: </a:t>
            </a:r>
            <a:r>
              <a:rPr lang="ko-KR" altLang="en-US" sz="1000" dirty="0"/>
              <a:t>빈 칸 하나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778C224D-812C-4EC1-B7F3-718C94D790A0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547728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2279576" y="1412776"/>
            <a:ext cx="6552728" cy="267765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&lt;!DOCTYPE html&gt;</a:t>
            </a:r>
          </a:p>
          <a:p>
            <a:r>
              <a:rPr lang="en-US" altLang="ko-KR" sz="1400" dirty="0"/>
              <a:t>&lt;html&gt;</a:t>
            </a:r>
          </a:p>
          <a:p>
            <a:r>
              <a:rPr lang="en-US" altLang="ko-KR" sz="1400" dirty="0"/>
              <a:t>&lt;head&gt;</a:t>
            </a:r>
          </a:p>
          <a:p>
            <a:r>
              <a:rPr lang="en-US" altLang="ko-KR" sz="1400" dirty="0"/>
              <a:t>&lt;meta charset="</a:t>
            </a:r>
            <a:r>
              <a:rPr lang="en-US" altLang="ko-KR" sz="1400" dirty="0" err="1"/>
              <a:t>utf</a:t>
            </a:r>
            <a:r>
              <a:rPr lang="en-US" altLang="ko-KR" sz="1400" dirty="0"/>
              <a:t>-8"&gt;</a:t>
            </a:r>
          </a:p>
          <a:p>
            <a:r>
              <a:rPr lang="en-US" altLang="ko-KR" sz="1400" dirty="0"/>
              <a:t>&lt;title&gt;write()</a:t>
            </a:r>
            <a:r>
              <a:rPr lang="ko-KR" altLang="en-US" sz="1400" dirty="0"/>
              <a:t>를 잘못 사용하는 예</a:t>
            </a:r>
            <a:r>
              <a:rPr lang="en-US" altLang="ko-KR" sz="1400" dirty="0"/>
              <a:t>&lt;/title&gt;</a:t>
            </a:r>
          </a:p>
          <a:p>
            <a:r>
              <a:rPr lang="en-US" altLang="ko-KR" sz="1400" dirty="0"/>
              <a:t>&lt;/head&gt;</a:t>
            </a:r>
          </a:p>
          <a:p>
            <a:r>
              <a:rPr lang="en-US" altLang="ko-KR" sz="1400" dirty="0"/>
              <a:t>&lt;body </a:t>
            </a:r>
            <a:r>
              <a:rPr lang="en-US" altLang="ko-KR" sz="1400" dirty="0" err="1"/>
              <a:t>onclick</a:t>
            </a:r>
            <a:r>
              <a:rPr lang="en-US" altLang="ko-KR" sz="1400" dirty="0"/>
              <a:t>="</a:t>
            </a:r>
            <a:r>
              <a:rPr lang="en-US" altLang="ko-KR" sz="1400" b="1" dirty="0" err="1"/>
              <a:t>document.write</a:t>
            </a:r>
            <a:r>
              <a:rPr lang="en-US" altLang="ko-KR" sz="1400" b="1" dirty="0"/>
              <a:t>('&lt;h3&gt;</a:t>
            </a:r>
            <a:r>
              <a:rPr lang="ko-KR" altLang="en-US" sz="1400" b="1" dirty="0"/>
              <a:t>클릭되었습니다</a:t>
            </a:r>
            <a:r>
              <a:rPr lang="en-US" altLang="ko-KR" sz="1400" b="1" dirty="0"/>
              <a:t>&lt;/h3&gt;</a:t>
            </a:r>
            <a:r>
              <a:rPr lang="en-US" altLang="ko-KR" sz="1400" dirty="0"/>
              <a:t>')"&gt;</a:t>
            </a:r>
          </a:p>
          <a:p>
            <a:r>
              <a:rPr lang="en-US" altLang="ko-KR" sz="1400" dirty="0"/>
              <a:t>&lt;h3&gt;write()</a:t>
            </a:r>
            <a:r>
              <a:rPr lang="ko-KR" altLang="en-US" sz="1400" dirty="0"/>
              <a:t>를 잘못 사용하는 예</a:t>
            </a:r>
            <a:r>
              <a:rPr lang="en-US" altLang="ko-KR" sz="1400" dirty="0"/>
              <a:t>&lt;/h3&gt;</a:t>
            </a:r>
          </a:p>
          <a:p>
            <a:r>
              <a:rPr lang="en-US" altLang="ko-KR" sz="1400" dirty="0"/>
              <a:t>&lt;</a:t>
            </a:r>
            <a:r>
              <a:rPr lang="en-US" altLang="ko-KR" sz="1400" dirty="0" err="1"/>
              <a:t>hr</a:t>
            </a:r>
            <a:r>
              <a:rPr lang="en-US" altLang="ko-KR" sz="1400" dirty="0"/>
              <a:t>&gt;</a:t>
            </a:r>
          </a:p>
          <a:p>
            <a:r>
              <a:rPr lang="en-US" altLang="ko-KR" sz="1400" dirty="0"/>
              <a:t>&lt;p&gt;</a:t>
            </a:r>
            <a:r>
              <a:rPr lang="ko-KR" altLang="en-US" sz="1400" dirty="0" err="1"/>
              <a:t>웹브라우저의</a:t>
            </a:r>
            <a:r>
              <a:rPr lang="ko-KR" altLang="en-US" sz="1400" dirty="0"/>
              <a:t> 바탕 아무 곳이나 클릭해보세요</a:t>
            </a:r>
            <a:r>
              <a:rPr lang="en-US" altLang="ko-KR" sz="1400" dirty="0"/>
              <a:t>.&lt;/p&gt;</a:t>
            </a:r>
          </a:p>
          <a:p>
            <a:r>
              <a:rPr lang="en-US" altLang="ko-KR" sz="1400" dirty="0"/>
              <a:t>&lt;/body&gt;</a:t>
            </a:r>
          </a:p>
          <a:p>
            <a:r>
              <a:rPr lang="en-US" altLang="ko-KR" sz="1400" dirty="0"/>
              <a:t>&lt;/html&gt;</a:t>
            </a:r>
            <a:endParaRPr lang="ko-KR" altLang="en-US" sz="14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A9A7E9C-50EE-4853-8E83-D4DFB8A4A8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949" y="3861048"/>
            <a:ext cx="2463982" cy="207493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A040856-994F-486D-B55B-FBBEB6513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832" y="3861048"/>
            <a:ext cx="2463982" cy="207493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8-9 write()</a:t>
            </a:r>
            <a:r>
              <a:rPr lang="ko-KR" altLang="en-US" dirty="0"/>
              <a:t>를 </a:t>
            </a:r>
            <a:r>
              <a:rPr lang="ko-KR" altLang="en-US" dirty="0">
                <a:solidFill>
                  <a:schemeClr val="bg2"/>
                </a:solidFill>
              </a:rPr>
              <a:t>잘못 </a:t>
            </a:r>
            <a:r>
              <a:rPr lang="ko-KR" altLang="en-US" dirty="0"/>
              <a:t>사용하는 예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4898058" y="6034976"/>
            <a:ext cx="1656184" cy="612934"/>
          </a:xfrm>
          <a:prstGeom prst="wedgeRoundRectCallout">
            <a:avLst>
              <a:gd name="adj1" fmla="val -21903"/>
              <a:gd name="adj2" fmla="val -99156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아무 곳이나 클릭하면 이전</a:t>
            </a:r>
            <a:r>
              <a:rPr lang="en-US" altLang="ko-KR" sz="1000" dirty="0"/>
              <a:t> </a:t>
            </a:r>
            <a:r>
              <a:rPr lang="ko-KR" altLang="en-US" sz="1000" dirty="0"/>
              <a:t>내용은 지워지고 오른쪽과 같이 됨</a:t>
            </a:r>
          </a:p>
        </p:txBody>
      </p:sp>
      <p:sp>
        <p:nvSpPr>
          <p:cNvPr id="9" name="자유형 8"/>
          <p:cNvSpPr/>
          <p:nvPr/>
        </p:nvSpPr>
        <p:spPr>
          <a:xfrm>
            <a:off x="6135007" y="5042809"/>
            <a:ext cx="618835" cy="266110"/>
          </a:xfrm>
          <a:custGeom>
            <a:avLst/>
            <a:gdLst>
              <a:gd name="connsiteX0" fmla="*/ 0 w 467068"/>
              <a:gd name="connsiteY0" fmla="*/ 773753 h 773753"/>
              <a:gd name="connsiteX1" fmla="*/ 177617 w 467068"/>
              <a:gd name="connsiteY1" fmla="*/ 536930 h 773753"/>
              <a:gd name="connsiteX2" fmla="*/ 269715 w 467068"/>
              <a:gd name="connsiteY2" fmla="*/ 69863 h 773753"/>
              <a:gd name="connsiteX3" fmla="*/ 467068 w 467068"/>
              <a:gd name="connsiteY3" fmla="*/ 10657 h 773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7068" h="773753">
                <a:moveTo>
                  <a:pt x="0" y="773753"/>
                </a:moveTo>
                <a:cubicBezTo>
                  <a:pt x="66332" y="713999"/>
                  <a:pt x="132664" y="654245"/>
                  <a:pt x="177617" y="536930"/>
                </a:cubicBezTo>
                <a:cubicBezTo>
                  <a:pt x="222570" y="419615"/>
                  <a:pt x="221473" y="157575"/>
                  <a:pt x="269715" y="69863"/>
                </a:cubicBezTo>
                <a:cubicBezTo>
                  <a:pt x="317957" y="-17849"/>
                  <a:pt x="392512" y="-3596"/>
                  <a:pt x="467068" y="10657"/>
                </a:cubicBezTo>
              </a:path>
            </a:pathLst>
          </a:custGeom>
          <a:noFill/>
          <a:ln w="12700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BDBDFFA-B038-41D0-A5F2-35D4FD570EE0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881654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document</a:t>
            </a:r>
            <a:r>
              <a:rPr lang="ko-KR" altLang="en-US" dirty="0"/>
              <a:t>의 열기와 닫기</a:t>
            </a:r>
            <a:r>
              <a:rPr lang="en-US" altLang="ko-KR" dirty="0"/>
              <a:t>, open()</a:t>
            </a:r>
            <a:r>
              <a:rPr lang="ko-KR" altLang="en-US" dirty="0"/>
              <a:t>과 </a:t>
            </a:r>
            <a:r>
              <a:rPr lang="en-US" altLang="ko-KR" dirty="0"/>
              <a:t>close()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>
          <a:xfrm>
            <a:off x="1048024" y="1138689"/>
            <a:ext cx="10225136" cy="2448272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 err="1"/>
              <a:t>document.open</a:t>
            </a:r>
            <a:r>
              <a:rPr lang="en-US" altLang="ko-KR" dirty="0"/>
              <a:t>()</a:t>
            </a:r>
          </a:p>
          <a:p>
            <a:pPr lvl="1"/>
            <a:r>
              <a:rPr lang="ko-KR" altLang="en-US" dirty="0"/>
              <a:t>현재 브라우저에 출력된 </a:t>
            </a:r>
            <a:r>
              <a:rPr lang="en-US" altLang="ko-KR" dirty="0"/>
              <a:t>HTML </a:t>
            </a:r>
            <a:r>
              <a:rPr lang="ko-KR" altLang="en-US" dirty="0" err="1"/>
              <a:t>콘텐츠를</a:t>
            </a:r>
            <a:r>
              <a:rPr lang="ko-KR" altLang="en-US" dirty="0"/>
              <a:t> 지우고 새로운 </a:t>
            </a:r>
            <a:r>
              <a:rPr lang="en-US" altLang="ko-KR" dirty="0"/>
              <a:t>HTML </a:t>
            </a:r>
            <a:r>
              <a:rPr lang="ko-KR" altLang="en-US" dirty="0"/>
              <a:t>페이지 시작</a:t>
            </a:r>
            <a:r>
              <a:rPr lang="en-US" altLang="ko-KR" dirty="0"/>
              <a:t>. </a:t>
            </a:r>
            <a:r>
              <a:rPr lang="ko-KR" altLang="en-US" dirty="0"/>
              <a:t>즉 </a:t>
            </a:r>
            <a:r>
              <a:rPr lang="en-US" altLang="ko-KR" dirty="0"/>
              <a:t>document </a:t>
            </a:r>
            <a:r>
              <a:rPr lang="ko-KR" altLang="en-US" dirty="0"/>
              <a:t>객체에 담긴 </a:t>
            </a:r>
            <a:r>
              <a:rPr lang="en-US" altLang="ko-KR" dirty="0"/>
              <a:t>DOM </a:t>
            </a:r>
            <a:r>
              <a:rPr lang="ko-KR" altLang="en-US" dirty="0" err="1"/>
              <a:t>트리를</a:t>
            </a:r>
            <a:r>
              <a:rPr lang="ko-KR" altLang="en-US" dirty="0"/>
              <a:t> 지우고 새로 시작</a:t>
            </a:r>
            <a:endParaRPr lang="en-US" altLang="ko-KR" dirty="0"/>
          </a:p>
          <a:p>
            <a:r>
              <a:rPr lang="en-US" altLang="ko-KR" dirty="0" err="1"/>
              <a:t>document.close</a:t>
            </a:r>
            <a:r>
              <a:rPr lang="en-US" altLang="ko-KR" dirty="0"/>
              <a:t>() </a:t>
            </a:r>
            <a:r>
              <a:rPr lang="ko-KR" altLang="en-US" dirty="0"/>
              <a:t>언제 쓸까요 한번 </a:t>
            </a:r>
            <a:r>
              <a:rPr lang="ko-KR" altLang="en-US" dirty="0" err="1"/>
              <a:t>찾아보십쇼</a:t>
            </a:r>
            <a:endParaRPr lang="en-US" altLang="ko-KR" dirty="0"/>
          </a:p>
          <a:p>
            <a:pPr lvl="1"/>
            <a:r>
              <a:rPr lang="ko-KR" altLang="en-US" dirty="0"/>
              <a:t>현재 브라우저에 출력된 </a:t>
            </a:r>
            <a:r>
              <a:rPr lang="en-US" altLang="ko-KR" dirty="0"/>
              <a:t>HTML </a:t>
            </a:r>
            <a:r>
              <a:rPr lang="ko-KR" altLang="en-US" dirty="0"/>
              <a:t>페이지 완성</a:t>
            </a:r>
            <a:endParaRPr lang="en-US" altLang="ko-KR" dirty="0"/>
          </a:p>
          <a:p>
            <a:pPr lvl="1"/>
            <a:r>
              <a:rPr lang="ko-KR" altLang="en-US" dirty="0"/>
              <a:t>더 이상 </a:t>
            </a:r>
            <a:r>
              <a:rPr lang="en-US" altLang="ko-KR" dirty="0" err="1"/>
              <a:t>document.write</a:t>
            </a:r>
            <a:r>
              <a:rPr lang="en-US" altLang="ko-KR" dirty="0"/>
              <a:t>() </a:t>
            </a:r>
            <a:r>
              <a:rPr lang="ko-KR" altLang="en-US" dirty="0"/>
              <a:t>할</a:t>
            </a:r>
            <a:r>
              <a:rPr lang="en-US" altLang="ko-KR" dirty="0"/>
              <a:t> </a:t>
            </a:r>
            <a:r>
              <a:rPr lang="ko-KR" altLang="en-US" dirty="0"/>
              <a:t>수 없음</a:t>
            </a:r>
            <a:endParaRPr lang="en-US" altLang="ko-KR" dirty="0"/>
          </a:p>
          <a:p>
            <a:r>
              <a:rPr lang="ko-KR" altLang="en-US" dirty="0"/>
              <a:t>예</a:t>
            </a:r>
            <a:r>
              <a:rPr lang="en-US" altLang="ko-KR" dirty="0"/>
              <a:t>)</a:t>
            </a:r>
          </a:p>
          <a:p>
            <a:pPr lvl="1"/>
            <a:endParaRPr lang="en-US" altLang="ko-KR" dirty="0"/>
          </a:p>
          <a:p>
            <a:pPr lvl="1"/>
            <a:endParaRPr lang="ko-KR" altLang="en-US" dirty="0"/>
          </a:p>
          <a:p>
            <a:pPr lvl="1"/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2927648" y="3140968"/>
            <a:ext cx="5688632" cy="138499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현재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HTML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페이지의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내용을 지우고 다시 시작</a:t>
            </a:r>
            <a:endParaRPr lang="en-US" altLang="ko-KR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(“&lt;html&gt;&lt;head&gt;...&lt;body&gt;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안녕하세요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.”);</a:t>
            </a:r>
            <a:endParaRPr lang="ko-KR" altLang="en-US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(“.......”);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(“&lt;/body&gt;&lt;/html&gt;”);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document.close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();</a:t>
            </a:r>
            <a:endParaRPr lang="en-US" altLang="ko-KR" sz="1200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924808" y="4612949"/>
            <a:ext cx="5691472" cy="16004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새 윈도우를 열고 그곳에 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HTML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문서 출력</a:t>
            </a:r>
            <a:endParaRPr lang="en-US" altLang="ko-KR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let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newWin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window.open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(“”, “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outWin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”, “”);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newWin.document.open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newWin.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(“&lt;html&gt;&lt;head&gt;...&lt;body&gt;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안녕하세요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.”);</a:t>
            </a:r>
            <a:endParaRPr lang="ko-KR" altLang="en-US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</a:rPr>
              <a:t>newWin.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(“.......”);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newWin.document.write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(“&lt;/body&gt;&lt;/html&gt;”);</a:t>
            </a: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newWin.document.close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();</a:t>
            </a:r>
          </a:p>
        </p:txBody>
      </p:sp>
      <p:sp>
        <p:nvSpPr>
          <p:cNvPr id="7" name="슬라이드 번호 개체 틀 3">
            <a:extLst>
              <a:ext uri="{FF2B5EF4-FFF2-40B4-BE49-F238E27FC236}">
                <a16:creationId xmlns:a16="http://schemas.microsoft.com/office/drawing/2014/main" id="{98C2D63B-3F5E-4E7B-9ED3-C81BF89A4B95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13477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5FB73996-E8DE-42F6-B0D0-9E60B3E39E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7438" y="1120410"/>
            <a:ext cx="3074987" cy="4390547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09EC2AE4-589F-4CA2-B78C-6E141E493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2634" y="4725144"/>
            <a:ext cx="2257863" cy="2035048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fontAlgn="base"/>
            <a:r>
              <a:rPr lang="ko-KR" altLang="en-US" dirty="0"/>
              <a:t>예제 </a:t>
            </a:r>
            <a:r>
              <a:rPr lang="en-US" altLang="ko-KR" dirty="0"/>
              <a:t>8-10 HTML </a:t>
            </a:r>
            <a:r>
              <a:rPr lang="ko-KR" altLang="en-US" dirty="0"/>
              <a:t>문서 작성 연습 페이지 만들기 </a:t>
            </a:r>
            <a:r>
              <a:rPr lang="en-US" altLang="ko-KR" dirty="0"/>
              <a:t>(</a:t>
            </a:r>
            <a:r>
              <a:rPr lang="ko-KR" altLang="en-US" dirty="0"/>
              <a:t>재밌는 코드 실행 요망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1547107" y="980728"/>
            <a:ext cx="4968552" cy="526297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</a:t>
            </a:r>
          </a:p>
          <a:p>
            <a:pPr defTabSz="180000"/>
            <a:r>
              <a:rPr lang="en-US" altLang="ko-KR" sz="1200" dirty="0"/>
              <a:t>&lt;title&gt;HTML </a:t>
            </a:r>
            <a:r>
              <a:rPr lang="ko-KR" altLang="en-US" sz="1200" dirty="0"/>
              <a:t>문서 작성기 만들기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dirty="0"/>
              <a:t>let win=null;</a:t>
            </a:r>
          </a:p>
          <a:p>
            <a:pPr defTabSz="180000"/>
            <a:r>
              <a:rPr lang="en-US" altLang="ko-KR" sz="1200" dirty="0"/>
              <a:t>function </a:t>
            </a:r>
            <a:r>
              <a:rPr lang="en-US" altLang="ko-KR" sz="1200" dirty="0" err="1">
                <a:highlight>
                  <a:srgbClr val="FFFF00"/>
                </a:highlight>
              </a:rPr>
              <a:t>showHTML</a:t>
            </a:r>
            <a:r>
              <a:rPr lang="en-US" altLang="ko-KR" sz="1200" dirty="0"/>
              <a:t>() {</a:t>
            </a:r>
          </a:p>
          <a:p>
            <a:pPr defTabSz="180000"/>
            <a:r>
              <a:rPr lang="en-US" altLang="ko-KR" sz="1200" dirty="0"/>
              <a:t>	if(win == null || </a:t>
            </a:r>
            <a:r>
              <a:rPr lang="en-US" altLang="ko-KR" sz="1200" dirty="0" err="1"/>
              <a:t>win.closed</a:t>
            </a:r>
            <a:r>
              <a:rPr lang="en-US" altLang="ko-KR" sz="1200" dirty="0"/>
              <a:t>) /* </a:t>
            </a:r>
            <a:r>
              <a:rPr lang="ko-KR" altLang="en-US" sz="1200" dirty="0"/>
              <a:t>변수 초기화 </a:t>
            </a:r>
            <a:r>
              <a:rPr lang="en-US" altLang="ko-KR" sz="1200" dirty="0"/>
              <a:t>*/</a:t>
            </a:r>
          </a:p>
          <a:p>
            <a:pPr defTabSz="180000"/>
            <a:r>
              <a:rPr lang="en-US" altLang="ko-KR" sz="1200" dirty="0"/>
              <a:t>		win = </a:t>
            </a:r>
            <a:r>
              <a:rPr lang="en-US" altLang="ko-KR" sz="1200" b="1" dirty="0" err="1"/>
              <a:t>window.open</a:t>
            </a:r>
            <a:r>
              <a:rPr lang="en-US" altLang="ko-KR" sz="1200" dirty="0"/>
              <a:t>("", "</a:t>
            </a:r>
            <a:r>
              <a:rPr lang="en-US" altLang="ko-KR" sz="1200" dirty="0" err="1"/>
              <a:t>outWin</a:t>
            </a:r>
            <a:r>
              <a:rPr lang="en-US" altLang="ko-KR" sz="1200" dirty="0"/>
              <a:t>", "width=300,height=200");</a:t>
            </a:r>
          </a:p>
          <a:p>
            <a:pPr defTabSz="180000"/>
            <a:endParaRPr lang="en-US" altLang="ko-KR" sz="1200" dirty="0"/>
          </a:p>
          <a:p>
            <a:pPr defTabSz="180000"/>
            <a:r>
              <a:rPr lang="en-US" altLang="ko-KR" sz="1200" dirty="0"/>
              <a:t>	let </a:t>
            </a:r>
            <a:r>
              <a:rPr lang="en-US" altLang="ko-KR" sz="1200" dirty="0" err="1"/>
              <a:t>textArea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document.getElementById</a:t>
            </a:r>
            <a:r>
              <a:rPr lang="en-US" altLang="ko-KR" sz="1200" dirty="0"/>
              <a:t>("</a:t>
            </a:r>
            <a:r>
              <a:rPr lang="en-US" altLang="ko-KR" sz="1200" dirty="0" err="1"/>
              <a:t>srcText</a:t>
            </a:r>
            <a:r>
              <a:rPr lang="en-US" altLang="ko-KR" sz="1200" dirty="0"/>
              <a:t>");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win.document.</a:t>
            </a:r>
            <a:r>
              <a:rPr lang="en-US" altLang="ko-KR" sz="1200" b="1" dirty="0" err="1"/>
              <a:t>open</a:t>
            </a:r>
            <a:r>
              <a:rPr lang="en-US" altLang="ko-KR" sz="1200" b="1" dirty="0"/>
              <a:t>()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win.document.</a:t>
            </a:r>
            <a:r>
              <a:rPr lang="en-US" altLang="ko-KR" sz="1200" b="1" dirty="0" err="1"/>
              <a:t>write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textArea.value</a:t>
            </a:r>
            <a:r>
              <a:rPr lang="en-US" altLang="ko-KR" sz="1200" b="1" dirty="0"/>
              <a:t>)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dirty="0" err="1"/>
              <a:t>win.document.</a:t>
            </a:r>
            <a:r>
              <a:rPr lang="en-US" altLang="ko-KR" sz="1200" b="1" dirty="0" err="1"/>
              <a:t>close</a:t>
            </a:r>
            <a:r>
              <a:rPr lang="en-US" altLang="ko-KR" sz="1200" b="1" dirty="0"/>
              <a:t>()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&lt;body&gt;</a:t>
            </a:r>
          </a:p>
          <a:p>
            <a:pPr defTabSz="180000"/>
            <a:r>
              <a:rPr lang="en-US" altLang="ko-KR" sz="1200" dirty="0"/>
              <a:t>&lt;h3&gt;HTML </a:t>
            </a:r>
            <a:r>
              <a:rPr lang="ko-KR" altLang="en-US" sz="1200" dirty="0"/>
              <a:t>문서 작성기 만들기 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&lt;p&gt;</a:t>
            </a:r>
            <a:r>
              <a:rPr lang="ko-KR" altLang="en-US" sz="1200" dirty="0"/>
              <a:t>아래에 </a:t>
            </a:r>
            <a:r>
              <a:rPr lang="en-US" altLang="ko-KR" sz="1200" dirty="0"/>
              <a:t>HTML </a:t>
            </a:r>
            <a:r>
              <a:rPr lang="ko-KR" altLang="en-US" sz="1200" dirty="0"/>
              <a:t>문서를 작성하고 버튼을 클릭해 보세요</a:t>
            </a:r>
            <a:r>
              <a:rPr lang="en-US" altLang="ko-KR" sz="1200" dirty="0"/>
              <a:t>.</a:t>
            </a:r>
          </a:p>
          <a:p>
            <a:pPr defTabSz="180000"/>
            <a:r>
              <a:rPr lang="ko-KR" altLang="en-US" sz="1200" dirty="0"/>
              <a:t>새 윈도우에 </a:t>
            </a:r>
            <a:r>
              <a:rPr lang="en-US" altLang="ko-KR" sz="1200" dirty="0"/>
              <a:t>HTML </a:t>
            </a:r>
            <a:r>
              <a:rPr lang="ko-KR" altLang="en-US" sz="1200" dirty="0"/>
              <a:t>문서가 출력됩니다</a:t>
            </a:r>
            <a:r>
              <a:rPr lang="en-US" altLang="ko-KR" sz="1200" dirty="0"/>
              <a:t>.&lt;/p&gt;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textarea</a:t>
            </a:r>
            <a:r>
              <a:rPr lang="en-US" altLang="ko-KR" sz="1200" dirty="0"/>
              <a:t> id="</a:t>
            </a:r>
            <a:r>
              <a:rPr lang="en-US" altLang="ko-KR" sz="1200" dirty="0" err="1"/>
              <a:t>srcText</a:t>
            </a:r>
            <a:r>
              <a:rPr lang="en-US" altLang="ko-KR" sz="1200" dirty="0"/>
              <a:t>" rows="10" cols="50"&gt;&lt;/</a:t>
            </a:r>
            <a:r>
              <a:rPr lang="en-US" altLang="ko-KR" sz="1200" dirty="0" err="1"/>
              <a:t>textarea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br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b="1" dirty="0"/>
              <a:t>&lt;button </a:t>
            </a:r>
            <a:r>
              <a:rPr lang="en-US" altLang="ko-KR" sz="1200" b="1" dirty="0" err="1"/>
              <a:t>onclick</a:t>
            </a:r>
            <a:r>
              <a:rPr lang="en-US" altLang="ko-KR" sz="1200" b="1" dirty="0"/>
              <a:t>="</a:t>
            </a:r>
            <a:r>
              <a:rPr lang="en-US" altLang="ko-KR" sz="1200" b="1" dirty="0" err="1"/>
              <a:t>showHTML</a:t>
            </a:r>
            <a:r>
              <a:rPr lang="en-US" altLang="ko-KR" sz="1200" b="1" dirty="0"/>
              <a:t>()"&gt;HTML </a:t>
            </a:r>
            <a:r>
              <a:rPr lang="ko-KR" altLang="en-US" sz="1200" b="1" dirty="0"/>
              <a:t>문서 출력하기</a:t>
            </a:r>
            <a:r>
              <a:rPr lang="en-US" altLang="ko-KR" sz="1200" b="1" dirty="0"/>
              <a:t>&lt;/button&gt;</a:t>
            </a:r>
          </a:p>
          <a:p>
            <a:pPr defTabSz="180000"/>
            <a:r>
              <a:rPr lang="en-US" altLang="ko-KR" sz="1200" dirty="0"/>
              <a:t>&lt;/body&gt;</a:t>
            </a:r>
          </a:p>
          <a:p>
            <a:pPr defTabSz="180000"/>
            <a:r>
              <a:rPr lang="en-US" altLang="ko-KR" sz="1200" dirty="0"/>
              <a:t>&lt;/html&gt;</a:t>
            </a:r>
            <a:endParaRPr lang="ko-KR" altLang="en-US" sz="1200" dirty="0"/>
          </a:p>
        </p:txBody>
      </p:sp>
      <p:sp>
        <p:nvSpPr>
          <p:cNvPr id="13" name="모서리가 둥근 사각형 설명선 12"/>
          <p:cNvSpPr/>
          <p:nvPr/>
        </p:nvSpPr>
        <p:spPr>
          <a:xfrm>
            <a:off x="6637527" y="5343391"/>
            <a:ext cx="1233821" cy="442674"/>
          </a:xfrm>
          <a:prstGeom prst="wedgeRoundRectCallout">
            <a:avLst>
              <a:gd name="adj1" fmla="val -14068"/>
              <a:gd name="adj2" fmla="val -118561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버튼을 클릭하면 새 윈도우 출력</a:t>
            </a:r>
          </a:p>
        </p:txBody>
      </p:sp>
      <p:sp>
        <p:nvSpPr>
          <p:cNvPr id="12" name="모서리가 둥근 직사각형 11"/>
          <p:cNvSpPr/>
          <p:nvPr/>
        </p:nvSpPr>
        <p:spPr>
          <a:xfrm>
            <a:off x="6947039" y="3140968"/>
            <a:ext cx="2491011" cy="1440160"/>
          </a:xfrm>
          <a:prstGeom prst="roundRect">
            <a:avLst>
              <a:gd name="adj" fmla="val 6161"/>
            </a:avLst>
          </a:prstGeom>
          <a:noFill/>
          <a:ln w="952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자유형 13"/>
          <p:cNvSpPr/>
          <p:nvPr/>
        </p:nvSpPr>
        <p:spPr>
          <a:xfrm>
            <a:off x="9350164" y="4089699"/>
            <a:ext cx="253258" cy="631110"/>
          </a:xfrm>
          <a:custGeom>
            <a:avLst/>
            <a:gdLst>
              <a:gd name="connsiteX0" fmla="*/ 0 w 362010"/>
              <a:gd name="connsiteY0" fmla="*/ 0 h 982858"/>
              <a:gd name="connsiteX1" fmla="*/ 293390 w 362010"/>
              <a:gd name="connsiteY1" fmla="*/ 366738 h 982858"/>
              <a:gd name="connsiteX2" fmla="*/ 361848 w 362010"/>
              <a:gd name="connsiteY2" fmla="*/ 982858 h 9828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62010" h="982858">
                <a:moveTo>
                  <a:pt x="0" y="0"/>
                </a:moveTo>
                <a:cubicBezTo>
                  <a:pt x="116541" y="101464"/>
                  <a:pt x="233082" y="202928"/>
                  <a:pt x="293390" y="366738"/>
                </a:cubicBezTo>
                <a:cubicBezTo>
                  <a:pt x="353698" y="530548"/>
                  <a:pt x="363478" y="906251"/>
                  <a:pt x="361848" y="982858"/>
                </a:cubicBezTo>
              </a:path>
            </a:pathLst>
          </a:custGeom>
          <a:noFill/>
          <a:ln w="9525">
            <a:solidFill>
              <a:srgbClr val="C0000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084DAF57-A238-496B-AF53-2F41D023868F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67567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문서의 동적 구성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2600" dirty="0"/>
              <a:t>DOM </a:t>
            </a:r>
            <a:r>
              <a:rPr lang="ko-KR" altLang="en-US" sz="2600" dirty="0"/>
              <a:t>객체 동적 생성</a:t>
            </a:r>
            <a:r>
              <a:rPr lang="en-US" altLang="ko-KR" sz="2600" dirty="0"/>
              <a:t>: </a:t>
            </a:r>
            <a:r>
              <a:rPr lang="en-US" altLang="ko-KR" sz="2600" dirty="0" err="1"/>
              <a:t>document.createElement</a:t>
            </a:r>
            <a:r>
              <a:rPr lang="en-US" altLang="ko-KR" sz="2600" dirty="0"/>
              <a:t>("</a:t>
            </a:r>
            <a:r>
              <a:rPr lang="ko-KR" altLang="en-US" sz="2600" dirty="0"/>
              <a:t>태그이름</a:t>
            </a:r>
            <a:r>
              <a:rPr lang="en-US" altLang="ko-KR" sz="2600" dirty="0"/>
              <a:t>")</a:t>
            </a:r>
            <a:endParaRPr lang="ko-KR" altLang="en-US" sz="2600" dirty="0"/>
          </a:p>
          <a:p>
            <a:pPr lvl="1"/>
            <a:r>
              <a:rPr lang="ko-KR" altLang="en-US" sz="1900" dirty="0"/>
              <a:t>태그이름의 </a:t>
            </a:r>
            <a:r>
              <a:rPr lang="en-US" altLang="ko-KR" sz="1900" dirty="0"/>
              <a:t>DOM </a:t>
            </a:r>
            <a:r>
              <a:rPr lang="ko-KR" altLang="en-US" sz="1900" dirty="0"/>
              <a:t>객체 생성</a:t>
            </a:r>
            <a:endParaRPr lang="en-US" altLang="ko-KR" sz="1900" dirty="0"/>
          </a:p>
          <a:p>
            <a:pPr lvl="2"/>
            <a:r>
              <a:rPr lang="ko-KR" altLang="en-US" sz="1900" dirty="0"/>
              <a:t>예</a:t>
            </a:r>
            <a:r>
              <a:rPr lang="en-US" altLang="ko-KR" sz="1900" dirty="0"/>
              <a:t>)</a:t>
            </a:r>
          </a:p>
          <a:p>
            <a:pPr lvl="2"/>
            <a:endParaRPr lang="en-US" altLang="ko-KR" sz="1700" dirty="0"/>
          </a:p>
          <a:p>
            <a:pPr lvl="2"/>
            <a:endParaRPr lang="en-US" altLang="ko-KR" sz="1700" dirty="0"/>
          </a:p>
          <a:p>
            <a:pPr lvl="2"/>
            <a:endParaRPr lang="en-US" altLang="ko-KR" sz="1700" dirty="0"/>
          </a:p>
          <a:p>
            <a:pPr lvl="2"/>
            <a:endParaRPr lang="en-US" altLang="ko-KR" sz="1700" dirty="0"/>
          </a:p>
          <a:p>
            <a:r>
              <a:rPr lang="en-US" altLang="ko-KR" sz="2600" dirty="0"/>
              <a:t>DOM </a:t>
            </a:r>
            <a:r>
              <a:rPr lang="ko-KR" altLang="en-US" sz="2600" dirty="0" err="1"/>
              <a:t>트리에</a:t>
            </a:r>
            <a:r>
              <a:rPr lang="ko-KR" altLang="en-US" sz="2600" dirty="0"/>
              <a:t> 삽입</a:t>
            </a:r>
            <a:endParaRPr lang="en-US" altLang="ko-KR" sz="2600" dirty="0"/>
          </a:p>
          <a:p>
            <a:pPr lvl="1"/>
            <a:r>
              <a:rPr lang="ko-KR" altLang="en-US" sz="1900" dirty="0"/>
              <a:t>부모</a:t>
            </a:r>
            <a:r>
              <a:rPr lang="en-US" altLang="ko-KR" sz="1900" dirty="0"/>
              <a:t>.</a:t>
            </a:r>
            <a:r>
              <a:rPr lang="en-US" altLang="ko-KR" sz="1900" dirty="0" err="1"/>
              <a:t>appendChild</a:t>
            </a:r>
            <a:r>
              <a:rPr lang="en-US" altLang="ko-KR" sz="1900" dirty="0"/>
              <a:t>(DOM</a:t>
            </a:r>
            <a:r>
              <a:rPr lang="ko-KR" altLang="en-US" sz="1900" dirty="0"/>
              <a:t>객체</a:t>
            </a:r>
            <a:r>
              <a:rPr lang="en-US" altLang="ko-KR" sz="1900" dirty="0"/>
              <a:t>); </a:t>
            </a:r>
            <a:endParaRPr lang="ko-KR" altLang="en-US" sz="1900" dirty="0"/>
          </a:p>
          <a:p>
            <a:pPr lvl="1"/>
            <a:r>
              <a:rPr lang="ko-KR" altLang="en-US" sz="1900" dirty="0"/>
              <a:t>부모</a:t>
            </a:r>
            <a:r>
              <a:rPr lang="en-US" altLang="ko-KR" sz="1900" dirty="0"/>
              <a:t>.</a:t>
            </a:r>
            <a:r>
              <a:rPr lang="en-US" altLang="ko-KR" sz="1900" dirty="0" err="1"/>
              <a:t>insertBefore</a:t>
            </a:r>
            <a:r>
              <a:rPr lang="en-US" altLang="ko-KR" sz="1900" dirty="0"/>
              <a:t>(DOM</a:t>
            </a:r>
            <a:r>
              <a:rPr lang="ko-KR" altLang="en-US" sz="1900" dirty="0"/>
              <a:t>객체 </a:t>
            </a:r>
            <a:r>
              <a:rPr lang="en-US" altLang="ko-KR" sz="1900" dirty="0"/>
              <a:t>[, </a:t>
            </a:r>
            <a:r>
              <a:rPr lang="ko-KR" altLang="en-US" sz="1900" dirty="0"/>
              <a:t>기준자식</a:t>
            </a:r>
            <a:r>
              <a:rPr lang="en-US" altLang="ko-KR" sz="1900" dirty="0"/>
              <a:t>]); </a:t>
            </a:r>
            <a:endParaRPr lang="ko-KR" altLang="en-US" sz="1900" dirty="0"/>
          </a:p>
          <a:p>
            <a:pPr lvl="2"/>
            <a:r>
              <a:rPr lang="ko-KR" altLang="en-US" sz="1900" dirty="0"/>
              <a:t>예</a:t>
            </a:r>
            <a:r>
              <a:rPr lang="en-US" altLang="ko-KR" sz="1900" dirty="0"/>
              <a:t>)</a:t>
            </a:r>
            <a:r>
              <a:rPr lang="ko-KR" altLang="en-US" sz="1900" dirty="0"/>
              <a:t> 생성한 </a:t>
            </a:r>
            <a:r>
              <a:rPr lang="en-US" altLang="ko-KR" sz="1900" dirty="0"/>
              <a:t>&lt;div&gt; </a:t>
            </a:r>
            <a:r>
              <a:rPr lang="ko-KR" altLang="en-US" sz="1900" dirty="0"/>
              <a:t>태그를 </a:t>
            </a:r>
            <a:r>
              <a:rPr lang="en-US" altLang="ko-KR" sz="1900" dirty="0"/>
              <a:t>&lt;p "id=p"&gt; </a:t>
            </a:r>
            <a:r>
              <a:rPr lang="ko-KR" altLang="en-US" sz="1900" dirty="0"/>
              <a:t>태그의 마지막 자식으로 추가    </a:t>
            </a:r>
            <a:endParaRPr lang="en-US" altLang="ko-KR" sz="1900" dirty="0"/>
          </a:p>
          <a:p>
            <a:pPr lvl="2"/>
            <a:endParaRPr lang="en-US" altLang="ko-KR" sz="1700" dirty="0"/>
          </a:p>
          <a:p>
            <a:pPr lvl="2"/>
            <a:endParaRPr lang="en-US" altLang="ko-KR" sz="1700" dirty="0"/>
          </a:p>
          <a:p>
            <a:r>
              <a:rPr lang="en-US" altLang="ko-KR" sz="2600" dirty="0"/>
              <a:t>DOM </a:t>
            </a:r>
            <a:r>
              <a:rPr lang="ko-KR" altLang="en-US" sz="2600" dirty="0"/>
              <a:t>객체의 삭제</a:t>
            </a:r>
            <a:endParaRPr lang="en-US" altLang="ko-KR" sz="2600" dirty="0"/>
          </a:p>
          <a:p>
            <a:pPr lvl="1"/>
            <a:r>
              <a:rPr lang="en-US" altLang="ko-KR" sz="1900" dirty="0"/>
              <a:t>let </a:t>
            </a:r>
            <a:r>
              <a:rPr lang="en-US" altLang="ko-KR" sz="1900" dirty="0" err="1"/>
              <a:t>removedObj</a:t>
            </a:r>
            <a:r>
              <a:rPr lang="en-US" altLang="ko-KR" sz="1900" dirty="0"/>
              <a:t> = </a:t>
            </a:r>
            <a:r>
              <a:rPr lang="ko-KR" altLang="en-US" sz="1900" dirty="0"/>
              <a:t>부모</a:t>
            </a:r>
            <a:r>
              <a:rPr lang="en-US" altLang="ko-KR" sz="1900" dirty="0"/>
              <a:t>.</a:t>
            </a:r>
            <a:r>
              <a:rPr lang="en-US" altLang="ko-KR" sz="1900" dirty="0" err="1"/>
              <a:t>removeChild</a:t>
            </a:r>
            <a:r>
              <a:rPr lang="en-US" altLang="ko-KR" sz="1900" dirty="0"/>
              <a:t>(</a:t>
            </a:r>
            <a:r>
              <a:rPr lang="ko-KR" altLang="en-US" sz="1900" dirty="0" err="1"/>
              <a:t>떼어내고자하는자식객체</a:t>
            </a:r>
            <a:r>
              <a:rPr lang="en-US" altLang="ko-KR" sz="1900" dirty="0"/>
              <a:t>);</a:t>
            </a:r>
          </a:p>
          <a:p>
            <a:pPr lvl="2"/>
            <a:r>
              <a:rPr lang="ko-KR" altLang="en-US" sz="1900" dirty="0"/>
              <a:t>예</a:t>
            </a:r>
            <a:r>
              <a:rPr lang="en-US" altLang="ko-KR" sz="1900" dirty="0"/>
              <a:t>)</a:t>
            </a:r>
            <a:endParaRPr lang="en-US" altLang="ko-KR" sz="2600" dirty="0"/>
          </a:p>
          <a:p>
            <a:pPr marL="685800" lvl="2" indent="0">
              <a:buNone/>
            </a:pPr>
            <a:r>
              <a:rPr lang="en-US" altLang="ko-KR" sz="2200" dirty="0"/>
              <a:t>     </a:t>
            </a:r>
            <a:endParaRPr lang="ko-KR" altLang="en-US" sz="2200" dirty="0"/>
          </a:p>
          <a:p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pPr/>
              <a:t>30</a:t>
            </a:fld>
            <a:endParaRPr lang="ko-KR" altLang="en-US"/>
          </a:p>
        </p:txBody>
      </p:sp>
      <p:grpSp>
        <p:nvGrpSpPr>
          <p:cNvPr id="13" name="그룹 12"/>
          <p:cNvGrpSpPr/>
          <p:nvPr/>
        </p:nvGrpSpPr>
        <p:grpSpPr>
          <a:xfrm>
            <a:off x="3503712" y="1916832"/>
            <a:ext cx="4572000" cy="1182906"/>
            <a:chOff x="2051720" y="2190055"/>
            <a:chExt cx="4572000" cy="1182906"/>
          </a:xfrm>
        </p:grpSpPr>
        <p:sp>
          <p:nvSpPr>
            <p:cNvPr id="5" name="직사각형 4"/>
            <p:cNvSpPr/>
            <p:nvPr/>
          </p:nvSpPr>
          <p:spPr>
            <a:xfrm>
              <a:off x="2051720" y="2190055"/>
              <a:ext cx="4572000" cy="2923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marL="190500" defTabSz="180000" fontAlgn="base" latinLnBrk="0"/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let </a:t>
              </a:r>
              <a:r>
                <a:rPr lang="en-US" altLang="ko-KR" sz="13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newDIV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 = </a:t>
              </a:r>
              <a:r>
                <a:rPr lang="en-US" altLang="ko-KR" sz="13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document.createElement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("div");</a:t>
              </a: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2051720" y="2550095"/>
              <a:ext cx="4572000" cy="292388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marL="190500" defTabSz="180000" fontAlgn="base" latinLnBrk="0"/>
              <a:r>
                <a:rPr lang="en-US" altLang="ko-KR" sz="13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newDIV.innerHTML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 = 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</a:rPr>
                <a:t>"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새로 생성된 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DIV</a:t>
              </a:r>
              <a:r>
                <a:rPr lang="ko-KR" altLang="en-US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입니다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.";</a:t>
              </a:r>
              <a:endParaRPr lang="ko-KR" altLang="en-US" sz="1300" kern="0" dirty="0">
                <a:solidFill>
                  <a:srgbClr val="000000"/>
                </a:solidFill>
                <a:latin typeface="+mj-ea"/>
                <a:ea typeface="+mj-ea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051720" y="2880518"/>
              <a:ext cx="4572000" cy="49244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>
              <a:spAutoFit/>
            </a:bodyPr>
            <a:lstStyle/>
            <a:p>
              <a:pPr marL="190500" defTabSz="180000" fontAlgn="base" latinLnBrk="0"/>
              <a:r>
                <a:rPr lang="en-US" altLang="ko-KR" sz="13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newDIV.setAttribute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("id", "</a:t>
              </a:r>
              <a:r>
                <a:rPr lang="en-US" altLang="ko-KR" sz="13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myDiv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");</a:t>
              </a:r>
            </a:p>
            <a:p>
              <a:pPr marL="190500" defTabSz="180000" fontAlgn="base" latinLnBrk="0"/>
              <a:r>
                <a:rPr lang="en-US" altLang="ko-KR" sz="1300" kern="0" dirty="0" err="1">
                  <a:solidFill>
                    <a:srgbClr val="000000"/>
                  </a:solidFill>
                  <a:latin typeface="+mj-ea"/>
                  <a:ea typeface="+mj-ea"/>
                </a:rPr>
                <a:t>newDIV.style.backgroundColor</a:t>
              </a:r>
              <a:r>
                <a:rPr lang="en-US" altLang="ko-KR" sz="1300" kern="0" dirty="0">
                  <a:solidFill>
                    <a:srgbClr val="000000"/>
                  </a:solidFill>
                  <a:latin typeface="+mj-ea"/>
                  <a:ea typeface="+mj-ea"/>
                </a:rPr>
                <a:t> = "yellow";</a:t>
              </a:r>
            </a:p>
          </p:txBody>
        </p:sp>
      </p:grpSp>
      <p:sp>
        <p:nvSpPr>
          <p:cNvPr id="17" name="직사각형 16"/>
          <p:cNvSpPr/>
          <p:nvPr/>
        </p:nvSpPr>
        <p:spPr>
          <a:xfrm>
            <a:off x="3545266" y="4221088"/>
            <a:ext cx="4566958" cy="52322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let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p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document.getElementById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("p"); </a:t>
            </a:r>
            <a:endParaRPr lang="ko-KR" altLang="en-US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p.appendChild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newDiv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); 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3545266" y="5527104"/>
            <a:ext cx="5616624" cy="73866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let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myDiv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document.getElementById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("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myDiv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");</a:t>
            </a:r>
          </a:p>
          <a:p>
            <a:pPr marL="190500" defTabSz="180000" fontAlgn="base" latinLnBrk="0"/>
            <a:r>
              <a:rPr lang="en-US" altLang="ko-KR" sz="1400" kern="0" dirty="0">
                <a:solidFill>
                  <a:srgbClr val="000000"/>
                </a:solidFill>
                <a:latin typeface="+mj-ea"/>
              </a:rPr>
              <a:t>let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parent =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myDiv.parentElement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; </a:t>
            </a:r>
            <a:endParaRPr lang="ko-KR" altLang="en-US" sz="1400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190500" defTabSz="180000" fontAlgn="base" latinLnBrk="0"/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parent.removeChild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(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myDiv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); 		//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부모에서 </a:t>
            </a:r>
            <a:r>
              <a:rPr lang="en-US" altLang="ko-KR" sz="1400" kern="0" dirty="0" err="1">
                <a:solidFill>
                  <a:srgbClr val="000000"/>
                </a:solidFill>
                <a:latin typeface="+mj-ea"/>
                <a:ea typeface="+mj-ea"/>
              </a:rPr>
              <a:t>myDiv</a:t>
            </a:r>
            <a:r>
              <a:rPr lang="en-US" altLang="ko-KR" sz="1400" kern="0" dirty="0">
                <a:solidFill>
                  <a:srgbClr val="000000"/>
                </a:solidFill>
                <a:latin typeface="+mj-ea"/>
                <a:ea typeface="+mj-ea"/>
              </a:rPr>
              <a:t> </a:t>
            </a:r>
            <a:r>
              <a:rPr lang="ko-KR" altLang="en-US" sz="1400" kern="0" dirty="0">
                <a:solidFill>
                  <a:srgbClr val="000000"/>
                </a:solidFill>
                <a:latin typeface="+mj-ea"/>
                <a:ea typeface="+mj-ea"/>
              </a:rPr>
              <a:t>객체 삭제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5576CE4-473D-4BF9-900E-EEE33B9D6E29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561151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&lt;div&gt; </a:t>
            </a:r>
            <a:r>
              <a:rPr lang="ko-KR" altLang="en-US" dirty="0"/>
              <a:t>태그의 </a:t>
            </a:r>
            <a:r>
              <a:rPr lang="en-US" altLang="ko-KR" dirty="0"/>
              <a:t>DOM </a:t>
            </a:r>
            <a:r>
              <a:rPr lang="ko-KR" altLang="en-US" dirty="0"/>
              <a:t>객체 동적 생성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31</a:t>
            </a:fld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7D2FBEA9-A3AE-4BEF-88F9-59795C58C0CA}"/>
              </a:ext>
            </a:extLst>
          </p:cNvPr>
          <p:cNvGrpSpPr/>
          <p:nvPr/>
        </p:nvGrpSpPr>
        <p:grpSpPr>
          <a:xfrm>
            <a:off x="1343472" y="1541882"/>
            <a:ext cx="8748152" cy="2102564"/>
            <a:chOff x="2207568" y="2435475"/>
            <a:chExt cx="6980283" cy="1420596"/>
          </a:xfrm>
        </p:grpSpPr>
        <p:sp>
          <p:nvSpPr>
            <p:cNvPr id="5" name="모서리가 둥근 직사각형 4"/>
            <p:cNvSpPr/>
            <p:nvPr/>
          </p:nvSpPr>
          <p:spPr>
            <a:xfrm>
              <a:off x="2207568" y="2435475"/>
              <a:ext cx="3744416" cy="663345"/>
            </a:xfrm>
            <a:prstGeom prst="roundRect">
              <a:avLst>
                <a:gd name="adj" fmla="val 6073"/>
              </a:avLst>
            </a:prstGeom>
            <a:solidFill>
              <a:srgbClr val="FFFFFF"/>
            </a:solidFill>
            <a:ln w="127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92075" defTabSz="180000" fontAlgn="base" latinLnBrk="0"/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let </a:t>
              </a:r>
              <a:r>
                <a:rPr lang="en-US" altLang="ko-KR" sz="1400" kern="0" dirty="0" err="1">
                  <a:solidFill>
                    <a:srgbClr val="000000"/>
                  </a:solidFill>
                  <a:latin typeface="+mj-ea"/>
                </a:rPr>
                <a:t>newDIV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 = </a:t>
              </a:r>
              <a:r>
                <a:rPr lang="en-US" altLang="ko-KR" sz="1400" kern="0" dirty="0" err="1">
                  <a:solidFill>
                    <a:srgbClr val="000000"/>
                  </a:solidFill>
                  <a:latin typeface="+mj-ea"/>
                </a:rPr>
                <a:t>document.createElement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("div");</a:t>
              </a:r>
            </a:p>
            <a:p>
              <a:pPr marL="92075" defTabSz="180000" fontAlgn="base" latinLnBrk="0"/>
              <a:r>
                <a:rPr lang="en-US" altLang="ko-KR" sz="1400" kern="0" dirty="0" err="1">
                  <a:solidFill>
                    <a:srgbClr val="000000"/>
                  </a:solidFill>
                  <a:latin typeface="+mj-ea"/>
                </a:rPr>
                <a:t>newDIV.innerHTML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 = "</a:t>
              </a:r>
              <a:r>
                <a:rPr lang="ko-KR" altLang="en-US" sz="1400" kern="0" dirty="0">
                  <a:solidFill>
                    <a:srgbClr val="000000"/>
                  </a:solidFill>
                  <a:latin typeface="+mj-ea"/>
                </a:rPr>
                <a:t>새로 생성된 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DIV</a:t>
              </a:r>
              <a:r>
                <a:rPr lang="ko-KR" altLang="en-US" sz="1400" kern="0" dirty="0">
                  <a:solidFill>
                    <a:srgbClr val="000000"/>
                  </a:solidFill>
                  <a:latin typeface="+mj-ea"/>
                </a:rPr>
                <a:t>입니다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."; </a:t>
              </a:r>
            </a:p>
            <a:p>
              <a:pPr marL="92075" defTabSz="180000" fontAlgn="base" latinLnBrk="0"/>
              <a:r>
                <a:rPr lang="en-US" altLang="ko-KR" sz="1400" kern="0" dirty="0" err="1">
                  <a:solidFill>
                    <a:srgbClr val="000000"/>
                  </a:solidFill>
                  <a:latin typeface="+mj-ea"/>
                </a:rPr>
                <a:t>newDIV.setAttribute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("id", "</a:t>
              </a:r>
              <a:r>
                <a:rPr lang="en-US" altLang="ko-KR" sz="1400" kern="0" dirty="0" err="1">
                  <a:solidFill>
                    <a:srgbClr val="000000"/>
                  </a:solidFill>
                  <a:latin typeface="+mj-ea"/>
                </a:rPr>
                <a:t>myDiv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");</a:t>
              </a:r>
            </a:p>
            <a:p>
              <a:pPr marL="92075" defTabSz="180000" fontAlgn="base" latinLnBrk="0"/>
              <a:r>
                <a:rPr lang="en-US" altLang="ko-KR" sz="1400" kern="0" dirty="0" err="1">
                  <a:solidFill>
                    <a:srgbClr val="000000"/>
                  </a:solidFill>
                  <a:latin typeface="+mj-ea"/>
                </a:rPr>
                <a:t>newDIV.style.backgroundColor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 = "yellow";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600056" y="2447529"/>
              <a:ext cx="2587795" cy="644642"/>
            </a:xfrm>
            <a:prstGeom prst="rect">
              <a:avLst/>
            </a:prstGeom>
            <a:solidFill>
              <a:srgbClr val="FFFFFF"/>
            </a:solidFill>
            <a:ln w="127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&lt;div id=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"</a:t>
              </a:r>
              <a:r>
                <a:rPr lang="en-US" altLang="ko-KR" sz="1400" dirty="0" err="1"/>
                <a:t>myDiv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"</a:t>
              </a:r>
              <a:endParaRPr lang="en-US" altLang="ko-KR" sz="1400" dirty="0"/>
            </a:p>
            <a:p>
              <a:r>
                <a:rPr lang="en-US" altLang="ko-KR" sz="1400" dirty="0"/>
                <a:t>       style=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"</a:t>
              </a:r>
              <a:r>
                <a:rPr lang="en-US" altLang="ko-KR" sz="1400" dirty="0" err="1"/>
                <a:t>background-color:yellow</a:t>
              </a:r>
              <a:r>
                <a:rPr lang="en-US" altLang="ko-KR" sz="1400" kern="0" dirty="0">
                  <a:solidFill>
                    <a:srgbClr val="000000"/>
                  </a:solidFill>
                  <a:latin typeface="+mj-ea"/>
                </a:rPr>
                <a:t>"</a:t>
              </a:r>
              <a:r>
                <a:rPr lang="en-US" altLang="ko-KR" sz="1400" dirty="0"/>
                <a:t>&gt;</a:t>
              </a:r>
            </a:p>
            <a:p>
              <a:r>
                <a:rPr lang="en-US" altLang="ko-KR" sz="1400" dirty="0"/>
                <a:t>       </a:t>
              </a:r>
              <a:r>
                <a:rPr lang="ko-KR" altLang="en-US" sz="1400" dirty="0"/>
                <a:t>새로 생성된 </a:t>
              </a:r>
              <a:r>
                <a:rPr lang="en-US" altLang="ko-KR" sz="1400" dirty="0"/>
                <a:t>DIV</a:t>
              </a:r>
              <a:r>
                <a:rPr lang="ko-KR" altLang="en-US" sz="1400" dirty="0"/>
                <a:t>입니다</a:t>
              </a:r>
              <a:r>
                <a:rPr lang="en-US" altLang="ko-KR" sz="1400" dirty="0"/>
                <a:t>.</a:t>
              </a:r>
            </a:p>
            <a:p>
              <a:r>
                <a:rPr lang="en-US" altLang="ko-KR" sz="1400" dirty="0"/>
                <a:t>&lt;/div&gt;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423593" y="3356993"/>
              <a:ext cx="3568834" cy="49907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/>
                <a:t>* </a:t>
              </a:r>
              <a:r>
                <a:rPr lang="ko-KR" altLang="en-US" sz="1400" dirty="0"/>
                <a:t>이 </a:t>
              </a:r>
              <a:r>
                <a:rPr lang="en-US" altLang="ko-KR" sz="1400" dirty="0"/>
                <a:t> </a:t>
              </a:r>
              <a:r>
                <a:rPr lang="ko-KR" altLang="en-US" sz="1400" dirty="0"/>
                <a:t>자바스크립트 코드는 사실상 오른쪽의 </a:t>
              </a:r>
              <a:endParaRPr lang="en-US" altLang="ko-KR" sz="1400" dirty="0"/>
            </a:p>
            <a:p>
              <a:r>
                <a:rPr lang="en-US" altLang="ko-KR" sz="1400" dirty="0"/>
                <a:t>  &lt;div&gt; </a:t>
              </a:r>
              <a:r>
                <a:rPr lang="ko-KR" altLang="en-US" sz="1400" dirty="0"/>
                <a:t>태그 정보를 가진 </a:t>
              </a:r>
              <a:r>
                <a:rPr lang="en-US" altLang="ko-KR" sz="1400" dirty="0"/>
                <a:t>DOM </a:t>
              </a:r>
              <a:r>
                <a:rPr lang="ko-KR" altLang="en-US" sz="1400" dirty="0"/>
                <a:t>객체 생성</a:t>
              </a:r>
              <a:endParaRPr lang="en-US" altLang="ko-KR" sz="1400" dirty="0"/>
            </a:p>
            <a:p>
              <a:r>
                <a:rPr lang="ko-KR" altLang="en-US" sz="1400" dirty="0"/>
                <a:t>요놈을 </a:t>
              </a:r>
              <a:r>
                <a:rPr lang="ko-KR" altLang="en-US" sz="1400" dirty="0" err="1"/>
                <a:t>집어넣는건</a:t>
              </a:r>
              <a:r>
                <a:rPr lang="ko-KR" altLang="en-US" sz="1400" dirty="0"/>
                <a:t> 아직 없죠 예제 </a:t>
              </a:r>
              <a:r>
                <a:rPr lang="en-US" altLang="ko-KR" sz="1400" dirty="0"/>
                <a:t>8-11</a:t>
              </a:r>
              <a:r>
                <a:rPr lang="ko-KR" altLang="en-US" sz="1400" dirty="0"/>
                <a:t>에서 </a:t>
              </a:r>
              <a:r>
                <a:rPr lang="ko-KR" altLang="en-US" sz="1400" dirty="0" err="1"/>
                <a:t>할겁니다</a:t>
              </a:r>
              <a:r>
                <a:rPr lang="en-US" altLang="ko-KR" sz="1400" dirty="0"/>
                <a:t>.</a:t>
              </a:r>
              <a:endParaRPr lang="ko-KR" altLang="en-US" sz="1400" dirty="0"/>
            </a:p>
          </p:txBody>
        </p:sp>
        <p:cxnSp>
          <p:nvCxnSpPr>
            <p:cNvPr id="9" name="직선 화살표 연결선 8"/>
            <p:cNvCxnSpPr>
              <a:stCxn id="5" idx="3"/>
              <a:endCxn id="6" idx="1"/>
            </p:cNvCxnSpPr>
            <p:nvPr/>
          </p:nvCxnSpPr>
          <p:spPr>
            <a:xfrm>
              <a:off x="5951984" y="2767148"/>
              <a:ext cx="648071" cy="270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슬라이드 번호 개체 틀 3">
            <a:extLst>
              <a:ext uri="{FF2B5EF4-FFF2-40B4-BE49-F238E27FC236}">
                <a16:creationId xmlns:a16="http://schemas.microsoft.com/office/drawing/2014/main" id="{988F10D6-4D56-4A9A-B89A-AB58BF152D36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88445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1883" y="276351"/>
            <a:ext cx="11074400" cy="648072"/>
          </a:xfrm>
        </p:spPr>
        <p:txBody>
          <a:bodyPr>
            <a:normAutofit/>
          </a:bodyPr>
          <a:lstStyle/>
          <a:p>
            <a:r>
              <a:rPr lang="ko-KR" altLang="en-US" dirty="0"/>
              <a:t>예제 </a:t>
            </a:r>
            <a:r>
              <a:rPr lang="en-US" altLang="ko-KR" dirty="0"/>
              <a:t>8-11 HTML </a:t>
            </a:r>
            <a:r>
              <a:rPr lang="ko-KR" altLang="en-US" dirty="0"/>
              <a:t>태그의 동적 추가 및 삭제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D8AD889-04AB-4B3C-8D9E-BF8FDEFE8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5927" y="755943"/>
            <a:ext cx="2710140" cy="2984851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C0D97257-3B40-48CD-ABFE-6708BCB887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289" y="2788987"/>
            <a:ext cx="2710140" cy="3349372"/>
          </a:xfrm>
          <a:prstGeom prst="rect">
            <a:avLst/>
          </a:prstGeom>
          <a:ln w="6350">
            <a:solidFill>
              <a:srgbClr val="2379BF"/>
            </a:solidFill>
          </a:ln>
        </p:spPr>
      </p:pic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25000" lnSpcReduction="20000"/>
          </a:bodyPr>
          <a:lstStyle/>
          <a:p>
            <a:fld id="{01870596-DAFA-46D2-82A7-2B6B5F8E0EA4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236840" y="811136"/>
            <a:ext cx="5077115" cy="544764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defTabSz="180000"/>
            <a:r>
              <a:rPr lang="en-US" altLang="ko-KR" sz="1200" dirty="0"/>
              <a:t>&lt;!DOCTYPE html&gt;</a:t>
            </a:r>
          </a:p>
          <a:p>
            <a:pPr defTabSz="180000"/>
            <a:r>
              <a:rPr lang="en-US" altLang="ko-KR" sz="1200" dirty="0"/>
              <a:t>&lt;html&gt;</a:t>
            </a:r>
          </a:p>
          <a:p>
            <a:pPr defTabSz="180000"/>
            <a:r>
              <a:rPr lang="en-US" altLang="ko-KR" sz="1200" dirty="0"/>
              <a:t>&lt;head&gt;</a:t>
            </a:r>
          </a:p>
          <a:p>
            <a:pPr defTabSz="180000"/>
            <a:r>
              <a:rPr lang="en-US" altLang="ko-KR" sz="1200" dirty="0"/>
              <a:t>&lt;meta charset="</a:t>
            </a:r>
            <a:r>
              <a:rPr lang="en-US" altLang="ko-KR" sz="1200" dirty="0" err="1"/>
              <a:t>utf</a:t>
            </a:r>
            <a:r>
              <a:rPr lang="en-US" altLang="ko-KR" sz="1200" dirty="0"/>
              <a:t>-8"&gt;&lt;title&gt;</a:t>
            </a:r>
            <a:r>
              <a:rPr lang="ko-KR" altLang="en-US" sz="1200" dirty="0"/>
              <a:t>문서의 동적 구성</a:t>
            </a:r>
            <a:r>
              <a:rPr lang="en-US" altLang="ko-KR" sz="1200" dirty="0"/>
              <a:t>&lt;/title&gt;</a:t>
            </a:r>
          </a:p>
          <a:p>
            <a:pPr defTabSz="180000"/>
            <a:r>
              <a:rPr lang="en-US" altLang="ko-KR" sz="1200" dirty="0"/>
              <a:t>&lt;script&gt;</a:t>
            </a:r>
          </a:p>
          <a:p>
            <a:pPr defTabSz="180000"/>
            <a:r>
              <a:rPr lang="en-US" altLang="ko-KR" sz="1200" b="1" dirty="0"/>
              <a:t>function </a:t>
            </a:r>
            <a:r>
              <a:rPr lang="en-US" altLang="ko-KR" sz="1200" b="1" dirty="0" err="1"/>
              <a:t>createDIV</a:t>
            </a:r>
            <a:r>
              <a:rPr lang="en-US" altLang="ko-KR" sz="1200" b="1" dirty="0"/>
              <a:t>()</a:t>
            </a:r>
            <a:r>
              <a:rPr lang="en-US" altLang="ko-KR" sz="1200" dirty="0"/>
              <a:t> {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let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obj</a:t>
            </a:r>
            <a:r>
              <a:rPr lang="en-US" altLang="ko-KR" sz="1200" dirty="0"/>
              <a:t> = </a:t>
            </a:r>
            <a:r>
              <a:rPr lang="en-US" altLang="ko-KR" sz="1200" dirty="0" err="1"/>
              <a:t>document.getElementById</a:t>
            </a:r>
            <a:r>
              <a:rPr lang="en-US" altLang="ko-KR" sz="1200" dirty="0"/>
              <a:t>("parent");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kern="0" dirty="0">
                <a:solidFill>
                  <a:srgbClr val="000000"/>
                </a:solidFill>
                <a:latin typeface="+mj-ea"/>
              </a:rPr>
              <a:t>let</a:t>
            </a:r>
            <a:r>
              <a:rPr lang="en-US" altLang="ko-KR" sz="1200" dirty="0"/>
              <a:t> </a:t>
            </a:r>
            <a:r>
              <a:rPr lang="en-US" altLang="ko-KR" sz="1200" dirty="0" err="1"/>
              <a:t>newDIV</a:t>
            </a:r>
            <a:r>
              <a:rPr lang="en-US" altLang="ko-KR" sz="1200" dirty="0"/>
              <a:t> = </a:t>
            </a:r>
            <a:r>
              <a:rPr lang="en-US" altLang="ko-KR" sz="1200" b="1" dirty="0" err="1"/>
              <a:t>document.createElement</a:t>
            </a:r>
            <a:r>
              <a:rPr lang="en-US" altLang="ko-KR" sz="1200" b="1" dirty="0"/>
              <a:t>("div")</a:t>
            </a:r>
            <a:r>
              <a:rPr lang="en-US" altLang="ko-KR" sz="1200" dirty="0"/>
              <a:t>;</a:t>
            </a:r>
          </a:p>
          <a:p>
            <a:pPr defTabSz="180000"/>
            <a:r>
              <a:rPr lang="en-US" altLang="ko-KR" sz="1200" dirty="0"/>
              <a:t>	</a:t>
            </a:r>
            <a:r>
              <a:rPr lang="en-US" altLang="ko-KR" sz="1200" b="1" dirty="0" err="1"/>
              <a:t>newDIV.innerHTML</a:t>
            </a:r>
            <a:r>
              <a:rPr lang="en-US" altLang="ko-KR" sz="1200" b="1" dirty="0"/>
              <a:t> = "</a:t>
            </a:r>
            <a:r>
              <a:rPr lang="ko-KR" altLang="en-US" sz="1200" b="1" dirty="0"/>
              <a:t>새로 생성된 </a:t>
            </a:r>
            <a:r>
              <a:rPr lang="en-US" altLang="ko-KR" sz="1200" b="1" dirty="0"/>
              <a:t>DIV</a:t>
            </a:r>
            <a:r>
              <a:rPr lang="ko-KR" altLang="en-US" sz="1200" b="1" dirty="0"/>
              <a:t>입니다</a:t>
            </a:r>
            <a:r>
              <a:rPr lang="en-US" altLang="ko-KR" sz="1200" b="1" dirty="0"/>
              <a:t>.";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/>
              <a:t>newDIV.setAttribute</a:t>
            </a:r>
            <a:r>
              <a:rPr lang="en-US" altLang="ko-KR" sz="1200" b="1" dirty="0"/>
              <a:t>("id", "</a:t>
            </a:r>
            <a:r>
              <a:rPr lang="en-US" altLang="ko-KR" sz="1200" b="1" dirty="0" err="1"/>
              <a:t>myDiv</a:t>
            </a:r>
            <a:r>
              <a:rPr lang="en-US" altLang="ko-KR" sz="1200" b="1" dirty="0"/>
              <a:t>");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/>
              <a:t>newDIV.style.backgroundColor</a:t>
            </a:r>
            <a:r>
              <a:rPr lang="en-US" altLang="ko-KR" sz="1200" b="1" dirty="0"/>
              <a:t> = "yellow";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/>
              <a:t>newDIV.onclick</a:t>
            </a:r>
            <a:r>
              <a:rPr lang="en-US" altLang="ko-KR" sz="1200" dirty="0"/>
              <a:t> = </a:t>
            </a:r>
            <a:r>
              <a:rPr lang="en-US" altLang="ko-KR" sz="1200" b="1" dirty="0"/>
              <a:t>function() {</a:t>
            </a:r>
          </a:p>
          <a:p>
            <a:pPr defTabSz="180000"/>
            <a:r>
              <a:rPr lang="en-US" altLang="ko-KR" sz="1200" b="1" dirty="0"/>
              <a:t>		let p = </a:t>
            </a:r>
            <a:r>
              <a:rPr lang="en-US" altLang="ko-KR" sz="1200" b="1" dirty="0" err="1"/>
              <a:t>this.parentElement</a:t>
            </a:r>
            <a:r>
              <a:rPr lang="en-US" altLang="ko-KR" sz="1200" b="1" dirty="0"/>
              <a:t>; </a:t>
            </a:r>
            <a:r>
              <a:rPr lang="en-US" altLang="ko-KR" sz="1200" dirty="0"/>
              <a:t>// </a:t>
            </a:r>
            <a:r>
              <a:rPr lang="ko-KR" altLang="en-US" sz="1200" dirty="0"/>
              <a:t>부모 </a:t>
            </a:r>
            <a:r>
              <a:rPr lang="en-US" altLang="ko-KR" sz="1200" dirty="0"/>
              <a:t>HTML </a:t>
            </a:r>
            <a:r>
              <a:rPr lang="ko-KR" altLang="en-US" sz="1200" dirty="0"/>
              <a:t>태그 요소</a:t>
            </a:r>
          </a:p>
          <a:p>
            <a:pPr defTabSz="180000"/>
            <a:r>
              <a:rPr lang="en-US" altLang="ko-KR" sz="1200" dirty="0"/>
              <a:t>		</a:t>
            </a:r>
            <a:r>
              <a:rPr lang="en-US" altLang="ko-KR" sz="1200" b="1" dirty="0" err="1"/>
              <a:t>p.removeChild</a:t>
            </a:r>
            <a:r>
              <a:rPr lang="en-US" altLang="ko-KR" sz="1200" b="1" dirty="0"/>
              <a:t>(this); </a:t>
            </a:r>
            <a:r>
              <a:rPr lang="en-US" altLang="ko-KR" sz="1200" dirty="0"/>
              <a:t>// </a:t>
            </a:r>
            <a:r>
              <a:rPr lang="ko-KR" altLang="en-US" sz="1200" dirty="0"/>
              <a:t>자신을 부모로부터 제거</a:t>
            </a:r>
          </a:p>
          <a:p>
            <a:pPr defTabSz="180000"/>
            <a:r>
              <a:rPr lang="en-US" altLang="ko-KR" sz="1200" dirty="0"/>
              <a:t>	};</a:t>
            </a:r>
            <a:r>
              <a:rPr lang="en-US" altLang="ko-KR" sz="1200" b="1" dirty="0"/>
              <a:t>	</a:t>
            </a:r>
          </a:p>
          <a:p>
            <a:pPr defTabSz="180000"/>
            <a:r>
              <a:rPr lang="en-US" altLang="ko-KR" sz="1200" b="1" dirty="0"/>
              <a:t>	</a:t>
            </a:r>
            <a:r>
              <a:rPr lang="en-US" altLang="ko-KR" sz="1200" b="1" dirty="0" err="1"/>
              <a:t>obj.appendChild</a:t>
            </a:r>
            <a:r>
              <a:rPr lang="en-US" altLang="ko-KR" sz="1200" b="1" dirty="0"/>
              <a:t>(</a:t>
            </a:r>
            <a:r>
              <a:rPr lang="en-US" altLang="ko-KR" sz="1200" b="1" dirty="0" err="1"/>
              <a:t>newDIV</a:t>
            </a:r>
            <a:r>
              <a:rPr lang="en-US" altLang="ko-KR" sz="1200" b="1" dirty="0"/>
              <a:t>);</a:t>
            </a:r>
          </a:p>
          <a:p>
            <a:pPr defTabSz="180000"/>
            <a:r>
              <a:rPr lang="en-US" altLang="ko-KR" sz="1200" dirty="0"/>
              <a:t>}</a:t>
            </a:r>
          </a:p>
          <a:p>
            <a:pPr defTabSz="180000"/>
            <a:r>
              <a:rPr lang="en-US" altLang="ko-KR" sz="1200" dirty="0"/>
              <a:t>&lt;/script&gt;</a:t>
            </a:r>
          </a:p>
          <a:p>
            <a:pPr defTabSz="180000"/>
            <a:r>
              <a:rPr lang="en-US" altLang="ko-KR" sz="1200" dirty="0"/>
              <a:t>&lt;/head&gt;</a:t>
            </a:r>
          </a:p>
          <a:p>
            <a:pPr defTabSz="180000"/>
            <a:r>
              <a:rPr lang="en-US" altLang="ko-KR" sz="1200" dirty="0"/>
              <a:t>&lt;body id="parent"&gt;</a:t>
            </a:r>
          </a:p>
          <a:p>
            <a:pPr defTabSz="180000"/>
            <a:r>
              <a:rPr lang="en-US" altLang="ko-KR" sz="1200" dirty="0"/>
              <a:t>&lt;h3&gt;DIV </a:t>
            </a:r>
            <a:r>
              <a:rPr lang="ko-KR" altLang="en-US" sz="1200" dirty="0"/>
              <a:t>객체를 동적으로 생성</a:t>
            </a:r>
            <a:r>
              <a:rPr lang="en-US" altLang="ko-KR" sz="1200" dirty="0"/>
              <a:t>, </a:t>
            </a:r>
            <a:r>
              <a:rPr lang="ko-KR" altLang="en-US" sz="1200" dirty="0"/>
              <a:t>삽입</a:t>
            </a:r>
            <a:r>
              <a:rPr lang="en-US" altLang="ko-KR" sz="1200" dirty="0"/>
              <a:t>, </a:t>
            </a:r>
            <a:r>
              <a:rPr lang="ko-KR" altLang="en-US" sz="1200" dirty="0"/>
              <a:t>삭제하는 예제</a:t>
            </a:r>
            <a:r>
              <a:rPr lang="en-US" altLang="ko-KR" sz="1200" dirty="0"/>
              <a:t>&lt;/h3&gt;</a:t>
            </a:r>
          </a:p>
          <a:p>
            <a:pPr defTabSz="180000"/>
            <a:r>
              <a:rPr lang="en-US" altLang="ko-KR" sz="1200" dirty="0"/>
              <a:t>&lt;</a:t>
            </a:r>
            <a:r>
              <a:rPr lang="en-US" altLang="ko-KR" sz="1200" dirty="0" err="1"/>
              <a:t>hr</a:t>
            </a:r>
            <a:r>
              <a:rPr lang="en-US" altLang="ko-KR" sz="1200" dirty="0"/>
              <a:t>&gt;</a:t>
            </a:r>
          </a:p>
          <a:p>
            <a:pPr defTabSz="180000"/>
            <a:r>
              <a:rPr lang="en-US" altLang="ko-KR" sz="1200" dirty="0"/>
              <a:t>&lt;p&gt;DOM </a:t>
            </a:r>
            <a:r>
              <a:rPr lang="ko-KR" altLang="en-US" sz="1200" dirty="0" err="1"/>
              <a:t>트리에</a:t>
            </a:r>
            <a:r>
              <a:rPr lang="ko-KR" altLang="en-US" sz="1200" dirty="0"/>
              <a:t> 동적으로 객체를 삽입할 수 있습니다</a:t>
            </a:r>
            <a:r>
              <a:rPr lang="en-US" altLang="ko-KR" sz="1200" dirty="0"/>
              <a:t>.</a:t>
            </a:r>
          </a:p>
          <a:p>
            <a:pPr defTabSz="180000"/>
            <a:r>
              <a:rPr lang="en-US" altLang="ko-KR" sz="1200" dirty="0" err="1"/>
              <a:t>createElement</a:t>
            </a:r>
            <a:r>
              <a:rPr lang="en-US" altLang="ko-KR" sz="1200" dirty="0"/>
              <a:t>(), </a:t>
            </a:r>
            <a:r>
              <a:rPr lang="en-US" altLang="ko-KR" sz="1200" dirty="0" err="1"/>
              <a:t>appendChild</a:t>
            </a:r>
            <a:r>
              <a:rPr lang="en-US" altLang="ko-KR" sz="1200" dirty="0"/>
              <a:t>(), </a:t>
            </a:r>
          </a:p>
          <a:p>
            <a:pPr defTabSz="180000"/>
            <a:r>
              <a:rPr lang="en-US" altLang="ko-KR" sz="1200" dirty="0" err="1"/>
              <a:t>removeChild</a:t>
            </a:r>
            <a:r>
              <a:rPr lang="en-US" altLang="ko-KR" sz="1200" dirty="0"/>
              <a:t>() </a:t>
            </a:r>
            <a:r>
              <a:rPr lang="ko-KR" altLang="en-US" sz="1200" dirty="0" err="1"/>
              <a:t>메소드를</a:t>
            </a:r>
            <a:r>
              <a:rPr lang="ko-KR" altLang="en-US" sz="1200" dirty="0"/>
              <a:t> 이용하여 새로운 객체를 생성</a:t>
            </a:r>
            <a:r>
              <a:rPr lang="en-US" altLang="ko-KR" sz="1200" dirty="0"/>
              <a:t>,</a:t>
            </a:r>
          </a:p>
          <a:p>
            <a:pPr defTabSz="180000"/>
            <a:r>
              <a:rPr lang="ko-KR" altLang="en-US" sz="1200" dirty="0"/>
              <a:t>삽입</a:t>
            </a:r>
            <a:r>
              <a:rPr lang="en-US" altLang="ko-KR" sz="1200" dirty="0"/>
              <a:t>, </a:t>
            </a:r>
            <a:r>
              <a:rPr lang="ko-KR" altLang="en-US" sz="1200" dirty="0"/>
              <a:t>삭제하는 예제입니다</a:t>
            </a:r>
            <a:r>
              <a:rPr lang="en-US" altLang="ko-KR" sz="1200" dirty="0"/>
              <a:t>.&lt;/p&gt;</a:t>
            </a:r>
          </a:p>
          <a:p>
            <a:pPr defTabSz="180000"/>
            <a:r>
              <a:rPr lang="en-US" altLang="ko-KR" sz="1200" dirty="0"/>
              <a:t>&lt;a </a:t>
            </a:r>
            <a:r>
              <a:rPr lang="en-US" altLang="ko-KR" sz="1200" dirty="0" err="1"/>
              <a:t>href</a:t>
            </a:r>
            <a:r>
              <a:rPr lang="en-US" altLang="ko-KR" sz="1200" dirty="0"/>
              <a:t>="</a:t>
            </a:r>
            <a:r>
              <a:rPr lang="en-US" altLang="ko-KR" sz="1200" b="1" dirty="0" err="1"/>
              <a:t>javascript:createDIV</a:t>
            </a:r>
            <a:r>
              <a:rPr lang="en-US" altLang="ko-KR" sz="1200" b="1" dirty="0"/>
              <a:t>()</a:t>
            </a:r>
            <a:r>
              <a:rPr lang="en-US" altLang="ko-KR" sz="1200" dirty="0"/>
              <a:t>"&gt;DIV </a:t>
            </a:r>
            <a:r>
              <a:rPr lang="ko-KR" altLang="en-US" sz="1200" dirty="0"/>
              <a:t>생성</a:t>
            </a:r>
            <a:r>
              <a:rPr lang="en-US" altLang="ko-KR" sz="1200" dirty="0"/>
              <a:t>&lt;/a&gt;&lt;p&gt;</a:t>
            </a:r>
          </a:p>
          <a:p>
            <a:pPr defTabSz="180000"/>
            <a:r>
              <a:rPr lang="en-US" altLang="ko-KR" sz="1200" dirty="0"/>
              <a:t>&lt;p&gt;</a:t>
            </a:r>
          </a:p>
          <a:p>
            <a:pPr defTabSz="180000"/>
            <a:r>
              <a:rPr lang="en-US" altLang="ko-KR" sz="1200" dirty="0"/>
              <a:t>&lt;/body&gt;&lt;/html&gt;</a:t>
            </a:r>
            <a:endParaRPr lang="ko-KR" altLang="en-US" sz="1200" dirty="0"/>
          </a:p>
        </p:txBody>
      </p:sp>
      <p:sp>
        <p:nvSpPr>
          <p:cNvPr id="6" name="모서리가 둥근 사각형 설명선 5"/>
          <p:cNvSpPr/>
          <p:nvPr/>
        </p:nvSpPr>
        <p:spPr>
          <a:xfrm>
            <a:off x="5951984" y="3869107"/>
            <a:ext cx="1513333" cy="442674"/>
          </a:xfrm>
          <a:prstGeom prst="wedgeRoundRectCallout">
            <a:avLst>
              <a:gd name="adj1" fmla="val 23999"/>
              <a:gd name="adj2" fmla="val -103569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클릭하면 아래와 같이 </a:t>
            </a:r>
            <a:r>
              <a:rPr lang="en-US" altLang="ko-KR" sz="1000" dirty="0"/>
              <a:t>&lt;div&gt; </a:t>
            </a:r>
            <a:r>
              <a:rPr lang="ko-KR" altLang="en-US" sz="1000" dirty="0"/>
              <a:t>태그가 삽입</a:t>
            </a:r>
          </a:p>
        </p:txBody>
      </p:sp>
      <p:sp>
        <p:nvSpPr>
          <p:cNvPr id="9" name="모서리가 둥근 사각형 설명선 8"/>
          <p:cNvSpPr/>
          <p:nvPr/>
        </p:nvSpPr>
        <p:spPr>
          <a:xfrm>
            <a:off x="6600056" y="5741316"/>
            <a:ext cx="1098450" cy="272415"/>
          </a:xfrm>
          <a:prstGeom prst="wedgeRoundRectCallout">
            <a:avLst>
              <a:gd name="adj1" fmla="val 64096"/>
              <a:gd name="adj2" fmla="val -2452"/>
              <a:gd name="adj3" fmla="val 16667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000" dirty="0"/>
              <a:t>클릭하면 삭제</a:t>
            </a:r>
          </a:p>
        </p:txBody>
      </p:sp>
      <p:sp>
        <p:nvSpPr>
          <p:cNvPr id="10" name="슬라이드 번호 개체 틀 3">
            <a:extLst>
              <a:ext uri="{FF2B5EF4-FFF2-40B4-BE49-F238E27FC236}">
                <a16:creationId xmlns:a16="http://schemas.microsoft.com/office/drawing/2014/main" id="{A506BDF0-DC3C-4EEF-A076-4523020ED6B8}"/>
              </a:ext>
            </a:extLst>
          </p:cNvPr>
          <p:cNvSpPr txBox="1">
            <a:spLocks/>
          </p:cNvSpPr>
          <p:nvPr/>
        </p:nvSpPr>
        <p:spPr>
          <a:xfrm>
            <a:off x="11326283" y="6342782"/>
            <a:ext cx="39882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rgbClr val="0070C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1870596-DAFA-46D2-82A7-2B6B5F8E0EA4}" type="slidenum">
              <a:rPr lang="ko-KR" altLang="en-US" smtClean="0"/>
              <a:pPr/>
              <a:t>32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96075288"/>
      </p:ext>
    </p:extLst>
  </p:cSld>
  <p:clrMapOvr>
    <a:masterClrMapping/>
  </p:clrMapOvr>
</p:sld>
</file>

<file path=ppt/theme/theme1.xml><?xml version="1.0" encoding="utf-8"?>
<a:theme xmlns:a="http://schemas.openxmlformats.org/drawingml/2006/main" name="KISA">
  <a:themeElements>
    <a:clrScheme name="">
      <a:dk1>
        <a:srgbClr val="800000"/>
      </a:dk1>
      <a:lt1>
        <a:srgbClr val="000066"/>
      </a:lt1>
      <a:dk2>
        <a:srgbClr val="000000"/>
      </a:dk2>
      <a:lt2>
        <a:srgbClr val="333399"/>
      </a:lt2>
      <a:accent1>
        <a:srgbClr val="777777"/>
      </a:accent1>
      <a:accent2>
        <a:srgbClr val="0033CC"/>
      </a:accent2>
      <a:accent3>
        <a:srgbClr val="AAAAAA"/>
      </a:accent3>
      <a:accent4>
        <a:srgbClr val="000056"/>
      </a:accent4>
      <a:accent5>
        <a:srgbClr val="BDBDBD"/>
      </a:accent5>
      <a:accent6>
        <a:srgbClr val="002DB9"/>
      </a:accent6>
      <a:hlink>
        <a:srgbClr val="800000"/>
      </a:hlink>
      <a:folHlink>
        <a:srgbClr val="660066"/>
      </a:folHlink>
    </a:clrScheme>
    <a:fontScheme name="사용자 지정 1">
      <a:majorFont>
        <a:latin typeface="Tahoma"/>
        <a:ea typeface="HY헤드라인M"/>
        <a:cs typeface=""/>
      </a:majorFont>
      <a:minorFont>
        <a:latin typeface="Ebrima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9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KISA 1">
        <a:dk1>
          <a:srgbClr val="800000"/>
        </a:dk1>
        <a:lt1>
          <a:srgbClr val="FFFFFF"/>
        </a:lt1>
        <a:dk2>
          <a:srgbClr val="000000"/>
        </a:dk2>
        <a:lt2>
          <a:srgbClr val="FFFFCC"/>
        </a:lt2>
        <a:accent1>
          <a:srgbClr val="777777"/>
        </a:accent1>
        <a:accent2>
          <a:srgbClr val="0033CC"/>
        </a:accent2>
        <a:accent3>
          <a:srgbClr val="AAAAAA"/>
        </a:accent3>
        <a:accent4>
          <a:srgbClr val="DADADA"/>
        </a:accent4>
        <a:accent5>
          <a:srgbClr val="BDBDBD"/>
        </a:accent5>
        <a:accent6>
          <a:srgbClr val="002DB9"/>
        </a:accent6>
        <a:hlink>
          <a:srgbClr val="800000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ISA 2">
        <a:dk1>
          <a:srgbClr val="009999"/>
        </a:dk1>
        <a:lt1>
          <a:srgbClr val="FFFFFF"/>
        </a:lt1>
        <a:dk2>
          <a:srgbClr val="336699"/>
        </a:dk2>
        <a:lt2>
          <a:srgbClr val="010000"/>
        </a:lt2>
        <a:accent1>
          <a:srgbClr val="CCECFF"/>
        </a:accent1>
        <a:accent2>
          <a:srgbClr val="FFFFCC"/>
        </a:accent2>
        <a:accent3>
          <a:srgbClr val="FFFFFF"/>
        </a:accent3>
        <a:accent4>
          <a:srgbClr val="008282"/>
        </a:accent4>
        <a:accent5>
          <a:srgbClr val="E2F4FF"/>
        </a:accent5>
        <a:accent6>
          <a:srgbClr val="E7E7B9"/>
        </a:accent6>
        <a:hlink>
          <a:srgbClr val="FF9966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ISA 3">
        <a:dk1>
          <a:srgbClr val="000000"/>
        </a:dk1>
        <a:lt1>
          <a:srgbClr val="FFFFFF"/>
        </a:lt1>
        <a:dk2>
          <a:srgbClr val="000000"/>
        </a:dk2>
        <a:lt2>
          <a:srgbClr val="CBCBCB"/>
        </a:lt2>
        <a:accent1>
          <a:srgbClr val="C0C0C0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C8C8C8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강의자료 기본서식-허석렬</Template>
  <TotalTime>15578</TotalTime>
  <Words>4508</Words>
  <Application>Microsoft Office PowerPoint</Application>
  <PresentationFormat>와이드스크린</PresentationFormat>
  <Paragraphs>788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43" baseType="lpstr">
      <vt:lpstr>Microsoft YaHei</vt:lpstr>
      <vt:lpstr>굴림</vt:lpstr>
      <vt:lpstr>맑은 고딕</vt:lpstr>
      <vt:lpstr>Arial</vt:lpstr>
      <vt:lpstr>Comic Sans MS</vt:lpstr>
      <vt:lpstr>Ebrima</vt:lpstr>
      <vt:lpstr>Helvetica</vt:lpstr>
      <vt:lpstr>Tahoma</vt:lpstr>
      <vt:lpstr>Times New Roman</vt:lpstr>
      <vt:lpstr>Wingdings</vt:lpstr>
      <vt:lpstr>KISA</vt:lpstr>
      <vt:lpstr>8. HTML DOM과 Document</vt:lpstr>
      <vt:lpstr>강의 목표</vt:lpstr>
      <vt:lpstr>HTML 페이지와 자바스크립트 객체</vt:lpstr>
      <vt:lpstr>HTML DOM(Document Object Model)</vt:lpstr>
      <vt:lpstr>PowerPoint 프레젠테이션</vt:lpstr>
      <vt:lpstr>DOM 트리의 특징</vt:lpstr>
      <vt:lpstr>DOM 객체와 HTML 페이지의 화면 출력</vt:lpstr>
      <vt:lpstr>DOM 객체의 구성 요소</vt:lpstr>
      <vt:lpstr>PowerPoint 프레젠테이션</vt:lpstr>
      <vt:lpstr>HTML 태그의 요소</vt:lpstr>
      <vt:lpstr>DOM 객체의 프로퍼티와 DOM 객체사이의 관계</vt:lpstr>
      <vt:lpstr>예제 8-1 DOM 객체의 구조 출력 : p 객체 사례</vt:lpstr>
      <vt:lpstr>DOM 객체 다루기</vt:lpstr>
      <vt:lpstr>예제 8–2 &lt;span&gt;의 CSS3 스타일 동적 변경</vt:lpstr>
      <vt:lpstr>innerHTML 프로퍼티</vt:lpstr>
      <vt:lpstr>예제 8-3 innerHTML을 이용하여 HTML 콘텐츠 동적 변경</vt:lpstr>
      <vt:lpstr>this</vt:lpstr>
      <vt:lpstr>예제 8-4 this 활용</vt:lpstr>
      <vt:lpstr>document 객체 </vt:lpstr>
      <vt:lpstr>예제 8-5 document 객체의 프로퍼티 출력</vt:lpstr>
      <vt:lpstr>예제 8-5 document 객체의 프로퍼티 출력</vt:lpstr>
      <vt:lpstr>DOM 트리에서 DOM 객체 찾기</vt:lpstr>
      <vt:lpstr>예제 8-6 태그 이름으로 DOM 객체 찾기, getElementsByTagName()</vt:lpstr>
      <vt:lpstr>예제 8-7 class 속성으로 DOM 객체 찾기, getElementsByClassName() food class와 place class</vt:lpstr>
      <vt:lpstr>document.write()와 document.writeln()</vt:lpstr>
      <vt:lpstr>예제 8-8 write()와 writeln() 메소드 활용</vt:lpstr>
      <vt:lpstr>예제 8-9 write()를 잘못 사용하는 예</vt:lpstr>
      <vt:lpstr>document의 열기와 닫기, open()과 close()</vt:lpstr>
      <vt:lpstr>예제 8-10 HTML 문서 작성 연습 페이지 만들기 (재밌는 코드 실행 요망)</vt:lpstr>
      <vt:lpstr>문서의 동적 구성</vt:lpstr>
      <vt:lpstr>&lt;div&gt; 태그의 DOM 객체 동적 생성</vt:lpstr>
      <vt:lpstr>예제 8-11 HTML 태그의 동적 추가 및 삭제 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 프로그래밍 개요</dc:title>
  <dc:creator>Microsoft Corporation</dc:creator>
  <cp:lastModifiedBy>jbsiz</cp:lastModifiedBy>
  <cp:revision>89</cp:revision>
  <dcterms:created xsi:type="dcterms:W3CDTF">2006-10-05T04:04:58Z</dcterms:created>
  <dcterms:modified xsi:type="dcterms:W3CDTF">2026-04-03T18:36:01Z</dcterms:modified>
</cp:coreProperties>
</file>