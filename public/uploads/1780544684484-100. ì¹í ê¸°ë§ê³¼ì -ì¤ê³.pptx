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3" r:id="rId5"/>
    <p:sldId id="261" r:id="rId6"/>
    <p:sldId id="265" r:id="rId7"/>
    <p:sldId id="266" r:id="rId8"/>
    <p:sldId id="267" r:id="rId9"/>
    <p:sldId id="268" r:id="rId10"/>
    <p:sldId id="279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0" r:id="rId21"/>
    <p:sldId id="291" r:id="rId22"/>
    <p:sldId id="292" r:id="rId23"/>
    <p:sldId id="293" r:id="rId24"/>
    <p:sldId id="278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8" r:id="rId35"/>
    <p:sldId id="311" r:id="rId36"/>
    <p:sldId id="294" r:id="rId37"/>
    <p:sldId id="295" r:id="rId38"/>
    <p:sldId id="296" r:id="rId39"/>
    <p:sldId id="297" r:id="rId40"/>
    <p:sldId id="290" r:id="rId41"/>
    <p:sldId id="301" r:id="rId42"/>
    <p:sldId id="299" r:id="rId43"/>
    <p:sldId id="304" r:id="rId44"/>
    <p:sldId id="300" r:id="rId45"/>
    <p:sldId id="302" r:id="rId46"/>
    <p:sldId id="307" r:id="rId47"/>
    <p:sldId id="308" r:id="rId48"/>
    <p:sldId id="310" r:id="rId49"/>
    <p:sldId id="309" r:id="rId50"/>
    <p:sldId id="303" r:id="rId51"/>
    <p:sldId id="305" r:id="rId52"/>
    <p:sldId id="306" r:id="rId53"/>
    <p:sldId id="312" r:id="rId54"/>
    <p:sldId id="317" r:id="rId55"/>
    <p:sldId id="315" r:id="rId56"/>
    <p:sldId id="316" r:id="rId57"/>
    <p:sldId id="314" r:id="rId58"/>
    <p:sldId id="319" r:id="rId59"/>
    <p:sldId id="320" r:id="rId60"/>
    <p:sldId id="321" r:id="rId61"/>
    <p:sldId id="322" r:id="rId62"/>
    <p:sldId id="318" r:id="rId63"/>
    <p:sldId id="323" r:id="rId64"/>
    <p:sldId id="328" r:id="rId65"/>
    <p:sldId id="324" r:id="rId66"/>
    <p:sldId id="325" r:id="rId67"/>
    <p:sldId id="326" r:id="rId68"/>
    <p:sldId id="327" r:id="rId69"/>
    <p:sldId id="329" r:id="rId7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2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7328" y="457200"/>
            <a:ext cx="12090400" cy="6324600"/>
            <a:chOff x="48" y="144"/>
            <a:chExt cx="5712" cy="4128"/>
          </a:xfrm>
        </p:grpSpPr>
        <p:sp>
          <p:nvSpPr>
            <p:cNvPr id="4099" name="AutoShape 3"/>
            <p:cNvSpPr>
              <a:spLocks noChangeArrowheads="1"/>
            </p:cNvSpPr>
            <p:nvPr userDrawn="1"/>
          </p:nvSpPr>
          <p:spPr bwMode="auto">
            <a:xfrm>
              <a:off x="48" y="144"/>
              <a:ext cx="5712" cy="4128"/>
            </a:xfrm>
            <a:prstGeom prst="roundRect">
              <a:avLst>
                <a:gd name="adj" fmla="val 770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0" name="Rectangle 4"/>
            <p:cNvSpPr>
              <a:spLocks noChangeArrowheads="1"/>
            </p:cNvSpPr>
            <p:nvPr userDrawn="1"/>
          </p:nvSpPr>
          <p:spPr bwMode="auto">
            <a:xfrm>
              <a:off x="4992" y="144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1" name="Rectangle 5"/>
            <p:cNvSpPr>
              <a:spLocks noChangeArrowheads="1"/>
            </p:cNvSpPr>
            <p:nvPr userDrawn="1"/>
          </p:nvSpPr>
          <p:spPr bwMode="auto">
            <a:xfrm>
              <a:off x="48" y="3648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</p:grp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ko-KR" sz="1400" b="1" i="1" dirty="0">
                <a:solidFill>
                  <a:srgbClr val="FFFFFF"/>
                </a:solidFill>
              </a:rPr>
              <a:t> </a:t>
            </a:r>
            <a:endParaRPr lang="ko-KR" altLang="en-US" sz="1400" b="1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149600" y="3717032"/>
            <a:ext cx="6096000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 typeface="Wingdings" pitchFamily="2" charset="2"/>
              <a:buNone/>
              <a:defRPr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492896"/>
            <a:ext cx="9347200" cy="639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lnSpc>
                <a:spcPct val="80000"/>
              </a:lnSpc>
              <a:defRPr sz="4400" i="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2678544" y="3356992"/>
            <a:ext cx="73152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3333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10261600" y="457200"/>
            <a:ext cx="193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800"/>
          </a:p>
        </p:txBody>
      </p:sp>
      <p:pic>
        <p:nvPicPr>
          <p:cNvPr id="4112" name="Picture 16" descr="D:\usr\강의노트\부산대 로고\sanjinee_use02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" y="616916"/>
            <a:ext cx="1323043" cy="63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22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392" y="394802"/>
            <a:ext cx="11074400" cy="648072"/>
          </a:xfrm>
        </p:spPr>
        <p:txBody>
          <a:bodyPr/>
          <a:lstStyle>
            <a:lvl1pPr>
              <a:defRPr b="0" i="0" baseline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0" i="0" baseline="0">
                <a:solidFill>
                  <a:schemeClr val="tx1"/>
                </a:solidFill>
                <a:latin typeface="Ebrima" panose="02000000000000000000" pitchFamily="2" charset="0"/>
              </a:defRPr>
            </a:lvl1pPr>
            <a:lvl2pPr>
              <a:defRPr sz="2200"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2pPr>
            <a:lvl3pPr>
              <a:defRPr sz="2000"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3pPr>
            <a:lvl4pPr>
              <a:defRPr sz="2000"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4pPr>
            <a:lvl5pPr>
              <a:defRPr strike="noStrike" baseline="0">
                <a:latin typeface="Ebrima" panose="02000000000000000000" pitchFamily="2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79805" y="1033686"/>
            <a:ext cx="12012195" cy="75342"/>
          </a:xfrm>
          <a:prstGeom prst="rect">
            <a:avLst/>
          </a:prstGeom>
          <a:gradFill rotWithShape="0">
            <a:gsLst>
              <a:gs pos="0">
                <a:srgbClr val="3F59C7"/>
              </a:gs>
              <a:gs pos="100000">
                <a:srgbClr val="91DBE5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76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420889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48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79805" y="1033686"/>
            <a:ext cx="12012195" cy="75342"/>
          </a:xfrm>
          <a:prstGeom prst="rect">
            <a:avLst/>
          </a:prstGeom>
          <a:gradFill rotWithShape="0">
            <a:gsLst>
              <a:gs pos="0">
                <a:srgbClr val="3F59C7"/>
              </a:gs>
              <a:gs pos="100000">
                <a:srgbClr val="91DBE5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77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500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79805" y="1033686"/>
            <a:ext cx="12012195" cy="75342"/>
          </a:xfrm>
          <a:prstGeom prst="rect">
            <a:avLst/>
          </a:prstGeom>
          <a:gradFill rotWithShape="0">
            <a:gsLst>
              <a:gs pos="0">
                <a:srgbClr val="3F59C7"/>
              </a:gs>
              <a:gs pos="100000">
                <a:srgbClr val="91DBE5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66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51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79805" y="1033686"/>
            <a:ext cx="12012195" cy="75342"/>
          </a:xfrm>
          <a:prstGeom prst="rect">
            <a:avLst/>
          </a:prstGeom>
          <a:gradFill rotWithShape="0">
            <a:gsLst>
              <a:gs pos="0">
                <a:srgbClr val="3F59C7"/>
              </a:gs>
              <a:gs pos="100000">
                <a:srgbClr val="91DBE5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57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10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28187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35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29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18600" y="457200"/>
            <a:ext cx="2768600" cy="5562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12800" y="457200"/>
            <a:ext cx="8102600" cy="5562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800" y="457200"/>
            <a:ext cx="11074400" cy="762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914400" y="1371600"/>
            <a:ext cx="10668000" cy="464820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64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86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743B9"/>
            </a:gs>
            <a:gs pos="100000">
              <a:srgbClr val="04D2E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ko-KR" altLang="en-US" sz="14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웹 프로그래밍       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150859" y="312860"/>
            <a:ext cx="11947061" cy="6428508"/>
          </a:xfrm>
          <a:prstGeom prst="roundRect">
            <a:avLst>
              <a:gd name="adj" fmla="val 7704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23392" y="386908"/>
            <a:ext cx="11074400" cy="648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089" name="Picture 17" descr="D:\usr\강의노트\부산대 로고\signature01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0" y="6309320"/>
            <a:ext cx="1920213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392" y="1124744"/>
            <a:ext cx="11130293" cy="5040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320469" y="6342782"/>
            <a:ext cx="1404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3565-3F48-476B-9219-E29C709D90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35563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0">
          <a:solidFill>
            <a:srgbClr val="47309C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2pPr>
      <a:lvl3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3pPr>
      <a:lvl4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4pPr>
      <a:lvl5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5pPr>
      <a:lvl6pPr marL="4572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6pPr>
      <a:lvl7pPr marL="9144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7pPr>
      <a:lvl8pPr marL="13716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8pPr>
      <a:lvl9pPr marL="18288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q"/>
        <a:defRPr kumimoji="1" sz="2800" b="0" i="0" baseline="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umimoji="1" sz="2600" baseline="0">
          <a:solidFill>
            <a:schemeClr val="bg1"/>
          </a:solidFill>
          <a:latin typeface="Arial" panose="020B0604020202020204" pitchFamily="34" charset="0"/>
          <a:ea typeface="맑은 고딕" panose="020B0503020000020004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FF5050"/>
        </a:buClr>
        <a:buSzPct val="80000"/>
        <a:buChar char="o"/>
        <a:defRPr kumimoji="1" sz="2400">
          <a:solidFill>
            <a:schemeClr val="bg1"/>
          </a:solidFill>
          <a:latin typeface="Arial" panose="020B0604020202020204" pitchFamily="34" charset="0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00FF"/>
        </a:buClr>
        <a:buSzPct val="100000"/>
        <a:buChar char="•"/>
        <a:defRPr kumimoji="1" sz="2400">
          <a:solidFill>
            <a:schemeClr val="bg1"/>
          </a:solidFill>
          <a:latin typeface="Arial" panose="020B0604020202020204" pitchFamily="34" charset="0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Arial" panose="020B0604020202020204" pitchFamily="34" charset="0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register.ej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host:3000/login" TargetMode="External"/><Relationship Id="rId2" Type="http://schemas.openxmlformats.org/officeDocument/2006/relationships/hyperlink" Target="https://localhost:3000/registe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:/board" TargetMode="External"/><Relationship Id="rId7" Type="http://schemas.openxmlformats.org/officeDocument/2006/relationships/image" Target="../media/image15.pn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://localhost:3000:/user/login" TargetMode="External"/><Relationship Id="rId4" Type="http://schemas.openxmlformats.org/officeDocument/2006/relationships/hyperlink" Target="http://localhost:3000:/user/register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localhost:3000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3A5FA-A670-4FEA-9D50-0A9FB5E1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2026 </a:t>
            </a:r>
            <a:r>
              <a:rPr lang="ko-KR" altLang="en-US" dirty="0"/>
              <a:t>웹프로그래밍 기말 과제</a:t>
            </a:r>
            <a:r>
              <a:rPr lang="en-US" altLang="ko-KR" dirty="0"/>
              <a:t>(</a:t>
            </a:r>
            <a:r>
              <a:rPr lang="ko-KR" altLang="en-US" dirty="0"/>
              <a:t>간단한 쇼핑몰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grpSp>
        <p:nvGrpSpPr>
          <p:cNvPr id="58" name="그룹 2">
            <a:extLst>
              <a:ext uri="{FF2B5EF4-FFF2-40B4-BE49-F238E27FC236}">
                <a16:creationId xmlns:a16="http://schemas.microsoft.com/office/drawing/2014/main" id="{4B6208B0-AF37-44A9-AA82-077365A01CAD}"/>
              </a:ext>
            </a:extLst>
          </p:cNvPr>
          <p:cNvGrpSpPr>
            <a:grpSpLocks/>
          </p:cNvGrpSpPr>
          <p:nvPr/>
        </p:nvGrpSpPr>
        <p:grpSpPr bwMode="auto">
          <a:xfrm>
            <a:off x="2166827" y="1186416"/>
            <a:ext cx="6927851" cy="5476875"/>
            <a:chOff x="636023" y="593999"/>
            <a:chExt cx="7383522" cy="5837317"/>
          </a:xfrm>
        </p:grpSpPr>
        <p:sp>
          <p:nvSpPr>
            <p:cNvPr id="59" name="모서리가 둥근 직사각형 97">
              <a:extLst>
                <a:ext uri="{FF2B5EF4-FFF2-40B4-BE49-F238E27FC236}">
                  <a16:creationId xmlns:a16="http://schemas.microsoft.com/office/drawing/2014/main" id="{C59DD8A4-5BA0-43EC-B992-AA082DB490FD}"/>
                </a:ext>
              </a:extLst>
            </p:cNvPr>
            <p:cNvSpPr/>
            <p:nvPr/>
          </p:nvSpPr>
          <p:spPr>
            <a:xfrm>
              <a:off x="636023" y="593999"/>
              <a:ext cx="1274013" cy="360391"/>
            </a:xfrm>
            <a:prstGeom prst="round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메인페이지</a:t>
              </a:r>
              <a:endPara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200CD88-DA45-48A6-BCFC-DC5D83F287AF}"/>
                </a:ext>
              </a:extLst>
            </p:cNvPr>
            <p:cNvSpPr/>
            <p:nvPr/>
          </p:nvSpPr>
          <p:spPr>
            <a:xfrm>
              <a:off x="636023" y="3213178"/>
              <a:ext cx="1274013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리스트 페이지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BE38393-330A-4539-9E9E-851A809913EE}"/>
                </a:ext>
              </a:extLst>
            </p:cNvPr>
            <p:cNvSpPr/>
            <p:nvPr/>
          </p:nvSpPr>
          <p:spPr>
            <a:xfrm>
              <a:off x="636023" y="3930576"/>
              <a:ext cx="1274013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제품 상세 페이지</a:t>
              </a: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9174F49-C8B0-439D-9129-F3E0D697076D}"/>
                </a:ext>
              </a:extLst>
            </p:cNvPr>
            <p:cNvSpPr/>
            <p:nvPr/>
          </p:nvSpPr>
          <p:spPr>
            <a:xfrm>
              <a:off x="636023" y="4521076"/>
              <a:ext cx="1274013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위시리스트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CD13CFC8-F58E-4CF7-AA67-16D95D41B7DA}"/>
                </a:ext>
              </a:extLst>
            </p:cNvPr>
            <p:cNvSpPr/>
            <p:nvPr/>
          </p:nvSpPr>
          <p:spPr>
            <a:xfrm>
              <a:off x="2052157" y="4521076"/>
              <a:ext cx="1274012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장바구니</a:t>
              </a:r>
            </a:p>
          </p:txBody>
        </p:sp>
        <p:cxnSp>
          <p:nvCxnSpPr>
            <p:cNvPr id="70" name="꺾인 연결선 102">
              <a:extLst>
                <a:ext uri="{FF2B5EF4-FFF2-40B4-BE49-F238E27FC236}">
                  <a16:creationId xmlns:a16="http://schemas.microsoft.com/office/drawing/2014/main" id="{CFC3643A-2D28-4BD4-92F4-711EC0E101E9}"/>
                </a:ext>
              </a:extLst>
            </p:cNvPr>
            <p:cNvCxnSpPr>
              <a:stCxn id="62" idx="2"/>
              <a:endCxn id="69" idx="0"/>
            </p:cNvCxnSpPr>
            <p:nvPr/>
          </p:nvCxnSpPr>
          <p:spPr>
            <a:xfrm rot="16200000" flipH="1">
              <a:off x="1866042" y="3698801"/>
              <a:ext cx="230109" cy="1414442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A83559F4-441D-40E0-A581-4E8B408187DC}"/>
                </a:ext>
              </a:extLst>
            </p:cNvPr>
            <p:cNvCxnSpPr>
              <a:stCxn id="62" idx="2"/>
              <a:endCxn id="68" idx="0"/>
            </p:cNvCxnSpPr>
            <p:nvPr/>
          </p:nvCxnSpPr>
          <p:spPr>
            <a:xfrm>
              <a:off x="1273876" y="4290967"/>
              <a:ext cx="0" cy="230109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</p:cxn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D68AF497-943E-4698-BAC7-31F53B55F198}"/>
                </a:ext>
              </a:extLst>
            </p:cNvPr>
            <p:cNvSpPr/>
            <p:nvPr/>
          </p:nvSpPr>
          <p:spPr>
            <a:xfrm>
              <a:off x="2052157" y="5010056"/>
              <a:ext cx="1274012" cy="35869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주문</a:t>
              </a: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/</a:t>
              </a:r>
              <a:r>
                <a:rPr kumimoji="1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배송지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 정보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5E52BE18-5917-4760-941A-CE2DD1542668}"/>
                </a:ext>
              </a:extLst>
            </p:cNvPr>
            <p:cNvSpPr/>
            <p:nvPr/>
          </p:nvSpPr>
          <p:spPr>
            <a:xfrm>
              <a:off x="2052157" y="5510881"/>
              <a:ext cx="1274012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결제</a:t>
              </a:r>
            </a:p>
          </p:txBody>
        </p: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81A53EC1-7760-49BD-B69A-4F6BB46963C2}"/>
                </a:ext>
              </a:extLst>
            </p:cNvPr>
            <p:cNvCxnSpPr>
              <a:stCxn id="69" idx="2"/>
              <a:endCxn id="72" idx="0"/>
            </p:cNvCxnSpPr>
            <p:nvPr/>
          </p:nvCxnSpPr>
          <p:spPr>
            <a:xfrm>
              <a:off x="2688318" y="4881466"/>
              <a:ext cx="0" cy="12859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530B8DA6-606A-44D9-876E-BF876BF9AC64}"/>
                </a:ext>
              </a:extLst>
            </p:cNvPr>
            <p:cNvCxnSpPr>
              <a:stCxn id="72" idx="2"/>
              <a:endCxn id="73" idx="0"/>
            </p:cNvCxnSpPr>
            <p:nvPr/>
          </p:nvCxnSpPr>
          <p:spPr>
            <a:xfrm>
              <a:off x="2688318" y="5368755"/>
              <a:ext cx="0" cy="14212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B3E0511-2633-477B-B691-3CC242F72D18}"/>
                </a:ext>
              </a:extLst>
            </p:cNvPr>
            <p:cNvCxnSpPr>
              <a:endCxn id="61" idx="0"/>
            </p:cNvCxnSpPr>
            <p:nvPr/>
          </p:nvCxnSpPr>
          <p:spPr>
            <a:xfrm>
              <a:off x="1273876" y="954390"/>
              <a:ext cx="0" cy="2258787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C5F6DE0-063B-41EF-8D6E-8ECECC3DB61F}"/>
                </a:ext>
              </a:extLst>
            </p:cNvPr>
            <p:cNvCxnSpPr>
              <a:stCxn id="61" idx="2"/>
              <a:endCxn id="62" idx="0"/>
            </p:cNvCxnSpPr>
            <p:nvPr/>
          </p:nvCxnSpPr>
          <p:spPr>
            <a:xfrm>
              <a:off x="1273876" y="3573569"/>
              <a:ext cx="0" cy="357006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</p:cxnSp>
        <p:sp>
          <p:nvSpPr>
            <p:cNvPr id="78" name="모서리가 둥근 직사각형 110">
              <a:extLst>
                <a:ext uri="{FF2B5EF4-FFF2-40B4-BE49-F238E27FC236}">
                  <a16:creationId xmlns:a16="http://schemas.microsoft.com/office/drawing/2014/main" id="{FF842666-87CD-4F40-85BD-74EA30792DEE}"/>
                </a:ext>
              </a:extLst>
            </p:cNvPr>
            <p:cNvSpPr/>
            <p:nvPr/>
          </p:nvSpPr>
          <p:spPr>
            <a:xfrm>
              <a:off x="3635790" y="4521076"/>
              <a:ext cx="1274012" cy="360390"/>
            </a:xfrm>
            <a:prstGeom prst="round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주문</a:t>
              </a: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/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배송상태</a:t>
              </a:r>
            </a:p>
          </p:txBody>
        </p:sp>
        <p:cxnSp>
          <p:nvCxnSpPr>
            <p:cNvPr id="79" name="꺾인 연결선 111">
              <a:extLst>
                <a:ext uri="{FF2B5EF4-FFF2-40B4-BE49-F238E27FC236}">
                  <a16:creationId xmlns:a16="http://schemas.microsoft.com/office/drawing/2014/main" id="{3A2967A0-C37A-4D99-90A4-3BF82DA5EC23}"/>
                </a:ext>
              </a:extLst>
            </p:cNvPr>
            <p:cNvCxnSpPr>
              <a:stCxn id="73" idx="3"/>
            </p:cNvCxnSpPr>
            <p:nvPr/>
          </p:nvCxnSpPr>
          <p:spPr>
            <a:xfrm flipV="1">
              <a:off x="3326169" y="4700425"/>
              <a:ext cx="309621" cy="989805"/>
            </a:xfrm>
            <a:prstGeom prst="bentConnector3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B0D080E-B1B5-43F7-AA24-31DFD6E194B8}"/>
                </a:ext>
              </a:extLst>
            </p:cNvPr>
            <p:cNvSpPr/>
            <p:nvPr/>
          </p:nvSpPr>
          <p:spPr>
            <a:xfrm>
              <a:off x="3635790" y="5118343"/>
              <a:ext cx="1274012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주문취소</a:t>
              </a:r>
            </a:p>
          </p:txBody>
        </p:sp>
        <p:sp>
          <p:nvSpPr>
            <p:cNvPr id="81" name="모서리가 둥근 직사각형 113">
              <a:extLst>
                <a:ext uri="{FF2B5EF4-FFF2-40B4-BE49-F238E27FC236}">
                  <a16:creationId xmlns:a16="http://schemas.microsoft.com/office/drawing/2014/main" id="{4CD3258B-F07C-4E56-82D5-C4E30990410E}"/>
                </a:ext>
              </a:extLst>
            </p:cNvPr>
            <p:cNvSpPr/>
            <p:nvPr/>
          </p:nvSpPr>
          <p:spPr>
            <a:xfrm>
              <a:off x="5038388" y="5118343"/>
              <a:ext cx="1274013" cy="360391"/>
            </a:xfrm>
            <a:prstGeom prst="roundRect">
              <a:avLst/>
            </a:prstGeom>
            <a:solidFill>
              <a:srgbClr val="FFFFFF"/>
            </a:solidFill>
            <a:ln w="1905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반품</a:t>
              </a:r>
            </a:p>
          </p:txBody>
        </p: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D85B154D-ACC6-42D0-B73B-DDDFD6C434AC}"/>
                </a:ext>
              </a:extLst>
            </p:cNvPr>
            <p:cNvCxnSpPr>
              <a:endCxn id="80" idx="0"/>
            </p:cNvCxnSpPr>
            <p:nvPr/>
          </p:nvCxnSpPr>
          <p:spPr>
            <a:xfrm>
              <a:off x="4273642" y="4881466"/>
              <a:ext cx="0" cy="236877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83" name="꺾인 연결선 115">
              <a:extLst>
                <a:ext uri="{FF2B5EF4-FFF2-40B4-BE49-F238E27FC236}">
                  <a16:creationId xmlns:a16="http://schemas.microsoft.com/office/drawing/2014/main" id="{186162D7-8C01-4D9B-B6DA-15BABF5087EF}"/>
                </a:ext>
              </a:extLst>
            </p:cNvPr>
            <p:cNvCxnSpPr/>
            <p:nvPr/>
          </p:nvCxnSpPr>
          <p:spPr>
            <a:xfrm rot="16200000" flipH="1">
              <a:off x="4856503" y="4298605"/>
              <a:ext cx="236877" cy="1402599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56C73B33-87BE-4F5A-A514-D9735D959091}"/>
                </a:ext>
              </a:extLst>
            </p:cNvPr>
            <p:cNvSpPr/>
            <p:nvPr/>
          </p:nvSpPr>
          <p:spPr>
            <a:xfrm>
              <a:off x="2140137" y="593999"/>
              <a:ext cx="1274012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로그인</a:t>
              </a:r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3807BD70-6C83-4F7A-8589-2E1598A1454B}"/>
                </a:ext>
              </a:extLst>
            </p:cNvPr>
            <p:cNvCxnSpPr>
              <a:endCxn id="84" idx="1"/>
            </p:cNvCxnSpPr>
            <p:nvPr/>
          </p:nvCxnSpPr>
          <p:spPr>
            <a:xfrm>
              <a:off x="1910036" y="773348"/>
              <a:ext cx="230101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55064CF-4405-4179-BDCB-A085180F4F2C}"/>
                </a:ext>
              </a:extLst>
            </p:cNvPr>
            <p:cNvSpPr/>
            <p:nvPr/>
          </p:nvSpPr>
          <p:spPr>
            <a:xfrm>
              <a:off x="3639174" y="593999"/>
              <a:ext cx="1274012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아이디</a:t>
              </a: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/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비밀번호 찾기</a:t>
              </a: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C619A7B-2BD0-4CF9-B93D-FF35E3CC4E3D}"/>
                </a:ext>
              </a:extLst>
            </p:cNvPr>
            <p:cNvSpPr/>
            <p:nvPr/>
          </p:nvSpPr>
          <p:spPr>
            <a:xfrm>
              <a:off x="3639174" y="1055909"/>
              <a:ext cx="1274012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회원가입</a:t>
              </a:r>
            </a:p>
          </p:txBody>
        </p: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4FCB6D1F-A7BF-470C-AB79-3B5032B2320C}"/>
                </a:ext>
              </a:extLst>
            </p:cNvPr>
            <p:cNvCxnSpPr>
              <a:stCxn id="84" idx="3"/>
              <a:endCxn id="86" idx="1"/>
            </p:cNvCxnSpPr>
            <p:nvPr/>
          </p:nvCxnSpPr>
          <p:spPr>
            <a:xfrm>
              <a:off x="3414149" y="773348"/>
              <a:ext cx="225025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89" name="꺾인 연결선 121">
              <a:extLst>
                <a:ext uri="{FF2B5EF4-FFF2-40B4-BE49-F238E27FC236}">
                  <a16:creationId xmlns:a16="http://schemas.microsoft.com/office/drawing/2014/main" id="{4E93194E-FE47-40F9-8AF1-ED47E2ECDDD1}"/>
                </a:ext>
              </a:extLst>
            </p:cNvPr>
            <p:cNvCxnSpPr>
              <a:stCxn id="84" idx="3"/>
              <a:endCxn id="87" idx="1"/>
            </p:cNvCxnSpPr>
            <p:nvPr/>
          </p:nvCxnSpPr>
          <p:spPr>
            <a:xfrm>
              <a:off x="3414149" y="773348"/>
              <a:ext cx="225025" cy="463601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DF80555D-6718-4B9E-A027-E6D6C36EAE64}"/>
                </a:ext>
              </a:extLst>
            </p:cNvPr>
            <p:cNvSpPr/>
            <p:nvPr/>
          </p:nvSpPr>
          <p:spPr>
            <a:xfrm>
              <a:off x="5143287" y="1055909"/>
              <a:ext cx="1274013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가입여부 확인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4AF8361-8332-4EB4-979F-899423107CA4}"/>
                </a:ext>
              </a:extLst>
            </p:cNvPr>
            <p:cNvSpPr/>
            <p:nvPr/>
          </p:nvSpPr>
          <p:spPr>
            <a:xfrm>
              <a:off x="5143287" y="2152309"/>
              <a:ext cx="1274013" cy="35869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회원정보 입력</a:t>
              </a:r>
            </a:p>
          </p:txBody>
        </p: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1951F3EA-6884-4F02-8438-1687C44B6BA4}"/>
                </a:ext>
              </a:extLst>
            </p:cNvPr>
            <p:cNvCxnSpPr>
              <a:stCxn id="87" idx="3"/>
              <a:endCxn id="90" idx="1"/>
            </p:cNvCxnSpPr>
            <p:nvPr/>
          </p:nvCxnSpPr>
          <p:spPr>
            <a:xfrm>
              <a:off x="4913186" y="1236949"/>
              <a:ext cx="230101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D7B23236-46EE-43EA-982C-8196E35A5866}"/>
                </a:ext>
              </a:extLst>
            </p:cNvPr>
            <p:cNvCxnSpPr>
              <a:stCxn id="90" idx="2"/>
              <a:endCxn id="100" idx="0"/>
            </p:cNvCxnSpPr>
            <p:nvPr/>
          </p:nvCxnSpPr>
          <p:spPr>
            <a:xfrm>
              <a:off x="5779447" y="1416299"/>
              <a:ext cx="0" cy="18442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2F40DA30-2961-426E-9BAF-9B5972104517}"/>
                </a:ext>
              </a:extLst>
            </p:cNvPr>
            <p:cNvSpPr/>
            <p:nvPr/>
          </p:nvSpPr>
          <p:spPr>
            <a:xfrm>
              <a:off x="5143287" y="2702201"/>
              <a:ext cx="1274013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회원가입 완료</a:t>
              </a:r>
            </a:p>
          </p:txBody>
        </p: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DE964A8E-80A1-4B27-A01A-22DB62A7CFF7}"/>
                </a:ext>
              </a:extLst>
            </p:cNvPr>
            <p:cNvCxnSpPr>
              <a:stCxn id="91" idx="2"/>
              <a:endCxn id="94" idx="0"/>
            </p:cNvCxnSpPr>
            <p:nvPr/>
          </p:nvCxnSpPr>
          <p:spPr>
            <a:xfrm>
              <a:off x="5779447" y="2511008"/>
              <a:ext cx="0" cy="191193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A22EE3E-88A4-41E0-8A7A-307887DF00FD}"/>
                </a:ext>
              </a:extLst>
            </p:cNvPr>
            <p:cNvSpPr/>
            <p:nvPr/>
          </p:nvSpPr>
          <p:spPr>
            <a:xfrm>
              <a:off x="2140137" y="2443329"/>
              <a:ext cx="1274012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고객센터</a:t>
              </a:r>
            </a:p>
          </p:txBody>
        </p:sp>
        <p:cxnSp>
          <p:nvCxnSpPr>
            <p:cNvPr id="97" name="꺾인 연결선 129">
              <a:extLst>
                <a:ext uri="{FF2B5EF4-FFF2-40B4-BE49-F238E27FC236}">
                  <a16:creationId xmlns:a16="http://schemas.microsoft.com/office/drawing/2014/main" id="{B7AB0EE1-E500-4A47-8F6F-9B4CF48B9931}"/>
                </a:ext>
              </a:extLst>
            </p:cNvPr>
            <p:cNvCxnSpPr>
              <a:endCxn id="96" idx="1"/>
            </p:cNvCxnSpPr>
            <p:nvPr/>
          </p:nvCxnSpPr>
          <p:spPr>
            <a:xfrm>
              <a:off x="1910036" y="773348"/>
              <a:ext cx="230101" cy="1851022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F9BE72C6-D3C3-4686-9E89-4AAA25504CBC}"/>
                </a:ext>
              </a:extLst>
            </p:cNvPr>
            <p:cNvSpPr/>
            <p:nvPr/>
          </p:nvSpPr>
          <p:spPr>
            <a:xfrm>
              <a:off x="2140137" y="1903588"/>
              <a:ext cx="1274012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공지사항</a:t>
              </a:r>
            </a:p>
          </p:txBody>
        </p:sp>
        <p:cxnSp>
          <p:nvCxnSpPr>
            <p:cNvPr id="99" name="꺾인 연결선 131">
              <a:extLst>
                <a:ext uri="{FF2B5EF4-FFF2-40B4-BE49-F238E27FC236}">
                  <a16:creationId xmlns:a16="http://schemas.microsoft.com/office/drawing/2014/main" id="{A794B4CC-D8D5-49D6-9C6B-152782CF1FFF}"/>
                </a:ext>
              </a:extLst>
            </p:cNvPr>
            <p:cNvCxnSpPr>
              <a:endCxn id="98" idx="1"/>
            </p:cNvCxnSpPr>
            <p:nvPr/>
          </p:nvCxnSpPr>
          <p:spPr>
            <a:xfrm>
              <a:off x="1910036" y="773348"/>
              <a:ext cx="230101" cy="1309589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D1A97EDE-F1ED-4A3B-AA45-86E455DFA0A9}"/>
                </a:ext>
              </a:extLst>
            </p:cNvPr>
            <p:cNvSpPr/>
            <p:nvPr/>
          </p:nvSpPr>
          <p:spPr>
            <a:xfrm>
              <a:off x="5143287" y="1600725"/>
              <a:ext cx="1274013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약관동의</a:t>
              </a:r>
            </a:p>
          </p:txBody>
        </p: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14800474-8B3A-4753-A2FB-0F0BD3188FC1}"/>
                </a:ext>
              </a:extLst>
            </p:cNvPr>
            <p:cNvCxnSpPr>
              <a:stCxn id="100" idx="2"/>
              <a:endCxn id="91" idx="0"/>
            </p:cNvCxnSpPr>
            <p:nvPr/>
          </p:nvCxnSpPr>
          <p:spPr>
            <a:xfrm>
              <a:off x="5779447" y="1961115"/>
              <a:ext cx="0" cy="191194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DF2D089D-8BE0-4A8B-9968-25446F00F860}"/>
                </a:ext>
              </a:extLst>
            </p:cNvPr>
            <p:cNvSpPr/>
            <p:nvPr/>
          </p:nvSpPr>
          <p:spPr>
            <a:xfrm>
              <a:off x="2052158" y="6070926"/>
              <a:ext cx="1274012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주문내역</a:t>
              </a:r>
            </a:p>
          </p:txBody>
        </p:sp>
        <p:cxnSp>
          <p:nvCxnSpPr>
            <p:cNvPr id="103" name="직선 화살표 연결선 102">
              <a:extLst>
                <a:ext uri="{FF2B5EF4-FFF2-40B4-BE49-F238E27FC236}">
                  <a16:creationId xmlns:a16="http://schemas.microsoft.com/office/drawing/2014/main" id="{D164CFDF-E907-476A-8EB3-3AE613C8EF07}"/>
                </a:ext>
              </a:extLst>
            </p:cNvPr>
            <p:cNvCxnSpPr>
              <a:stCxn id="73" idx="2"/>
              <a:endCxn id="102" idx="0"/>
            </p:cNvCxnSpPr>
            <p:nvPr/>
          </p:nvCxnSpPr>
          <p:spPr>
            <a:xfrm>
              <a:off x="2688318" y="5871273"/>
              <a:ext cx="0" cy="199653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29EE080-CEAD-4032-9F0D-68C37989956D}"/>
                </a:ext>
              </a:extLst>
            </p:cNvPr>
            <p:cNvSpPr/>
            <p:nvPr/>
          </p:nvSpPr>
          <p:spPr>
            <a:xfrm>
              <a:off x="6745533" y="2702201"/>
              <a:ext cx="1274012" cy="36039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마이페이지</a:t>
              </a:r>
              <a:endPara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83BCB463-D3D0-4800-9210-3996AA4ACB57}"/>
                </a:ext>
              </a:extLst>
            </p:cNvPr>
            <p:cNvSpPr/>
            <p:nvPr/>
          </p:nvSpPr>
          <p:spPr>
            <a:xfrm>
              <a:off x="5143288" y="3282549"/>
              <a:ext cx="1274013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회원정보 수정</a:t>
              </a: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71321F19-15E6-4F78-87F2-E589CB2A5D67}"/>
                </a:ext>
              </a:extLst>
            </p:cNvPr>
            <p:cNvSpPr/>
            <p:nvPr/>
          </p:nvSpPr>
          <p:spPr>
            <a:xfrm>
              <a:off x="3644250" y="2443329"/>
              <a:ext cx="1274013" cy="36039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굴림"/>
                  <a:ea typeface="굴림"/>
                  <a:cs typeface="+mn-cs"/>
                </a:rPr>
                <a:t>문의 내역</a:t>
              </a:r>
            </a:p>
          </p:txBody>
        </p: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306D5C5D-A5A3-4C75-92BF-68103F3DA08A}"/>
                </a:ext>
              </a:extLst>
            </p:cNvPr>
            <p:cNvCxnSpPr>
              <a:stCxn id="96" idx="3"/>
              <a:endCxn id="106" idx="1"/>
            </p:cNvCxnSpPr>
            <p:nvPr/>
          </p:nvCxnSpPr>
          <p:spPr>
            <a:xfrm>
              <a:off x="3414150" y="2624370"/>
              <a:ext cx="230101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DDB7D25A-EB01-4FF8-90C3-413AA142B94E}"/>
                </a:ext>
              </a:extLst>
            </p:cNvPr>
            <p:cNvCxnSpPr>
              <a:stCxn id="94" idx="2"/>
              <a:endCxn id="105" idx="0"/>
            </p:cNvCxnSpPr>
            <p:nvPr/>
          </p:nvCxnSpPr>
          <p:spPr>
            <a:xfrm>
              <a:off x="5779448" y="3062593"/>
              <a:ext cx="0" cy="219957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</p:cxnSp>
        <p:cxnSp>
          <p:nvCxnSpPr>
            <p:cNvPr id="109" name="꺾인 연결선 141">
              <a:extLst>
                <a:ext uri="{FF2B5EF4-FFF2-40B4-BE49-F238E27FC236}">
                  <a16:creationId xmlns:a16="http://schemas.microsoft.com/office/drawing/2014/main" id="{2BF56EB6-175D-4240-958D-D3BCF910C011}"/>
                </a:ext>
              </a:extLst>
            </p:cNvPr>
            <p:cNvCxnSpPr>
              <a:stCxn id="102" idx="3"/>
              <a:endCxn id="104" idx="2"/>
            </p:cNvCxnSpPr>
            <p:nvPr/>
          </p:nvCxnSpPr>
          <p:spPr>
            <a:xfrm flipV="1">
              <a:off x="3326170" y="3062593"/>
              <a:ext cx="4055523" cy="3189374"/>
            </a:xfrm>
            <a:prstGeom prst="bentConnector2">
              <a:avLst/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110" name="꺾인 연결선 142">
              <a:extLst>
                <a:ext uri="{FF2B5EF4-FFF2-40B4-BE49-F238E27FC236}">
                  <a16:creationId xmlns:a16="http://schemas.microsoft.com/office/drawing/2014/main" id="{7FED45CB-6878-4391-9C9E-B49EBFE40808}"/>
                </a:ext>
              </a:extLst>
            </p:cNvPr>
            <p:cNvCxnSpPr>
              <a:stCxn id="105" idx="2"/>
              <a:endCxn id="104" idx="2"/>
            </p:cNvCxnSpPr>
            <p:nvPr/>
          </p:nvCxnSpPr>
          <p:spPr>
            <a:xfrm rot="5400000" flipH="1" flipV="1">
              <a:off x="6290397" y="2551645"/>
              <a:ext cx="580348" cy="1602245"/>
            </a:xfrm>
            <a:prstGeom prst="bentConnector3">
              <a:avLst>
                <a:gd name="adj1" fmla="val -39407"/>
              </a:avLst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  <p:cxnSp>
          <p:nvCxnSpPr>
            <p:cNvPr id="111" name="꺾인 연결선 143">
              <a:extLst>
                <a:ext uri="{FF2B5EF4-FFF2-40B4-BE49-F238E27FC236}">
                  <a16:creationId xmlns:a16="http://schemas.microsoft.com/office/drawing/2014/main" id="{3F25407E-A2BE-4307-A11A-5328CB6E7A54}"/>
                </a:ext>
              </a:extLst>
            </p:cNvPr>
            <p:cNvCxnSpPr>
              <a:stCxn id="106" idx="2"/>
              <a:endCxn id="104" idx="2"/>
            </p:cNvCxnSpPr>
            <p:nvPr/>
          </p:nvCxnSpPr>
          <p:spPr>
            <a:xfrm rot="16200000" flipH="1">
              <a:off x="5702462" y="1383366"/>
              <a:ext cx="258873" cy="3099590"/>
            </a:xfrm>
            <a:prstGeom prst="bentConnector3">
              <a:avLst>
                <a:gd name="adj1" fmla="val 477253"/>
              </a:avLst>
            </a:prstGeom>
            <a:noFill/>
            <a:ln w="9525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81962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E651B-2079-4288-B050-1F47C7D2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57BE9-08F5-4CBE-A1C5-7F83A1E1B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앞에서 제시한 전체 구조는 </a:t>
            </a:r>
            <a:r>
              <a:rPr lang="ko-KR" altLang="en-US" dirty="0" err="1"/>
              <a:t>참고용이며</a:t>
            </a:r>
            <a:r>
              <a:rPr lang="ko-KR" altLang="en-US" dirty="0"/>
              <a:t> 추가로 필요한 기능이 있으면 얼마든지 추가해도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구현환경은 </a:t>
            </a:r>
            <a:r>
              <a:rPr lang="en-US" altLang="ko-KR" dirty="0"/>
              <a:t>HTML, CSS, </a:t>
            </a:r>
            <a:r>
              <a:rPr lang="ko-KR" altLang="en-US" dirty="0"/>
              <a:t>자바스크립트</a:t>
            </a:r>
            <a:r>
              <a:rPr lang="en-US" altLang="ko-KR" dirty="0"/>
              <a:t>, Node.js </a:t>
            </a:r>
            <a:r>
              <a:rPr lang="ko-KR" altLang="en-US" dirty="0"/>
              <a:t>이며 회원관리에 필요한 데이터베이스는 </a:t>
            </a:r>
            <a:r>
              <a:rPr lang="en-US" altLang="ko-KR" dirty="0"/>
              <a:t>SQLite3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웹 페이지 구성에 필요한 이미지는 자유롭게 선택할 수 있다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저작권이 있는 이미지를 상업적 목적을 추구하지 않고 교육적 목적으로 수업에 사용할 수 있음</a:t>
            </a:r>
            <a:r>
              <a:rPr lang="en-US" altLang="ko-KR" dirty="0"/>
              <a:t>. </a:t>
            </a:r>
            <a:r>
              <a:rPr lang="ko-KR" altLang="en-US" dirty="0"/>
              <a:t>그러나 전시회 등 공공에 제공되는 행위에 활용할 수는 없음</a:t>
            </a:r>
            <a:endParaRPr lang="en-US" altLang="ko-KR" dirty="0"/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90000"/>
              <a:buFont typeface="Wingdings" pitchFamily="2" charset="2"/>
              <a:buChar char="q"/>
              <a:tabLst/>
              <a:defRPr/>
            </a:pP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고객센터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-</a:t>
            </a: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문의하기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-</a:t>
            </a: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답글 달기 </a:t>
            </a: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brima" panose="02000000000000000000" pitchFamily="2" charset="0"/>
              <a:ea typeface="맑은 고딕"/>
              <a:cs typeface="+mn-cs"/>
            </a:endParaRPr>
          </a:p>
          <a:p>
            <a:pPr marL="742950" marR="0" lvl="1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ko-KR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brima" panose="02000000000000000000" pitchFamily="2" charset="0"/>
                <a:ea typeface="맑은 고딕" panose="020B0503020000020004" pitchFamily="50" charset="-127"/>
              </a:rPr>
              <a:t>문의</a:t>
            </a:r>
            <a:r>
              <a:rPr kumimoji="1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brima" panose="02000000000000000000" pitchFamily="2" charset="0"/>
                <a:ea typeface="맑은 고딕" panose="020B0503020000020004" pitchFamily="50" charset="-127"/>
              </a:rPr>
              <a:t>-</a:t>
            </a:r>
            <a:r>
              <a:rPr kumimoji="1" lang="ko-KR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brima" panose="02000000000000000000" pitchFamily="2" charset="0"/>
                <a:ea typeface="맑은 고딕" panose="020B0503020000020004" pitchFamily="50" charset="-127"/>
              </a:rPr>
              <a:t>답글 달기 기능은  계층형 게시판 구조를 가짐</a:t>
            </a:r>
            <a:endParaRPr kumimoji="1" lang="en-US" altLang="ko-KR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Ebrima" panose="02000000000000000000" pitchFamily="2" charset="0"/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90000"/>
              <a:buFont typeface="Wingdings" pitchFamily="2" charset="2"/>
              <a:buChar char="q"/>
              <a:tabLst/>
              <a:defRPr/>
            </a:pP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고객센터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-</a:t>
            </a: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공지사항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-</a:t>
            </a: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파일 첨부 기능</a:t>
            </a:r>
            <a:endParaRPr kumimoji="1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brima" panose="02000000000000000000" pitchFamily="2" charset="0"/>
              <a:ea typeface="맑은 고딕"/>
              <a:cs typeface="+mn-cs"/>
            </a:endParaRPr>
          </a:p>
          <a:p>
            <a:pPr marL="742950" marR="0" lvl="1" indent="-28575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ko-KR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Ebrima" panose="02000000000000000000" pitchFamily="2" charset="0"/>
                <a:ea typeface="맑은 고딕" panose="020B0503020000020004" pitchFamily="50" charset="-127"/>
              </a:rPr>
              <a:t>공지사항에 파일 첨부 기능을 추가 </a:t>
            </a: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90000"/>
              <a:buFont typeface="Wingdings" pitchFamily="2" charset="2"/>
              <a:buChar char="q"/>
              <a:tabLst/>
              <a:defRPr/>
            </a:pPr>
            <a:r>
              <a:rPr kumimoji="1" lang="ko-KR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제시한 기능 외에 어떤 기능이라도 추가 할 수 있다</a:t>
            </a:r>
            <a:r>
              <a:rPr kumimoji="1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Ebrima" panose="02000000000000000000" pitchFamily="2" charset="0"/>
                <a:ea typeface="맑은 고딕"/>
                <a:cs typeface="+mn-cs"/>
              </a:rPr>
              <a:t>.</a:t>
            </a:r>
            <a:endParaRPr kumimoji="1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Ebrima" panose="02000000000000000000" pitchFamily="2" charset="0"/>
              <a:ea typeface="맑은 고딕"/>
              <a:cs typeface="+mn-cs"/>
            </a:endParaRPr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4026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4C730-38DB-4979-A740-FB31D818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게시판 기능 설계</a:t>
            </a:r>
            <a:r>
              <a:rPr lang="en-US" altLang="ko-KR" dirty="0"/>
              <a:t>-</a:t>
            </a:r>
            <a:r>
              <a:rPr lang="ko-KR" altLang="en-US" dirty="0"/>
              <a:t>고객센터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5E6EC9-B3D2-49AB-8F32-ECFE7FD7D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1130293" cy="997970"/>
          </a:xfrm>
        </p:spPr>
        <p:txBody>
          <a:bodyPr/>
          <a:lstStyle/>
          <a:p>
            <a:r>
              <a:rPr lang="ko-KR" altLang="en-US" dirty="0"/>
              <a:t>고객센터 메뉴는 게시판으로 작성하며 </a:t>
            </a:r>
            <a:r>
              <a:rPr lang="en-US" altLang="ko-KR" dirty="0"/>
              <a:t>CRUD(</a:t>
            </a:r>
            <a:r>
              <a:rPr lang="en-US" altLang="ko-KR" dirty="0" err="1"/>
              <a:t>CReate</a:t>
            </a:r>
            <a:r>
              <a:rPr lang="en-US" altLang="ko-KR" dirty="0"/>
              <a:t>, Update, Delete) </a:t>
            </a:r>
            <a:r>
              <a:rPr lang="ko-KR" altLang="en-US" dirty="0"/>
              <a:t>기능을 제공해야 한다</a:t>
            </a:r>
            <a:r>
              <a:rPr lang="en-US" altLang="ko-KR" dirty="0"/>
              <a:t>.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89F036E-4988-4FB2-9A82-996A667D4742}"/>
              </a:ext>
            </a:extLst>
          </p:cNvPr>
          <p:cNvGrpSpPr/>
          <p:nvPr/>
        </p:nvGrpSpPr>
        <p:grpSpPr>
          <a:xfrm>
            <a:off x="3169320" y="2345835"/>
            <a:ext cx="4810125" cy="3086100"/>
            <a:chOff x="2754765" y="2647156"/>
            <a:chExt cx="4810125" cy="30861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2EC1267-6483-47E1-B177-15951B113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54765" y="2647156"/>
              <a:ext cx="4810125" cy="3086100"/>
            </a:xfrm>
            <a:prstGeom prst="rect">
              <a:avLst/>
            </a:prstGeom>
          </p:spPr>
        </p:pic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601A4-5D52-4F57-8E7F-6F6CDE450E78}"/>
                </a:ext>
              </a:extLst>
            </p:cNvPr>
            <p:cNvCxnSpPr/>
            <p:nvPr/>
          </p:nvCxnSpPr>
          <p:spPr bwMode="auto">
            <a:xfrm flipV="1">
              <a:off x="3178629" y="3178629"/>
              <a:ext cx="0" cy="10668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CEC257-71FE-46C4-9084-DB2190CE4493}"/>
                </a:ext>
              </a:extLst>
            </p:cNvPr>
            <p:cNvSpPr txBox="1"/>
            <p:nvPr/>
          </p:nvSpPr>
          <p:spPr>
            <a:xfrm>
              <a:off x="3178629" y="371202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참조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181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E1D83-B647-4AFA-A5F6-71DEA92D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공지사항 메뉴 및 내용 보기 예시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4139849-3002-4159-88D5-630CF0DF9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616" y="1042874"/>
            <a:ext cx="6670324" cy="46603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C31795B-2AD8-4ACA-B71A-1CA423B1F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44" y="1042874"/>
            <a:ext cx="5475311" cy="54224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903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71120-E3F0-4168-ABA2-C0499E4C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 및 개인정보 메뉴 구성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EC8FF-4FC0-471F-99A6-908B427E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F713E2-3809-482E-AF4F-4A1EC2C42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032" y="1303052"/>
            <a:ext cx="5404777" cy="5079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47A909F-3414-4F52-AB64-C1B205D01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15" y="1259929"/>
            <a:ext cx="5822640" cy="4905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786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84434-18D9-438C-BA3C-B3075823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 </a:t>
            </a:r>
            <a:r>
              <a:rPr lang="ko-KR" altLang="en-US"/>
              <a:t>참고용 예시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ACF10-0B28-4055-BD58-65D513437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064490"/>
            <a:ext cx="11130293" cy="5040560"/>
          </a:xfrm>
        </p:spPr>
        <p:txBody>
          <a:bodyPr/>
          <a:lstStyle/>
          <a:p>
            <a:r>
              <a:rPr lang="ko-KR" altLang="en-US" dirty="0"/>
              <a:t>기본 구조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E706EA9-0CDB-45B1-AB28-09317B6BA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92268"/>
              </p:ext>
            </p:extLst>
          </p:nvPr>
        </p:nvGraphicFramePr>
        <p:xfrm>
          <a:off x="1211400" y="1796738"/>
          <a:ext cx="9954276" cy="40827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5825">
                  <a:extLst>
                    <a:ext uri="{9D8B030D-6E8A-4147-A177-3AD203B41FA5}">
                      <a16:colId xmlns:a16="http://schemas.microsoft.com/office/drawing/2014/main" val="1870298289"/>
                    </a:ext>
                  </a:extLst>
                </a:gridCol>
                <a:gridCol w="4504623">
                  <a:extLst>
                    <a:ext uri="{9D8B030D-6E8A-4147-A177-3AD203B41FA5}">
                      <a16:colId xmlns:a16="http://schemas.microsoft.com/office/drawing/2014/main" val="593889152"/>
                    </a:ext>
                  </a:extLst>
                </a:gridCol>
                <a:gridCol w="2993828">
                  <a:extLst>
                    <a:ext uri="{9D8B030D-6E8A-4147-A177-3AD203B41FA5}">
                      <a16:colId xmlns:a16="http://schemas.microsoft.com/office/drawing/2014/main" val="182786421"/>
                    </a:ext>
                  </a:extLst>
                </a:gridCol>
              </a:tblGrid>
              <a:tr h="6577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2000" kern="0" dirty="0">
                          <a:effectLst/>
                        </a:rPr>
                        <a:t>기능 구분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2000" kern="0" dirty="0">
                          <a:effectLst/>
                        </a:rPr>
                        <a:t>세부 기능 설명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2000" kern="0" dirty="0">
                          <a:effectLst/>
                        </a:rPr>
                        <a:t>구현 여부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370084"/>
                  </a:ext>
                </a:extLst>
              </a:tr>
              <a:tr h="755162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2000" kern="0" dirty="0">
                          <a:effectLst/>
                        </a:rPr>
                        <a:t>로그인</a:t>
                      </a:r>
                      <a:r>
                        <a:rPr lang="en-US" sz="2000" kern="0" dirty="0">
                          <a:effectLst/>
                        </a:rPr>
                        <a:t>/</a:t>
                      </a:r>
                      <a:r>
                        <a:rPr lang="ko-KR" sz="2000" kern="0" dirty="0">
                          <a:effectLst/>
                        </a:rPr>
                        <a:t>회원가입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- </a:t>
                      </a:r>
                      <a:r>
                        <a:rPr lang="ko-KR" sz="2000" kern="0" dirty="0">
                          <a:effectLst/>
                        </a:rPr>
                        <a:t>회원 등록 및 로그인</a:t>
                      </a:r>
                      <a:br>
                        <a:rPr lang="en-US" sz="2000" kern="0" dirty="0">
                          <a:effectLst/>
                        </a:rPr>
                      </a:br>
                      <a:r>
                        <a:rPr lang="en-US" sz="2000" kern="0" dirty="0">
                          <a:effectLst/>
                        </a:rPr>
                        <a:t>- </a:t>
                      </a:r>
                      <a:r>
                        <a:rPr lang="ko-KR" sz="2000" kern="0" dirty="0">
                          <a:effectLst/>
                        </a:rPr>
                        <a:t>개인정보 페이지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✅ </a:t>
                      </a:r>
                      <a:r>
                        <a:rPr lang="ko-KR" sz="2000" kern="0" dirty="0">
                          <a:effectLst/>
                        </a:rPr>
                        <a:t>필수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4336652"/>
                  </a:ext>
                </a:extLst>
              </a:tr>
              <a:tr h="1128562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2000" kern="0" dirty="0">
                          <a:effectLst/>
                        </a:rPr>
                        <a:t>고객센터 게시판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- </a:t>
                      </a:r>
                      <a:r>
                        <a:rPr lang="ko-KR" sz="2000" kern="0" dirty="0">
                          <a:effectLst/>
                        </a:rPr>
                        <a:t>공지사항 목록 및 상세보기</a:t>
                      </a:r>
                      <a:br>
                        <a:rPr lang="en-US" sz="2000" kern="0" dirty="0">
                          <a:effectLst/>
                        </a:rPr>
                      </a:br>
                      <a:r>
                        <a:rPr lang="en-US" sz="2000" kern="0" dirty="0">
                          <a:effectLst/>
                        </a:rPr>
                        <a:t>- </a:t>
                      </a:r>
                      <a:r>
                        <a:rPr lang="ko-KR" sz="2000" kern="0" dirty="0" err="1">
                          <a:effectLst/>
                        </a:rPr>
                        <a:t>문의글</a:t>
                      </a:r>
                      <a:r>
                        <a:rPr lang="ko-KR" sz="2000" kern="0" dirty="0">
                          <a:effectLst/>
                        </a:rPr>
                        <a:t> 작성</a:t>
                      </a:r>
                      <a:r>
                        <a:rPr lang="en-US" sz="2000" kern="0" dirty="0">
                          <a:effectLst/>
                        </a:rPr>
                        <a:t>/</a:t>
                      </a:r>
                      <a:r>
                        <a:rPr lang="ko-KR" sz="2000" kern="0" dirty="0">
                          <a:effectLst/>
                        </a:rPr>
                        <a:t>답글</a:t>
                      </a:r>
                      <a:r>
                        <a:rPr lang="en-US" sz="2000" kern="0" dirty="0">
                          <a:effectLst/>
                        </a:rPr>
                        <a:t> (</a:t>
                      </a:r>
                      <a:r>
                        <a:rPr lang="ko-KR" sz="2000" kern="0" dirty="0">
                          <a:effectLst/>
                        </a:rPr>
                        <a:t>계층형 구조</a:t>
                      </a:r>
                      <a:r>
                        <a:rPr lang="en-US" sz="2000" kern="0" dirty="0">
                          <a:effectLst/>
                        </a:rPr>
                        <a:t>)</a:t>
                      </a:r>
                      <a:br>
                        <a:rPr lang="en-US" sz="2000" kern="0" dirty="0">
                          <a:effectLst/>
                        </a:rPr>
                      </a:br>
                      <a:r>
                        <a:rPr lang="en-US" sz="2000" kern="0" dirty="0">
                          <a:effectLst/>
                        </a:rPr>
                        <a:t>- CRUD </a:t>
                      </a:r>
                      <a:r>
                        <a:rPr lang="ko-KR" sz="2000" kern="0" dirty="0">
                          <a:effectLst/>
                        </a:rPr>
                        <a:t>구현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✅ </a:t>
                      </a:r>
                      <a:r>
                        <a:rPr lang="ko-KR" sz="2000" kern="0" dirty="0">
                          <a:effectLst/>
                        </a:rPr>
                        <a:t>필수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6103886"/>
                  </a:ext>
                </a:extLst>
              </a:tr>
              <a:tr h="926853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2000" kern="0" dirty="0">
                          <a:effectLst/>
                        </a:rPr>
                        <a:t>장바구니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- </a:t>
                      </a:r>
                      <a:r>
                        <a:rPr lang="ko-KR" sz="2000" kern="0" dirty="0">
                          <a:effectLst/>
                        </a:rPr>
                        <a:t>장바구니 페이지 생성만</a:t>
                      </a:r>
                      <a:br>
                        <a:rPr lang="en-US" sz="2000" kern="0" dirty="0">
                          <a:effectLst/>
                        </a:rPr>
                      </a:br>
                      <a:r>
                        <a:rPr lang="en-US" sz="2000" kern="0" dirty="0">
                          <a:effectLst/>
                        </a:rPr>
                        <a:t>- </a:t>
                      </a:r>
                      <a:r>
                        <a:rPr lang="ko-KR" sz="2000" kern="0" dirty="0">
                          <a:effectLst/>
                        </a:rPr>
                        <a:t>결제는 안내 메시지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✅ </a:t>
                      </a:r>
                      <a:r>
                        <a:rPr lang="ko-KR" sz="2000" kern="0" dirty="0">
                          <a:effectLst/>
                        </a:rPr>
                        <a:t>생성만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2282586"/>
                  </a:ext>
                </a:extLst>
              </a:tr>
              <a:tr h="614453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2000" kern="0" dirty="0">
                          <a:effectLst/>
                        </a:rPr>
                        <a:t>메뉴 구조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- </a:t>
                      </a:r>
                      <a:r>
                        <a:rPr lang="ko-KR" sz="2000" kern="0" dirty="0">
                          <a:effectLst/>
                        </a:rPr>
                        <a:t>나머지 메뉴는 클릭 시 팝업만 뜨면 됨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✅ </a:t>
                      </a:r>
                      <a:r>
                        <a:rPr lang="ko-KR" sz="2000" kern="0" dirty="0">
                          <a:effectLst/>
                        </a:rPr>
                        <a:t>메뉴만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34389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03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5844785" cy="601910"/>
          </a:xfrm>
        </p:spPr>
        <p:txBody>
          <a:bodyPr/>
          <a:lstStyle/>
          <a:p>
            <a:r>
              <a:rPr lang="ko-KR" altLang="en-US" dirty="0"/>
              <a:t>폴더 구조</a:t>
            </a:r>
            <a:r>
              <a:rPr lang="en-US" altLang="ko-KR" dirty="0"/>
              <a:t>(</a:t>
            </a:r>
            <a:r>
              <a:rPr lang="ko-KR" altLang="en-US" dirty="0"/>
              <a:t>기본 구조</a:t>
            </a:r>
            <a:r>
              <a:rPr lang="en-US" altLang="ko-KR" dirty="0"/>
              <a:t>-</a:t>
            </a:r>
            <a:r>
              <a:rPr lang="ko-KR" altLang="en-US" dirty="0"/>
              <a:t>추가 확장됨</a:t>
            </a:r>
            <a:r>
              <a:rPr lang="en-US" altLang="ko-KR" dirty="0"/>
              <a:t>)</a:t>
            </a:r>
          </a:p>
          <a:p>
            <a:pPr lvl="8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7FD2FD-A9FB-461B-8EF0-DD5B4A6B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55" y="1726654"/>
            <a:ext cx="4295775" cy="4438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BE4B7-B732-4D8D-9F0B-8F4131F2647A}"/>
              </a:ext>
            </a:extLst>
          </p:cNvPr>
          <p:cNvSpPr txBox="1"/>
          <p:nvPr/>
        </p:nvSpPr>
        <p:spPr>
          <a:xfrm>
            <a:off x="5783330" y="1808524"/>
            <a:ext cx="46985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DB: </a:t>
            </a:r>
            <a:r>
              <a:rPr lang="ko-KR" altLang="en-US" dirty="0"/>
              <a:t>데이터 베이스 설정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initDB.js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database.sqlite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public: </a:t>
            </a:r>
            <a:r>
              <a:rPr lang="ko-KR" altLang="en-US" dirty="0"/>
              <a:t>첨부파일 디렉토리</a:t>
            </a:r>
            <a:r>
              <a:rPr lang="en-US" altLang="ko-KR" dirty="0"/>
              <a:t>, CSS, </a:t>
            </a:r>
            <a:r>
              <a:rPr lang="ko-KR" altLang="en-US" dirty="0"/>
              <a:t>이미지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routes: </a:t>
            </a:r>
            <a:r>
              <a:rPr lang="ko-KR" altLang="en-US" dirty="0"/>
              <a:t>게시판</a:t>
            </a:r>
            <a:r>
              <a:rPr lang="en-US" altLang="ko-KR" dirty="0"/>
              <a:t>, </a:t>
            </a:r>
            <a:r>
              <a:rPr lang="ko-KR" altLang="en-US" dirty="0"/>
              <a:t>장바구니</a:t>
            </a:r>
            <a:r>
              <a:rPr lang="en-US" altLang="ko-KR" dirty="0"/>
              <a:t>, </a:t>
            </a:r>
            <a:r>
              <a:rPr lang="ko-KR" altLang="en-US" dirty="0"/>
              <a:t>사용자 등록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views: </a:t>
            </a:r>
            <a:r>
              <a:rPr lang="ko-KR" altLang="en-US" dirty="0"/>
              <a:t>프론트 페이지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board.ejs</a:t>
            </a:r>
            <a:r>
              <a:rPr lang="en-US" altLang="ko-KR" dirty="0"/>
              <a:t>(</a:t>
            </a:r>
            <a:r>
              <a:rPr lang="ko-KR" altLang="en-US" dirty="0"/>
              <a:t>게시판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cart.ejs</a:t>
            </a:r>
            <a:r>
              <a:rPr lang="en-US" altLang="ko-KR" dirty="0"/>
              <a:t>(</a:t>
            </a:r>
            <a:r>
              <a:rPr lang="ko-KR" altLang="en-US" dirty="0"/>
              <a:t>장바구니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detail.ejs</a:t>
            </a:r>
            <a:r>
              <a:rPr lang="en-US" altLang="ko-KR" dirty="0"/>
              <a:t>( </a:t>
            </a:r>
            <a:r>
              <a:rPr lang="ko-KR" altLang="en-US" dirty="0"/>
              <a:t>상세내용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login.ejs</a:t>
            </a:r>
            <a:r>
              <a:rPr lang="en-US" altLang="ko-KR" dirty="0"/>
              <a:t>(</a:t>
            </a:r>
            <a:r>
              <a:rPr lang="ko-KR" altLang="en-US" dirty="0"/>
              <a:t>로그인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post.ejs</a:t>
            </a:r>
            <a:r>
              <a:rPr lang="en-US" altLang="ko-KR" dirty="0"/>
              <a:t>(</a:t>
            </a:r>
            <a:r>
              <a:rPr lang="ko-KR" altLang="en-US" dirty="0"/>
              <a:t>게시글 작성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product.ejs</a:t>
            </a:r>
            <a:r>
              <a:rPr lang="en-US" altLang="ko-KR" dirty="0"/>
              <a:t>(</a:t>
            </a:r>
            <a:r>
              <a:rPr lang="ko-KR" altLang="en-US" dirty="0"/>
              <a:t>상품 목록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register.ejs</a:t>
            </a:r>
            <a:r>
              <a:rPr lang="en-US" altLang="ko-KR" dirty="0"/>
              <a:t>(</a:t>
            </a:r>
            <a:r>
              <a:rPr lang="ko-KR" altLang="en-US" dirty="0"/>
              <a:t>회원가입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reply.ejs</a:t>
            </a:r>
            <a:r>
              <a:rPr lang="en-US" altLang="ko-KR" dirty="0"/>
              <a:t>(</a:t>
            </a:r>
            <a:r>
              <a:rPr lang="ko-KR" altLang="en-US" dirty="0"/>
              <a:t>답글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2925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구조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전체 구조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26090B-B1CC-4A01-AAB8-177471654ED4}"/>
              </a:ext>
            </a:extLst>
          </p:cNvPr>
          <p:cNvSpPr/>
          <p:nvPr/>
        </p:nvSpPr>
        <p:spPr>
          <a:xfrm>
            <a:off x="1065195" y="1818238"/>
            <a:ext cx="10061609" cy="3221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07000"/>
              </a:lnSpc>
              <a:spcAft>
                <a:spcPts val="800"/>
              </a:spcAft>
            </a:pP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초기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Express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프로젝트 설정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(</a:t>
            </a:r>
            <a:r>
              <a:rPr lang="en-US" altLang="ko-KR" sz="2400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express-generator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추천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b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2400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sqlite3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, </a:t>
            </a:r>
            <a:r>
              <a:rPr lang="en-US" altLang="ko-KR" sz="2400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ejs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, </a:t>
            </a:r>
            <a:r>
              <a:rPr lang="en-US" altLang="ko-KR" sz="2400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express-session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, </a:t>
            </a:r>
            <a:r>
              <a:rPr lang="en-US" altLang="ko-KR" sz="2400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multer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등 필수 모듈 설치</a:t>
            </a:r>
            <a:b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DB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초기 스키마 작성 및 테이블 생성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(</a:t>
            </a:r>
            <a:r>
              <a:rPr lang="en-US" altLang="ko-KR" sz="2400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schema.sql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→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실행 코드 포함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b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회원가입 및 로그인 기능 구현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(</a:t>
            </a:r>
            <a:r>
              <a:rPr lang="en-US" altLang="ko-KR" sz="2400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bcrypt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사용 권장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b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고객센터</a:t>
            </a:r>
            <a: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CRUD +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계층형 답글 처리</a:t>
            </a:r>
            <a:b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공지사항에 파일 업로드 기능 추가</a:t>
            </a:r>
            <a:b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장바구니 페이지는 더미 화면</a:t>
            </a:r>
            <a:br>
              <a:rPr lang="en-US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2400" kern="0" dirty="0">
                <a:latin typeface="Segoe UI Symbol" panose="020B0502040204020203" pitchFamily="34" charset="0"/>
                <a:ea typeface="굴림" panose="020B0600000101010101" pitchFamily="50" charset="-127"/>
                <a:cs typeface="Segoe UI Symbol" panose="020B0502040204020203" pitchFamily="34" charset="0"/>
              </a:rPr>
              <a:t>☑</a:t>
            </a:r>
            <a:r>
              <a:rPr lang="en-US" altLang="ko-KR" sz="2400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2400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기타 메뉴는 버튼 클릭 시 알림 팝업만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7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</a:t>
            </a:r>
            <a:r>
              <a:rPr lang="ko-KR" altLang="en-US" sz="2400" dirty="0"/>
              <a:t>단계 </a:t>
            </a:r>
            <a:r>
              <a:rPr lang="en-US" altLang="ko-KR" sz="2400" dirty="0"/>
              <a:t>: Express </a:t>
            </a:r>
            <a:r>
              <a:rPr lang="ko-KR" altLang="en-US" sz="2400" dirty="0"/>
              <a:t>프로젝트 초기 설정</a:t>
            </a:r>
            <a:r>
              <a:rPr lang="en-US" altLang="ko-KR" sz="2400" dirty="0"/>
              <a:t>(CLI </a:t>
            </a:r>
            <a:r>
              <a:rPr lang="ko-KR" altLang="en-US" sz="2400" dirty="0"/>
              <a:t>기반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프로젝트 생성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&gt;</a:t>
            </a:r>
            <a:r>
              <a:rPr lang="en-US" altLang="ko-KR" sz="2000" dirty="0" err="1"/>
              <a:t>npx</a:t>
            </a:r>
            <a:r>
              <a:rPr lang="en-US" altLang="ko-KR" sz="2000" dirty="0"/>
              <a:t> express-generator board-project –view=</a:t>
            </a:r>
            <a:r>
              <a:rPr lang="en-US" altLang="ko-KR" sz="2000" dirty="0" err="1"/>
              <a:t>ejs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&gt;cd board-project</a:t>
            </a:r>
          </a:p>
          <a:p>
            <a:pPr marL="457200" lvl="1" indent="0">
              <a:buNone/>
            </a:pPr>
            <a:r>
              <a:rPr lang="en-US" altLang="ko-KR" sz="2000" dirty="0"/>
              <a:t>&gt; </a:t>
            </a:r>
            <a:r>
              <a:rPr lang="en-US" altLang="ko-KR" sz="2000" dirty="0" err="1"/>
              <a:t>npm</a:t>
            </a:r>
            <a:r>
              <a:rPr lang="en-US" altLang="ko-KR" sz="2000" dirty="0"/>
              <a:t> install</a:t>
            </a:r>
          </a:p>
          <a:p>
            <a:pPr lvl="1"/>
            <a:r>
              <a:rPr lang="ko-KR" altLang="en-US" sz="2000" dirty="0"/>
              <a:t>서버 실행 확인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&gt;</a:t>
            </a:r>
            <a:r>
              <a:rPr lang="en-US" altLang="ko-KR" sz="2000" dirty="0" err="1"/>
              <a:t>npm</a:t>
            </a:r>
            <a:r>
              <a:rPr lang="en-US" altLang="ko-KR" sz="2000" dirty="0"/>
              <a:t> start</a:t>
            </a:r>
          </a:p>
          <a:p>
            <a:pPr marL="457200" lvl="1" indent="0">
              <a:buNone/>
            </a:pPr>
            <a:r>
              <a:rPr lang="ko-KR" altLang="en-US" sz="2000" dirty="0"/>
              <a:t>브라우저에서 </a:t>
            </a:r>
            <a:r>
              <a:rPr lang="en-US" altLang="ko-KR" sz="2000" dirty="0">
                <a:hlinkClick r:id="rId2"/>
              </a:rPr>
              <a:t>http://localhost:3000</a:t>
            </a:r>
            <a:r>
              <a:rPr lang="en-US" altLang="ko-KR" sz="2000" dirty="0"/>
              <a:t> </a:t>
            </a:r>
            <a:r>
              <a:rPr lang="ko-KR" altLang="en-US" sz="2000" dirty="0"/>
              <a:t>접속 </a:t>
            </a:r>
            <a:r>
              <a:rPr lang="en-US" altLang="ko-KR" sz="2000" dirty="0"/>
              <a:t>-&gt;”Welcome to Express” </a:t>
            </a:r>
            <a:r>
              <a:rPr lang="ko-KR" altLang="en-US" sz="2000" dirty="0"/>
              <a:t>확인</a:t>
            </a:r>
            <a:endParaRPr lang="en-US" altLang="ko-KR" sz="2000" dirty="0"/>
          </a:p>
          <a:p>
            <a:pPr marL="400050"/>
            <a:r>
              <a:rPr lang="en-US" altLang="ko-KR" sz="2400" dirty="0"/>
              <a:t>2</a:t>
            </a:r>
            <a:r>
              <a:rPr lang="ko-KR" altLang="en-US" sz="2400" dirty="0"/>
              <a:t>단계 </a:t>
            </a:r>
            <a:r>
              <a:rPr lang="en-US" altLang="ko-KR" sz="2400" dirty="0"/>
              <a:t>: </a:t>
            </a:r>
            <a:r>
              <a:rPr lang="ko-KR" altLang="en-US" sz="2400" dirty="0"/>
              <a:t>필수 모듈 설치</a:t>
            </a:r>
            <a:endParaRPr lang="en-US" altLang="ko-KR" sz="2400" dirty="0"/>
          </a:p>
          <a:p>
            <a:pPr marL="800100" lvl="1"/>
            <a:r>
              <a:rPr lang="ko-KR" altLang="en-US" sz="2100" dirty="0"/>
              <a:t>로그인 세션 관리 모듈</a:t>
            </a:r>
            <a:r>
              <a:rPr lang="en-US" altLang="ko-KR" sz="2100" dirty="0"/>
              <a:t>(express-session), </a:t>
            </a:r>
            <a:r>
              <a:rPr lang="ko-KR" altLang="en-US" sz="2100" dirty="0"/>
              <a:t>비밀번호 암호화 모듈</a:t>
            </a:r>
            <a:endParaRPr lang="en-US" altLang="ko-KR" sz="2100" dirty="0"/>
          </a:p>
          <a:p>
            <a:pPr marL="514350" lvl="1" indent="0">
              <a:buNone/>
            </a:pPr>
            <a:r>
              <a:rPr lang="en-US" altLang="ko-KR" sz="2100" dirty="0"/>
              <a:t>   (</a:t>
            </a:r>
            <a:r>
              <a:rPr lang="en-US" altLang="ko-KR" sz="2100" dirty="0" err="1"/>
              <a:t>bcrypt</a:t>
            </a:r>
            <a:r>
              <a:rPr lang="en-US" altLang="ko-KR" sz="2100" dirty="0"/>
              <a:t>), </a:t>
            </a:r>
            <a:r>
              <a:rPr lang="ko-KR" altLang="en-US" sz="2100" dirty="0"/>
              <a:t>파일 업로드 모듈</a:t>
            </a:r>
            <a:r>
              <a:rPr lang="en-US" altLang="ko-KR" sz="2100" dirty="0"/>
              <a:t>(</a:t>
            </a:r>
            <a:r>
              <a:rPr lang="en-US" altLang="ko-KR" sz="2100" dirty="0" err="1"/>
              <a:t>multer</a:t>
            </a:r>
            <a:r>
              <a:rPr lang="en-US" altLang="ko-KR" sz="2100" dirty="0"/>
              <a:t>) </a:t>
            </a:r>
            <a:r>
              <a:rPr lang="ko-KR" altLang="en-US" sz="2100" dirty="0"/>
              <a:t>설치</a:t>
            </a:r>
            <a:endParaRPr lang="en-US" altLang="ko-KR" sz="2100" dirty="0"/>
          </a:p>
          <a:p>
            <a:pPr marL="514350" lvl="1" indent="0">
              <a:buNone/>
            </a:pPr>
            <a:r>
              <a:rPr lang="en-US" altLang="ko-KR" sz="2000" dirty="0"/>
              <a:t>&gt;</a:t>
            </a:r>
            <a:r>
              <a:rPr lang="en-US" altLang="ko-KR" sz="2000" dirty="0" err="1"/>
              <a:t>npm</a:t>
            </a:r>
            <a:r>
              <a:rPr lang="en-US" altLang="ko-KR" sz="2000" dirty="0"/>
              <a:t> install sqlite3 express-session </a:t>
            </a:r>
            <a:r>
              <a:rPr lang="en-US" altLang="ko-KR" sz="2000" dirty="0" err="1"/>
              <a:t>bcrypt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multer</a:t>
            </a:r>
            <a:endParaRPr lang="en-US" altLang="ko-KR" sz="2000" dirty="0"/>
          </a:p>
          <a:p>
            <a:pPr lvl="1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FB8798-D442-4A83-A2D9-3BB094BCB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493" y="1124744"/>
            <a:ext cx="28098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34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667E9-8639-4AA8-9242-BA1482EE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A2872-4AEE-4D0F-B4CC-C978BCAF5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1130293" cy="5040560"/>
          </a:xfrm>
        </p:spPr>
        <p:txBody>
          <a:bodyPr/>
          <a:lstStyle/>
          <a:p>
            <a:r>
              <a:rPr lang="en-US" altLang="ko-KR" sz="2400" dirty="0"/>
              <a:t>3</a:t>
            </a:r>
            <a:r>
              <a:rPr lang="ko-KR" altLang="en-US" sz="2400" dirty="0"/>
              <a:t>단계</a:t>
            </a:r>
            <a:r>
              <a:rPr lang="en-US" altLang="ko-KR" sz="2400" dirty="0"/>
              <a:t>: DB </a:t>
            </a:r>
            <a:r>
              <a:rPr lang="ko-KR" altLang="en-US" sz="2400" dirty="0"/>
              <a:t>초기 스키마 작성 및 테이블 생성 </a:t>
            </a:r>
            <a:endParaRPr lang="en-US" altLang="ko-KR" sz="2400" dirty="0"/>
          </a:p>
          <a:p>
            <a:pPr marL="914400" lvl="1" indent="-457200">
              <a:buFont typeface="+mj-ea"/>
              <a:buAutoNum type="circleNumDbPlain"/>
            </a:pPr>
            <a:r>
              <a:rPr lang="en-US" altLang="ko-KR" sz="2100" dirty="0" err="1"/>
              <a:t>schema.sql</a:t>
            </a:r>
            <a:r>
              <a:rPr lang="en-US" altLang="ko-KR" sz="2100" dirty="0"/>
              <a:t> </a:t>
            </a:r>
            <a:r>
              <a:rPr lang="ko-KR" altLang="en-US" sz="2100" dirty="0"/>
              <a:t>파일 생성</a:t>
            </a:r>
            <a:endParaRPr lang="en-US" altLang="ko-KR" sz="2100" dirty="0"/>
          </a:p>
          <a:p>
            <a:pPr lvl="1"/>
            <a:r>
              <a:rPr lang="en-US" altLang="ko-KR" sz="2100" dirty="0"/>
              <a:t>board-project/ </a:t>
            </a:r>
            <a:r>
              <a:rPr lang="ko-KR" altLang="en-US" sz="2100" dirty="0"/>
              <a:t>루트 디렉토리에 </a:t>
            </a:r>
            <a:r>
              <a:rPr lang="en-US" altLang="ko-KR" sz="2100" dirty="0" err="1"/>
              <a:t>schema.sql</a:t>
            </a:r>
            <a:r>
              <a:rPr lang="en-US" altLang="ko-KR" sz="2100" dirty="0"/>
              <a:t> </a:t>
            </a:r>
            <a:r>
              <a:rPr lang="ko-KR" altLang="en-US" sz="2100" dirty="0"/>
              <a:t>파일을 생성하고 아래 내용을 작성함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37876D-5E76-4E20-9EFE-E97F1CFCF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254" y="2425881"/>
            <a:ext cx="4963428" cy="39703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회원 테이블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 TABLE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EXISTS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PRIMARY KEY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AUTOINCREMENT,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UNIQUE 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NULL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게시글 테이블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공지사항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+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문의글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통합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 TABLE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EXISTS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PRIMARY KEY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AUTOINCREMENT,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원글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아니면 답글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created_at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DATETIME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DEFAULT CURRENT_TIMESTAMP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41327D-F313-474A-AFE5-DAE0C38DD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2707" y="2425881"/>
            <a:ext cx="4708952" cy="181588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파일 업로드 정보 테이블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공지사항 첨부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파일용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 TABLE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EXISTS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files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PRIMARY KEY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AUTOINCREMENT,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filename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filepath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FOREIGN KEY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REFERENCES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6C4B0B-7A44-4A9C-92CA-040AA9981A75}"/>
              </a:ext>
            </a:extLst>
          </p:cNvPr>
          <p:cNvSpPr txBox="1"/>
          <p:nvPr/>
        </p:nvSpPr>
        <p:spPr>
          <a:xfrm>
            <a:off x="5093368" y="5911420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/</a:t>
            </a:r>
            <a:r>
              <a:rPr lang="en-US" altLang="ko-KR" dirty="0" err="1">
                <a:solidFill>
                  <a:srgbClr val="FFC000"/>
                </a:solidFill>
              </a:rPr>
              <a:t>schema.sql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08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3</a:t>
            </a:r>
            <a:r>
              <a:rPr lang="ko-KR" altLang="en-US" sz="2400" dirty="0"/>
              <a:t>단계</a:t>
            </a:r>
            <a:r>
              <a:rPr lang="en-US" altLang="ko-KR" sz="2400" dirty="0"/>
              <a:t>: DB </a:t>
            </a:r>
            <a:r>
              <a:rPr lang="ko-KR" altLang="en-US" sz="2400" dirty="0"/>
              <a:t>초기 스키마 작성 및 테이블 생성 </a:t>
            </a:r>
          </a:p>
          <a:p>
            <a:pPr marL="914400" lvl="1" indent="-457200">
              <a:buFont typeface="+mj-ea"/>
              <a:buAutoNum type="circleNumDbPlain" startAt="2"/>
            </a:pPr>
            <a:r>
              <a:rPr lang="en-US" altLang="ko-KR" dirty="0"/>
              <a:t>DB </a:t>
            </a:r>
            <a:r>
              <a:rPr lang="ko-KR" altLang="en-US" dirty="0"/>
              <a:t>생성 스크립트 만들기</a:t>
            </a:r>
            <a:r>
              <a:rPr lang="en-US" altLang="ko-KR" dirty="0"/>
              <a:t>(/</a:t>
            </a:r>
            <a:r>
              <a:rPr lang="en-US" altLang="ko-KR" dirty="0" err="1"/>
              <a:t>db</a:t>
            </a:r>
            <a:r>
              <a:rPr lang="en-US" altLang="ko-KR" dirty="0"/>
              <a:t>/initDB.js)</a:t>
            </a:r>
          </a:p>
          <a:p>
            <a:pPr lvl="1"/>
            <a:r>
              <a:rPr lang="en-US" altLang="ko-KR" dirty="0"/>
              <a:t>/</a:t>
            </a:r>
            <a:r>
              <a:rPr lang="en-US" altLang="ko-KR" dirty="0" err="1"/>
              <a:t>db</a:t>
            </a:r>
            <a:r>
              <a:rPr lang="en-US" altLang="ko-KR" dirty="0"/>
              <a:t> </a:t>
            </a:r>
            <a:r>
              <a:rPr lang="ko-KR" altLang="en-US" dirty="0"/>
              <a:t>폴더를 생성한 후 </a:t>
            </a:r>
            <a:r>
              <a:rPr lang="en-US" altLang="ko-KR" dirty="0"/>
              <a:t>initDB.js </a:t>
            </a:r>
            <a:r>
              <a:rPr lang="ko-KR" altLang="en-US" dirty="0"/>
              <a:t>파일을 만들고 다음 코드를 작성함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dirty="0"/>
              <a:t>스키마 파일</a:t>
            </a:r>
            <a:r>
              <a:rPr lang="en-US" altLang="ko-KR" dirty="0"/>
              <a:t>(</a:t>
            </a:r>
            <a:r>
              <a:rPr lang="en-US" altLang="ko-KR" dirty="0" err="1"/>
              <a:t>schema.sql</a:t>
            </a:r>
            <a:r>
              <a:rPr lang="en-US" altLang="ko-KR" dirty="0"/>
              <a:t>)</a:t>
            </a:r>
            <a:r>
              <a:rPr lang="ko-KR" altLang="en-US" dirty="0"/>
              <a:t>을 참조해서 데이터베이스</a:t>
            </a:r>
            <a:r>
              <a:rPr lang="en-US" altLang="ko-KR" dirty="0"/>
              <a:t>(</a:t>
            </a:r>
            <a:r>
              <a:rPr lang="en-US" altLang="ko-KR" dirty="0" err="1"/>
              <a:t>database.sqlite</a:t>
            </a:r>
            <a:r>
              <a:rPr lang="en-US" altLang="ko-KR" dirty="0"/>
              <a:t>) </a:t>
            </a:r>
            <a:r>
              <a:rPr lang="ko-KR" altLang="en-US" dirty="0"/>
              <a:t>파일을 생성할 것임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FFA824-6788-44B8-97B9-F6C7CD396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904" y="2498759"/>
            <a:ext cx="4889634" cy="283154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'sqlite3'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verbose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fs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fs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join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__</a:t>
            </a:r>
            <a:r>
              <a:rPr kumimoji="0" lang="ko-KR" altLang="ko-KR" sz="15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dirname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database.sqlite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schemaPath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join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__</a:t>
            </a:r>
            <a:r>
              <a:rPr kumimoji="0" lang="ko-KR" altLang="ko-KR" sz="15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dirname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'../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schema.sql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.Database(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schema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fs.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readFileSync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schemaPath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'utf-8'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D81F9BC-9107-42FF-B650-B2B66E251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158" y="2560111"/>
            <a:ext cx="4889634" cy="216982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exec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schema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5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❌ 스키마 실행 오류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5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log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✅ 데이터베이스 초기화 완료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5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close</a:t>
            </a: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C40B2-2C0C-4772-B70C-1923849DD561}"/>
              </a:ext>
            </a:extLst>
          </p:cNvPr>
          <p:cNvSpPr txBox="1"/>
          <p:nvPr/>
        </p:nvSpPr>
        <p:spPr>
          <a:xfrm>
            <a:off x="9813800" y="4257247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FFC000"/>
                </a:solidFill>
              </a:rPr>
              <a:t>db</a:t>
            </a:r>
            <a:r>
              <a:rPr lang="en-US" altLang="ko-KR" dirty="0">
                <a:solidFill>
                  <a:srgbClr val="FFC000"/>
                </a:solidFill>
              </a:rPr>
              <a:t>/initDB.js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62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3</a:t>
            </a:r>
            <a:r>
              <a:rPr lang="ko-KR" altLang="en-US" sz="2400" dirty="0"/>
              <a:t>단계</a:t>
            </a:r>
            <a:r>
              <a:rPr lang="en-US" altLang="ko-KR" sz="2400" dirty="0"/>
              <a:t>: DB </a:t>
            </a:r>
            <a:r>
              <a:rPr lang="ko-KR" altLang="en-US" sz="2400" dirty="0"/>
              <a:t>초기 스키마 작성 및 테이블 생성 </a:t>
            </a:r>
          </a:p>
          <a:p>
            <a:pPr marL="914400" lvl="1" indent="-457200">
              <a:buFont typeface="+mj-ea"/>
              <a:buAutoNum type="circleNumDbPlain" startAt="3"/>
            </a:pPr>
            <a:r>
              <a:rPr lang="en-US" altLang="ko-KR" sz="2200" dirty="0"/>
              <a:t>DB </a:t>
            </a:r>
            <a:r>
              <a:rPr lang="ko-KR" altLang="en-US" sz="2200" dirty="0"/>
              <a:t>초기화 실행</a:t>
            </a:r>
            <a:r>
              <a:rPr lang="en-US" altLang="ko-KR" sz="2200" dirty="0"/>
              <a:t>(</a:t>
            </a:r>
            <a:r>
              <a:rPr lang="ko-KR" altLang="en-US" sz="2200" dirty="0"/>
              <a:t>터미널에서 아래 명령어를 입력</a:t>
            </a:r>
            <a:r>
              <a:rPr lang="en-US" altLang="ko-KR" sz="2200" dirty="0"/>
              <a:t>)</a:t>
            </a:r>
          </a:p>
          <a:p>
            <a:pPr lvl="1"/>
            <a:r>
              <a:rPr lang="en-US" altLang="ko-KR" sz="2200" dirty="0"/>
              <a:t>&gt;node </a:t>
            </a:r>
            <a:r>
              <a:rPr lang="en-US" altLang="ko-KR" sz="2200" dirty="0" err="1"/>
              <a:t>db</a:t>
            </a:r>
            <a:r>
              <a:rPr lang="en-US" altLang="ko-KR" sz="2200" dirty="0"/>
              <a:t>/initDB.js </a:t>
            </a:r>
          </a:p>
          <a:p>
            <a:pPr lvl="1"/>
            <a:r>
              <a:rPr lang="ko-KR" altLang="en-US" sz="2200" dirty="0"/>
              <a:t>실행 후 데이터베이스 초지화 완료 메시지가 뜨고 </a:t>
            </a:r>
            <a:r>
              <a:rPr lang="en-US" altLang="ko-KR" sz="2200" dirty="0"/>
              <a:t>/</a:t>
            </a:r>
            <a:r>
              <a:rPr lang="en-US" altLang="ko-KR" sz="2200" dirty="0" err="1"/>
              <a:t>db</a:t>
            </a:r>
            <a:r>
              <a:rPr lang="en-US" altLang="ko-KR" sz="2200" dirty="0"/>
              <a:t>/</a:t>
            </a:r>
            <a:r>
              <a:rPr lang="en-US" altLang="ko-KR" sz="2200" dirty="0" err="1"/>
              <a:t>database.sqlite.sqlite</a:t>
            </a:r>
            <a:r>
              <a:rPr lang="en-US" altLang="ko-KR" sz="2200" dirty="0"/>
              <a:t> </a:t>
            </a:r>
            <a:r>
              <a:rPr lang="ko-KR" altLang="en-US" sz="2200" dirty="0"/>
              <a:t>파일이 생성되면 성공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962EE0-D66B-4750-84DE-90D3CF868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34" y="3295106"/>
            <a:ext cx="10606865" cy="6998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3A39CE-B8AB-4394-B94C-8412DCEA8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34" y="4552649"/>
            <a:ext cx="40576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8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4</a:t>
            </a:r>
            <a:r>
              <a:rPr lang="ko-KR" altLang="en-US" sz="2800" dirty="0"/>
              <a:t>단계</a:t>
            </a:r>
            <a:r>
              <a:rPr lang="en-US" altLang="ko-KR" sz="2800" dirty="0"/>
              <a:t>: </a:t>
            </a:r>
            <a:r>
              <a:rPr lang="ko-KR" altLang="en-US" sz="2800" dirty="0"/>
              <a:t>회원가입 및 로그인 기능 구현</a:t>
            </a:r>
            <a:endParaRPr lang="en-US" altLang="ko-KR" sz="2800" dirty="0"/>
          </a:p>
          <a:p>
            <a:r>
              <a:rPr lang="ko-KR" altLang="en-US" sz="2800" dirty="0"/>
              <a:t>구현 기능 </a:t>
            </a:r>
            <a:endParaRPr lang="en-US" altLang="ko-KR" sz="2800" dirty="0"/>
          </a:p>
          <a:p>
            <a:pPr lvl="1"/>
            <a:r>
              <a:rPr lang="ko-KR" altLang="en-US" sz="2400" dirty="0"/>
              <a:t>회원가입</a:t>
            </a:r>
            <a:r>
              <a:rPr lang="en-US" altLang="ko-KR" sz="2400" dirty="0"/>
              <a:t>(</a:t>
            </a:r>
            <a:r>
              <a:rPr lang="ko-KR" altLang="en-US" sz="2400" dirty="0"/>
              <a:t>비밀번호 암호화 포함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400" dirty="0"/>
              <a:t>로그인</a:t>
            </a:r>
            <a:r>
              <a:rPr lang="en-US" altLang="ko-KR" sz="2400" dirty="0"/>
              <a:t>(</a:t>
            </a:r>
            <a:r>
              <a:rPr lang="ko-KR" altLang="en-US" sz="2400" dirty="0"/>
              <a:t>세션 기반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400" dirty="0"/>
              <a:t>로그아웃</a:t>
            </a:r>
            <a:endParaRPr lang="en-US" altLang="ko-KR" sz="2400" dirty="0"/>
          </a:p>
          <a:p>
            <a:pPr lvl="1"/>
            <a:r>
              <a:rPr lang="ko-KR" altLang="en-US" sz="2400" dirty="0"/>
              <a:t>로그인한 사용자만 접근 가능한 페이지</a:t>
            </a:r>
          </a:p>
        </p:txBody>
      </p:sp>
    </p:spTree>
    <p:extLst>
      <p:ext uri="{BB962C8B-B14F-4D97-AF65-F5344CB8AC3E}">
        <p14:creationId xmlns:p14="http://schemas.microsoft.com/office/powerpoint/2010/main" val="3005254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회원가입 및 로그인 기능 구현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en-US" altLang="ko-KR" dirty="0"/>
              <a:t>routes/user.js </a:t>
            </a:r>
            <a:r>
              <a:rPr lang="ko-KR" altLang="en-US" dirty="0"/>
              <a:t> 파일을 생성하고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 다음 코드를 작성함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66AADC-1B36-4BAA-B689-6A1EE9F97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611" y="2405498"/>
            <a:ext cx="5084389" cy="28931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bcrypt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bcrypt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'sqlite3'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verbose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join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__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dirname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'../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database.sqlite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회원가입 페이지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register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register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F5181E4-3351-478E-8C71-72039593E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9845" y="1328280"/>
            <a:ext cx="5935468" cy="504753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회원가입 처리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register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async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hashedPassword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await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bcrypt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hash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'INSERT INTO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 VALUES (?, ?, ?)'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hashedPassword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회원가입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 페이지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C2E8E-E4E2-419C-B2AC-78FD5673F605}"/>
              </a:ext>
            </a:extLst>
          </p:cNvPr>
          <p:cNvSpPr txBox="1"/>
          <p:nvPr/>
        </p:nvSpPr>
        <p:spPr>
          <a:xfrm>
            <a:off x="1011611" y="5347230"/>
            <a:ext cx="51122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2"/>
              </a:rPr>
              <a:t>http://localhost:3000/register.ejs</a:t>
            </a:r>
            <a:r>
              <a:rPr lang="en-US" altLang="ko-KR" dirty="0"/>
              <a:t> </a:t>
            </a:r>
            <a:r>
              <a:rPr lang="ko-KR" altLang="en-US" dirty="0"/>
              <a:t>를 실행할 때</a:t>
            </a:r>
            <a:endParaRPr lang="en-US" altLang="ko-KR" dirty="0"/>
          </a:p>
          <a:p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type(get,</a:t>
            </a:r>
            <a:r>
              <a:rPr lang="ko-KR" altLang="en-US" dirty="0"/>
              <a:t> </a:t>
            </a:r>
            <a:r>
              <a:rPr lang="en-US" altLang="ko-KR" dirty="0"/>
              <a:t>post)</a:t>
            </a:r>
            <a:r>
              <a:rPr lang="ko-KR" altLang="en-US" dirty="0"/>
              <a:t>에 따라 </a:t>
            </a:r>
            <a:r>
              <a:rPr lang="en-US" altLang="ko-KR" dirty="0"/>
              <a:t>routing</a:t>
            </a:r>
            <a:r>
              <a:rPr lang="ko-KR" altLang="en-US" dirty="0"/>
              <a:t>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login, logout</a:t>
            </a:r>
            <a:r>
              <a:rPr lang="ko-KR" altLang="en-US" dirty="0"/>
              <a:t> 도 같은 방식으로 처리함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23368-06B0-4F57-978B-57B50626FF7A}"/>
              </a:ext>
            </a:extLst>
          </p:cNvPr>
          <p:cNvSpPr txBox="1"/>
          <p:nvPr/>
        </p:nvSpPr>
        <p:spPr>
          <a:xfrm>
            <a:off x="4548782" y="4767386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routes/user.js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484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B112F7-9E2C-4AD8-80A0-58650680E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23" y="1529390"/>
            <a:ext cx="6295881" cy="418576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 처리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async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|| 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존재하지 않는 사용자입니다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match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await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bcrypt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compare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match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비밀번호가 일치하지 않습니다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9288F8-F054-4036-AFBA-C57285D70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524" y="1529390"/>
            <a:ext cx="4479268" cy="160043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로그아웃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logout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destroy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module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exports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03D15-9926-4140-B892-0945A8698A1C}"/>
              </a:ext>
            </a:extLst>
          </p:cNvPr>
          <p:cNvSpPr txBox="1"/>
          <p:nvPr/>
        </p:nvSpPr>
        <p:spPr>
          <a:xfrm>
            <a:off x="7507705" y="3431678"/>
            <a:ext cx="3026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비동기 처리 </a:t>
            </a:r>
            <a:r>
              <a:rPr lang="en-US" altLang="ko-KR" dirty="0"/>
              <a:t>async, await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22D51-BDA2-45A2-9346-293907AC545C}"/>
              </a:ext>
            </a:extLst>
          </p:cNvPr>
          <p:cNvSpPr txBox="1"/>
          <p:nvPr/>
        </p:nvSpPr>
        <p:spPr>
          <a:xfrm>
            <a:off x="5386983" y="5143944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routes/user.js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521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회원가입 및 로그인 기능 구현</a:t>
            </a:r>
          </a:p>
          <a:p>
            <a:pPr marL="914400" lvl="1" indent="-457200">
              <a:buFont typeface="+mj-ea"/>
              <a:buAutoNum type="circleNumDbPlain" startAt="2"/>
            </a:pPr>
            <a:r>
              <a:rPr lang="ko-KR" altLang="en-US" dirty="0"/>
              <a:t>세션 설정</a:t>
            </a:r>
            <a:r>
              <a:rPr lang="en-US" altLang="ko-KR" dirty="0"/>
              <a:t>(app.js </a:t>
            </a:r>
            <a:r>
              <a:rPr lang="ko-KR" altLang="en-US" dirty="0"/>
              <a:t>수정</a:t>
            </a:r>
            <a:r>
              <a:rPr lang="en-US" altLang="ko-KR" dirty="0"/>
              <a:t>):  app.js </a:t>
            </a:r>
            <a:r>
              <a:rPr lang="ko-KR" altLang="en-US" dirty="0"/>
              <a:t> 파일에 다음 코드를 추가함</a:t>
            </a:r>
            <a:endParaRPr lang="en-US" altLang="ko-KR" dirty="0"/>
          </a:p>
          <a:p>
            <a:pPr marL="91440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91440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91440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91440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91440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914400" lvl="1" indent="-457200">
              <a:buFont typeface="+mj-ea"/>
              <a:buAutoNum type="circleNumDbPlain" startAt="2"/>
            </a:pPr>
            <a:endParaRPr lang="en-US" altLang="ko-KR" dirty="0"/>
          </a:p>
          <a:p>
            <a:pPr lvl="1"/>
            <a:r>
              <a:rPr lang="ko-KR" altLang="en-US" dirty="0"/>
              <a:t>위 코드 추가 후 라우터 연결 추가</a:t>
            </a:r>
            <a:endParaRPr lang="en-US" altLang="ko-KR" dirty="0"/>
          </a:p>
          <a:p>
            <a:pPr marL="914400" lvl="1" indent="-457200">
              <a:buFont typeface="+mj-ea"/>
              <a:buAutoNum type="circleNumDbPlain" startAt="2"/>
            </a:pP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6CE720-A87B-46E9-9318-385EDC06340E}"/>
              </a:ext>
            </a:extLst>
          </p:cNvPr>
          <p:cNvSpPr/>
          <p:nvPr/>
        </p:nvSpPr>
        <p:spPr>
          <a:xfrm>
            <a:off x="1463040" y="2108130"/>
            <a:ext cx="8508733" cy="2141227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const session = require('express-session');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 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app.use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(session({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    secret: 'secret-key',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    resave: false,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    </a:t>
            </a: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saveUninitialized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: true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}));</a:t>
            </a:r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B96A00-2847-4910-83CC-E0DEDDAFD1C8}"/>
              </a:ext>
            </a:extLst>
          </p:cNvPr>
          <p:cNvSpPr/>
          <p:nvPr/>
        </p:nvSpPr>
        <p:spPr>
          <a:xfrm>
            <a:off x="1597794" y="5040237"/>
            <a:ext cx="6096000" cy="659411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const </a:t>
            </a: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userRouter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 = require('./routes/user');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app.use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('/user', </a:t>
            </a: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userRouter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);</a:t>
            </a:r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67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회원가입 및 로그인 기능 구현</a:t>
            </a:r>
          </a:p>
          <a:p>
            <a:pPr marL="914400" lvl="1" indent="-457200">
              <a:buFont typeface="+mj-ea"/>
              <a:buAutoNum type="circleNumDbPlain" startAt="3"/>
            </a:pPr>
            <a:r>
              <a:rPr lang="ko-KR" altLang="en-US" dirty="0"/>
              <a:t>뷰 파일 만들기</a:t>
            </a:r>
            <a:r>
              <a:rPr lang="en-US" altLang="ko-KR" dirty="0"/>
              <a:t>(views/</a:t>
            </a:r>
            <a:r>
              <a:rPr lang="en-US" altLang="ko-KR" dirty="0" err="1"/>
              <a:t>register.ejs</a:t>
            </a:r>
            <a:r>
              <a:rPr lang="en-US" altLang="ko-KR" dirty="0"/>
              <a:t>, /views/</a:t>
            </a:r>
            <a:r>
              <a:rPr lang="en-US" altLang="ko-KR" dirty="0" err="1"/>
              <a:t>login.ejs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views/</a:t>
            </a:r>
            <a:r>
              <a:rPr lang="en-US" altLang="ko-KR" dirty="0" err="1"/>
              <a:t>register.ejs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en-US" altLang="ko-KR" dirty="0"/>
              <a:t>form </a:t>
            </a:r>
            <a:r>
              <a:rPr lang="ko-KR" altLang="en-US" dirty="0"/>
              <a:t>입력 부분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vies/</a:t>
            </a:r>
            <a:r>
              <a:rPr lang="en-US" altLang="ko-KR" dirty="0" err="1"/>
              <a:t>login.ejs</a:t>
            </a:r>
            <a:r>
              <a:rPr lang="ko-KR" altLang="en-US" dirty="0"/>
              <a:t>에서 </a:t>
            </a:r>
            <a:r>
              <a:rPr lang="en-US" altLang="ko-KR" dirty="0"/>
              <a:t>form </a:t>
            </a:r>
            <a:r>
              <a:rPr lang="ko-KR" altLang="en-US" dirty="0"/>
              <a:t>입력 부분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dirty="0"/>
          </a:p>
          <a:p>
            <a:pPr lvl="1"/>
            <a:r>
              <a:rPr lang="en-US" altLang="ko-KR" sz="1800" dirty="0"/>
              <a:t>/bin/www.js</a:t>
            </a:r>
            <a:r>
              <a:rPr lang="ko-KR" altLang="en-US" sz="1800" dirty="0"/>
              <a:t> 실행 후 </a:t>
            </a:r>
            <a:r>
              <a:rPr lang="en-US" altLang="ko-KR" sz="1800" dirty="0">
                <a:hlinkClick r:id="rId2"/>
              </a:rPr>
              <a:t>https://localhost:3000/register</a:t>
            </a:r>
            <a:r>
              <a:rPr lang="ko-KR" altLang="en-US" sz="1800" dirty="0"/>
              <a:t> </a:t>
            </a:r>
            <a:r>
              <a:rPr lang="en-US" altLang="ko-KR" sz="1800" dirty="0"/>
              <a:t>, </a:t>
            </a:r>
          </a:p>
          <a:p>
            <a:pPr marL="457200" lvl="1" indent="0">
              <a:buNone/>
            </a:pPr>
            <a:r>
              <a:rPr lang="en-US" altLang="ko-KR" sz="1800" dirty="0"/>
              <a:t>                      </a:t>
            </a:r>
            <a:r>
              <a:rPr lang="en-US" altLang="ko-KR" sz="1800" dirty="0">
                <a:hlinkClick r:id="rId3"/>
              </a:rPr>
              <a:t>https://localhost:3000/login</a:t>
            </a:r>
            <a:r>
              <a:rPr lang="en-US" altLang="ko-KR" sz="1800" dirty="0"/>
              <a:t> </a:t>
            </a:r>
            <a:r>
              <a:rPr lang="ko-KR" altLang="en-US" sz="1800" dirty="0"/>
              <a:t>으로 접속해서 테스트함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D40D7B-D92E-46B1-8F1C-25CE1A515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538" y="2420587"/>
            <a:ext cx="6968690" cy="160043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회원가입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register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placeholder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아이디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placeholder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placeholder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비밀번호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가입하기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D08E1F-11E3-412A-BB9E-0C8CA1435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263" y="4400667"/>
            <a:ext cx="6968691" cy="138499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placeholder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아이디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password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placeholder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비밀번호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1FAE3C-9812-443C-9341-C7C93BB38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397" y="2155649"/>
            <a:ext cx="2981119" cy="2130313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43C80D-9806-42F8-A2C4-C921FF13B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397" y="4583577"/>
            <a:ext cx="3001845" cy="1759471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1055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5</a:t>
            </a:r>
            <a:r>
              <a:rPr lang="ko-KR" altLang="en-US" sz="2800" dirty="0"/>
              <a:t>단계</a:t>
            </a:r>
            <a:r>
              <a:rPr lang="en-US" altLang="ko-KR" sz="2800" dirty="0"/>
              <a:t>: </a:t>
            </a:r>
            <a:r>
              <a:rPr lang="ko-KR" altLang="en-US" sz="2800" dirty="0"/>
              <a:t>고객센터 </a:t>
            </a:r>
            <a:r>
              <a:rPr lang="en-US" altLang="ko-KR" sz="2800" dirty="0"/>
              <a:t>CRUD + </a:t>
            </a:r>
            <a:r>
              <a:rPr lang="ko-KR" altLang="en-US" sz="2800" dirty="0"/>
              <a:t>계층적 답글 기능 구현</a:t>
            </a:r>
            <a:endParaRPr lang="en-US" altLang="ko-KR" sz="2800" dirty="0"/>
          </a:p>
          <a:p>
            <a:pPr lvl="1"/>
            <a:r>
              <a:rPr lang="ko-KR" altLang="en-US" sz="2600" dirty="0"/>
              <a:t>글 목록</a:t>
            </a:r>
            <a:r>
              <a:rPr lang="en-US" altLang="ko-KR" sz="2600" dirty="0"/>
              <a:t>: </a:t>
            </a:r>
            <a:r>
              <a:rPr lang="ko-KR" altLang="en-US" sz="2600" dirty="0" err="1"/>
              <a:t>원글과</a:t>
            </a:r>
            <a:r>
              <a:rPr lang="ko-KR" altLang="en-US" sz="2600" dirty="0"/>
              <a:t> 답글 포함하여 계층적으로 표시</a:t>
            </a:r>
            <a:endParaRPr lang="en-US" altLang="ko-KR" sz="2600" dirty="0"/>
          </a:p>
          <a:p>
            <a:pPr lvl="1"/>
            <a:r>
              <a:rPr lang="ko-KR" altLang="en-US" sz="2600" dirty="0"/>
              <a:t>글 작성</a:t>
            </a:r>
            <a:r>
              <a:rPr lang="en-US" altLang="ko-KR" sz="2600" dirty="0"/>
              <a:t>: </a:t>
            </a:r>
            <a:r>
              <a:rPr lang="ko-KR" altLang="en-US" sz="2600" dirty="0"/>
              <a:t>제목</a:t>
            </a:r>
            <a:r>
              <a:rPr lang="en-US" altLang="ko-KR" sz="2600" dirty="0"/>
              <a:t>, </a:t>
            </a:r>
            <a:r>
              <a:rPr lang="ko-KR" altLang="en-US" sz="2600" dirty="0"/>
              <a:t>내용 입력 후 저장</a:t>
            </a:r>
            <a:endParaRPr lang="en-US" altLang="ko-KR" sz="2600" dirty="0"/>
          </a:p>
          <a:p>
            <a:pPr lvl="1"/>
            <a:r>
              <a:rPr lang="ko-KR" altLang="en-US" sz="2600" dirty="0"/>
              <a:t>글 상세</a:t>
            </a:r>
            <a:r>
              <a:rPr lang="en-US" altLang="ko-KR" sz="2600" dirty="0"/>
              <a:t>: </a:t>
            </a:r>
            <a:r>
              <a:rPr lang="ko-KR" altLang="en-US" sz="2600" dirty="0"/>
              <a:t>글 보기 및 답글 작성</a:t>
            </a:r>
            <a:endParaRPr lang="en-US" altLang="ko-KR" sz="2600" dirty="0"/>
          </a:p>
          <a:p>
            <a:pPr lvl="1"/>
            <a:r>
              <a:rPr lang="ko-KR" altLang="en-US" sz="2600" dirty="0"/>
              <a:t>글 수정</a:t>
            </a:r>
            <a:r>
              <a:rPr lang="en-US" altLang="ko-KR" sz="2600" dirty="0"/>
              <a:t>/</a:t>
            </a:r>
            <a:r>
              <a:rPr lang="ko-KR" altLang="en-US" sz="2600" dirty="0"/>
              <a:t>삭제 </a:t>
            </a:r>
            <a:r>
              <a:rPr lang="en-US" altLang="ko-KR" sz="2600" dirty="0"/>
              <a:t>: </a:t>
            </a:r>
            <a:r>
              <a:rPr lang="ko-KR" altLang="en-US" sz="2600" dirty="0"/>
              <a:t>자신이 작성한 글만 수정</a:t>
            </a:r>
            <a:r>
              <a:rPr lang="en-US" altLang="ko-KR" sz="2600" dirty="0"/>
              <a:t>/</a:t>
            </a:r>
            <a:r>
              <a:rPr lang="ko-KR" altLang="en-US" sz="2600" dirty="0"/>
              <a:t>삭제 가능</a:t>
            </a:r>
            <a:endParaRPr lang="en-US" altLang="ko-KR" sz="2600" dirty="0"/>
          </a:p>
          <a:p>
            <a:pPr lvl="1"/>
            <a:r>
              <a:rPr lang="ko-KR" altLang="en-US" sz="2600" dirty="0"/>
              <a:t>답글 달기</a:t>
            </a:r>
            <a:r>
              <a:rPr lang="en-US" altLang="ko-KR" sz="2600" dirty="0"/>
              <a:t>: </a:t>
            </a:r>
            <a:r>
              <a:rPr lang="en-US" altLang="ko-KR" sz="2600" dirty="0" err="1"/>
              <a:t>parent_id</a:t>
            </a:r>
            <a:r>
              <a:rPr lang="en-US" altLang="ko-KR" sz="2600" dirty="0"/>
              <a:t> </a:t>
            </a:r>
            <a:r>
              <a:rPr lang="ko-KR" altLang="en-US" sz="2600" dirty="0"/>
              <a:t>를 통해 상위 글 참조</a:t>
            </a:r>
            <a:endParaRPr lang="en-US" altLang="ko-KR" sz="2600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103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고객센터 </a:t>
            </a:r>
            <a:r>
              <a:rPr lang="en-US" altLang="ko-KR" dirty="0"/>
              <a:t>CRUD + </a:t>
            </a:r>
            <a:r>
              <a:rPr lang="ko-KR" altLang="en-US" dirty="0"/>
              <a:t>계층적 답글 기능 구현</a:t>
            </a:r>
          </a:p>
          <a:p>
            <a:pPr marL="857250" lvl="1" indent="-457200">
              <a:buFont typeface="+mj-ea"/>
              <a:buAutoNum type="circleNumDbPlain"/>
            </a:pPr>
            <a:r>
              <a:rPr lang="ko-KR" altLang="en-US" dirty="0"/>
              <a:t>게시판 라우터</a:t>
            </a:r>
            <a:r>
              <a:rPr lang="en-US" altLang="ko-KR" dirty="0"/>
              <a:t>: routes/board.js </a:t>
            </a:r>
            <a:r>
              <a:rPr lang="ko-KR" altLang="en-US" dirty="0"/>
              <a:t>파일을 생성하고 다음 코드를 작성함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70A6AE-78BF-4313-B20D-8EA219507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281" y="2061413"/>
            <a:ext cx="4206239" cy="418576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'sqlite3'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verbose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join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__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dirname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'../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database.sqlite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게시글 목록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all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SELECT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ORDER BY 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57AAF7"/>
                </a:solidFill>
                <a:effectLst/>
                <a:latin typeface="Arial Unicode MS" panose="020B0604020202020204" pitchFamily="50" charset="-127"/>
                <a:ea typeface="JetBrains Mono"/>
              </a:rPr>
              <a:t>COALESCE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ASC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목록 불러오기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025CA9-71B7-450F-98CC-5EACD5CDD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768" y="2082850"/>
            <a:ext cx="6273813" cy="440120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글쓰기 폼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lang="ko-KR" altLang="ko-KR" sz="1400" dirty="0">
                <a:solidFill>
                  <a:srgbClr val="CF8E6D"/>
                </a:solidFill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글쓰기 처리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req.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?.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||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익명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'INSERT INTO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 VALUES (?, ?, ?, ?)'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||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function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작성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A8DD3-2749-4238-ACD5-6E5F0843FF85}"/>
              </a:ext>
            </a:extLst>
          </p:cNvPr>
          <p:cNvSpPr txBox="1"/>
          <p:nvPr/>
        </p:nvSpPr>
        <p:spPr>
          <a:xfrm>
            <a:off x="9127310" y="5877842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routes/board.js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894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DBD572-6B0D-48B7-8955-CD8A5DF95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48" y="1271657"/>
            <a:ext cx="5630779" cy="489364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 상세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view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postId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postId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|| !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 없음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detail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답글 달기 폼</a:t>
            </a:r>
            <a:r>
              <a:rPr kumimoji="0" lang="en-US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(</a:t>
            </a:r>
            <a:r>
              <a:rPr kumimoji="0" lang="ko-KR" altLang="en-US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기본 폼이며 다음페이지에서 확장함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reply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en-US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’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</a:t>
            </a:r>
            <a:r>
              <a:rPr kumimoji="0" lang="en-US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post: null,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 폼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edit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|| !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 없음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4DF1D0-54C6-4704-B932-36053A0C0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102" y="1301894"/>
            <a:ext cx="5104597" cy="469359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 처리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edit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 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'UPDATE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SET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 WHERE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[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 실패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view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/'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+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'DELETE FROM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 실패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module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exports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7AC4D-F840-4907-84B3-E7334568DBEB}"/>
              </a:ext>
            </a:extLst>
          </p:cNvPr>
          <p:cNvSpPr txBox="1"/>
          <p:nvPr/>
        </p:nvSpPr>
        <p:spPr>
          <a:xfrm>
            <a:off x="9900427" y="555610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routes/board.js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650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EF0D7-DB8F-4813-8BCD-8A22601F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386C8-02CC-481C-B4E7-03BF8DEE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답글달기</a:t>
            </a:r>
            <a:r>
              <a:rPr lang="ko-KR" altLang="en-US" dirty="0"/>
              <a:t> 폼 </a:t>
            </a:r>
            <a:r>
              <a:rPr lang="en-US" altLang="ko-KR" dirty="0"/>
              <a:t>upgrade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sz="2000" dirty="0"/>
              <a:t>문제점</a:t>
            </a:r>
            <a:r>
              <a:rPr lang="en-US" altLang="ko-KR" sz="2000" dirty="0"/>
              <a:t>: </a:t>
            </a:r>
            <a:r>
              <a:rPr lang="ko-KR" altLang="en-US" sz="2000" dirty="0"/>
              <a:t>렌더링 되는 템플릿이 </a:t>
            </a:r>
            <a:r>
              <a:rPr lang="en-US" altLang="ko-KR" sz="2000" dirty="0" err="1"/>
              <a:t>post.ejs</a:t>
            </a:r>
            <a:r>
              <a:rPr lang="ko-KR" altLang="en-US" sz="2000" dirty="0"/>
              <a:t>이므로 일반 게시글 작성 페이지와 공유함</a:t>
            </a:r>
            <a:endParaRPr lang="en-US" altLang="ko-KR" sz="2000" dirty="0"/>
          </a:p>
          <a:p>
            <a:pPr lvl="1"/>
            <a:r>
              <a:rPr lang="ko-KR" altLang="en-US" sz="2000" dirty="0"/>
              <a:t>해결방안</a:t>
            </a:r>
            <a:r>
              <a:rPr lang="en-US" altLang="ko-KR" sz="2000" dirty="0"/>
              <a:t>: </a:t>
            </a:r>
          </a:p>
          <a:p>
            <a:pPr lvl="2"/>
            <a:r>
              <a:rPr lang="en-US" altLang="ko-KR" sz="1800" dirty="0"/>
              <a:t>views/</a:t>
            </a:r>
            <a:r>
              <a:rPr lang="en-US" altLang="ko-KR" sz="1800" dirty="0" err="1"/>
              <a:t>reply.ejs</a:t>
            </a:r>
            <a:r>
              <a:rPr lang="ko-KR" altLang="en-US" sz="1800" dirty="0"/>
              <a:t>로 별도 템플릿 분리</a:t>
            </a:r>
            <a:endParaRPr lang="en-US" altLang="ko-KR" sz="1800" dirty="0"/>
          </a:p>
          <a:p>
            <a:pPr lvl="2"/>
            <a:r>
              <a:rPr lang="en-US" altLang="ko-KR" sz="1800" dirty="0" err="1"/>
              <a:t>parentId</a:t>
            </a:r>
            <a:r>
              <a:rPr lang="ko-KR" altLang="en-US" sz="1800" dirty="0"/>
              <a:t>를 </a:t>
            </a:r>
            <a:r>
              <a:rPr lang="en-US" altLang="ko-KR" sz="1800" dirty="0"/>
              <a:t>&lt;input</a:t>
            </a:r>
            <a:r>
              <a:rPr lang="ko-KR" altLang="en-US" sz="1800" dirty="0"/>
              <a:t> </a:t>
            </a:r>
            <a:r>
              <a:rPr lang="en-US" altLang="ko-KR" sz="1800" dirty="0"/>
              <a:t>type=“hidden”&gt;</a:t>
            </a:r>
            <a:r>
              <a:rPr lang="ko-KR" altLang="en-US" sz="1800" dirty="0"/>
              <a:t>으로 </a:t>
            </a:r>
            <a:r>
              <a:rPr lang="en-US" altLang="ko-KR" sz="1800" dirty="0"/>
              <a:t>form</a:t>
            </a:r>
            <a:r>
              <a:rPr lang="ko-KR" altLang="en-US" sz="1800" dirty="0"/>
              <a:t>에 포함</a:t>
            </a:r>
            <a:endParaRPr lang="en-US" altLang="ko-KR" sz="1800" dirty="0"/>
          </a:p>
          <a:p>
            <a:pPr lvl="2"/>
            <a:r>
              <a:rPr lang="en-US" altLang="ko-KR" sz="1800" dirty="0"/>
              <a:t>DB </a:t>
            </a:r>
            <a:r>
              <a:rPr lang="ko-KR" altLang="en-US" sz="1800" dirty="0" err="1"/>
              <a:t>저장시</a:t>
            </a:r>
            <a:r>
              <a:rPr lang="ko-KR" altLang="en-US" sz="1800" dirty="0"/>
              <a:t> </a:t>
            </a:r>
            <a:r>
              <a:rPr lang="en-US" altLang="ko-KR" sz="1800" dirty="0" err="1"/>
              <a:t>parent_id</a:t>
            </a:r>
            <a:r>
              <a:rPr lang="en-US" altLang="ko-KR" sz="1800" dirty="0"/>
              <a:t> </a:t>
            </a:r>
            <a:r>
              <a:rPr lang="ko-KR" altLang="en-US" sz="1800" dirty="0"/>
              <a:t>컬럼 반영</a:t>
            </a:r>
            <a:endParaRPr lang="en-US" altLang="ko-KR" sz="1800" dirty="0"/>
          </a:p>
          <a:p>
            <a:pPr lvl="1"/>
            <a:r>
              <a:rPr lang="ko-KR" altLang="en-US" sz="2000" dirty="0"/>
              <a:t>위 코드를 아래와 같이 수정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919342F-04B3-488F-9675-FDF2265DA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533" y="1694104"/>
            <a:ext cx="4052235" cy="10772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reply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4C9CA-F7D0-4310-B540-0ED77D481428}"/>
              </a:ext>
            </a:extLst>
          </p:cNvPr>
          <p:cNvSpPr txBox="1"/>
          <p:nvPr/>
        </p:nvSpPr>
        <p:spPr>
          <a:xfrm>
            <a:off x="5390828" y="1694104"/>
            <a:ext cx="5501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/reply/:id</a:t>
            </a:r>
            <a:r>
              <a:rPr lang="ko-KR" altLang="en-US" sz="1600" dirty="0"/>
              <a:t>로 들어오는 </a:t>
            </a:r>
            <a:r>
              <a:rPr lang="en-US" altLang="ko-KR" sz="1600" dirty="0"/>
              <a:t>GET </a:t>
            </a:r>
            <a:r>
              <a:rPr lang="ko-KR" altLang="en-US" sz="1600" dirty="0"/>
              <a:t>요청처리</a:t>
            </a:r>
            <a:endParaRPr lang="en-US" altLang="ko-KR" sz="1600" dirty="0"/>
          </a:p>
          <a:p>
            <a:r>
              <a:rPr lang="ko-KR" altLang="en-US" sz="1600" dirty="0"/>
              <a:t>파라미터 </a:t>
            </a:r>
            <a:r>
              <a:rPr lang="en-US" altLang="ko-KR" sz="1600" dirty="0"/>
              <a:t>URL</a:t>
            </a:r>
            <a:r>
              <a:rPr lang="ko-KR" altLang="en-US" sz="1600" dirty="0"/>
              <a:t>의 </a:t>
            </a:r>
            <a:r>
              <a:rPr lang="en-US" altLang="ko-KR" sz="1600" dirty="0"/>
              <a:t>:id</a:t>
            </a:r>
            <a:r>
              <a:rPr lang="ko-KR" altLang="en-US" sz="1600" dirty="0"/>
              <a:t>를 </a:t>
            </a:r>
            <a:r>
              <a:rPr lang="en-US" altLang="ko-KR" sz="1600" dirty="0" err="1"/>
              <a:t>parentId</a:t>
            </a:r>
            <a:r>
              <a:rPr lang="ko-KR" altLang="en-US" sz="1600" dirty="0"/>
              <a:t>로 추출</a:t>
            </a:r>
            <a:endParaRPr lang="en-US" altLang="ko-KR" sz="1600" dirty="0"/>
          </a:p>
          <a:p>
            <a:r>
              <a:rPr lang="ko-KR" altLang="en-US" sz="1600" dirty="0"/>
              <a:t>렌더링</a:t>
            </a:r>
            <a:r>
              <a:rPr lang="en-US" altLang="ko-KR" sz="1600" dirty="0"/>
              <a:t>: views/</a:t>
            </a:r>
            <a:r>
              <a:rPr lang="en-US" altLang="ko-KR" sz="1600" dirty="0" err="1"/>
              <a:t>post.ejs</a:t>
            </a:r>
            <a:r>
              <a:rPr lang="en-US" altLang="ko-KR" sz="1600" dirty="0"/>
              <a:t> </a:t>
            </a:r>
            <a:r>
              <a:rPr lang="ko-KR" altLang="en-US" sz="1600" dirty="0"/>
              <a:t>템플릿을 렌더링하고</a:t>
            </a:r>
            <a:r>
              <a:rPr lang="en-US" altLang="ko-KR" sz="1600" dirty="0"/>
              <a:t>, </a:t>
            </a:r>
            <a:r>
              <a:rPr lang="ko-KR" altLang="en-US" sz="1600" dirty="0"/>
              <a:t> </a:t>
            </a:r>
            <a:r>
              <a:rPr lang="en-US" altLang="ko-KR" sz="1600" dirty="0" err="1"/>
              <a:t>parentId</a:t>
            </a:r>
            <a:r>
              <a:rPr lang="en-US" altLang="ko-KR" sz="1600" dirty="0"/>
              <a:t> </a:t>
            </a:r>
            <a:r>
              <a:rPr lang="ko-KR" altLang="en-US" sz="1600" dirty="0"/>
              <a:t>전달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D5FF01F-07B5-4798-A3EB-980881B26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668" y="5038915"/>
            <a:ext cx="6567573" cy="160043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reply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"SELECT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|| 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원글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없음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reply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E2CE6C-19C2-47F7-AE1C-62A100766A2A}"/>
              </a:ext>
            </a:extLst>
          </p:cNvPr>
          <p:cNvSpPr txBox="1"/>
          <p:nvPr/>
        </p:nvSpPr>
        <p:spPr>
          <a:xfrm>
            <a:off x="7131692" y="616530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routes/board.js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C3279-A4B3-48CB-85C4-D24E3819C102}"/>
              </a:ext>
            </a:extLst>
          </p:cNvPr>
          <p:cNvSpPr txBox="1"/>
          <p:nvPr/>
        </p:nvSpPr>
        <p:spPr>
          <a:xfrm>
            <a:off x="3841278" y="2480055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C000"/>
                </a:solidFill>
              </a:rPr>
              <a:t>routes/board.js</a:t>
            </a:r>
            <a:endParaRPr lang="ko-KR" altLang="en-US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110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A9D59-1C03-4974-AC7C-31FBA0BA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3C4FDE-DF8E-49B6-8C5C-DE7B49726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답글달기</a:t>
            </a:r>
            <a:r>
              <a:rPr lang="ko-KR" altLang="en-US" dirty="0"/>
              <a:t> 폼 </a:t>
            </a:r>
            <a:r>
              <a:rPr lang="en-US" altLang="ko-KR" dirty="0"/>
              <a:t>upgrade(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sz="2000" dirty="0"/>
              <a:t>/create</a:t>
            </a:r>
            <a:r>
              <a:rPr lang="ko-KR" altLang="en-US" sz="2000" dirty="0"/>
              <a:t> 라우터에서 </a:t>
            </a:r>
            <a:r>
              <a:rPr lang="en-US" altLang="ko-KR" sz="2000" dirty="0" err="1"/>
              <a:t>parent_id</a:t>
            </a:r>
            <a:r>
              <a:rPr lang="en-US" altLang="ko-KR" sz="2000" dirty="0"/>
              <a:t> </a:t>
            </a:r>
            <a:r>
              <a:rPr lang="ko-KR" altLang="en-US" sz="2000" dirty="0"/>
              <a:t>저장할 필요가 있음</a:t>
            </a:r>
            <a:endParaRPr lang="en-US" altLang="ko-KR" sz="2000" dirty="0"/>
          </a:p>
          <a:p>
            <a:pPr lvl="1"/>
            <a:r>
              <a:rPr lang="ko-KR" altLang="en-US" sz="2000" dirty="0"/>
              <a:t>아래 코드를 </a:t>
            </a:r>
            <a:r>
              <a:rPr lang="en-US" altLang="ko-KR" sz="2000" dirty="0"/>
              <a:t>/routes/board.js</a:t>
            </a:r>
            <a:r>
              <a:rPr lang="ko-KR" altLang="en-US" sz="2000" dirty="0"/>
              <a:t>에 추가</a:t>
            </a:r>
            <a:endParaRPr lang="en-US" altLang="ko-KR" sz="2000" dirty="0"/>
          </a:p>
          <a:p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3B1A5B-8A4B-47E3-B3F8-199ECF13B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782" y="2524574"/>
            <a:ext cx="7290714" cy="304698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 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'INSERT INTO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 VALUES (?, ?, ?, ?)'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[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||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function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등록 실패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);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49F59-9AC0-4E32-809F-CDD773CA0F0A}"/>
              </a:ext>
            </a:extLst>
          </p:cNvPr>
          <p:cNvSpPr txBox="1"/>
          <p:nvPr/>
        </p:nvSpPr>
        <p:spPr>
          <a:xfrm>
            <a:off x="6810717" y="492083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routes/board.js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35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D686E-8DC0-4876-A3B5-C9CB6E07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550AF-7F4D-46BB-A710-9E79A56B8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답글 달기 폼 </a:t>
            </a:r>
            <a:r>
              <a:rPr lang="en-US" altLang="ko-KR" dirty="0"/>
              <a:t>upgrade(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답글 작성을 위한 </a:t>
            </a:r>
            <a:r>
              <a:rPr lang="en-US" altLang="ko-KR" dirty="0" err="1"/>
              <a:t>reply.ejs</a:t>
            </a:r>
            <a:r>
              <a:rPr lang="ko-KR" altLang="en-US" dirty="0"/>
              <a:t> 템플릿의 입력 폼 코드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D67163-AEA4-4050-A63D-4507043AB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279" y="2045421"/>
            <a:ext cx="7281088" cy="39703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답글 작성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📝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원글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제목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strong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%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pa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rentTitle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strong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&lt;!--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부모 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숨겨서 서버에 전달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--&gt;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label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작성자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label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label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제목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label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label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내용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label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textarea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rows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5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textarea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답글 등록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B1604-C6AB-4E77-B4A8-507DAE3D024C}"/>
              </a:ext>
            </a:extLst>
          </p:cNvPr>
          <p:cNvSpPr txBox="1"/>
          <p:nvPr/>
        </p:nvSpPr>
        <p:spPr>
          <a:xfrm>
            <a:off x="7022473" y="5449896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reply.ejs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448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고객센터 </a:t>
            </a:r>
            <a:r>
              <a:rPr lang="en-US" altLang="ko-KR" dirty="0"/>
              <a:t>CRUD + </a:t>
            </a:r>
            <a:r>
              <a:rPr lang="ko-KR" altLang="en-US" dirty="0"/>
              <a:t>계층적 답글 기능 구현</a:t>
            </a:r>
          </a:p>
          <a:p>
            <a:pPr marL="857250" lvl="1" indent="-457200">
              <a:buFont typeface="+mj-ea"/>
              <a:buAutoNum type="circleNumDbPlain" startAt="2"/>
            </a:pPr>
            <a:r>
              <a:rPr lang="ko-KR" altLang="en-US" dirty="0"/>
              <a:t>라우터 등록</a:t>
            </a:r>
            <a:r>
              <a:rPr lang="en-US" altLang="ko-KR" dirty="0"/>
              <a:t>: app.js</a:t>
            </a:r>
            <a:r>
              <a:rPr lang="ko-KR" altLang="en-US" dirty="0"/>
              <a:t>를 아래 내용을 추가해서 수정함</a:t>
            </a:r>
            <a:endParaRPr lang="en-US" altLang="ko-KR" dirty="0"/>
          </a:p>
          <a:p>
            <a:pPr marL="85725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85725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857250" lvl="1" indent="-457200">
              <a:buFont typeface="+mj-ea"/>
              <a:buAutoNum type="circleNumDbPlain" startAt="2"/>
            </a:pPr>
            <a:r>
              <a:rPr lang="ko-KR" altLang="en-US" dirty="0"/>
              <a:t>뷰 템플릿 작성</a:t>
            </a:r>
            <a:endParaRPr lang="en-US" altLang="ko-KR" dirty="0"/>
          </a:p>
          <a:p>
            <a:pPr lvl="1" indent="-342900"/>
            <a:r>
              <a:rPr lang="ko-KR" altLang="en-US" dirty="0"/>
              <a:t>목록 보기</a:t>
            </a:r>
            <a:r>
              <a:rPr lang="en-US" altLang="ko-KR" dirty="0"/>
              <a:t>(views/</a:t>
            </a:r>
            <a:r>
              <a:rPr lang="en-US" altLang="ko-KR" dirty="0" err="1"/>
              <a:t>board.ejs</a:t>
            </a:r>
            <a:r>
              <a:rPr lang="en-US" altLang="ko-KR" dirty="0"/>
              <a:t>)</a:t>
            </a:r>
            <a:r>
              <a:rPr lang="ko-KR" altLang="en-US" dirty="0"/>
              <a:t>의 목록 보여주기 코드 부분</a:t>
            </a:r>
            <a:endParaRPr lang="en-US" altLang="ko-KR" dirty="0"/>
          </a:p>
          <a:p>
            <a:pPr marL="85725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857250" lvl="1" indent="-457200">
              <a:buFont typeface="+mj-ea"/>
              <a:buAutoNum type="circleNumDbPlain" startAt="2"/>
            </a:pPr>
            <a:endParaRPr lang="en-US" altLang="ko-KR" dirty="0"/>
          </a:p>
          <a:p>
            <a:pPr marL="857250" lvl="1" indent="-457200">
              <a:buFont typeface="+mj-ea"/>
              <a:buAutoNum type="circleNumDbPlain" startAt="2"/>
            </a:pP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9A0466-CC7F-481F-954E-B3730913048C}"/>
              </a:ext>
            </a:extLst>
          </p:cNvPr>
          <p:cNvSpPr/>
          <p:nvPr/>
        </p:nvSpPr>
        <p:spPr>
          <a:xfrm>
            <a:off x="1527208" y="1980398"/>
            <a:ext cx="6096000" cy="659411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const </a:t>
            </a: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boardRouter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 = require('./routes/board');</a:t>
            </a:r>
            <a:endParaRPr lang="ko-KR" altLang="ko-KR" sz="12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app.use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('/board', </a:t>
            </a:r>
            <a:r>
              <a:rPr lang="en-US" altLang="ko-KR" b="1" kern="0" dirty="0" err="1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boardRouter</a:t>
            </a:r>
            <a:r>
              <a:rPr lang="en-US" altLang="ko-KR" b="1" kern="0" dirty="0">
                <a:latin typeface="굴림체" panose="020B0609000101010101" pitchFamily="49" charset="-127"/>
                <a:ea typeface="맑은 고딕" panose="020B0503020000020004" pitchFamily="50" charset="-127"/>
                <a:cs typeface="굴림체" panose="020B0609000101010101" pitchFamily="49" charset="-127"/>
              </a:rPr>
              <a:t>);</a:t>
            </a:r>
            <a:endParaRPr lang="ko-KR" altLang="ko-KR" sz="12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AF0F0D-CEBC-4D15-BC3C-BE584563A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301" y="3617655"/>
            <a:ext cx="8354728" cy="28931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고객센터 게시판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글쓰기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posts.forEach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=&gt;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margin-left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:&lt;%=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? '30px' : '0'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view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 ? ‘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글 수정‘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? '[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답글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]' : '' %&gt;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(&lt;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edit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 /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})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1B897-A6C3-440C-9B84-A20995D00D6A}"/>
              </a:ext>
            </a:extLst>
          </p:cNvPr>
          <p:cNvSpPr txBox="1"/>
          <p:nvPr/>
        </p:nvSpPr>
        <p:spPr>
          <a:xfrm>
            <a:off x="8062004" y="6062508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views/</a:t>
            </a:r>
            <a:r>
              <a:rPr lang="en-US" altLang="ko-KR" dirty="0" err="1">
                <a:solidFill>
                  <a:srgbClr val="FFC000"/>
                </a:solidFill>
              </a:rPr>
              <a:t>board.ejs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671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고객센터 </a:t>
            </a:r>
            <a:r>
              <a:rPr lang="en-US" altLang="ko-KR" dirty="0"/>
              <a:t>CRUD + </a:t>
            </a:r>
            <a:r>
              <a:rPr lang="ko-KR" altLang="en-US" dirty="0"/>
              <a:t>계층적 답글 기능 구현</a:t>
            </a:r>
          </a:p>
          <a:p>
            <a:pPr marL="857250" lvl="1" indent="-457200">
              <a:buClr>
                <a:srgbClr val="333399"/>
              </a:buClr>
            </a:pPr>
            <a:r>
              <a:rPr lang="en-US" altLang="ko-KR" sz="2400" dirty="0">
                <a:solidFill>
                  <a:srgbClr val="000000"/>
                </a:solidFill>
              </a:rPr>
              <a:t>GET/board </a:t>
            </a:r>
            <a:r>
              <a:rPr lang="ko-KR" altLang="en-US" sz="2400" dirty="0">
                <a:solidFill>
                  <a:srgbClr val="000000"/>
                </a:solidFill>
              </a:rPr>
              <a:t>요청이 들어오면 실행중인 </a:t>
            </a:r>
            <a:r>
              <a:rPr lang="en-US" altLang="ko-KR" sz="2400" dirty="0">
                <a:solidFill>
                  <a:srgbClr val="000000"/>
                </a:solidFill>
              </a:rPr>
              <a:t> app.js -&gt;/board </a:t>
            </a:r>
            <a:r>
              <a:rPr lang="ko-KR" altLang="en-US" sz="2400" dirty="0">
                <a:solidFill>
                  <a:srgbClr val="000000"/>
                </a:solidFill>
              </a:rPr>
              <a:t>경로의 </a:t>
            </a:r>
            <a:r>
              <a:rPr lang="en-US" altLang="ko-KR" sz="2400" dirty="0">
                <a:solidFill>
                  <a:srgbClr val="000000"/>
                </a:solidFill>
              </a:rPr>
              <a:t>board.js</a:t>
            </a:r>
            <a:r>
              <a:rPr lang="ko-KR" altLang="en-US" sz="2400" dirty="0">
                <a:solidFill>
                  <a:srgbClr val="000000"/>
                </a:solidFill>
              </a:rPr>
              <a:t>의 </a:t>
            </a:r>
            <a:r>
              <a:rPr lang="en-US" altLang="ko-KR" sz="2400" dirty="0" err="1">
                <a:solidFill>
                  <a:srgbClr val="000000"/>
                </a:solidFill>
              </a:rPr>
              <a:t>router.get</a:t>
            </a:r>
            <a:r>
              <a:rPr lang="en-US" altLang="ko-KR" sz="2400" dirty="0">
                <a:solidFill>
                  <a:srgbClr val="000000"/>
                </a:solidFill>
              </a:rPr>
              <a:t>(‘/’) -&gt; </a:t>
            </a:r>
            <a:r>
              <a:rPr lang="en-US" altLang="ko-KR" sz="2400" dirty="0" err="1">
                <a:solidFill>
                  <a:srgbClr val="000000"/>
                </a:solidFill>
              </a:rPr>
              <a:t>board.ejs</a:t>
            </a:r>
            <a:r>
              <a:rPr lang="ko-KR" altLang="en-US" sz="2400" dirty="0">
                <a:solidFill>
                  <a:srgbClr val="000000"/>
                </a:solidFill>
              </a:rPr>
              <a:t> 렌더링 순서로 동작함</a:t>
            </a:r>
            <a:r>
              <a:rPr lang="en-US" altLang="ko-KR" sz="2400" dirty="0">
                <a:solidFill>
                  <a:srgbClr val="000000"/>
                </a:solidFill>
              </a:rPr>
              <a:t>(board.js</a:t>
            </a:r>
            <a:r>
              <a:rPr lang="ko-KR" altLang="en-US" sz="2400" dirty="0">
                <a:solidFill>
                  <a:srgbClr val="000000"/>
                </a:solidFill>
              </a:rPr>
              <a:t>의 게시글 목록 부분</a:t>
            </a:r>
            <a:r>
              <a:rPr lang="en-US" altLang="ko-KR" sz="2400" dirty="0">
                <a:solidFill>
                  <a:srgbClr val="000000"/>
                </a:solidFill>
              </a:rPr>
              <a:t>)</a:t>
            </a:r>
          </a:p>
          <a:p>
            <a:pPr marL="857250" lvl="1" indent="-457200">
              <a:buClr>
                <a:srgbClr val="333399"/>
              </a:buClr>
            </a:pPr>
            <a:r>
              <a:rPr lang="ko-KR" altLang="en-US" sz="2400" dirty="0">
                <a:solidFill>
                  <a:srgbClr val="000000"/>
                </a:solidFill>
              </a:rPr>
              <a:t>글쓰기</a:t>
            </a:r>
            <a:r>
              <a:rPr lang="en-US" altLang="ko-KR" sz="2400" dirty="0">
                <a:solidFill>
                  <a:srgbClr val="000000"/>
                </a:solidFill>
              </a:rPr>
              <a:t>/</a:t>
            </a:r>
            <a:r>
              <a:rPr lang="ko-KR" altLang="en-US" sz="2400" dirty="0">
                <a:solidFill>
                  <a:srgbClr val="000000"/>
                </a:solidFill>
              </a:rPr>
              <a:t>수정</a:t>
            </a:r>
            <a:r>
              <a:rPr lang="en-US" altLang="ko-KR" sz="2400" dirty="0">
                <a:solidFill>
                  <a:srgbClr val="000000"/>
                </a:solidFill>
              </a:rPr>
              <a:t>/</a:t>
            </a:r>
            <a:r>
              <a:rPr lang="ko-KR" altLang="en-US" sz="2400" dirty="0">
                <a:solidFill>
                  <a:srgbClr val="000000"/>
                </a:solidFill>
              </a:rPr>
              <a:t>답글 </a:t>
            </a:r>
            <a:r>
              <a:rPr lang="en-US" altLang="ko-KR" sz="2400" dirty="0">
                <a:solidFill>
                  <a:srgbClr val="000000"/>
                </a:solidFill>
              </a:rPr>
              <a:t>(views/</a:t>
            </a:r>
            <a:r>
              <a:rPr lang="en-US" altLang="ko-KR" sz="2400" dirty="0" err="1">
                <a:solidFill>
                  <a:srgbClr val="000000"/>
                </a:solidFill>
              </a:rPr>
              <a:t>post.ejs</a:t>
            </a:r>
            <a:r>
              <a:rPr lang="en-US" altLang="ko-KR" sz="2400" dirty="0">
                <a:solidFill>
                  <a:srgbClr val="000000"/>
                </a:solidFill>
              </a:rPr>
              <a:t>)</a:t>
            </a:r>
            <a:r>
              <a:rPr lang="ko-KR" altLang="en-US" sz="2400" dirty="0">
                <a:solidFill>
                  <a:srgbClr val="000000"/>
                </a:solidFill>
              </a:rPr>
              <a:t>의 </a:t>
            </a:r>
            <a:r>
              <a:rPr lang="en-US" altLang="ko-KR" sz="2400" dirty="0">
                <a:solidFill>
                  <a:srgbClr val="000000"/>
                </a:solidFill>
              </a:rPr>
              <a:t>&lt;form&gt; </a:t>
            </a:r>
            <a:r>
              <a:rPr lang="ko-KR" altLang="en-US" sz="2400" dirty="0">
                <a:solidFill>
                  <a:srgbClr val="000000"/>
                </a:solidFill>
              </a:rPr>
              <a:t>입력 코드 부분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7675AC-0F7C-4D5A-9779-750BB73BA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54" y="3275756"/>
            <a:ext cx="9172876" cy="181588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? 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 수정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 : 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? 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답글 작성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 : 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새 글 작성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') %&gt;&lt;/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? '/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edit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/' + post.id : '/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 %&gt;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parent_id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?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post.parent_id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placeholder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제목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?.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|| '' %&gt;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textarea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placeholder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내용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?.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content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|| '' %&gt;&lt;/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textarea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저장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4E897-8DBE-440E-B304-553E94C7A1E9}"/>
              </a:ext>
            </a:extLst>
          </p:cNvPr>
          <p:cNvSpPr txBox="1"/>
          <p:nvPr/>
        </p:nvSpPr>
        <p:spPr>
          <a:xfrm>
            <a:off x="8081253" y="4722306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views/</a:t>
            </a:r>
            <a:r>
              <a:rPr lang="en-US" altLang="ko-KR" dirty="0" err="1">
                <a:solidFill>
                  <a:srgbClr val="FFC000"/>
                </a:solidFill>
              </a:rPr>
              <a:t>post.ejs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120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고객센터 </a:t>
            </a:r>
            <a:r>
              <a:rPr lang="en-US" altLang="ko-KR" dirty="0"/>
              <a:t>CRUD + </a:t>
            </a:r>
            <a:r>
              <a:rPr lang="ko-KR" altLang="en-US" dirty="0"/>
              <a:t>계층적 답글 기능 구현</a:t>
            </a:r>
          </a:p>
          <a:p>
            <a:pPr lvl="1"/>
            <a:r>
              <a:rPr lang="ko-KR" altLang="en-US" dirty="0"/>
              <a:t>게시글 확인용 상세보기</a:t>
            </a:r>
            <a:r>
              <a:rPr lang="en-US" altLang="ko-KR" dirty="0"/>
              <a:t>(</a:t>
            </a: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내용</a:t>
            </a:r>
            <a:r>
              <a:rPr lang="en-US" altLang="ko-KR" dirty="0"/>
              <a:t>, </a:t>
            </a:r>
            <a:r>
              <a:rPr lang="ko-KR" altLang="en-US" dirty="0"/>
              <a:t>작성자</a:t>
            </a:r>
            <a:r>
              <a:rPr lang="en-US" altLang="ko-KR" dirty="0"/>
              <a:t>)</a:t>
            </a:r>
            <a:r>
              <a:rPr lang="ko-KR" altLang="en-US" dirty="0"/>
              <a:t>를 보여주는 </a:t>
            </a:r>
            <a:r>
              <a:rPr lang="en-US" altLang="ko-KR" dirty="0" err="1"/>
              <a:t>detail.ejs</a:t>
            </a:r>
            <a:r>
              <a:rPr lang="ko-KR" altLang="en-US" dirty="0"/>
              <a:t>의 기본 코드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지금까지 작업된 내용을 실행하면 고객센터 게시판 </a:t>
            </a:r>
            <a:r>
              <a:rPr lang="en-US" altLang="ko-KR" dirty="0"/>
              <a:t>CRUD+</a:t>
            </a:r>
            <a:r>
              <a:rPr lang="ko-KR" altLang="en-US" dirty="0"/>
              <a:t>답글 기능이 완성됨</a:t>
            </a:r>
            <a:endParaRPr lang="en-US" altLang="ko-KR" dirty="0"/>
          </a:p>
          <a:p>
            <a:r>
              <a:rPr lang="ko-KR" altLang="en-US" dirty="0"/>
              <a:t>실행 순서</a:t>
            </a:r>
            <a:endParaRPr lang="en-US" altLang="ko-KR" dirty="0"/>
          </a:p>
          <a:p>
            <a:pPr lvl="1"/>
            <a:r>
              <a:rPr lang="en-US" altLang="ko-KR" dirty="0"/>
              <a:t>board-project&gt; </a:t>
            </a:r>
            <a:r>
              <a:rPr lang="en-US" altLang="ko-KR" dirty="0" err="1"/>
              <a:t>npm</a:t>
            </a:r>
            <a:r>
              <a:rPr lang="en-US" altLang="ko-KR" dirty="0"/>
              <a:t> install //</a:t>
            </a:r>
            <a:r>
              <a:rPr lang="ko-KR" altLang="en-US" dirty="0"/>
              <a:t>의존성 설치</a:t>
            </a:r>
            <a:r>
              <a:rPr lang="en-US" altLang="ko-KR" dirty="0"/>
              <a:t>(express, sqlite3, </a:t>
            </a:r>
            <a:r>
              <a:rPr lang="en-US" altLang="ko-KR" dirty="0" err="1"/>
              <a:t>ejs</a:t>
            </a:r>
            <a:r>
              <a:rPr lang="en-US" altLang="ko-KR" dirty="0"/>
              <a:t>, express-session)</a:t>
            </a:r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초기화</a:t>
            </a:r>
            <a:r>
              <a:rPr lang="en-US" altLang="ko-KR" dirty="0"/>
              <a:t>(</a:t>
            </a:r>
            <a:r>
              <a:rPr lang="ko-KR" altLang="en-US" dirty="0"/>
              <a:t>선택적</a:t>
            </a:r>
            <a:r>
              <a:rPr lang="en-US" altLang="ko-KR" dirty="0"/>
              <a:t>) &gt; node</a:t>
            </a:r>
            <a:r>
              <a:rPr lang="ko-KR" altLang="en-US" dirty="0"/>
              <a:t> </a:t>
            </a:r>
            <a:r>
              <a:rPr lang="en-US" altLang="ko-KR" dirty="0" err="1"/>
              <a:t>db</a:t>
            </a:r>
            <a:r>
              <a:rPr lang="en-US" altLang="ko-KR" dirty="0"/>
              <a:t>/initDB.js</a:t>
            </a:r>
            <a:r>
              <a:rPr lang="ko-KR" altLang="en-US" dirty="0"/>
              <a:t>  </a:t>
            </a:r>
            <a:r>
              <a:rPr lang="en-US" altLang="ko-KR" dirty="0"/>
              <a:t>//</a:t>
            </a:r>
            <a:r>
              <a:rPr lang="ko-KR" altLang="en-US" dirty="0"/>
              <a:t>새로 </a:t>
            </a:r>
            <a:r>
              <a:rPr lang="en-US" altLang="ko-KR" dirty="0"/>
              <a:t>DB</a:t>
            </a:r>
            <a:r>
              <a:rPr lang="ko-KR" altLang="en-US" dirty="0"/>
              <a:t>를 만들 경우</a:t>
            </a:r>
            <a:endParaRPr lang="en-US" altLang="ko-KR" dirty="0"/>
          </a:p>
          <a:p>
            <a:pPr lvl="1"/>
            <a:r>
              <a:rPr lang="en-US" altLang="ko-KR" dirty="0"/>
              <a:t>board-project&gt; </a:t>
            </a:r>
            <a:r>
              <a:rPr lang="en-US" altLang="ko-KR" dirty="0" err="1"/>
              <a:t>npm</a:t>
            </a:r>
            <a:r>
              <a:rPr lang="en-US" altLang="ko-KR" dirty="0"/>
              <a:t> start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D566E2-DB87-4B2F-84F4-FF699508B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792" y="2134669"/>
            <a:ext cx="7825339" cy="10772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post.title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post.content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작성자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post.author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|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작성일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post.created_at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reply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"&gt;[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답글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]&lt;/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B6606-F671-4CC7-86EA-9202B1157C5B}"/>
              </a:ext>
            </a:extLst>
          </p:cNvPr>
          <p:cNvSpPr txBox="1"/>
          <p:nvPr/>
        </p:nvSpPr>
        <p:spPr>
          <a:xfrm>
            <a:off x="6878095" y="2134669"/>
            <a:ext cx="1874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views/</a:t>
            </a:r>
            <a:r>
              <a:rPr lang="en-US" altLang="ko-KR" dirty="0" err="1">
                <a:solidFill>
                  <a:srgbClr val="FFC000"/>
                </a:solidFill>
              </a:rPr>
              <a:t>details.ejs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723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지금까지 작성한 내용 확인하기</a:t>
            </a:r>
            <a:r>
              <a:rPr lang="en-US" altLang="ko-KR" dirty="0"/>
              <a:t>(</a:t>
            </a:r>
            <a:r>
              <a:rPr lang="ko-KR" altLang="en-US" dirty="0"/>
              <a:t>기본 기능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hlinkClick r:id="rId2"/>
              </a:rPr>
              <a:t>http://localhost:3000</a:t>
            </a:r>
            <a:r>
              <a:rPr lang="en-US" altLang="ko-KR" dirty="0"/>
              <a:t> : express </a:t>
            </a:r>
            <a:r>
              <a:rPr lang="ko-KR" altLang="en-US" dirty="0"/>
              <a:t>동작확인</a:t>
            </a:r>
            <a:r>
              <a:rPr lang="en-US" altLang="ko-KR" dirty="0"/>
              <a:t>(</a:t>
            </a:r>
            <a:r>
              <a:rPr lang="ko-KR" altLang="en-US" dirty="0"/>
              <a:t>메인 홈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hlinkClick r:id="rId3"/>
              </a:rPr>
              <a:t>http://localhost:3000:/board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고객센터 게시판</a:t>
            </a:r>
            <a:r>
              <a:rPr lang="en-US" altLang="ko-KR" dirty="0"/>
              <a:t>(</a:t>
            </a:r>
            <a:r>
              <a:rPr lang="ko-KR" altLang="en-US" dirty="0"/>
              <a:t>목록 보여주기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hlinkClick r:id="rId4"/>
              </a:rPr>
              <a:t>http://localhost:3000:/user/register</a:t>
            </a:r>
            <a:r>
              <a:rPr lang="en-US" altLang="ko-KR" dirty="0"/>
              <a:t> : </a:t>
            </a:r>
            <a:r>
              <a:rPr lang="ko-KR" altLang="en-US" dirty="0"/>
              <a:t>회원가입</a:t>
            </a:r>
            <a:endParaRPr lang="en-US" altLang="ko-KR" dirty="0"/>
          </a:p>
          <a:p>
            <a:pPr lvl="1"/>
            <a:r>
              <a:rPr lang="en-US" altLang="ko-KR" dirty="0">
                <a:hlinkClick r:id="rId5"/>
              </a:rPr>
              <a:t>http://localhost:3000:/user/login</a:t>
            </a:r>
            <a:r>
              <a:rPr lang="en-US" altLang="ko-KR" dirty="0"/>
              <a:t> : </a:t>
            </a:r>
            <a:r>
              <a:rPr lang="ko-KR" altLang="en-US" dirty="0"/>
              <a:t>로그인 페이지 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10099F-11C9-4484-912D-371EFEDBE6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8717" y="3429000"/>
            <a:ext cx="3509062" cy="266123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6B8885-A31A-4083-A41A-EFC0732E60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4064" y="3428999"/>
            <a:ext cx="4431898" cy="2661234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E09551F-2018-463A-95D0-6B3DB15CA817}"/>
              </a:ext>
            </a:extLst>
          </p:cNvPr>
          <p:cNvSpPr/>
          <p:nvPr/>
        </p:nvSpPr>
        <p:spPr bwMode="auto">
          <a:xfrm>
            <a:off x="6094783" y="5082139"/>
            <a:ext cx="2856712" cy="327259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B8005-D418-4E46-BBCC-754F40ED4827}"/>
              </a:ext>
            </a:extLst>
          </p:cNvPr>
          <p:cNvSpPr txBox="1"/>
          <p:nvPr/>
        </p:nvSpPr>
        <p:spPr>
          <a:xfrm>
            <a:off x="8305164" y="55268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답글</a:t>
            </a:r>
          </a:p>
        </p:txBody>
      </p:sp>
    </p:spTree>
    <p:extLst>
      <p:ext uri="{BB962C8B-B14F-4D97-AF65-F5344CB8AC3E}">
        <p14:creationId xmlns:p14="http://schemas.microsoft.com/office/powerpoint/2010/main" val="3678293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쇼핑몰 동작 흐름 </a:t>
            </a:r>
            <a:r>
              <a:rPr lang="en-US" altLang="ko-KR" dirty="0"/>
              <a:t>– </a:t>
            </a:r>
            <a:r>
              <a:rPr lang="en-US" altLang="ko-KR" dirty="0">
                <a:hlinkClick r:id="rId2"/>
              </a:rPr>
              <a:t>https://localhost:3000</a:t>
            </a:r>
            <a:r>
              <a:rPr lang="en-US" altLang="ko-KR" dirty="0"/>
              <a:t> </a:t>
            </a:r>
            <a:r>
              <a:rPr lang="ko-KR" altLang="en-US" dirty="0"/>
              <a:t>접속할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 시작</a:t>
            </a:r>
            <a:endParaRPr lang="en-US" altLang="ko-KR" dirty="0"/>
          </a:p>
          <a:p>
            <a:pPr lvl="1"/>
            <a:r>
              <a:rPr lang="en-US" altLang="ko-KR" sz="2000" dirty="0" err="1"/>
              <a:t>npm</a:t>
            </a:r>
            <a:r>
              <a:rPr lang="en-US" altLang="ko-KR" sz="2000" dirty="0"/>
              <a:t> start </a:t>
            </a:r>
            <a:r>
              <a:rPr lang="ko-KR" altLang="en-US" sz="2000" dirty="0"/>
              <a:t>또는 </a:t>
            </a:r>
            <a:r>
              <a:rPr lang="en-US" altLang="ko-KR" sz="2000" dirty="0"/>
              <a:t>node ./bin/www </a:t>
            </a:r>
            <a:r>
              <a:rPr lang="ko-KR" altLang="en-US" sz="2000" dirty="0" err="1"/>
              <a:t>실행시</a:t>
            </a:r>
            <a:r>
              <a:rPr lang="ko-KR" altLang="en-US" sz="2000" dirty="0"/>
              <a:t> 서버 실행</a:t>
            </a:r>
            <a:endParaRPr lang="en-US" altLang="ko-KR" sz="2000" dirty="0"/>
          </a:p>
          <a:p>
            <a:pPr lvl="1"/>
            <a:r>
              <a:rPr lang="en-US" altLang="ko-KR" sz="2000" dirty="0"/>
              <a:t>bin/www </a:t>
            </a:r>
            <a:r>
              <a:rPr lang="ko-KR" altLang="en-US" sz="2000" dirty="0"/>
              <a:t>가 </a:t>
            </a:r>
            <a:r>
              <a:rPr lang="en-US" altLang="ko-KR" sz="2000" dirty="0"/>
              <a:t>app.js</a:t>
            </a:r>
            <a:r>
              <a:rPr lang="ko-KR" altLang="en-US" sz="2000" dirty="0"/>
              <a:t>를 </a:t>
            </a:r>
            <a:r>
              <a:rPr lang="en-US" altLang="ko-KR" sz="2000" dirty="0"/>
              <a:t>require </a:t>
            </a:r>
            <a:r>
              <a:rPr lang="ko-KR" altLang="en-US" sz="2000" dirty="0"/>
              <a:t>하고 </a:t>
            </a:r>
            <a:r>
              <a:rPr lang="en-US" altLang="ko-KR" sz="2000" dirty="0"/>
              <a:t>Express </a:t>
            </a:r>
            <a:r>
              <a:rPr lang="ko-KR" altLang="en-US" sz="2000" dirty="0"/>
              <a:t>앱을 실행</a:t>
            </a:r>
            <a:endParaRPr lang="en-US" altLang="ko-KR" sz="2000" dirty="0"/>
          </a:p>
          <a:p>
            <a:r>
              <a:rPr lang="ko-KR" altLang="en-US" dirty="0"/>
              <a:t>전체 흐름</a:t>
            </a:r>
            <a:endParaRPr lang="en-US" altLang="ko-KR" dirty="0"/>
          </a:p>
          <a:p>
            <a:pPr lvl="1"/>
            <a:r>
              <a:rPr lang="ko-KR" altLang="en-US" sz="2000" dirty="0"/>
              <a:t>브라우저 → </a:t>
            </a:r>
            <a:r>
              <a:rPr lang="en-US" altLang="ko-KR" sz="2000" dirty="0"/>
              <a:t>GET / → app.js → '/' → routes/index.js → </a:t>
            </a:r>
            <a:r>
              <a:rPr lang="en-US" altLang="ko-KR" sz="2000" dirty="0" err="1"/>
              <a:t>res.render</a:t>
            </a:r>
            <a:r>
              <a:rPr lang="en-US" altLang="ko-KR" sz="2000" dirty="0"/>
              <a:t>('index') → views/</a:t>
            </a:r>
            <a:r>
              <a:rPr lang="en-US" altLang="ko-KR" sz="2000" dirty="0" err="1"/>
              <a:t>index.ejs</a:t>
            </a:r>
            <a:r>
              <a:rPr lang="en-US" altLang="ko-KR" sz="2000" dirty="0"/>
              <a:t> </a:t>
            </a:r>
            <a:r>
              <a:rPr lang="ko-KR" altLang="en-US" sz="2000" dirty="0"/>
              <a:t>렌더링 → </a:t>
            </a:r>
            <a:r>
              <a:rPr lang="en-US" altLang="ko-KR" sz="2000" dirty="0"/>
              <a:t>HTML </a:t>
            </a:r>
            <a:r>
              <a:rPr lang="ko-KR" altLang="en-US" sz="2000" dirty="0"/>
              <a:t>응답</a:t>
            </a:r>
            <a:endParaRPr lang="en-US" altLang="ko-KR" sz="2000" dirty="0"/>
          </a:p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</a:t>
            </a:r>
            <a:r>
              <a:rPr lang="ko-KR" altLang="en-US" dirty="0"/>
              <a:t> 사용자 요청</a:t>
            </a:r>
            <a:r>
              <a:rPr lang="en-US" altLang="ko-KR" dirty="0"/>
              <a:t>(GET /)</a:t>
            </a:r>
          </a:p>
          <a:p>
            <a:pPr lvl="1"/>
            <a:r>
              <a:rPr lang="ko-KR" altLang="en-US" sz="2000" dirty="0"/>
              <a:t>브라우저에서 </a:t>
            </a:r>
            <a:r>
              <a:rPr lang="en-US" altLang="ko-KR" sz="2000" dirty="0"/>
              <a:t>https//localhost:3000 </a:t>
            </a:r>
            <a:r>
              <a:rPr lang="ko-KR" altLang="en-US" sz="2000" dirty="0"/>
              <a:t>접속 </a:t>
            </a:r>
            <a:r>
              <a:rPr lang="en-US" altLang="ko-KR" sz="2000" dirty="0"/>
              <a:t>-&gt; HTTP GET ‘/’ </a:t>
            </a:r>
            <a:r>
              <a:rPr lang="ko-KR" altLang="en-US" sz="2000" dirty="0"/>
              <a:t>경로 요청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app.js</a:t>
            </a:r>
            <a:r>
              <a:rPr lang="ko-KR" altLang="en-US" dirty="0"/>
              <a:t>에서 라우터 연결 확인</a:t>
            </a:r>
            <a:endParaRPr lang="en-US" altLang="ko-KR" dirty="0"/>
          </a:p>
          <a:p>
            <a:pPr lvl="1"/>
            <a:r>
              <a:rPr lang="en-US" altLang="ko-KR" sz="2000" dirty="0"/>
              <a:t>var </a:t>
            </a:r>
            <a:r>
              <a:rPr lang="en-US" altLang="ko-KR" sz="2000" dirty="0" err="1"/>
              <a:t>indexRouter</a:t>
            </a:r>
            <a:r>
              <a:rPr lang="en-US" altLang="ko-KR" sz="2000" dirty="0"/>
              <a:t> = require('./routes/index’);</a:t>
            </a:r>
          </a:p>
          <a:p>
            <a:pPr lvl="1"/>
            <a:r>
              <a:rPr lang="en-US" altLang="ko-KR" sz="2000" dirty="0"/>
              <a:t>…</a:t>
            </a:r>
          </a:p>
          <a:p>
            <a:pPr lvl="1"/>
            <a:r>
              <a:rPr lang="en-US" altLang="ko-KR" sz="2000" dirty="0" err="1"/>
              <a:t>app.use</a:t>
            </a:r>
            <a:r>
              <a:rPr lang="en-US" altLang="ko-KR" sz="2000" dirty="0"/>
              <a:t>(‘/’, </a:t>
            </a:r>
            <a:r>
              <a:rPr lang="en-US" altLang="ko-KR" sz="2000" dirty="0" err="1"/>
              <a:t>indexRouter</a:t>
            </a:r>
            <a:r>
              <a:rPr lang="en-US" altLang="ko-KR" sz="2000" dirty="0"/>
              <a:t>); // ‘/’ </a:t>
            </a:r>
            <a:r>
              <a:rPr lang="ko-KR" altLang="en-US" sz="2000" dirty="0"/>
              <a:t>요청은 </a:t>
            </a:r>
            <a:r>
              <a:rPr lang="en-US" altLang="ko-KR" sz="2000" dirty="0"/>
              <a:t>routes/index.js</a:t>
            </a:r>
            <a:r>
              <a:rPr lang="ko-KR" altLang="en-US" sz="2000" dirty="0"/>
              <a:t>로 연결</a:t>
            </a:r>
            <a:endParaRPr lang="en-US" altLang="ko-KR" sz="2000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241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쇼핑몰 동작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routes/index.js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 err="1"/>
              <a:t>router.get</a:t>
            </a:r>
            <a:r>
              <a:rPr lang="en-US" altLang="ko-KR" dirty="0"/>
              <a:t>('/', function(req, res, next) {</a:t>
            </a:r>
          </a:p>
          <a:p>
            <a:pPr marL="457200" lvl="1" indent="0">
              <a:buNone/>
            </a:pPr>
            <a:r>
              <a:rPr lang="en-US" altLang="ko-KR" dirty="0"/>
              <a:t>       </a:t>
            </a:r>
            <a:r>
              <a:rPr lang="en-US" altLang="ko-KR" dirty="0" err="1"/>
              <a:t>res.render</a:t>
            </a:r>
            <a:r>
              <a:rPr lang="en-US" altLang="ko-KR" dirty="0"/>
              <a:t>('index', { title: 'Express' });</a:t>
            </a:r>
          </a:p>
          <a:p>
            <a:pPr marL="457200" lvl="1" indent="0">
              <a:buNone/>
            </a:pPr>
            <a:r>
              <a:rPr lang="en-US" altLang="ko-KR" dirty="0"/>
              <a:t>    });</a:t>
            </a:r>
          </a:p>
          <a:p>
            <a:pPr lvl="1"/>
            <a:r>
              <a:rPr lang="en-US" altLang="ko-KR" dirty="0"/>
              <a:t>/ </a:t>
            </a:r>
            <a:r>
              <a:rPr lang="ko-KR" altLang="en-US" dirty="0"/>
              <a:t>요청을 받으면 </a:t>
            </a:r>
            <a:r>
              <a:rPr lang="en-US" altLang="ko-KR" dirty="0"/>
              <a:t>views/</a:t>
            </a:r>
            <a:r>
              <a:rPr lang="en-US" altLang="ko-KR" dirty="0" err="1"/>
              <a:t>index.ejs</a:t>
            </a:r>
            <a:r>
              <a:rPr lang="en-US" altLang="ko-KR" dirty="0"/>
              <a:t> </a:t>
            </a:r>
            <a:r>
              <a:rPr lang="ko-KR" altLang="en-US" dirty="0"/>
              <a:t>템플릿을 렌더링하여 클라이언트에 </a:t>
            </a:r>
            <a:r>
              <a:rPr lang="en-US" altLang="ko-KR" dirty="0"/>
              <a:t>HTML</a:t>
            </a:r>
            <a:r>
              <a:rPr lang="ko-KR" altLang="en-US" dirty="0"/>
              <a:t>을 전송</a:t>
            </a:r>
            <a:endParaRPr lang="en-US" altLang="ko-KR" dirty="0"/>
          </a:p>
          <a:p>
            <a:pPr lvl="1"/>
            <a:r>
              <a:rPr lang="en-US" altLang="ko-KR" dirty="0"/>
              <a:t>title: 'Express'</a:t>
            </a:r>
            <a:r>
              <a:rPr lang="ko-KR" altLang="en-US" dirty="0"/>
              <a:t>는 </a:t>
            </a:r>
            <a:r>
              <a:rPr lang="en-US" altLang="ko-KR" dirty="0"/>
              <a:t>EJS </a:t>
            </a:r>
            <a:r>
              <a:rPr lang="ko-KR" altLang="en-US" dirty="0"/>
              <a:t>렌더링에 전달되는 데이터임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views/</a:t>
            </a:r>
            <a:r>
              <a:rPr lang="en-US" altLang="ko-KR" dirty="0" err="1"/>
              <a:t>index.ejs</a:t>
            </a:r>
            <a:r>
              <a:rPr lang="en-US" altLang="ko-KR" dirty="0"/>
              <a:t> </a:t>
            </a:r>
            <a:r>
              <a:rPr lang="ko-KR" altLang="en-US" dirty="0"/>
              <a:t>렌더링</a:t>
            </a:r>
            <a:endParaRPr lang="en-US" altLang="ko-KR" dirty="0"/>
          </a:p>
          <a:p>
            <a:pPr lvl="1"/>
            <a:r>
              <a:rPr lang="en-US" altLang="ko-KR" dirty="0"/>
              <a:t>app.js</a:t>
            </a:r>
            <a:r>
              <a:rPr lang="ko-KR" altLang="en-US" dirty="0"/>
              <a:t>에서 아래와 같이 </a:t>
            </a:r>
            <a:r>
              <a:rPr lang="en-US" altLang="ko-KR" dirty="0"/>
              <a:t>view</a:t>
            </a:r>
            <a:r>
              <a:rPr lang="ko-KR" altLang="en-US" dirty="0"/>
              <a:t> 엔진 설정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</a:t>
            </a:r>
            <a:r>
              <a:rPr lang="en-US" altLang="ko-KR" dirty="0" err="1"/>
              <a:t>app.set</a:t>
            </a:r>
            <a:r>
              <a:rPr lang="en-US" altLang="ko-KR" dirty="0"/>
              <a:t>('views', </a:t>
            </a:r>
            <a:r>
              <a:rPr lang="en-US" altLang="ko-KR" dirty="0" err="1"/>
              <a:t>path.join</a:t>
            </a:r>
            <a:r>
              <a:rPr lang="en-US" altLang="ko-KR" dirty="0"/>
              <a:t>(__</a:t>
            </a:r>
            <a:r>
              <a:rPr lang="en-US" altLang="ko-KR" dirty="0" err="1"/>
              <a:t>dirname</a:t>
            </a:r>
            <a:r>
              <a:rPr lang="en-US" altLang="ko-KR" dirty="0"/>
              <a:t>, 'views'));</a:t>
            </a:r>
          </a:p>
          <a:p>
            <a:pPr marL="457200" lvl="1" indent="0">
              <a:buNone/>
            </a:pPr>
            <a:r>
              <a:rPr lang="en-US" altLang="ko-KR" dirty="0"/>
              <a:t>   </a:t>
            </a:r>
            <a:r>
              <a:rPr lang="en-US" altLang="ko-KR" dirty="0" err="1"/>
              <a:t>app.set</a:t>
            </a:r>
            <a:r>
              <a:rPr lang="en-US" altLang="ko-KR" dirty="0"/>
              <a:t>('view engine', '</a:t>
            </a:r>
            <a:r>
              <a:rPr lang="en-US" altLang="ko-KR" dirty="0" err="1"/>
              <a:t>ejs</a:t>
            </a:r>
            <a:r>
              <a:rPr lang="en-US" altLang="ko-KR" dirty="0"/>
              <a:t>’);</a:t>
            </a:r>
          </a:p>
          <a:p>
            <a:pPr lvl="1"/>
            <a:r>
              <a:rPr lang="en-US" altLang="ko-KR" dirty="0" err="1"/>
              <a:t>res.render</a:t>
            </a:r>
            <a:r>
              <a:rPr lang="en-US" altLang="ko-KR" dirty="0"/>
              <a:t>(‘index’)</a:t>
            </a:r>
            <a:r>
              <a:rPr lang="ko-KR" altLang="en-US" dirty="0"/>
              <a:t>는 </a:t>
            </a:r>
            <a:r>
              <a:rPr lang="en-US" altLang="ko-KR" dirty="0"/>
              <a:t>views/</a:t>
            </a:r>
            <a:r>
              <a:rPr lang="en-US" altLang="ko-KR" dirty="0" err="1"/>
              <a:t>index.ejs</a:t>
            </a:r>
            <a:r>
              <a:rPr lang="en-US" altLang="ko-KR" dirty="0"/>
              <a:t> </a:t>
            </a:r>
            <a:r>
              <a:rPr lang="ko-KR" altLang="en-US" dirty="0"/>
              <a:t>파일을 찾아 렌더링하고 </a:t>
            </a:r>
            <a:r>
              <a:rPr lang="en-US" altLang="ko-KR" dirty="0"/>
              <a:t>HTML</a:t>
            </a:r>
            <a:r>
              <a:rPr lang="ko-KR" altLang="en-US" dirty="0"/>
              <a:t>응답으로 변환</a:t>
            </a:r>
          </a:p>
        </p:txBody>
      </p:sp>
    </p:spTree>
    <p:extLst>
      <p:ext uri="{BB962C8B-B14F-4D97-AF65-F5344CB8AC3E}">
        <p14:creationId xmlns:p14="http://schemas.microsoft.com/office/powerpoint/2010/main" val="2579470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지금까지 구성된 내용을 실행하면 아래와 같은 메인 페이지가 보임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1800" dirty="0"/>
          </a:p>
          <a:p>
            <a:endParaRPr lang="en-US" altLang="ko-KR" dirty="0"/>
          </a:p>
          <a:p>
            <a:endParaRPr lang="en-US" altLang="ko-KR" sz="1800" dirty="0"/>
          </a:p>
          <a:p>
            <a:r>
              <a:rPr lang="ko-KR" altLang="en-US" dirty="0"/>
              <a:t>추가 작업 순서</a:t>
            </a:r>
            <a:endParaRPr lang="en-US" altLang="ko-KR" dirty="0"/>
          </a:p>
          <a:p>
            <a:pPr lvl="1"/>
            <a:r>
              <a:rPr lang="ko-KR" altLang="en-US" dirty="0"/>
              <a:t>로그인과 </a:t>
            </a:r>
            <a:r>
              <a:rPr lang="ko-KR" altLang="en-US" dirty="0" err="1"/>
              <a:t>회워가입</a:t>
            </a:r>
            <a:r>
              <a:rPr lang="ko-KR" altLang="en-US" dirty="0"/>
              <a:t> 메뉴가 메인 페이지에 보이게 함</a:t>
            </a:r>
            <a:endParaRPr lang="en-US" altLang="ko-KR" dirty="0"/>
          </a:p>
          <a:p>
            <a:pPr lvl="1"/>
            <a:r>
              <a:rPr lang="ko-KR" altLang="en-US" dirty="0"/>
              <a:t>글쓰기는 로그인 된 상태면 로그인 아이디로 작성하고 로그인 되지 않은 상태면 익명으로 작성함</a:t>
            </a:r>
            <a:endParaRPr lang="en-US" altLang="ko-KR" dirty="0"/>
          </a:p>
          <a:p>
            <a:pPr lvl="1"/>
            <a:r>
              <a:rPr lang="ko-KR" altLang="en-US" dirty="0"/>
              <a:t>상품목록과 장바구니 기능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A1E23C-0A9F-4F13-A195-0C8F0F198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58" y="1705477"/>
            <a:ext cx="3341971" cy="220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20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메인 페이지에 로그인</a:t>
            </a:r>
            <a:r>
              <a:rPr lang="en-US" altLang="ko-KR" dirty="0"/>
              <a:t>/</a:t>
            </a:r>
            <a:r>
              <a:rPr lang="ko-KR" altLang="en-US" dirty="0"/>
              <a:t>회원가입 버튼 생성</a:t>
            </a:r>
            <a:endParaRPr lang="en-US" altLang="ko-KR" dirty="0"/>
          </a:p>
          <a:p>
            <a:pPr lvl="1"/>
            <a:r>
              <a:rPr lang="ko-KR" altLang="en-US" dirty="0"/>
              <a:t>로그인 상태일 경우 </a:t>
            </a:r>
            <a:r>
              <a:rPr lang="en-US" altLang="ko-KR" dirty="0"/>
              <a:t>“</a:t>
            </a:r>
            <a:r>
              <a:rPr lang="ko-KR" altLang="en-US" dirty="0"/>
              <a:t>로그아웃</a:t>
            </a:r>
            <a:r>
              <a:rPr lang="en-US" altLang="ko-KR" dirty="0"/>
              <a:t>”, </a:t>
            </a:r>
            <a:r>
              <a:rPr lang="ko-KR" altLang="en-US" dirty="0"/>
              <a:t>비로그인 상태일 경우 </a:t>
            </a:r>
            <a:r>
              <a:rPr lang="en-US" altLang="ko-KR" dirty="0"/>
              <a:t>“</a:t>
            </a:r>
            <a:r>
              <a:rPr lang="ko-KR" altLang="en-US" dirty="0"/>
              <a:t>로그인</a:t>
            </a:r>
            <a:r>
              <a:rPr lang="en-US" altLang="ko-KR" dirty="0"/>
              <a:t>”,”</a:t>
            </a:r>
            <a:r>
              <a:rPr lang="ko-KR" altLang="en-US" dirty="0"/>
              <a:t>회원가입＂ 표시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/views/</a:t>
            </a:r>
            <a:r>
              <a:rPr lang="en-US" altLang="ko-KR" dirty="0" err="1"/>
              <a:t>index.ejs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/>
            <a:r>
              <a:rPr lang="ko-KR" altLang="en-US" dirty="0"/>
              <a:t>아래코드를 </a:t>
            </a:r>
            <a:r>
              <a:rPr lang="en-US" altLang="ko-KR" dirty="0" err="1"/>
              <a:t>index.ejs</a:t>
            </a:r>
            <a:r>
              <a:rPr lang="ko-KR" altLang="en-US" dirty="0"/>
              <a:t> 상단에 추가함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DE5353-8F9D-409F-8295-9DA397A66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59" y="2911013"/>
            <a:ext cx="10288449" cy="310854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&lt;!--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index.ejs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상단에 추가 로그인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회원가입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--&gt;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flex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justify-content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flex-end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10px;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fff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#facc15;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6px 12px;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5px;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register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fff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#facc15;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6px 12px;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5px;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회원가입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margin-right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10px;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user.username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님 환영합니다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!&lt;/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“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 panose="020B0604020202020204" pitchFamily="50" charset="-127"/>
                <a:ea typeface="JetBrains Mono"/>
              </a:rPr>
              <a:t>/user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logout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fff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#ef4444;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6px 12px;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5px;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로그아웃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089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/routes/index.js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/>
            <a:r>
              <a:rPr lang="ko-KR" altLang="en-US" dirty="0"/>
              <a:t>현재 로그인 여부에 따라 </a:t>
            </a:r>
            <a:r>
              <a:rPr lang="en-US" altLang="ko-KR" dirty="0"/>
              <a:t>user  </a:t>
            </a:r>
            <a:r>
              <a:rPr lang="ko-KR" altLang="en-US" dirty="0"/>
              <a:t>정보를 </a:t>
            </a:r>
            <a:r>
              <a:rPr lang="en-US" altLang="ko-KR" dirty="0" err="1"/>
              <a:t>ejs</a:t>
            </a:r>
            <a:r>
              <a:rPr lang="ko-KR" altLang="en-US" dirty="0"/>
              <a:t>에서 사용할 수 있도록 </a:t>
            </a:r>
            <a:r>
              <a:rPr lang="en-US" altLang="ko-KR" dirty="0" err="1"/>
              <a:t>res.loacals</a:t>
            </a:r>
            <a:r>
              <a:rPr lang="ko-KR" altLang="en-US" dirty="0"/>
              <a:t>에 설정이 필요함</a:t>
            </a:r>
            <a:endParaRPr lang="en-US" altLang="ko-KR" dirty="0"/>
          </a:p>
          <a:p>
            <a:pPr lvl="1"/>
            <a:r>
              <a:rPr lang="en-US" altLang="ko-KR" dirty="0"/>
              <a:t>app.js</a:t>
            </a:r>
            <a:r>
              <a:rPr lang="ko-KR" altLang="en-US" dirty="0"/>
              <a:t>에 아래 부분을 추가</a:t>
            </a:r>
            <a:endParaRPr lang="en-US" altLang="ko-KR" dirty="0"/>
          </a:p>
          <a:p>
            <a:pPr lvl="1"/>
            <a:r>
              <a:rPr lang="ko-KR" altLang="en-US" dirty="0"/>
              <a:t>아래 코드는 반드시  </a:t>
            </a:r>
            <a:r>
              <a:rPr lang="en-US" altLang="ko-KR" dirty="0" err="1"/>
              <a:t>app.use</a:t>
            </a:r>
            <a:r>
              <a:rPr lang="en-US" altLang="ko-KR" dirty="0"/>
              <a:t>(‘/’, </a:t>
            </a:r>
            <a:r>
              <a:rPr lang="en-US" altLang="ko-KR" dirty="0" err="1"/>
              <a:t>indexRouter</a:t>
            </a:r>
            <a:r>
              <a:rPr lang="en-US" altLang="ko-KR" dirty="0"/>
              <a:t>);</a:t>
            </a:r>
            <a:r>
              <a:rPr lang="ko-KR" altLang="en-US" dirty="0"/>
              <a:t>보다 위에 위치해야 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CF3603-278D-4932-8A6B-C4D3FFB27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9923" y="3167970"/>
            <a:ext cx="5178392" cy="95410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app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next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locals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req.session.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||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next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B8BD83-938F-4691-B90C-41C1385CE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923" y="4366005"/>
            <a:ext cx="5770195" cy="18806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61340F-B484-462B-987B-313DCE692102}"/>
              </a:ext>
            </a:extLst>
          </p:cNvPr>
          <p:cNvSpPr txBox="1"/>
          <p:nvPr/>
        </p:nvSpPr>
        <p:spPr>
          <a:xfrm>
            <a:off x="7863840" y="5651961"/>
            <a:ext cx="287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회원가입 메뉴추가</a:t>
            </a:r>
          </a:p>
        </p:txBody>
      </p:sp>
    </p:spTree>
    <p:extLst>
      <p:ext uri="{BB962C8B-B14F-4D97-AF65-F5344CB8AC3E}">
        <p14:creationId xmlns:p14="http://schemas.microsoft.com/office/powerpoint/2010/main" val="2493543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1130293" cy="5040560"/>
          </a:xfrm>
        </p:spPr>
        <p:txBody>
          <a:bodyPr/>
          <a:lstStyle/>
          <a:p>
            <a:r>
              <a:rPr lang="ko-KR" altLang="en-US" dirty="0"/>
              <a:t>상품목록 기능 설계</a:t>
            </a: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r>
              <a:rPr lang="en-US" altLang="ko-KR" dirty="0"/>
              <a:t>products </a:t>
            </a:r>
            <a:r>
              <a:rPr lang="ko-KR" altLang="en-US" dirty="0"/>
              <a:t>테이블</a:t>
            </a:r>
            <a:r>
              <a:rPr lang="en-US" altLang="ko-KR" dirty="0"/>
              <a:t>(DB) </a:t>
            </a:r>
            <a:r>
              <a:rPr lang="ko-KR" altLang="en-US" dirty="0"/>
              <a:t>설계</a:t>
            </a:r>
            <a:endParaRPr lang="en-US" altLang="ko-KR" dirty="0"/>
          </a:p>
          <a:p>
            <a:pPr marL="1314450" lvl="2" indent="-457200"/>
            <a:r>
              <a:rPr lang="ko-KR" altLang="en-US" dirty="0"/>
              <a:t>아래 내용을 </a:t>
            </a:r>
            <a:r>
              <a:rPr lang="en-US" altLang="ko-KR" dirty="0" err="1"/>
              <a:t>schema.sql</a:t>
            </a:r>
            <a:r>
              <a:rPr lang="ko-KR" altLang="en-US" dirty="0"/>
              <a:t>에 추가</a:t>
            </a:r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1314450" lvl="2" indent="-457200"/>
            <a:r>
              <a:rPr lang="en-US" altLang="ko-KR" dirty="0"/>
              <a:t>image</a:t>
            </a:r>
            <a:r>
              <a:rPr lang="ko-KR" altLang="en-US" dirty="0"/>
              <a:t> 원본은 </a:t>
            </a:r>
            <a:r>
              <a:rPr lang="en-US" altLang="ko-KR" dirty="0"/>
              <a:t>/public/images</a:t>
            </a:r>
            <a:r>
              <a:rPr lang="ko-KR" altLang="en-US" dirty="0"/>
              <a:t>에 저장되며</a:t>
            </a:r>
            <a:r>
              <a:rPr lang="en-US" altLang="ko-KR" dirty="0"/>
              <a:t>, image </a:t>
            </a:r>
            <a:r>
              <a:rPr lang="ko-KR" altLang="en-US" dirty="0"/>
              <a:t>필드에는 이미지의 파일 경로만 저장</a:t>
            </a:r>
            <a:endParaRPr lang="en-US" altLang="ko-KR" dirty="0"/>
          </a:p>
          <a:p>
            <a:pPr marL="1314450" lvl="2" indent="-457200"/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BF74D2-5354-4A7C-BCC5-2B6613D9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728" y="2521639"/>
            <a:ext cx="7002885" cy="224676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 TABLE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EXISTS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PRIMARY KEY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AUTOINCREMENT,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TEXT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상품명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description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TEXT,   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상품 설명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price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가격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원 단위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TEXT,         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이모지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간단한 시각적 표시용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TEXT,         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이미지 파일 경로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likes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DEFAULT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선호도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추천수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고객클릭수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등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is_featured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DEFAULT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오늘의 추천 상품 여부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(1=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068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49CA-9809-4051-BA2D-6DF1885C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3BEB4-8A53-4F7F-B162-4475CC0F2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72" y="1042874"/>
            <a:ext cx="11130293" cy="5040560"/>
          </a:xfrm>
        </p:spPr>
        <p:txBody>
          <a:bodyPr/>
          <a:lstStyle/>
          <a:p>
            <a:pPr marL="457200" indent="-457200">
              <a:buFont typeface="+mj-ea"/>
              <a:buAutoNum type="circleNumDbPlain" startAt="2"/>
            </a:pPr>
            <a:r>
              <a:rPr lang="en-US" altLang="ko-KR" sz="2200" dirty="0"/>
              <a:t>/</a:t>
            </a:r>
            <a:r>
              <a:rPr lang="en-US" altLang="ko-KR" sz="2200" dirty="0" err="1"/>
              <a:t>db</a:t>
            </a:r>
            <a:r>
              <a:rPr lang="en-US" altLang="ko-KR" sz="2200" dirty="0"/>
              <a:t>/seedProducts.js </a:t>
            </a:r>
            <a:r>
              <a:rPr lang="ko-KR" altLang="en-US" sz="2200" dirty="0"/>
              <a:t>파일을 생성하고 아래 코드를 작성</a:t>
            </a:r>
            <a:endParaRPr lang="en-US" altLang="ko-KR" sz="2200" dirty="0"/>
          </a:p>
          <a:p>
            <a:pPr marL="857250" lvl="1" indent="-457200"/>
            <a:r>
              <a:rPr lang="ko-KR" altLang="en-US" sz="2000" dirty="0"/>
              <a:t>초기 테스트 용으로 </a:t>
            </a:r>
            <a:r>
              <a:rPr lang="en-US" altLang="ko-KR" sz="2000" dirty="0"/>
              <a:t>8</a:t>
            </a:r>
            <a:r>
              <a:rPr lang="ko-KR" altLang="en-US" sz="2000" dirty="0"/>
              <a:t>개의 상품을 등록</a:t>
            </a:r>
            <a:r>
              <a:rPr lang="en-US" altLang="ko-KR" sz="2000" dirty="0"/>
              <a:t>(4</a:t>
            </a:r>
            <a:r>
              <a:rPr lang="ko-KR" altLang="en-US" sz="2000" dirty="0"/>
              <a:t>개는 추천</a:t>
            </a:r>
            <a:r>
              <a:rPr lang="en-US" altLang="ko-KR" sz="2000" dirty="0"/>
              <a:t>, 4</a:t>
            </a:r>
            <a:r>
              <a:rPr lang="ko-KR" altLang="en-US" sz="2000" dirty="0"/>
              <a:t>개는 일반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B9430B-A3A9-4EBD-B121-6983EF340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845" y="1877559"/>
            <a:ext cx="7974165" cy="440120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scripts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/seedProducts.js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'sqlite3'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verbose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path.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join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__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dirname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'../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database.sqlite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dbPath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상품 초기 데이터 삽입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serialize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(()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57AAF7"/>
                </a:solidFill>
                <a:effectLst/>
                <a:latin typeface="Arial Unicode MS" panose="020B0604020202020204" pitchFamily="50" charset="-127"/>
                <a:ea typeface="JetBrains Mono"/>
              </a:rPr>
              <a:t>COUNT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 AS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count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테이블 조회 오류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close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count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===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stmt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prepare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INSERT INTO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description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price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likes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is_featured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VALUES (?, ?, ?, ?, ?, ?, ?)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6B2CA-0317-4C5F-B794-75FDF36C03BC}"/>
              </a:ext>
            </a:extLst>
          </p:cNvPr>
          <p:cNvSpPr txBox="1"/>
          <p:nvPr/>
        </p:nvSpPr>
        <p:spPr>
          <a:xfrm>
            <a:off x="6579712" y="2123485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</a:t>
            </a:r>
            <a:r>
              <a:rPr lang="en-US" altLang="ko-KR" dirty="0" err="1">
                <a:solidFill>
                  <a:srgbClr val="FFC000"/>
                </a:solidFill>
              </a:rPr>
              <a:t>db</a:t>
            </a:r>
            <a:r>
              <a:rPr lang="en-US" altLang="ko-KR" dirty="0">
                <a:solidFill>
                  <a:srgbClr val="FFC000"/>
                </a:solidFill>
              </a:rPr>
              <a:t>/seedProuducts.js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896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49CA-9809-4051-BA2D-6DF1885C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3BEB4-8A53-4F7F-B162-4475CC0F2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B9430B-A3A9-4EBD-B121-6983EF340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336" y="1124744"/>
            <a:ext cx="8628682" cy="547842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[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사과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신선한 국내산 사과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🍎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apple.jpg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40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바나나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달콤한 수입 바나나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banana.jpg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35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포도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탱글탱글한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포도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3000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🍇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grape.jpg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오렌지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비타민 가득 오렌지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🍊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orange.jpg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키위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상큼한 뉴질랜드 키위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2800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kiwi.jpg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15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복숭아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달콤한 복숭아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3500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🍑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peach.jpg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레몬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상큼한 레몬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🍋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lemon.jpg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무더운 여름엔 수박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!'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8000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🍉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watermelon.jpg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25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];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of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stmt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stmt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finalize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(()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log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🍓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개의 과일 상품 데이터 삽입 완료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close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log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ℹ️ 이미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${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count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개의 상품이 존재합니다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삽입 생략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close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F84B6-932A-4761-8D18-2844694E8A1F}"/>
              </a:ext>
            </a:extLst>
          </p:cNvPr>
          <p:cNvSpPr txBox="1"/>
          <p:nvPr/>
        </p:nvSpPr>
        <p:spPr>
          <a:xfrm>
            <a:off x="7284262" y="6165304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</a:t>
            </a:r>
            <a:r>
              <a:rPr lang="en-US" altLang="ko-KR" dirty="0" err="1">
                <a:solidFill>
                  <a:srgbClr val="FFC000"/>
                </a:solidFill>
              </a:rPr>
              <a:t>db</a:t>
            </a:r>
            <a:r>
              <a:rPr lang="en-US" altLang="ko-KR" dirty="0">
                <a:solidFill>
                  <a:srgbClr val="FFC000"/>
                </a:solidFill>
              </a:rPr>
              <a:t>/seedProuducts.js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629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ea"/>
              <a:buAutoNum type="circleNumDbPlain" startAt="3"/>
            </a:pPr>
            <a:r>
              <a:rPr lang="ko-KR" altLang="en-US" dirty="0"/>
              <a:t>추천 상품 및 전체 상품 목록 보기</a:t>
            </a:r>
            <a:endParaRPr lang="en-US" altLang="ko-KR" dirty="0"/>
          </a:p>
          <a:p>
            <a:pPr marL="1314450" lvl="2" indent="-457200"/>
            <a:r>
              <a:rPr lang="en-US" altLang="ko-KR" dirty="0"/>
              <a:t>routes/products.js </a:t>
            </a:r>
            <a:r>
              <a:rPr lang="ko-KR" altLang="en-US" dirty="0"/>
              <a:t>작성</a:t>
            </a:r>
            <a:endParaRPr lang="en-US" altLang="ko-KR" dirty="0"/>
          </a:p>
          <a:p>
            <a:pPr marL="914400" lvl="1" indent="-457200">
              <a:buFont typeface="+mj-ea"/>
              <a:buAutoNum type="circleNumDbPlain" startAt="3"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C071E7-CF25-48C2-8BA5-FB2171778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682" y="1908249"/>
            <a:ext cx="9153624" cy="469359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'sqlite3'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verbose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'./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database.sqlite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상품 목록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+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추천 상품 함께 전달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all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allProducts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'DB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오류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상품 조회 실패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all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is_featured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1 ORDER BY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likes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DESC LIMIT 4'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(err2,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featuredProducts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(err2)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'DB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오류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추천 상품 조회 실패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allProducts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allProducts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featuredProducts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featuredProducts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module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3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exports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3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88510-3E57-4BB9-8147-24D617536EB5}"/>
              </a:ext>
            </a:extLst>
          </p:cNvPr>
          <p:cNvSpPr txBox="1"/>
          <p:nvPr/>
        </p:nvSpPr>
        <p:spPr>
          <a:xfrm>
            <a:off x="8090879" y="2065733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routes/prouducts.js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930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14450" lvl="2" indent="-457200"/>
            <a:r>
              <a:rPr lang="en-US" altLang="ko-KR" dirty="0">
                <a:solidFill>
                  <a:srgbClr val="000000"/>
                </a:solidFill>
              </a:rPr>
              <a:t>app.js </a:t>
            </a:r>
            <a:r>
              <a:rPr lang="ko-KR" altLang="en-US" dirty="0">
                <a:solidFill>
                  <a:srgbClr val="000000"/>
                </a:solidFill>
              </a:rPr>
              <a:t>에는 다음과 같은 </a:t>
            </a:r>
            <a:r>
              <a:rPr lang="en-US" altLang="ko-KR" dirty="0">
                <a:solidFill>
                  <a:srgbClr val="000000"/>
                </a:solidFill>
              </a:rPr>
              <a:t>routing </a:t>
            </a:r>
            <a:r>
              <a:rPr lang="ko-KR" altLang="en-US" dirty="0">
                <a:solidFill>
                  <a:srgbClr val="000000"/>
                </a:solidFill>
              </a:rPr>
              <a:t>동작 코드를 추가</a:t>
            </a:r>
            <a:endParaRPr lang="en-US" altLang="ko-KR" dirty="0">
              <a:solidFill>
                <a:srgbClr val="000000"/>
              </a:solidFill>
            </a:endParaRPr>
          </a:p>
          <a:p>
            <a:pPr marL="1314450" lvl="2" indent="-457200"/>
            <a:endParaRPr lang="en-US" altLang="ko-KR" dirty="0">
              <a:solidFill>
                <a:srgbClr val="000000"/>
              </a:solidFill>
            </a:endParaRPr>
          </a:p>
          <a:p>
            <a:pPr marL="1314450" lvl="2" indent="-457200"/>
            <a:endParaRPr lang="en-US" altLang="ko-KR" dirty="0">
              <a:solidFill>
                <a:srgbClr val="000000"/>
              </a:solidFill>
            </a:endParaRPr>
          </a:p>
          <a:p>
            <a:pPr marL="1314450" lvl="2" indent="-457200"/>
            <a:endParaRPr lang="en-US" altLang="ko-KR" dirty="0">
              <a:solidFill>
                <a:srgbClr val="000000"/>
              </a:solidFill>
            </a:endParaRPr>
          </a:p>
          <a:p>
            <a:pPr marL="1314450" lvl="2" indent="-457200"/>
            <a:r>
              <a:rPr lang="en-US" altLang="ko-KR" dirty="0" err="1">
                <a:solidFill>
                  <a:srgbClr val="000000"/>
                </a:solidFill>
              </a:rPr>
              <a:t>cmd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창에서 </a:t>
            </a:r>
            <a:r>
              <a:rPr lang="en-US" altLang="ko-KR" dirty="0">
                <a:solidFill>
                  <a:srgbClr val="000000"/>
                </a:solidFill>
              </a:rPr>
              <a:t>&gt;node </a:t>
            </a:r>
            <a:r>
              <a:rPr lang="en-US" altLang="ko-KR" dirty="0" err="1">
                <a:solidFill>
                  <a:srgbClr val="000000"/>
                </a:solidFill>
              </a:rPr>
              <a:t>db</a:t>
            </a:r>
            <a:r>
              <a:rPr lang="en-US" altLang="ko-KR" dirty="0">
                <a:solidFill>
                  <a:srgbClr val="000000"/>
                </a:solidFill>
              </a:rPr>
              <a:t>/seedProducts.js </a:t>
            </a:r>
            <a:r>
              <a:rPr lang="ko-KR" altLang="en-US" dirty="0">
                <a:solidFill>
                  <a:srgbClr val="000000"/>
                </a:solidFill>
              </a:rPr>
              <a:t>를 실행하여 테이블에 </a:t>
            </a:r>
            <a:r>
              <a:rPr lang="en-US" altLang="ko-KR" dirty="0">
                <a:solidFill>
                  <a:srgbClr val="000000"/>
                </a:solidFill>
              </a:rPr>
              <a:t>8</a:t>
            </a:r>
            <a:r>
              <a:rPr lang="ko-KR" altLang="en-US" dirty="0">
                <a:solidFill>
                  <a:srgbClr val="000000"/>
                </a:solidFill>
              </a:rPr>
              <a:t>개 샘플을 넣은 다음 아래 명령어를 통해 </a:t>
            </a:r>
            <a:r>
              <a:rPr lang="en-US" altLang="ko-KR" dirty="0">
                <a:solidFill>
                  <a:srgbClr val="000000"/>
                </a:solidFill>
              </a:rPr>
              <a:t>DB</a:t>
            </a:r>
            <a:r>
              <a:rPr lang="ko-KR" altLang="en-US" dirty="0">
                <a:solidFill>
                  <a:srgbClr val="000000"/>
                </a:solidFill>
              </a:rPr>
              <a:t>가 정상적으로 생성되었는지를 확인</a:t>
            </a:r>
            <a:endParaRPr lang="en-US" altLang="ko-KR" dirty="0">
              <a:solidFill>
                <a:srgbClr val="000000"/>
              </a:solidFill>
            </a:endParaRPr>
          </a:p>
          <a:p>
            <a:pPr marL="857250" lvl="2" indent="0">
              <a:buNone/>
            </a:pPr>
            <a:r>
              <a:rPr lang="en-US" altLang="ko-KR" dirty="0">
                <a:solidFill>
                  <a:srgbClr val="000000"/>
                </a:solidFill>
              </a:rPr>
              <a:t>&gt; sqlite3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db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en-US" altLang="ko-KR" dirty="0" err="1">
                <a:solidFill>
                  <a:srgbClr val="000000"/>
                </a:solidFill>
              </a:rPr>
              <a:t>database.sqlite</a:t>
            </a:r>
            <a:endParaRPr lang="en-US" altLang="ko-KR" dirty="0">
              <a:solidFill>
                <a:srgbClr val="000000"/>
              </a:solidFill>
            </a:endParaRPr>
          </a:p>
          <a:p>
            <a:pPr marL="1200150" lvl="2" indent="-342900">
              <a:buFont typeface="Wingdings" panose="05000000000000000000" pitchFamily="2" charset="2"/>
              <a:buChar char="Ø"/>
            </a:pPr>
            <a:endParaRPr lang="en-US" altLang="ko-KR" dirty="0">
              <a:solidFill>
                <a:srgbClr val="000000"/>
              </a:solidFill>
            </a:endParaRPr>
          </a:p>
          <a:p>
            <a:pPr marL="1200150" lvl="2" indent="-342900">
              <a:buFont typeface="Wingdings" panose="05000000000000000000" pitchFamily="2" charset="2"/>
              <a:buChar char="Ø"/>
            </a:pPr>
            <a:endParaRPr lang="en-US" altLang="ko-KR" dirty="0">
              <a:solidFill>
                <a:srgbClr val="000000"/>
              </a:solidFill>
            </a:endParaRPr>
          </a:p>
          <a:p>
            <a:pPr marL="857250" lvl="2" indent="0">
              <a:buNone/>
            </a:pPr>
            <a:endParaRPr lang="en-US" altLang="ko-KR" dirty="0">
              <a:solidFill>
                <a:srgbClr val="000000"/>
              </a:solidFill>
            </a:endParaRPr>
          </a:p>
          <a:p>
            <a:pPr marL="857250" lvl="2" indent="0"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sqlite</a:t>
            </a:r>
            <a:r>
              <a:rPr lang="en-US" altLang="ko-KR" dirty="0">
                <a:solidFill>
                  <a:srgbClr val="000000"/>
                </a:solidFill>
              </a:rPr>
              <a:t>&gt;.tables</a:t>
            </a:r>
          </a:p>
          <a:p>
            <a:pPr marL="857250" lvl="2" indent="0"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sqlite</a:t>
            </a:r>
            <a:r>
              <a:rPr lang="en-US" altLang="ko-KR" dirty="0">
                <a:solidFill>
                  <a:srgbClr val="000000"/>
                </a:solidFill>
              </a:rPr>
              <a:t>&gt; select * from products;</a:t>
            </a:r>
          </a:p>
          <a:p>
            <a:pPr marL="1200150" lvl="2" indent="-342900">
              <a:buFont typeface="Wingdings" panose="05000000000000000000" pitchFamily="2" charset="2"/>
              <a:buChar char="Ø"/>
            </a:pPr>
            <a:endParaRPr lang="en-US" altLang="ko-KR" dirty="0">
              <a:solidFill>
                <a:srgbClr val="000000"/>
              </a:solidFill>
            </a:endParaRPr>
          </a:p>
          <a:p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165BA53-8FCB-4944-9F64-C6A9F42C9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058" y="1594552"/>
            <a:ext cx="6612556" cy="33855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productRouter</a:t>
            </a:r>
            <a:r>
              <a:rPr kumimoji="0" lang="ko-KR" altLang="ko-KR" sz="16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'./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7626D3E-363D-4955-A7F4-665BE3D80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059" y="2233637"/>
            <a:ext cx="6612556" cy="33855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app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r>
              <a:rPr kumimoji="0" lang="ko-KR" altLang="ko-KR" sz="16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productRouter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44B9C7-EB8C-443F-8D3B-375AF045E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4" y="3681084"/>
            <a:ext cx="4219575" cy="1028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506581-458C-4B56-B709-4E87B07F6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92" y="3681084"/>
            <a:ext cx="3133725" cy="5429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5775951-A7EA-47D4-A3CB-4B94A9759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547" y="4913231"/>
            <a:ext cx="4219576" cy="1800795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6BC772C-5500-42DE-BD44-FC62C6826D33}"/>
              </a:ext>
            </a:extLst>
          </p:cNvPr>
          <p:cNvSpPr/>
          <p:nvPr/>
        </p:nvSpPr>
        <p:spPr bwMode="auto">
          <a:xfrm>
            <a:off x="6304547" y="3840480"/>
            <a:ext cx="288758" cy="33855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CB49330D-9802-42A5-B089-0A84F50EE9BF}"/>
              </a:ext>
            </a:extLst>
          </p:cNvPr>
          <p:cNvSpPr/>
          <p:nvPr/>
        </p:nvSpPr>
        <p:spPr bwMode="auto">
          <a:xfrm>
            <a:off x="7908645" y="4399665"/>
            <a:ext cx="389681" cy="338554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1685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 startAt="4"/>
            </a:pPr>
            <a:r>
              <a:rPr lang="en-US" altLang="ko-KR" dirty="0"/>
              <a:t> </a:t>
            </a:r>
            <a:r>
              <a:rPr lang="ko-KR" altLang="en-US" dirty="0"/>
              <a:t>상품목록의 보여주는 </a:t>
            </a:r>
            <a:r>
              <a:rPr lang="en-US" altLang="ko-KR" dirty="0"/>
              <a:t>/views/</a:t>
            </a:r>
            <a:r>
              <a:rPr lang="en-US" altLang="ko-KR" dirty="0" err="1"/>
              <a:t>product.ejs</a:t>
            </a:r>
            <a:r>
              <a:rPr lang="en-US" altLang="ko-KR" dirty="0"/>
              <a:t> </a:t>
            </a:r>
            <a:r>
              <a:rPr lang="ko-KR" altLang="en-US" dirty="0"/>
              <a:t>작성하기</a:t>
            </a:r>
            <a:endParaRPr lang="en-US" altLang="ko-KR" dirty="0"/>
          </a:p>
          <a:p>
            <a:pPr marL="857250" lvl="1" indent="-457200"/>
            <a:r>
              <a:rPr lang="en-US" altLang="ko-KR" sz="2000" dirty="0" err="1"/>
              <a:t>products.ejs</a:t>
            </a:r>
            <a:r>
              <a:rPr lang="ko-KR" altLang="en-US" sz="2000" dirty="0"/>
              <a:t>에서 추천 상품 </a:t>
            </a:r>
            <a:r>
              <a:rPr lang="en-US" altLang="ko-KR" sz="2000" dirty="0"/>
              <a:t>4</a:t>
            </a:r>
            <a:r>
              <a:rPr lang="ko-KR" altLang="en-US" sz="2000" dirty="0"/>
              <a:t>개만 출력</a:t>
            </a:r>
            <a:r>
              <a:rPr lang="en-US" altLang="ko-KR" sz="2000" dirty="0"/>
              <a:t>(</a:t>
            </a:r>
            <a:r>
              <a:rPr lang="en-US" altLang="ko-KR" sz="2000" dirty="0" err="1"/>
              <a:t>feturedProducts</a:t>
            </a:r>
            <a:r>
              <a:rPr lang="en-US" altLang="ko-KR" sz="2000" dirty="0"/>
              <a:t>)</a:t>
            </a:r>
          </a:p>
          <a:p>
            <a:pPr marL="857250" lvl="1" indent="-457200"/>
            <a:r>
              <a:rPr lang="ko-KR" altLang="en-US" sz="2000" dirty="0"/>
              <a:t>네비게이션 아래에 등록된 상품 개수</a:t>
            </a:r>
            <a:r>
              <a:rPr lang="en-US" altLang="ko-KR" sz="2000" dirty="0"/>
              <a:t>(</a:t>
            </a:r>
            <a:r>
              <a:rPr lang="en-US" altLang="ko-KR" sz="2000" dirty="0" err="1"/>
              <a:t>allProducts.length</a:t>
            </a:r>
            <a:r>
              <a:rPr lang="en-US" altLang="ko-KR" sz="2000" dirty="0"/>
              <a:t>) </a:t>
            </a:r>
            <a:r>
              <a:rPr lang="ko-KR" altLang="en-US" sz="2000" dirty="0"/>
              <a:t>출력</a:t>
            </a:r>
            <a:endParaRPr lang="en-US" altLang="ko-KR" sz="2000" dirty="0"/>
          </a:p>
          <a:p>
            <a:pPr marL="857250" lvl="1" indent="-457200"/>
            <a:r>
              <a:rPr lang="ko-KR" altLang="en-US" sz="2000" dirty="0"/>
              <a:t>등록 상품 옆에 </a:t>
            </a:r>
            <a:r>
              <a:rPr lang="en-US" altLang="ko-KR" sz="2000" dirty="0"/>
              <a:t>[</a:t>
            </a:r>
            <a:r>
              <a:rPr lang="ko-KR" altLang="en-US" sz="2000" dirty="0"/>
              <a:t>전체 목록 보기</a:t>
            </a:r>
            <a:r>
              <a:rPr lang="en-US" altLang="ko-KR" sz="2000" dirty="0"/>
              <a:t>] </a:t>
            </a:r>
            <a:r>
              <a:rPr lang="ko-KR" altLang="en-US" sz="2000" dirty="0"/>
              <a:t>추가</a:t>
            </a:r>
            <a:endParaRPr lang="en-US" altLang="ko-KR" sz="2000" dirty="0"/>
          </a:p>
          <a:p>
            <a:pPr marL="400050" lvl="1" indent="0">
              <a:buNone/>
            </a:pPr>
            <a:r>
              <a:rPr lang="en-US" altLang="ko-KR" sz="2000" dirty="0"/>
              <a:t>      =&gt;</a:t>
            </a:r>
            <a:r>
              <a:rPr lang="ko-KR" altLang="en-US" sz="2000" dirty="0"/>
              <a:t>위 내용을 반영한 </a:t>
            </a:r>
            <a:r>
              <a:rPr lang="en-US" altLang="ko-KR" sz="2000" dirty="0" err="1"/>
              <a:t>products.ejs</a:t>
            </a:r>
            <a:r>
              <a:rPr lang="ko-KR" altLang="en-US" sz="2000" dirty="0"/>
              <a:t>는 다음페이지에 보임</a:t>
            </a:r>
            <a:endParaRPr lang="en-US" altLang="ko-KR" sz="2000" dirty="0"/>
          </a:p>
          <a:p>
            <a:pPr marL="857250" lvl="1" indent="-457200"/>
            <a:r>
              <a:rPr lang="en-US" altLang="ko-KR" sz="2000" dirty="0"/>
              <a:t>/routes/products.js</a:t>
            </a:r>
            <a:r>
              <a:rPr lang="ko-KR" altLang="en-US" sz="2000" dirty="0"/>
              <a:t>에 </a:t>
            </a:r>
            <a:r>
              <a:rPr lang="en-US" altLang="ko-KR" sz="2000" dirty="0"/>
              <a:t>/products/all </a:t>
            </a:r>
            <a:r>
              <a:rPr lang="ko-KR" altLang="en-US" sz="2000" dirty="0"/>
              <a:t>라우터 추가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C88D860-061B-4966-91ED-6C90C228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178" y="3502118"/>
            <a:ext cx="6891688" cy="246221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✅ 전체 상품 목록만 보여주는 페이지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all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상품 목록 불러오기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products_all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DA1D1-679E-41A7-AE90-C790C6829F6E}"/>
              </a:ext>
            </a:extLst>
          </p:cNvPr>
          <p:cNvSpPr txBox="1"/>
          <p:nvPr/>
        </p:nvSpPr>
        <p:spPr>
          <a:xfrm>
            <a:off x="6375133" y="5363924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</a:t>
            </a:r>
            <a:r>
              <a:rPr lang="en-US" altLang="ko-KR" dirty="0" err="1">
                <a:solidFill>
                  <a:srgbClr val="FFC000"/>
                </a:solidFill>
              </a:rPr>
              <a:t>prouducts.ejs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312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err="1"/>
              <a:t>product.ejs</a:t>
            </a:r>
            <a:r>
              <a:rPr lang="en-US" altLang="ko-KR" sz="2000" dirty="0"/>
              <a:t> </a:t>
            </a:r>
            <a:r>
              <a:rPr lang="ko-KR" altLang="en-US" sz="2000" dirty="0"/>
              <a:t>내용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6665F70-C156-4B37-9B8D-A9D051CEC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223" y="1788507"/>
            <a:ext cx="4870383" cy="418576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DOCTYPE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lang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meta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UTF-8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상품목록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link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stylesheet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stylesheets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style.css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product-grid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grid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grid-template-columns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repeat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auto-fill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minmax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180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gap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product-card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solid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ddd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text-align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center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817828F-01B3-434B-B3BC-BF37E9F97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025" y="1788507"/>
            <a:ext cx="4870383" cy="418576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product-card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img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width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%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max-height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object-fit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8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info-bar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15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font-weight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bold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font-size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1.1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info-bar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margin-left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font-size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0.95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2563eb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underline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8A8D9-2ECD-4A0B-8EDB-19C0C8ECDC4F}"/>
              </a:ext>
            </a:extLst>
          </p:cNvPr>
          <p:cNvSpPr txBox="1"/>
          <p:nvPr/>
        </p:nvSpPr>
        <p:spPr>
          <a:xfrm>
            <a:off x="4065070" y="5515788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 </a:t>
            </a:r>
            <a:r>
              <a:rPr lang="en-US" altLang="ko-KR" dirty="0" err="1">
                <a:solidFill>
                  <a:srgbClr val="FFC000"/>
                </a:solidFill>
              </a:rPr>
              <a:t>prouducts.ejs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356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FF40F0-95C1-40A9-B1C7-957E6CC3D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659285"/>
            <a:ext cx="4870383" cy="353943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📦 상품 목록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nav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홈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상품목록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고객센터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nav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&lt;!--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✅ 상품 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+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목록 보기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--&gt;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section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info-bar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현재 등록된 상품 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allProducts.length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개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목록 보기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section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253FC6-3F7C-4AF2-A9C2-3BCCFA3A7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029" y="1630525"/>
            <a:ext cx="5918579" cy="440120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section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🍓 오늘의 과일 추천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product-grid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featuredProducts.forEach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=&gt;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product-card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img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src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product.image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alt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product.name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product.emoji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product.name %&gt;&lt;/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product.description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strong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product.price.toLocaleString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 %&gt;&lt;/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strong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})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section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footer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&amp;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copy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2025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쇼핑몰 예시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 All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rights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reserved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footer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060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F88C82-85FC-41E2-9D97-E537AA066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52" y="1536381"/>
            <a:ext cx="6614967" cy="3419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33AA7C-BDFB-4AB5-A95C-5D51DE568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998" y="1536381"/>
            <a:ext cx="2800796" cy="41040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17681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 startAt="5"/>
            </a:pPr>
            <a:r>
              <a:rPr lang="en-US" altLang="ko-KR" dirty="0"/>
              <a:t> </a:t>
            </a:r>
            <a:r>
              <a:rPr lang="ko-KR" altLang="en-US" dirty="0"/>
              <a:t>상품목록의 보여주는 </a:t>
            </a:r>
            <a:r>
              <a:rPr lang="en-US" altLang="ko-KR" dirty="0"/>
              <a:t>/views/</a:t>
            </a:r>
            <a:r>
              <a:rPr lang="en-US" altLang="ko-KR" dirty="0" err="1"/>
              <a:t>product_all.ejs</a:t>
            </a:r>
            <a:r>
              <a:rPr lang="en-US" altLang="ko-KR" dirty="0"/>
              <a:t> </a:t>
            </a:r>
            <a:r>
              <a:rPr lang="ko-KR" altLang="en-US" dirty="0"/>
              <a:t>작성하기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4F5300-A0FD-41CE-BBDB-5EEE1C805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144" y="1727772"/>
            <a:ext cx="5390652" cy="418576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DOCTYPE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lang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meta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UTF-8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상품 목록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link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rel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stylesheet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stylesheets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style.css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product-grid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grid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grid-template-columns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repeat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auto-fill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minmax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180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gap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product-card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solid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ddd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text-align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center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2B3A14B-0E0F-4C8D-9D1A-E9993B46D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059" y="1762938"/>
            <a:ext cx="4361483" cy="39703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product-card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img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width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%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max-height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object-fit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8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cart-button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22c55e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fff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cursor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pointer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cart-button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:hover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16a34a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7B465-F787-455E-AFBE-4797B784784B}"/>
              </a:ext>
            </a:extLst>
          </p:cNvPr>
          <p:cNvSpPr txBox="1"/>
          <p:nvPr/>
        </p:nvSpPr>
        <p:spPr>
          <a:xfrm>
            <a:off x="3664652" y="5485421"/>
            <a:ext cx="240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prouduct_all.ejs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0982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521940A-F5CA-42CD-AE39-CC9DEF684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223130"/>
            <a:ext cx="5110099" cy="397031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/*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✅ 노란색 돌아가기 링크 스타일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*/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back-link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facc15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font-weight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bold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back-link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:hover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underline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🧾 전체 상품 목록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back-link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"&gt;←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오늘의 추천으로 돌아가기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16B0AB-B6E1-492A-896C-6C65DE17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701" y="1200219"/>
            <a:ext cx="5841113" cy="526297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main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product-grid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products.forEach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=&gt; { %&gt;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product-card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img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src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p.image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alt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p.name %&gt;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p.emoji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p.name %&gt;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p.is_featured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=== 1) { %&gt;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#facc15;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font-size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0.9em;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⭐ 추천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&lt;/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p.description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strong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₩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p.price.toLocaleString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 %&gt;&lt;/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strong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add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p.id %&gt;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cart-button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🛒 장바구니 담기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}) %&gt;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main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footer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2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&amp;</a:t>
            </a:r>
            <a:r>
              <a:rPr kumimoji="0" lang="ko-KR" altLang="ko-KR" sz="12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copy</a:t>
            </a:r>
            <a:r>
              <a:rPr kumimoji="0" lang="ko-KR" altLang="ko-KR" sz="12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2025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쇼핑몰 예시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 All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rights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reserved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footer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934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82495"/>
            <a:ext cx="11130293" cy="5040560"/>
          </a:xfrm>
        </p:spPr>
        <p:txBody>
          <a:bodyPr/>
          <a:lstStyle/>
          <a:p>
            <a:r>
              <a:rPr lang="ko-KR" altLang="en-US" dirty="0"/>
              <a:t>전체 상품 목록도 추천목록처럼 정렬하고</a:t>
            </a:r>
            <a:r>
              <a:rPr lang="en-US" altLang="ko-KR" dirty="0"/>
              <a:t>, </a:t>
            </a:r>
            <a:r>
              <a:rPr lang="ko-KR" altLang="en-US" dirty="0"/>
              <a:t>각 과일 항목에 </a:t>
            </a:r>
            <a:r>
              <a:rPr lang="en-US" altLang="ko-KR" dirty="0"/>
              <a:t>[</a:t>
            </a:r>
            <a:r>
              <a:rPr lang="ko-KR" altLang="en-US" dirty="0"/>
              <a:t>장바구니 담기</a:t>
            </a:r>
            <a:r>
              <a:rPr lang="en-US" altLang="ko-KR" dirty="0"/>
              <a:t>] </a:t>
            </a:r>
            <a:r>
              <a:rPr lang="ko-KR" altLang="en-US" dirty="0"/>
              <a:t>버튼 추가하기</a:t>
            </a:r>
            <a:endParaRPr lang="en-US" altLang="ko-KR" dirty="0"/>
          </a:p>
          <a:p>
            <a:pPr lvl="1"/>
            <a:r>
              <a:rPr lang="en-US" altLang="ko-KR" dirty="0" err="1"/>
              <a:t>products.ejs</a:t>
            </a:r>
            <a:r>
              <a:rPr lang="ko-KR" altLang="en-US" dirty="0"/>
              <a:t>에 아래 부분을 추가</a:t>
            </a:r>
            <a:r>
              <a:rPr lang="en-US" altLang="ko-KR" dirty="0"/>
              <a:t>(&lt;section&gt;</a:t>
            </a:r>
            <a:r>
              <a:rPr lang="ko-KR" altLang="en-US" dirty="0"/>
              <a:t> </a:t>
            </a:r>
            <a:r>
              <a:rPr lang="en-US" altLang="ko-KR" dirty="0"/>
              <a:t>&lt;h2&gt;)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pruduct_all.ejs</a:t>
            </a:r>
            <a:r>
              <a:rPr lang="ko-KR" altLang="en-US" dirty="0"/>
              <a:t>에 추천상품 표시 추가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FF8A04-3460-42A4-B4F4-36718C426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166" y="2420727"/>
            <a:ext cx="6073539" cy="117548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add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product.id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cart-button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🛒 장바구니 담기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16353E-6903-4743-83CC-91E207DFA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664" y="2408722"/>
            <a:ext cx="3699207" cy="177523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1DF64B1-D5CC-4F1C-841E-56424E5F226D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7507705" y="3008471"/>
            <a:ext cx="875900" cy="72736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185FDF45-4106-4D0E-92D9-D88B36396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166" y="4168569"/>
            <a:ext cx="4292866" cy="30777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p.emoji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p.name %&gt;&lt;/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6876164-18B9-4274-BE53-76B86CF5F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166" y="5046790"/>
            <a:ext cx="5601901" cy="116955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p.emoji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p.name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p.is_featured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=== 1)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#facc15;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font-size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0.9em;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⭐ 추천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863D698-8A50-4ECE-8179-CEF826924685}"/>
              </a:ext>
            </a:extLst>
          </p:cNvPr>
          <p:cNvSpPr/>
          <p:nvPr/>
        </p:nvSpPr>
        <p:spPr bwMode="auto">
          <a:xfrm>
            <a:off x="3522846" y="4615967"/>
            <a:ext cx="423511" cy="340036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38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600B21-56EF-473C-8135-B861E63C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835" y="1344457"/>
            <a:ext cx="6609398" cy="24319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16D231-4D22-4BFE-91C0-3C536C64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835" y="3907879"/>
            <a:ext cx="7810500" cy="22574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62297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장바구니 기능 추가</a:t>
            </a:r>
            <a:r>
              <a:rPr lang="en-US" altLang="ko-KR" dirty="0"/>
              <a:t>(</a:t>
            </a:r>
            <a:r>
              <a:rPr lang="ko-KR" altLang="en-US" dirty="0"/>
              <a:t>테이블 </a:t>
            </a:r>
            <a:r>
              <a:rPr lang="en-US" altLang="ko-KR" dirty="0" err="1"/>
              <a:t>cart_items</a:t>
            </a:r>
            <a:r>
              <a:rPr lang="en-US" altLang="ko-KR" dirty="0"/>
              <a:t> </a:t>
            </a:r>
            <a:r>
              <a:rPr lang="ko-KR" altLang="en-US" dirty="0"/>
              <a:t>설계</a:t>
            </a:r>
            <a:r>
              <a:rPr lang="en-US" altLang="ko-KR" dirty="0"/>
              <a:t>)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ko-KR" altLang="en-US" dirty="0"/>
              <a:t>테이블 생성</a:t>
            </a:r>
            <a:r>
              <a:rPr lang="en-US" altLang="ko-KR" dirty="0"/>
              <a:t>-</a:t>
            </a:r>
            <a:r>
              <a:rPr lang="ko-KR" altLang="en-US" dirty="0"/>
              <a:t>아래 내용을 </a:t>
            </a:r>
            <a:r>
              <a:rPr lang="en-US" altLang="ko-KR" dirty="0" err="1"/>
              <a:t>schema.sql</a:t>
            </a:r>
            <a:r>
              <a:rPr lang="ko-KR" altLang="en-US" dirty="0"/>
              <a:t>에 추가</a:t>
            </a: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endParaRPr lang="en-US" altLang="ko-KR" sz="2400" dirty="0"/>
          </a:p>
          <a:p>
            <a:pPr marL="914400" lvl="1" indent="-457200">
              <a:buFont typeface="+mj-ea"/>
              <a:buAutoNum type="circleNumDbPlain"/>
            </a:pPr>
            <a:r>
              <a:rPr lang="ko-KR" altLang="en-US" dirty="0"/>
              <a:t>라우터 파일 생성</a:t>
            </a:r>
            <a:r>
              <a:rPr lang="en-US" altLang="ko-KR" dirty="0"/>
              <a:t>: /routes/cart.js </a:t>
            </a:r>
            <a:r>
              <a:rPr lang="ko-KR" altLang="en-US" dirty="0"/>
              <a:t>작성</a:t>
            </a:r>
            <a:r>
              <a:rPr lang="en-US" altLang="ko-KR" dirty="0"/>
              <a:t>-</a:t>
            </a:r>
            <a:r>
              <a:rPr lang="ko-KR" altLang="en-US" dirty="0"/>
              <a:t>다음페이지</a:t>
            </a:r>
            <a:endParaRPr lang="en-US" altLang="ko-KR" dirty="0"/>
          </a:p>
          <a:p>
            <a:pPr marL="1314450" lvl="2" indent="-457200">
              <a:buClr>
                <a:srgbClr val="333399"/>
              </a:buClr>
            </a:pPr>
            <a:r>
              <a:rPr lang="ko-KR" altLang="en-US" dirty="0">
                <a:solidFill>
                  <a:srgbClr val="000000"/>
                </a:solidFill>
              </a:rPr>
              <a:t>로그인 하지 않은 상태에서 </a:t>
            </a:r>
            <a:r>
              <a:rPr lang="en-US" altLang="ko-KR" dirty="0">
                <a:solidFill>
                  <a:srgbClr val="000000"/>
                </a:solidFill>
              </a:rPr>
              <a:t>[</a:t>
            </a:r>
            <a:r>
              <a:rPr lang="ko-KR" altLang="en-US" dirty="0">
                <a:solidFill>
                  <a:srgbClr val="000000"/>
                </a:solidFill>
              </a:rPr>
              <a:t>장바구니 담기</a:t>
            </a:r>
            <a:r>
              <a:rPr lang="en-US" altLang="ko-KR" dirty="0">
                <a:solidFill>
                  <a:srgbClr val="000000"/>
                </a:solidFill>
              </a:rPr>
              <a:t>]</a:t>
            </a:r>
            <a:r>
              <a:rPr lang="ko-KR" altLang="en-US" dirty="0">
                <a:solidFill>
                  <a:srgbClr val="000000"/>
                </a:solidFill>
              </a:rPr>
              <a:t>를 클릭하면 로그인 상태로 전환</a:t>
            </a:r>
            <a:endParaRPr lang="en-US" altLang="ko-KR" dirty="0">
              <a:solidFill>
                <a:srgbClr val="000000"/>
              </a:solidFill>
            </a:endParaRPr>
          </a:p>
          <a:p>
            <a:pPr marL="1314450" lvl="2" indent="-457200">
              <a:buClr>
                <a:srgbClr val="333399"/>
              </a:buClr>
            </a:pPr>
            <a:r>
              <a:rPr lang="ko-KR" altLang="en-US" dirty="0">
                <a:solidFill>
                  <a:srgbClr val="000000"/>
                </a:solidFill>
              </a:rPr>
              <a:t>로그인 상태에서 </a:t>
            </a:r>
            <a:r>
              <a:rPr lang="en-US" altLang="ko-KR" dirty="0">
                <a:solidFill>
                  <a:srgbClr val="000000"/>
                </a:solidFill>
              </a:rPr>
              <a:t>[</a:t>
            </a:r>
            <a:r>
              <a:rPr lang="ko-KR" altLang="en-US" dirty="0">
                <a:solidFill>
                  <a:srgbClr val="000000"/>
                </a:solidFill>
              </a:rPr>
              <a:t>장바구니 담기</a:t>
            </a:r>
            <a:r>
              <a:rPr lang="en-US" altLang="ko-KR" dirty="0">
                <a:solidFill>
                  <a:srgbClr val="000000"/>
                </a:solidFill>
              </a:rPr>
              <a:t>]</a:t>
            </a:r>
            <a:r>
              <a:rPr lang="ko-KR" altLang="en-US" dirty="0">
                <a:solidFill>
                  <a:srgbClr val="000000"/>
                </a:solidFill>
              </a:rPr>
              <a:t>를 클릭 하면 장바구니 추가 동작 실행  </a:t>
            </a:r>
            <a:endParaRPr lang="en-US" altLang="ko-KR" dirty="0">
              <a:solidFill>
                <a:srgbClr val="000000"/>
              </a:solidFill>
            </a:endParaRPr>
          </a:p>
          <a:p>
            <a:pPr marL="914400" lvl="1" indent="-457200">
              <a:buFont typeface="+mj-ea"/>
              <a:buAutoNum type="circleNumDbPlain"/>
            </a:pPr>
            <a:r>
              <a:rPr lang="en-US" altLang="ko-KR" dirty="0"/>
              <a:t>app.js</a:t>
            </a:r>
            <a:r>
              <a:rPr lang="ko-KR" altLang="en-US" dirty="0"/>
              <a:t>에 경로 추가</a:t>
            </a:r>
            <a:r>
              <a:rPr lang="en-US" altLang="ko-KR" dirty="0"/>
              <a:t>	</a:t>
            </a:r>
          </a:p>
          <a:p>
            <a:pPr marL="1314450" lvl="2" indent="-457200"/>
            <a:r>
              <a:rPr lang="en-US" altLang="ko-KR" dirty="0">
                <a:solidFill>
                  <a:schemeClr val="tx1">
                    <a:lumMod val="75000"/>
                  </a:schemeClr>
                </a:solidFill>
              </a:rPr>
              <a:t>const </a:t>
            </a:r>
            <a:r>
              <a:rPr lang="en-US" altLang="ko-KR" dirty="0" err="1">
                <a:solidFill>
                  <a:schemeClr val="tx1">
                    <a:lumMod val="75000"/>
                  </a:schemeClr>
                </a:solidFill>
              </a:rPr>
              <a:t>cartRouter</a:t>
            </a:r>
            <a:r>
              <a:rPr lang="en-US" altLang="ko-KR" dirty="0">
                <a:solidFill>
                  <a:schemeClr val="tx1">
                    <a:lumMod val="75000"/>
                  </a:schemeClr>
                </a:solidFill>
              </a:rPr>
              <a:t> = require(‘./routes/cart’);</a:t>
            </a:r>
          </a:p>
          <a:p>
            <a:pPr marL="1314450" lvl="2" indent="-457200"/>
            <a:r>
              <a:rPr lang="en-US" altLang="ko-KR" dirty="0" err="1">
                <a:solidFill>
                  <a:schemeClr val="tx1">
                    <a:lumMod val="75000"/>
                  </a:schemeClr>
                </a:solidFill>
              </a:rPr>
              <a:t>app.use</a:t>
            </a:r>
            <a:r>
              <a:rPr lang="en-US" altLang="ko-KR" dirty="0">
                <a:solidFill>
                  <a:schemeClr val="tx1">
                    <a:lumMod val="75000"/>
                  </a:schemeClr>
                </a:solidFill>
              </a:rPr>
              <a:t>(‘/cart’, </a:t>
            </a:r>
            <a:r>
              <a:rPr lang="en-US" altLang="ko-KR" dirty="0" err="1">
                <a:solidFill>
                  <a:schemeClr val="tx1">
                    <a:lumMod val="75000"/>
                  </a:schemeClr>
                </a:solidFill>
              </a:rPr>
              <a:t>cartRouter</a:t>
            </a:r>
            <a:r>
              <a:rPr lang="en-US" altLang="ko-KR" dirty="0">
                <a:solidFill>
                  <a:schemeClr val="tx1">
                    <a:lumMod val="75000"/>
                  </a:schemeClr>
                </a:solidFill>
              </a:rPr>
              <a:t>);</a:t>
            </a:r>
          </a:p>
          <a:p>
            <a:pPr marL="914400" lvl="1" indent="-457200">
              <a:buFont typeface="+mj-ea"/>
              <a:buAutoNum type="circleNumDbPlain"/>
            </a:pPr>
            <a:endParaRPr lang="ko-KR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FEB054-D664-4E05-8967-68CB635BF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170" y="2038880"/>
            <a:ext cx="7459579" cy="181588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DROP TABLE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EXISTS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--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이명령어는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테스트용으로 초기화 실행할 때 필요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 TABLE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NOT 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INTEGER DEFAULT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created_at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DATETIME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DEFAULT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57AAF7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CURRENT_TIMESTAMP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PRIMARY KEY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3132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>
                <a:solidFill>
                  <a:srgbClr val="000066"/>
                </a:solidFill>
              </a:rPr>
              <a:t>/routes/cart.js</a:t>
            </a:r>
            <a:endParaRPr lang="ko-KR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8BD216-4021-4CA1-B363-36C44CDA5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682" y="1568982"/>
            <a:ext cx="6106865" cy="461664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express.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require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'sqlite3'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verbose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sqlite3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'./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database.sqlite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장바구니에 담기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add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401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login_required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 담기 위해서는 로그인이 필요합니다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redirectUrl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`INSERT INTO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VALUES (?, ?, 1) 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ON CONFLICT(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 DO UPDATE SET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+ 1`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E6275F-3251-43C7-B133-96340CD71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802" y="1200219"/>
            <a:ext cx="5410639" cy="526297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function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 추가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 목록 조회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SELECT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price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c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JOIN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ON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p.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  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all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 조회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cartItems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module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exports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0359E-ADB0-484E-A239-CF40E00A40D1}"/>
              </a:ext>
            </a:extLst>
          </p:cNvPr>
          <p:cNvSpPr txBox="1"/>
          <p:nvPr/>
        </p:nvSpPr>
        <p:spPr>
          <a:xfrm>
            <a:off x="10251351" y="594491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routes/cart.js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392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21" y="1172870"/>
            <a:ext cx="11130293" cy="5040560"/>
          </a:xfrm>
        </p:spPr>
        <p:txBody>
          <a:bodyPr/>
          <a:lstStyle/>
          <a:p>
            <a:pPr lvl="1">
              <a:buClr>
                <a:srgbClr val="333399"/>
              </a:buClr>
            </a:pPr>
            <a:r>
              <a:rPr lang="en-US" altLang="ko-KR" dirty="0">
                <a:solidFill>
                  <a:srgbClr val="000066"/>
                </a:solidFill>
              </a:rPr>
              <a:t>/views/</a:t>
            </a:r>
            <a:r>
              <a:rPr lang="en-US" altLang="ko-KR" dirty="0" err="1">
                <a:solidFill>
                  <a:srgbClr val="000066"/>
                </a:solidFill>
              </a:rPr>
              <a:t>login_required.ejs</a:t>
            </a:r>
            <a:endParaRPr lang="ko-KR" altLang="en-US" dirty="0">
              <a:solidFill>
                <a:srgbClr val="000000"/>
              </a:solidFill>
            </a:endParaRPr>
          </a:p>
          <a:p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FE9EEE-407A-4EF4-8B71-19508FAFF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296" y="1596782"/>
            <a:ext cx="3907856" cy="461664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DOCTYPE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lang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meta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UTF-8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 필요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font-family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Arial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sans-serif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text-align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center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60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inline-block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facc15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F44D33-D303-461B-A008-AD8840697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0592" y="1951672"/>
            <a:ext cx="4995088" cy="138499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redirectUrl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🔐 로그인하러 가기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A5AEF9-31A3-441A-8ED8-EAA7B24FD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84692"/>
            <a:ext cx="3936622" cy="16004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68579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Clr>
                <a:srgbClr val="333399"/>
              </a:buClr>
              <a:buFont typeface="+mj-ea"/>
              <a:buAutoNum type="circleNumDbPlain" startAt="4"/>
            </a:pPr>
            <a:r>
              <a:rPr lang="ko-KR" altLang="en-US" dirty="0">
                <a:solidFill>
                  <a:srgbClr val="000000"/>
                </a:solidFill>
              </a:rPr>
              <a:t>장바구니 목록 보이기 </a:t>
            </a:r>
            <a:r>
              <a:rPr lang="en-US" altLang="ko-KR" dirty="0">
                <a:solidFill>
                  <a:srgbClr val="000000"/>
                </a:solidFill>
              </a:rPr>
              <a:t>: /views/</a:t>
            </a:r>
            <a:r>
              <a:rPr lang="en-US" altLang="ko-KR" dirty="0" err="1">
                <a:solidFill>
                  <a:srgbClr val="000000"/>
                </a:solidFill>
              </a:rPr>
              <a:t>cart.ejs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</a:p>
          <a:p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A4F1AD-0376-41F2-80D8-BCADE3743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398" y="1546552"/>
            <a:ext cx="4733885" cy="504753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DOCTYPE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lang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meta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UTF-8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font-family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sans-serif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margin-bottom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list-style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margin-bottom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12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solid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ddd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8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8197D4-693A-44AE-B488-E6A0D3290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163" y="1331109"/>
            <a:ext cx="5380522" cy="526297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item-line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inline-flex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align-items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center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gap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12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 /*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아이템과 삭제버튼 사이 간격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*/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delete-button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e53e3e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white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6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12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6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cursor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pointer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delete-button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:hover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c53030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inline-block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2563eb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455EF-2B65-4C03-81A5-4B8E8DF91A8A}"/>
              </a:ext>
            </a:extLst>
          </p:cNvPr>
          <p:cNvSpPr txBox="1"/>
          <p:nvPr/>
        </p:nvSpPr>
        <p:spPr>
          <a:xfrm>
            <a:off x="9288825" y="5980638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cart.ejs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986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B2D985-D9B0-4370-BEFE-4B5A402AF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674" y="1512341"/>
            <a:ext cx="5258601" cy="461664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🛒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user.name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님의 장바구니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cartItems.length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==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0)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{ %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장바구니가 비어 있습니다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cartItems.forEach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=&gt;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item.emoji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item.name %&gt; 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item.price.toLocaleString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 %&gt; ×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update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item.id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decrease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➖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item.quantity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increase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984E7B3-D971-4A42-AEF9-0C0E036D4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23" y="1530924"/>
            <a:ext cx="6513203" cy="332398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item.id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🗑 삭제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})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"&gt;←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상품 계속 보기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order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confirm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20px;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btn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btn-primary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✅ 주문하기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3A56D-AA9B-45DC-ADCE-A222809FF99B}"/>
              </a:ext>
            </a:extLst>
          </p:cNvPr>
          <p:cNvSpPr txBox="1"/>
          <p:nvPr/>
        </p:nvSpPr>
        <p:spPr>
          <a:xfrm>
            <a:off x="10280227" y="4402095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cart.ejs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3602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비밀번호가 일치하지 않을 때 사용자를 다시 로그인 페이지로 연결함</a:t>
            </a:r>
            <a:endParaRPr lang="en-US" altLang="ko-KR" dirty="0"/>
          </a:p>
          <a:p>
            <a:pPr lvl="1"/>
            <a:r>
              <a:rPr lang="ko-KR" altLang="en-US" sz="2000" dirty="0"/>
              <a:t>로그인 실패 화면 </a:t>
            </a:r>
            <a:r>
              <a:rPr lang="en-US" altLang="ko-KR" sz="2000" dirty="0"/>
              <a:t>views/</a:t>
            </a:r>
            <a:r>
              <a:rPr lang="en-US" altLang="ko-KR" sz="2000" dirty="0" err="1"/>
              <a:t>login_failed.ejs</a:t>
            </a:r>
            <a:r>
              <a:rPr lang="en-US" altLang="ko-KR" sz="2000" dirty="0"/>
              <a:t> </a:t>
            </a:r>
            <a:r>
              <a:rPr lang="ko-KR" altLang="en-US" sz="2000" dirty="0"/>
              <a:t>작성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12D0A6-25AE-4E76-8629-7C6304419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956" y="1881871"/>
            <a:ext cx="4966636" cy="483209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DOCTYPE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lang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meta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UTF-8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font-family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sans-serif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text-align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center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icon-button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inline-block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padding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20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font-size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16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text-decoration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2563eb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white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border-radius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8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transition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0.3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4591A6-8F3B-4A05-A358-06C49F011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0" y="1881871"/>
            <a:ext cx="4966636" cy="418576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icon-button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:hover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background-color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1e4bb8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icon-button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margin-right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8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px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❌ 비밀번호가 일치하지 않습니다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아이디와 비밀번호를 다시 확인해 주세요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🔄 로그인 페이지로 이동하는 버튼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--&gt;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icon-button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🔑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다시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로그인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하기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22C24-BCD6-496E-B73A-4B1D6839725C}"/>
              </a:ext>
            </a:extLst>
          </p:cNvPr>
          <p:cNvSpPr txBox="1"/>
          <p:nvPr/>
        </p:nvSpPr>
        <p:spPr>
          <a:xfrm>
            <a:off x="8595003" y="5548590"/>
            <a:ext cx="23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login_failed.ejs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966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C7130-FEB4-4A1F-BEB6-9CC020B7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2E4F2-7166-4D0E-A67D-45DDE03BA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user.js </a:t>
            </a:r>
            <a:r>
              <a:rPr lang="ko-KR" altLang="en-US" dirty="0"/>
              <a:t>에 로그인 실패할 경우  </a:t>
            </a:r>
            <a:r>
              <a:rPr lang="en-US" altLang="ko-KR" dirty="0" err="1"/>
              <a:t>login_failed.ejs</a:t>
            </a:r>
            <a:r>
              <a:rPr lang="ko-KR" altLang="en-US" dirty="0"/>
              <a:t>를 호출하도록 수정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비밀번호가 일치하지 않을 때만 구현됨</a:t>
            </a:r>
            <a:endParaRPr lang="en-US" altLang="ko-KR" dirty="0"/>
          </a:p>
          <a:p>
            <a:pPr lvl="1"/>
            <a:r>
              <a:rPr lang="ko-KR" altLang="en-US" dirty="0"/>
              <a:t>아이디가 없을 때는 단순히 </a:t>
            </a:r>
            <a:r>
              <a:rPr lang="en-US" altLang="ko-KR" dirty="0"/>
              <a:t>“</a:t>
            </a:r>
            <a:r>
              <a:rPr lang="ko-KR" altLang="en-US" dirty="0"/>
              <a:t>존재하지 않는 사용자입니다</a:t>
            </a:r>
            <a:r>
              <a:rPr lang="en-US" altLang="ko-KR" dirty="0"/>
              <a:t>”</a:t>
            </a:r>
            <a:r>
              <a:rPr lang="ko-KR" altLang="en-US" dirty="0"/>
              <a:t>만 출력됨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CBAC31-62B9-42C4-86D5-9215A1F62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670" y="1770578"/>
            <a:ext cx="4918510" cy="138499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match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401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login_failed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CE2364-1ED3-4E0B-9488-6B4758F4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707" y="1770578"/>
            <a:ext cx="3981450" cy="20097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07CB3C-BFF6-4E1E-B818-51CDA016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135" y="4779364"/>
            <a:ext cx="2428875" cy="16478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554702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장바구니 삭제 기능 구현하기</a:t>
            </a:r>
          </a:p>
          <a:p>
            <a:pPr lvl="1"/>
            <a:r>
              <a:rPr lang="ko-KR" altLang="en-US" sz="2000" dirty="0"/>
              <a:t>참고사항</a:t>
            </a:r>
            <a:r>
              <a:rPr lang="en-US" altLang="ko-KR" sz="2000" dirty="0"/>
              <a:t>)</a:t>
            </a:r>
            <a:r>
              <a:rPr lang="ko-KR" altLang="en-US" sz="2000" dirty="0"/>
              <a:t>삭제 수향이 </a:t>
            </a:r>
            <a:r>
              <a:rPr lang="en-US" altLang="ko-KR" sz="2000" dirty="0"/>
              <a:t>1</a:t>
            </a:r>
            <a:r>
              <a:rPr lang="ko-KR" altLang="en-US" sz="2000" dirty="0"/>
              <a:t>일 때에는 항목을 </a:t>
            </a:r>
            <a:r>
              <a:rPr lang="en-US" altLang="ko-KR" sz="2000" dirty="0"/>
              <a:t>DB</a:t>
            </a:r>
            <a:r>
              <a:rPr lang="ko-KR" altLang="en-US" sz="2000" dirty="0"/>
              <a:t>에서 삭제</a:t>
            </a:r>
            <a:endParaRPr lang="en-US" altLang="ko-KR" sz="2000" dirty="0"/>
          </a:p>
          <a:p>
            <a:pPr marL="914400" lvl="1" indent="-457200">
              <a:buFont typeface="+mj-ea"/>
              <a:buAutoNum type="circleNumDbPlain"/>
            </a:pPr>
            <a:r>
              <a:rPr lang="en-US" altLang="ko-KR" sz="2000" dirty="0"/>
              <a:t>DB: </a:t>
            </a:r>
            <a:r>
              <a:rPr lang="ko-KR" altLang="en-US" sz="2000" dirty="0"/>
              <a:t>삭제 라우터</a:t>
            </a:r>
            <a:r>
              <a:rPr lang="en-US" altLang="ko-KR" sz="2000" dirty="0"/>
              <a:t>(routes/cart.js </a:t>
            </a:r>
            <a:r>
              <a:rPr lang="ko-KR" altLang="en-US" sz="2000" dirty="0"/>
              <a:t>수정</a:t>
            </a:r>
            <a:r>
              <a:rPr lang="en-US" altLang="ko-KR" sz="2000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C1819E-CD40-4B9D-84CA-65AFBCDCD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153" y="2529060"/>
            <a:ext cx="8825693" cy="28931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// 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단계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현재 수량 확인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checkQuery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`SELECT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 AND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checkQuery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❌ 수량 조회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수량 조회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3C1D5-628F-43ED-B997-70971FBFAE46}"/>
              </a:ext>
            </a:extLst>
          </p:cNvPr>
          <p:cNvSpPr txBox="1"/>
          <p:nvPr/>
        </p:nvSpPr>
        <p:spPr>
          <a:xfrm>
            <a:off x="8489928" y="4883358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routes/cart.js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4556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FB2C47-2C90-41AB-89FE-541457CEA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232" y="1167372"/>
            <a:ext cx="10730085" cy="535531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없으면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리다이렉트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row.quantity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// 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단계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수량 감소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updateQuery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`UPDATE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SET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- 1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 AND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updateQuery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❌ 수량 감소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수량 감소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// 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단계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수량이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 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이면 항목 제거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`DELETE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 AND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console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❌ 삭제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message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11783-A0BD-46D1-A886-F04F9A9B21D5}"/>
              </a:ext>
            </a:extLst>
          </p:cNvPr>
          <p:cNvSpPr txBox="1"/>
          <p:nvPr/>
        </p:nvSpPr>
        <p:spPr>
          <a:xfrm>
            <a:off x="9664210" y="582663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routes/cart.js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0897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Clr>
                <a:srgbClr val="333399"/>
              </a:buClr>
              <a:buFont typeface="+mj-ea"/>
              <a:buAutoNum type="circleNumDbPlain" startAt="2"/>
            </a:pPr>
            <a:r>
              <a:rPr lang="en-US" altLang="ko-KR" sz="2000" dirty="0">
                <a:solidFill>
                  <a:srgbClr val="000000"/>
                </a:solidFill>
              </a:rPr>
              <a:t>views/</a:t>
            </a:r>
            <a:r>
              <a:rPr lang="en-US" altLang="ko-KR" sz="2000" dirty="0" err="1">
                <a:solidFill>
                  <a:srgbClr val="000000"/>
                </a:solidFill>
              </a:rPr>
              <a:t>cart.ejs</a:t>
            </a:r>
            <a:r>
              <a:rPr lang="ko-KR" altLang="en-US" sz="2000" dirty="0">
                <a:solidFill>
                  <a:srgbClr val="000000"/>
                </a:solidFill>
              </a:rPr>
              <a:t>에 삭제 버튼 추가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marL="914400" lvl="1" indent="-457200">
              <a:buClr>
                <a:srgbClr val="333399"/>
              </a:buClr>
              <a:buFont typeface="+mj-ea"/>
              <a:buAutoNum type="circleNumDbPlain" startAt="2"/>
            </a:pPr>
            <a:endParaRPr lang="en-US" altLang="ko-KR" sz="2000" dirty="0">
              <a:solidFill>
                <a:srgbClr val="000000"/>
              </a:solidFill>
            </a:endParaRPr>
          </a:p>
          <a:p>
            <a:pPr marL="914400" lvl="1" indent="-457200">
              <a:buClr>
                <a:srgbClr val="333399"/>
              </a:buClr>
              <a:buFont typeface="+mj-ea"/>
              <a:buAutoNum type="circleNumDbPlain" startAt="2"/>
            </a:pPr>
            <a:endParaRPr lang="en-US" altLang="ko-KR" sz="2000" dirty="0">
              <a:solidFill>
                <a:srgbClr val="000000"/>
              </a:solidFill>
            </a:endParaRPr>
          </a:p>
          <a:p>
            <a:pPr marL="914400" lvl="1" indent="-457200">
              <a:buClr>
                <a:srgbClr val="333399"/>
              </a:buClr>
              <a:buFont typeface="+mj-ea"/>
              <a:buAutoNum type="circleNumDbPlain" startAt="2"/>
            </a:pPr>
            <a:endParaRPr lang="en-US" altLang="ko-KR" sz="2000" dirty="0">
              <a:solidFill>
                <a:srgbClr val="000000"/>
              </a:solidFill>
            </a:endParaRPr>
          </a:p>
          <a:p>
            <a:pPr marL="914400" lvl="1" indent="-457200">
              <a:buClr>
                <a:srgbClr val="333399"/>
              </a:buClr>
              <a:buFont typeface="+mj-ea"/>
              <a:buAutoNum type="circleNumDbPlain" startAt="2"/>
            </a:pPr>
            <a:endParaRPr lang="en-US" altLang="ko-KR" sz="2000" dirty="0">
              <a:solidFill>
                <a:srgbClr val="000000"/>
              </a:solidFill>
            </a:endParaRPr>
          </a:p>
          <a:p>
            <a:endParaRPr lang="ko-KR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299B50-0D94-457A-84EA-239E3A12B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548" y="1814530"/>
            <a:ext cx="7671335" cy="427809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cartItems.forEach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=&gt;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item.emoji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item.name %&gt; 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₩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item.price.toLocaleString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() %&gt; ×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update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item.id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decrease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➖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item.quantity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increase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&lt;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display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inline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input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hidden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name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productId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value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&lt;%= item.id %&gt;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🗑 삭제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sng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sng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})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Arial Unicode MS" panose="020B0604020202020204" pitchFamily="50" charset="-127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BCBEC4"/>
                </a:solidFill>
                <a:latin typeface="Arial Unicode MS" panose="020B0604020202020204" pitchFamily="50" charset="-127"/>
              </a:rPr>
              <a:t>…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C093C1A6-4C66-4628-B62E-B0C6B82AE81A}"/>
              </a:ext>
            </a:extLst>
          </p:cNvPr>
          <p:cNvSpPr/>
          <p:nvPr/>
        </p:nvSpPr>
        <p:spPr bwMode="auto">
          <a:xfrm>
            <a:off x="7680960" y="4283242"/>
            <a:ext cx="404261" cy="596766"/>
          </a:xfrm>
          <a:prstGeom prst="rightBrace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6BD4D-8E1E-449F-B4FA-BC5A1E66EF4E}"/>
              </a:ext>
            </a:extLst>
          </p:cNvPr>
          <p:cNvSpPr txBox="1"/>
          <p:nvPr/>
        </p:nvSpPr>
        <p:spPr>
          <a:xfrm>
            <a:off x="8190554" y="43969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C000"/>
                </a:solidFill>
              </a:rPr>
              <a:t>삭제버튼</a:t>
            </a:r>
          </a:p>
        </p:txBody>
      </p:sp>
    </p:spTree>
    <p:extLst>
      <p:ext uri="{BB962C8B-B14F-4D97-AF65-F5344CB8AC3E}">
        <p14:creationId xmlns:p14="http://schemas.microsoft.com/office/powerpoint/2010/main" val="25646538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장바구니 화면에서 주문하기 기능 추가하기</a:t>
            </a:r>
            <a:endParaRPr lang="en-US" altLang="ko-KR" dirty="0"/>
          </a:p>
          <a:p>
            <a:pPr lvl="1"/>
            <a:r>
              <a:rPr lang="ko-KR" altLang="en-US" dirty="0"/>
              <a:t>주문하기 버튼 추가</a:t>
            </a:r>
            <a:endParaRPr lang="en-US" altLang="ko-KR" dirty="0"/>
          </a:p>
          <a:p>
            <a:pPr lvl="1"/>
            <a:r>
              <a:rPr lang="ko-KR" altLang="en-US" dirty="0"/>
              <a:t>주문확인</a:t>
            </a:r>
            <a:r>
              <a:rPr lang="en-US" altLang="ko-KR" dirty="0"/>
              <a:t>(dummy) </a:t>
            </a:r>
            <a:r>
              <a:rPr lang="ko-KR" altLang="en-US" dirty="0"/>
              <a:t>페이지 생성</a:t>
            </a:r>
            <a:r>
              <a:rPr lang="en-US" altLang="ko-KR" dirty="0"/>
              <a:t>(/order/</a:t>
            </a:r>
            <a:r>
              <a:rPr lang="en-US" altLang="ko-KR" dirty="0" err="1"/>
              <a:t>confirm.ejs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홈으로 돌아가기 버튼 추가</a:t>
            </a:r>
            <a:endParaRPr lang="en-US" altLang="ko-KR" dirty="0"/>
          </a:p>
          <a:p>
            <a:pPr marL="914400" lvl="1" indent="-457200">
              <a:buFont typeface="+mj-ea"/>
              <a:buAutoNum type="circleNumDbPlain"/>
            </a:pPr>
            <a:r>
              <a:rPr lang="en-US" altLang="ko-KR" dirty="0" err="1"/>
              <a:t>cart.ejs</a:t>
            </a:r>
            <a:r>
              <a:rPr lang="en-US" altLang="ko-KR" dirty="0"/>
              <a:t> </a:t>
            </a:r>
            <a:r>
              <a:rPr lang="ko-KR" altLang="en-US" dirty="0"/>
              <a:t>하단에 주문하기 버튼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028F48-B6DC-4020-BA26-417D2B8FA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689" y="4416793"/>
            <a:ext cx="3609975" cy="2171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80FE800-5079-4F3D-9342-6C8219124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421" y="3429000"/>
            <a:ext cx="6602931" cy="73866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action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order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confirm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method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20px;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submit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btn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btn-primary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✅ 주문하기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button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form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5706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 startAt="2"/>
            </a:pPr>
            <a:r>
              <a:rPr lang="ko-KR" altLang="en-US" sz="2200" dirty="0"/>
              <a:t>주문확인 더미 페이지</a:t>
            </a:r>
            <a:r>
              <a:rPr lang="en-US" altLang="ko-KR" sz="2200" dirty="0"/>
              <a:t>(1): /routes/order.js </a:t>
            </a:r>
            <a:r>
              <a:rPr lang="ko-KR" altLang="en-US" sz="2200" dirty="0"/>
              <a:t>파일 생성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EC5A63-1A1F-4951-BD6C-C5AF762B2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011" y="1738828"/>
            <a:ext cx="7098952" cy="461664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confirm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login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`SELECT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57AAF7"/>
                </a:solidFill>
                <a:effectLst/>
                <a:latin typeface="Arial Unicode MS" panose="020B0604020202020204" pitchFamily="50" charset="-127"/>
                <a:ea typeface="JetBrains Mono"/>
              </a:rPr>
              <a:t>COUNT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 AS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count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cart_items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user_id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?`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query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status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500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'DB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오류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 확인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count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===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order_confirm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장바구니가 비어 있어 주문할 수 없습니다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장바구니에 상품이 있는 경우만 주문 확인 페이지 렌더링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order_confirm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module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exports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8A81B-766E-43CA-B7A2-686B7E33CA1D}"/>
              </a:ext>
            </a:extLst>
          </p:cNvPr>
          <p:cNvSpPr txBox="1"/>
          <p:nvPr/>
        </p:nvSpPr>
        <p:spPr>
          <a:xfrm>
            <a:off x="8050872" y="1912082"/>
            <a:ext cx="3786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b="1" dirty="0"/>
              <a:t>app.js</a:t>
            </a:r>
            <a:r>
              <a:rPr lang="ko-KR" altLang="en-US" sz="1400" b="1" dirty="0"/>
              <a:t>에 라우터 연결 추가</a:t>
            </a:r>
            <a:endParaRPr lang="en-US" altLang="ko-KR" sz="1400" b="1" dirty="0"/>
          </a:p>
          <a:p>
            <a:r>
              <a:rPr lang="en-US" altLang="ko-KR" sz="1400" dirty="0"/>
              <a:t>const </a:t>
            </a:r>
            <a:r>
              <a:rPr lang="en-US" altLang="ko-KR" sz="1400" dirty="0" err="1"/>
              <a:t>orderRouter</a:t>
            </a:r>
            <a:r>
              <a:rPr lang="en-US" altLang="ko-KR" sz="1400" dirty="0"/>
              <a:t> =  require(‘./routes/order’);</a:t>
            </a:r>
          </a:p>
          <a:p>
            <a:r>
              <a:rPr lang="en-US" altLang="ko-KR" sz="1400" dirty="0" err="1"/>
              <a:t>app.use</a:t>
            </a:r>
            <a:r>
              <a:rPr lang="en-US" altLang="ko-KR" sz="1400" dirty="0"/>
              <a:t>(‘/order’, </a:t>
            </a:r>
            <a:r>
              <a:rPr lang="en-US" altLang="ko-KR" sz="1400" dirty="0" err="1"/>
              <a:t>orderRouter</a:t>
            </a:r>
            <a:r>
              <a:rPr lang="en-US" altLang="ko-KR" sz="1400" dirty="0"/>
              <a:t>);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장바구니가 비어 있을 때 주문 불가처리</a:t>
            </a:r>
          </a:p>
        </p:txBody>
      </p:sp>
    </p:spTree>
    <p:extLst>
      <p:ext uri="{BB962C8B-B14F-4D97-AF65-F5344CB8AC3E}">
        <p14:creationId xmlns:p14="http://schemas.microsoft.com/office/powerpoint/2010/main" val="33117934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Clr>
                <a:srgbClr val="0033CC"/>
              </a:buClr>
              <a:buFont typeface="+mj-ea"/>
              <a:buAutoNum type="circleNumDbPlain" startAt="2"/>
            </a:pPr>
            <a:r>
              <a:rPr lang="ko-KR" altLang="en-US" sz="2200" dirty="0">
                <a:solidFill>
                  <a:srgbClr val="000066"/>
                </a:solidFill>
              </a:rPr>
              <a:t>주문확인 더미 페이지</a:t>
            </a:r>
            <a:r>
              <a:rPr lang="en-US" altLang="ko-KR" sz="2200" dirty="0">
                <a:solidFill>
                  <a:srgbClr val="000066"/>
                </a:solidFill>
              </a:rPr>
              <a:t>(2): /views/</a:t>
            </a:r>
            <a:r>
              <a:rPr lang="en-US" altLang="ko-KR" sz="2200" dirty="0" err="1">
                <a:solidFill>
                  <a:srgbClr val="000066"/>
                </a:solidFill>
              </a:rPr>
              <a:t>order_confirm.ejs</a:t>
            </a:r>
            <a:r>
              <a:rPr lang="en-US" altLang="ko-KR" sz="2200" dirty="0">
                <a:solidFill>
                  <a:srgbClr val="000066"/>
                </a:solidFill>
              </a:rPr>
              <a:t> </a:t>
            </a:r>
            <a:r>
              <a:rPr lang="ko-KR" altLang="en-US" sz="2200" dirty="0">
                <a:solidFill>
                  <a:srgbClr val="000066"/>
                </a:solidFill>
              </a:rPr>
              <a:t>주문완료 더미 페이지</a:t>
            </a:r>
            <a:endParaRPr lang="ko-KR" altLang="en-US" sz="2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1E388D-B8CC-4915-8FE6-FD70437DD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489" y="4055670"/>
            <a:ext cx="3352800" cy="19716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BA5B721-45C1-4613-B29F-FCD3E44AC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546" y="1592605"/>
            <a:ext cx="6541547" cy="504753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DOCTYPE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lang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ko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meta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charset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UTF-8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주문 확인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head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container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✅ 주문 확인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h2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typeof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!== 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undefined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')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font-weight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bold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user.name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주문이 정상적으로 접수되었습니다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감사합니다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!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🍎🍌🍇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&lt;%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} %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btn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🏠 홈으로 돌아가기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body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4E0352-B93C-454D-A6DF-4939AA1B7FC4}"/>
              </a:ext>
            </a:extLst>
          </p:cNvPr>
          <p:cNvSpPr/>
          <p:nvPr/>
        </p:nvSpPr>
        <p:spPr>
          <a:xfrm>
            <a:off x="5321229" y="1752418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order_confirm.ejs</a:t>
            </a:r>
            <a:r>
              <a:rPr lang="en-US" altLang="ko-KR" dirty="0">
                <a:solidFill>
                  <a:srgbClr val="FFC000"/>
                </a:solidFill>
              </a:rPr>
              <a:t> </a:t>
            </a:r>
            <a:endParaRPr lang="ko-KR" altLang="en-US" dirty="0">
              <a:solidFill>
                <a:srgbClr val="FFC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F486A4-A7C9-4E1E-9A0E-FDC59BAD3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349" y="2126055"/>
            <a:ext cx="2952750" cy="13525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7514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쇼핑몰 메인 배너 추가 구성</a:t>
            </a:r>
            <a:endParaRPr lang="en-US" altLang="ko-KR" dirty="0"/>
          </a:p>
          <a:p>
            <a:pPr lvl="1"/>
            <a:r>
              <a:rPr lang="en-US" altLang="ko-KR" dirty="0"/>
              <a:t>public/images/default.png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DCD078-95D3-4C8E-9FB9-2FC72CC01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184" y="2076658"/>
            <a:ext cx="6766560" cy="160043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img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src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images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default.png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alt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추천 과일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width:10%; border-radius:10px;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banner-text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margin-top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15px;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font-size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1.2em;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#333;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🍓 오늘의 신선한 과일을 만나보세요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!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div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A8873D-FB45-4AAE-B1F9-03C42E065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689" y="3922083"/>
            <a:ext cx="3905250" cy="23431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D30A745-F798-427C-ABAD-724738BEEF27}"/>
              </a:ext>
            </a:extLst>
          </p:cNvPr>
          <p:cNvSpPr/>
          <p:nvPr/>
        </p:nvSpPr>
        <p:spPr>
          <a:xfrm>
            <a:off x="6389633" y="3244334"/>
            <a:ext cx="1760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index.ejs</a:t>
            </a:r>
            <a:r>
              <a:rPr lang="en-US" altLang="ko-KR" dirty="0">
                <a:solidFill>
                  <a:srgbClr val="FFC000"/>
                </a:solidFill>
              </a:rPr>
              <a:t> 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06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lr>
                <a:srgbClr val="333399"/>
              </a:buClr>
            </a:pPr>
            <a:r>
              <a:rPr lang="ko-KR" altLang="en-US" dirty="0">
                <a:solidFill>
                  <a:srgbClr val="000000"/>
                </a:solidFill>
              </a:rPr>
              <a:t>미리 문구를 저장해 두고 배너 이미지 아래에</a:t>
            </a:r>
            <a:r>
              <a:rPr lang="en-US" altLang="ko-KR" dirty="0">
                <a:solidFill>
                  <a:srgbClr val="000000"/>
                </a:solidFill>
              </a:rPr>
              <a:t> 3</a:t>
            </a:r>
            <a:r>
              <a:rPr lang="ko-KR" altLang="en-US" dirty="0">
                <a:solidFill>
                  <a:srgbClr val="000000"/>
                </a:solidFill>
              </a:rPr>
              <a:t>초마다 바꾸어 보이게 하기</a:t>
            </a:r>
            <a:endParaRPr lang="en-US" altLang="ko-KR" dirty="0">
              <a:solidFill>
                <a:srgbClr val="000000"/>
              </a:solidFill>
            </a:endParaRPr>
          </a:p>
          <a:p>
            <a:pPr lvl="1">
              <a:buClr>
                <a:srgbClr val="333399"/>
              </a:buClr>
            </a:pPr>
            <a:r>
              <a:rPr lang="ko-KR" altLang="en-US" dirty="0">
                <a:solidFill>
                  <a:srgbClr val="000000"/>
                </a:solidFill>
              </a:rPr>
              <a:t>아래 </a:t>
            </a:r>
            <a:r>
              <a:rPr lang="en-US" altLang="ko-KR" dirty="0">
                <a:solidFill>
                  <a:srgbClr val="000000"/>
                </a:solidFill>
              </a:rPr>
              <a:t>JavaScript </a:t>
            </a:r>
            <a:r>
              <a:rPr lang="ko-KR" altLang="en-US" dirty="0">
                <a:solidFill>
                  <a:srgbClr val="000000"/>
                </a:solidFill>
              </a:rPr>
              <a:t>코드를 </a:t>
            </a:r>
            <a:r>
              <a:rPr lang="en-US" altLang="ko-KR" dirty="0">
                <a:solidFill>
                  <a:srgbClr val="000000"/>
                </a:solidFill>
              </a:rPr>
              <a:t>&lt;head&gt;</a:t>
            </a:r>
            <a:r>
              <a:rPr lang="ko-KR" altLang="en-US" dirty="0">
                <a:solidFill>
                  <a:srgbClr val="000000"/>
                </a:solidFill>
              </a:rPr>
              <a:t> 영역에 작성하기</a:t>
            </a:r>
          </a:p>
          <a:p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274E75-231C-451F-8760-E41DB349D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105050"/>
            <a:ext cx="7392202" cy="418576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&lt;!--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배너 밑에 아래 내용을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초 단위로 보이기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--&gt;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script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document.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addEventListener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DOMContentLoaded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", ()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=&gt;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phrases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[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🍓 오늘의 신선한 과일을 만나보세요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🍌 인기 많은 과일을 지금 확인해보세요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🍊 달콤한 오렌지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무료배송 중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🍇 포도로 건강 챙기세요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!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];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bannerText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document.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getElementById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banner-text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let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setInterval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(()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=&gt;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+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phrases.length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bannerText.textContent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phrases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}, </a:t>
            </a:r>
            <a:r>
              <a:rPr kumimoji="0" lang="ko-KR" altLang="ko-KR" sz="14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3000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 //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3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초 간격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script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6A06A3-D850-4F7F-8CB2-52D814F32145}"/>
              </a:ext>
            </a:extLst>
          </p:cNvPr>
          <p:cNvSpPr/>
          <p:nvPr/>
        </p:nvSpPr>
        <p:spPr>
          <a:xfrm>
            <a:off x="6370383" y="5674060"/>
            <a:ext cx="1760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views/</a:t>
            </a:r>
            <a:r>
              <a:rPr lang="en-US" altLang="ko-KR" dirty="0" err="1">
                <a:solidFill>
                  <a:srgbClr val="FFC000"/>
                </a:solidFill>
              </a:rPr>
              <a:t>index.ejs</a:t>
            </a:r>
            <a:r>
              <a:rPr lang="en-US" altLang="ko-KR" dirty="0">
                <a:solidFill>
                  <a:srgbClr val="FFC000"/>
                </a:solidFill>
              </a:rPr>
              <a:t> 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3659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상품목록에 이미지 보이기 기능 추가</a:t>
            </a:r>
            <a:endParaRPr lang="en-US" altLang="ko-KR" dirty="0"/>
          </a:p>
          <a:p>
            <a:pPr lvl="1"/>
            <a:r>
              <a:rPr lang="en-US" altLang="ko-KR" sz="2000" dirty="0"/>
              <a:t>/public/images </a:t>
            </a:r>
            <a:r>
              <a:rPr lang="ko-KR" altLang="en-US" sz="2000" dirty="0"/>
              <a:t>디렉토리에 </a:t>
            </a:r>
            <a:r>
              <a:rPr lang="en-US" altLang="ko-KR" sz="2000" dirty="0"/>
              <a:t>“</a:t>
            </a:r>
            <a:r>
              <a:rPr lang="ko-KR" altLang="en-US" sz="2000" dirty="0" err="1"/>
              <a:t>과일명</a:t>
            </a:r>
            <a:r>
              <a:rPr lang="en-US" altLang="ko-KR" sz="2000" dirty="0"/>
              <a:t>.</a:t>
            </a:r>
            <a:r>
              <a:rPr lang="en-US" altLang="ko-KR" sz="2000" dirty="0" err="1"/>
              <a:t>png</a:t>
            </a:r>
            <a:r>
              <a:rPr lang="en-US" altLang="ko-KR" sz="2000" dirty="0"/>
              <a:t>” </a:t>
            </a:r>
            <a:r>
              <a:rPr lang="ko-KR" altLang="en-US" sz="2000" dirty="0"/>
              <a:t>저장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images/apple.png)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products </a:t>
            </a:r>
            <a:r>
              <a:rPr lang="ko-KR" altLang="en-US" sz="2000" dirty="0"/>
              <a:t>테이블에 위의 항목을 추가하기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800" dirty="0"/>
              <a:t>&gt;sqlite3 </a:t>
            </a:r>
            <a:r>
              <a:rPr lang="en-US" altLang="ko-KR" sz="1800" dirty="0" err="1"/>
              <a:t>db</a:t>
            </a:r>
            <a:r>
              <a:rPr lang="en-US" altLang="ko-KR" sz="1800" dirty="0"/>
              <a:t>/</a:t>
            </a:r>
            <a:r>
              <a:rPr lang="en-US" altLang="ko-KR" sz="1800" dirty="0" err="1"/>
              <a:t>database.sqlite</a:t>
            </a:r>
            <a:r>
              <a:rPr lang="en-US" altLang="ko-KR" sz="1800" dirty="0"/>
              <a:t> </a:t>
            </a:r>
            <a:r>
              <a:rPr lang="ko-KR" altLang="en-US" sz="1800" dirty="0"/>
              <a:t>실행 </a:t>
            </a:r>
            <a:r>
              <a:rPr lang="ko-KR" altLang="en-US" sz="1800" dirty="0" err="1"/>
              <a:t>한다음</a:t>
            </a:r>
            <a:r>
              <a:rPr lang="ko-KR" altLang="en-US" sz="1800" dirty="0"/>
              <a:t> 다음 쿼리를 실행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45BFE7-30B0-4721-A7FB-601C5515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952625"/>
            <a:ext cx="8943975" cy="147637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328FED3-1042-4C71-9712-DEE4D64CA36F}"/>
              </a:ext>
            </a:extLst>
          </p:cNvPr>
          <p:cNvSpPr/>
          <p:nvPr/>
        </p:nvSpPr>
        <p:spPr>
          <a:xfrm>
            <a:off x="1508508" y="4248817"/>
            <a:ext cx="7047492" cy="1916487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'apple.png'   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사과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sz="1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'banana.png'  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바나나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sz="1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'grape.png'   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포도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sz="1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'orange.png'  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오렌지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sz="1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'kiwi.png'    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키위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sz="1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'peach.png'   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복숭아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sz="1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'lemon.png'   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레몬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sz="1400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0">
              <a:lnSpc>
                <a:spcPct val="107000"/>
              </a:lnSpc>
            </a:pPr>
            <a:r>
              <a:rPr lang="en-US" altLang="ko-KR" sz="1400" b="1" kern="0" dirty="0" err="1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sqlite</a:t>
            </a:r>
            <a:r>
              <a:rPr lang="en-US" altLang="ko-KR" sz="1400" b="1" kern="0" dirty="0"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&gt; UPDATE products SET image = 'watermelon.png' WHERE name = '</a:t>
            </a:r>
            <a:r>
              <a:rPr lang="ko-KR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수박</a:t>
            </a:r>
            <a:r>
              <a:rPr lang="en-US" altLang="ko-KR" sz="1400" b="1" kern="0" dirty="0"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';</a:t>
            </a:r>
            <a:endParaRPr lang="ko-KR" altLang="ko-KR" b="1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2240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C4A342-C46E-469E-9018-9C54F3531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629801"/>
            <a:ext cx="5284128" cy="30814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D394B1-DAC5-4A3E-A820-6C5D47315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232" y="1629801"/>
            <a:ext cx="4549444" cy="32718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977524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8385E-C572-4C6D-8821-5A7EB49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26C402-42C0-4D4C-8999-678D00CC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i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40375A-6C6E-425E-8746-2BAD3B8FE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645906"/>
            <a:ext cx="6986178" cy="27817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74EC742-7354-4B93-AA65-C283FACA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311" y="1645906"/>
            <a:ext cx="3618297" cy="27137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732793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021EE-9EC9-427B-9B68-A7027B90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55160-2B64-4B7A-AC79-48172C1A4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게시판 기능에 세션이 적용되지 않아서 임의로 삭제가 가능한 문제점 개선</a:t>
            </a:r>
            <a:endParaRPr lang="en-US" altLang="ko-KR" dirty="0"/>
          </a:p>
          <a:p>
            <a:pPr marL="857250" lvl="1" indent="-457200">
              <a:buFont typeface="+mj-ea"/>
              <a:buAutoNum type="circleNumDbPlain"/>
            </a:pPr>
            <a:r>
              <a:rPr lang="ko-KR" altLang="en-US" dirty="0" err="1"/>
              <a:t>새글</a:t>
            </a:r>
            <a:r>
              <a:rPr lang="ko-KR" altLang="en-US" dirty="0"/>
              <a:t> 작성시 </a:t>
            </a:r>
            <a:r>
              <a:rPr lang="en-US" altLang="ko-KR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“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익명</a:t>
            </a:r>
            <a:r>
              <a:rPr lang="en-US" altLang="ko-KR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”</a:t>
            </a:r>
            <a:r>
              <a:rPr lang="ko-KR" altLang="en-US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/>
              <a:t>또는 </a:t>
            </a:r>
            <a:r>
              <a:rPr lang="en-US" altLang="ko-KR" dirty="0"/>
              <a:t>“</a:t>
            </a:r>
            <a:r>
              <a:rPr lang="ko-KR" altLang="en-US" dirty="0"/>
              <a:t>로그인 사용자</a:t>
            </a:r>
            <a:r>
              <a:rPr lang="en-US" altLang="ko-KR" dirty="0"/>
              <a:t>”</a:t>
            </a:r>
            <a:r>
              <a:rPr lang="ko-KR" altLang="en-US" dirty="0"/>
              <a:t>가 명확히 보여야 함</a:t>
            </a:r>
            <a:endParaRPr lang="en-US" altLang="ko-KR" dirty="0"/>
          </a:p>
          <a:p>
            <a:pPr marL="400050" lvl="1" indent="0">
              <a:buNone/>
            </a:pPr>
            <a:r>
              <a:rPr lang="en-US" altLang="ko-KR" dirty="0">
                <a:latin typeface="맑은 고딕" panose="020B0503020000020004" pitchFamily="50" charset="-127"/>
              </a:rPr>
              <a:t>	</a:t>
            </a:r>
            <a:r>
              <a:rPr lang="ko-KR" altLang="ko-KR" dirty="0">
                <a:latin typeface="맑은 고딕" panose="020B0503020000020004" pitchFamily="50" charset="-127"/>
              </a:rPr>
              <a:t>⇒</a:t>
            </a: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</a:rPr>
              <a:t>작성자</a:t>
            </a:r>
            <a:r>
              <a:rPr lang="en-US" altLang="ko-KR" dirty="0">
                <a:latin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</a:rPr>
              <a:t>익명 또는 작성자</a:t>
            </a:r>
            <a:r>
              <a:rPr lang="en-US" altLang="ko-KR" dirty="0">
                <a:latin typeface="맑은 고딕" panose="020B0503020000020004" pitchFamily="50" charset="-127"/>
              </a:rPr>
              <a:t>:&lt;%=</a:t>
            </a:r>
            <a:r>
              <a:rPr lang="en-US" altLang="ko-KR" dirty="0" err="1">
                <a:latin typeface="맑은 고딕" panose="020B0503020000020004" pitchFamily="50" charset="-127"/>
              </a:rPr>
              <a:t>user.username</a:t>
            </a:r>
            <a:r>
              <a:rPr lang="en-US" altLang="ko-KR" dirty="0">
                <a:latin typeface="맑은 고딕" panose="020B0503020000020004" pitchFamily="50" charset="-127"/>
              </a:rPr>
              <a:t> %&gt;</a:t>
            </a:r>
            <a:endParaRPr lang="en-US" altLang="ko-KR" dirty="0"/>
          </a:p>
          <a:p>
            <a:pPr marL="857250" lvl="1" indent="-457200">
              <a:buFont typeface="+mj-ea"/>
              <a:buAutoNum type="circleNumDbPlain" startAt="2"/>
            </a:pPr>
            <a:r>
              <a:rPr lang="ko-KR" altLang="en-US" dirty="0"/>
              <a:t>게시글 삭제는 작성자 본인만 가능하게 함</a:t>
            </a:r>
            <a:endParaRPr lang="en-US" altLang="ko-KR" dirty="0"/>
          </a:p>
          <a:p>
            <a:pPr marL="400050" lvl="1" indent="0">
              <a:buNone/>
            </a:pPr>
            <a:r>
              <a:rPr lang="en-US" altLang="ko-KR" dirty="0">
                <a:latin typeface="맑은 고딕" panose="020B0503020000020004" pitchFamily="50" charset="-127"/>
              </a:rPr>
              <a:t>	</a:t>
            </a:r>
            <a:r>
              <a:rPr lang="ko-KR" altLang="ko-KR" dirty="0">
                <a:latin typeface="맑은 고딕" panose="020B0503020000020004" pitchFamily="50" charset="-127"/>
              </a:rPr>
              <a:t>⇒</a:t>
            </a: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</a:rPr>
              <a:t>글 데이터에 작성자</a:t>
            </a:r>
            <a:r>
              <a:rPr lang="en-US" altLang="ko-KR" dirty="0">
                <a:latin typeface="맑은 고딕" panose="020B0503020000020004" pitchFamily="50" charset="-127"/>
              </a:rPr>
              <a:t> ID </a:t>
            </a:r>
            <a:r>
              <a:rPr lang="ko-KR" altLang="en-US" dirty="0">
                <a:latin typeface="맑은 고딕" panose="020B0503020000020004" pitchFamily="50" charset="-127"/>
              </a:rPr>
              <a:t>저장</a:t>
            </a:r>
            <a:r>
              <a:rPr lang="en-US" altLang="ko-KR" dirty="0">
                <a:latin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</a:rPr>
              <a:t>삭제 요청 시 로그인 사용자와 비교</a:t>
            </a:r>
            <a:endParaRPr lang="en-US" altLang="ko-KR" dirty="0"/>
          </a:p>
          <a:p>
            <a:pPr marL="857250" lvl="1" indent="-457200">
              <a:buFont typeface="+mj-ea"/>
              <a:buAutoNum type="circleNumDbPlain" startAt="3"/>
            </a:pPr>
            <a:r>
              <a:rPr lang="ko-KR" altLang="en-US" dirty="0"/>
              <a:t>익명 글은 </a:t>
            </a:r>
            <a:r>
              <a:rPr lang="en-US" altLang="ko-KR" dirty="0"/>
              <a:t>admin </a:t>
            </a:r>
            <a:r>
              <a:rPr lang="ko-KR" altLang="en-US" dirty="0"/>
              <a:t>계정만 삭제 가능</a:t>
            </a:r>
            <a:endParaRPr lang="en-US" altLang="ko-KR" dirty="0"/>
          </a:p>
          <a:p>
            <a:pPr marL="400050" lvl="1" indent="0">
              <a:buNone/>
            </a:pPr>
            <a:r>
              <a:rPr lang="en-US" altLang="ko-KR" dirty="0">
                <a:latin typeface="맑은 고딕" panose="020B0503020000020004" pitchFamily="50" charset="-127"/>
              </a:rPr>
              <a:t>	</a:t>
            </a:r>
            <a:r>
              <a:rPr lang="ko-KR" altLang="ko-KR" dirty="0">
                <a:latin typeface="맑은 고딕" panose="020B0503020000020004" pitchFamily="50" charset="-127"/>
              </a:rPr>
              <a:t>⇒</a:t>
            </a: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</a:rPr>
              <a:t>작성자</a:t>
            </a:r>
            <a:r>
              <a:rPr lang="en-US" altLang="ko-KR" dirty="0">
                <a:latin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</a:rPr>
              <a:t>익명이면 로그인한 사용자가 </a:t>
            </a:r>
            <a:r>
              <a:rPr lang="en-US" altLang="ko-KR" dirty="0">
                <a:latin typeface="맑은 고딕" panose="020B0503020000020004" pitchFamily="50" charset="-127"/>
              </a:rPr>
              <a:t>admin</a:t>
            </a:r>
            <a:r>
              <a:rPr lang="ko-KR" altLang="en-US" dirty="0">
                <a:latin typeface="맑은 고딕" panose="020B0503020000020004" pitchFamily="50" charset="-127"/>
              </a:rPr>
              <a:t>인지 확인</a:t>
            </a:r>
            <a:endParaRPr lang="en-US" altLang="ko-KR" dirty="0"/>
          </a:p>
          <a:p>
            <a:pPr marL="857250" lvl="1" indent="-457200">
              <a:buFont typeface="+mj-ea"/>
              <a:buAutoNum type="circleNumDbPlain" startAt="4"/>
            </a:pPr>
            <a:r>
              <a:rPr lang="ko-KR" altLang="en-US" dirty="0"/>
              <a:t>작성자에 따라 수정</a:t>
            </a:r>
            <a:r>
              <a:rPr lang="en-US" altLang="ko-KR" dirty="0"/>
              <a:t>/</a:t>
            </a:r>
            <a:r>
              <a:rPr lang="ko-KR" altLang="en-US" dirty="0"/>
              <a:t>삭제 버튼 노출 제어</a:t>
            </a:r>
            <a:r>
              <a:rPr lang="en-US" altLang="ko-KR" dirty="0"/>
              <a:t>, </a:t>
            </a:r>
            <a:r>
              <a:rPr lang="ko-KR" altLang="en-US" dirty="0" err="1"/>
              <a:t>삭제시</a:t>
            </a:r>
            <a:r>
              <a:rPr lang="ko-KR" altLang="en-US" dirty="0"/>
              <a:t> 재확인 알림 </a:t>
            </a:r>
            <a:endParaRPr lang="en-US" altLang="ko-KR" dirty="0"/>
          </a:p>
          <a:p>
            <a:pPr marL="400050" lvl="1" indent="0">
              <a:buNone/>
            </a:pPr>
            <a:r>
              <a:rPr lang="en-US" altLang="ko-KR" dirty="0">
                <a:latin typeface="맑은 고딕" panose="020B0503020000020004" pitchFamily="50" charset="-127"/>
              </a:rPr>
              <a:t>	</a:t>
            </a:r>
            <a:r>
              <a:rPr lang="ko-KR" altLang="ko-KR" dirty="0">
                <a:latin typeface="맑은 고딕" panose="020B0503020000020004" pitchFamily="50" charset="-127"/>
              </a:rPr>
              <a:t>⇒</a:t>
            </a: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</a:rPr>
              <a:t>삭제 버튼 클릭 시 </a:t>
            </a:r>
            <a:r>
              <a:rPr lang="en-US" altLang="ko-KR" dirty="0">
                <a:latin typeface="맑은 고딕" panose="020B0503020000020004" pitchFamily="50" charset="-127"/>
              </a:rPr>
              <a:t>confirm() </a:t>
            </a:r>
            <a:r>
              <a:rPr lang="ko-KR" altLang="en-US" dirty="0">
                <a:latin typeface="맑은 고딕" panose="020B0503020000020004" pitchFamily="50" charset="-127"/>
              </a:rPr>
              <a:t>팝업으로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3676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021EE-9EC9-427B-9B68-A7027B90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55160-2B64-4B7A-AC79-48172C1A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1130293" cy="5040560"/>
          </a:xfrm>
        </p:spPr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lang="ko-KR" altLang="en-US" dirty="0"/>
              <a:t>작성자 표시 인터페이스</a:t>
            </a:r>
            <a:endParaRPr lang="en-US" altLang="ko-KR" dirty="0"/>
          </a:p>
          <a:p>
            <a:pPr marL="857250" lvl="1" indent="-457200"/>
            <a:r>
              <a:rPr lang="en-US" altLang="ko-KR" sz="2000" dirty="0"/>
              <a:t>/ new,</a:t>
            </a:r>
            <a:r>
              <a:rPr lang="ko-KR" altLang="en-US" sz="2000" dirty="0"/>
              <a:t> </a:t>
            </a:r>
            <a:r>
              <a:rPr lang="en-US" altLang="ko-KR" sz="2000" dirty="0"/>
              <a:t>/reply/:id  </a:t>
            </a:r>
            <a:r>
              <a:rPr lang="ko-KR" altLang="en-US" sz="2000" dirty="0"/>
              <a:t>라우터에서 사용자 정보를 전달하도록 수정</a:t>
            </a:r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r>
              <a:rPr lang="en-US" altLang="ko-KR" sz="2000" dirty="0" err="1"/>
              <a:t>post.ejs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reply.ejs</a:t>
            </a:r>
            <a:r>
              <a:rPr lang="ko-KR" altLang="en-US" sz="2000" dirty="0"/>
              <a:t>에 다음 코드 추가해서 작성자 표시</a:t>
            </a:r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ko-KR" altLang="en-US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309A7A-4B2F-40F5-81CA-D05E85762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99" y="2164660"/>
            <a:ext cx="4522271" cy="160043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||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사용자 정보 전달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932DCB-D2AB-402F-BDF3-A59218CA9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9877" y="2120949"/>
            <a:ext cx="6570847" cy="246221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reply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"SELECT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|| 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원글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없음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render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reply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{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parentTitle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row.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||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null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//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50" charset="-127"/>
                <a:ea typeface="JetBrains Mono"/>
              </a:rPr>
              <a:t>사용자 정보 전달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5938BA-2108-46B9-9DCB-917CC005A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269" y="5547206"/>
            <a:ext cx="5119038" cy="30777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작성자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?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user.username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: 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익명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 %&gt;&lt;/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895668-145B-4E3D-925E-7B0E381C9A08}"/>
              </a:ext>
            </a:extLst>
          </p:cNvPr>
          <p:cNvSpPr/>
          <p:nvPr/>
        </p:nvSpPr>
        <p:spPr>
          <a:xfrm>
            <a:off x="8179932" y="4105143"/>
            <a:ext cx="1786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routes/board.js 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853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021EE-9EC9-427B-9B68-A7027B90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55160-2B64-4B7A-AC79-48172C1A4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 startAt="2"/>
            </a:pPr>
            <a:r>
              <a:rPr lang="en-US" altLang="ko-KR" dirty="0"/>
              <a:t>&amp; </a:t>
            </a:r>
            <a:r>
              <a:rPr lang="en-US" altLang="ko-KR" dirty="0">
                <a:latin typeface="Univers Condensed" panose="020B0506020202050204" pitchFamily="34" charset="0"/>
                <a:sym typeface="Wingdings 2" panose="05020102010507070707" pitchFamily="18" charset="2"/>
              </a:rPr>
              <a:t></a:t>
            </a:r>
            <a:r>
              <a:rPr lang="en-US" altLang="ko-KR" dirty="0">
                <a:sym typeface="Wingdings 2" panose="05020102010507070707" pitchFamily="18" charset="2"/>
              </a:rPr>
              <a:t> </a:t>
            </a:r>
            <a:r>
              <a:rPr lang="ko-KR" altLang="en-US" dirty="0"/>
              <a:t>삭제 권한 검사 </a:t>
            </a:r>
            <a:endParaRPr lang="en-US" altLang="ko-KR" dirty="0"/>
          </a:p>
          <a:p>
            <a:pPr marL="857250" lvl="1" indent="-457200"/>
            <a:r>
              <a:rPr lang="ko-KR" altLang="en-US" dirty="0"/>
              <a:t>기존의 </a:t>
            </a:r>
            <a:r>
              <a:rPr lang="en-US" altLang="ko-KR" dirty="0"/>
              <a:t>/delete/:id </a:t>
            </a:r>
            <a:r>
              <a:rPr lang="ko-KR" altLang="en-US" dirty="0"/>
              <a:t>라우터를 아래처럼 권한 검사 포함 내용으로 수정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61EF88-D53C-4C0C-8E91-8D85BA085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07" y="2460084"/>
            <a:ext cx="6102417" cy="320087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1" u="none" strike="noStrike" cap="none" normalizeH="0" baseline="0" dirty="0" err="1">
                <a:ln>
                  <a:noFill/>
                </a:ln>
                <a:solidFill>
                  <a:srgbClr val="C77DBA"/>
                </a:solidFill>
                <a:effectLst/>
                <a:latin typeface="Arial Unicode MS" panose="020B0604020202020204" pitchFamily="50" charset="-127"/>
                <a:ea typeface="JetBrains Mono"/>
              </a:rPr>
              <a:t>router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/: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postId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req.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params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 req.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session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?.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get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'SELECT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anose="020B0604020202020204" pitchFamily="50" charset="-127"/>
                <a:ea typeface="JetBrains Mono"/>
              </a:rPr>
              <a:t>*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postId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|| !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글이 존재하지 않습니다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익명 글이면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admin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삭제 가능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===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익명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!==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admin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익명 글은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admin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삭제할 수 있습니다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BF16943-D400-4BD6-A2CD-363CA880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82" y="2460084"/>
            <a:ext cx="5116010" cy="360098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 panose="020B0604020202020204" pitchFamily="50" charset="-127"/>
                <a:ea typeface="JetBrains Mono"/>
              </a:rPr>
              <a:t>//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본인이 쓴 글만 삭제 가능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currentUser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!==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본인이 작성한 글만 삭제할 수 있습니다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.'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db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run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'DELETE FROM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WHERE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= ?'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,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50" charset="-127"/>
                <a:ea typeface="JetBrains Mono"/>
              </a:rPr>
              <a:t>postId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],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delErr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=&gt; {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delErr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send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 실패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res.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redirect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});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940059-74E0-4219-A9CA-2255A803344F}"/>
              </a:ext>
            </a:extLst>
          </p:cNvPr>
          <p:cNvSpPr/>
          <p:nvPr/>
        </p:nvSpPr>
        <p:spPr>
          <a:xfrm>
            <a:off x="9614097" y="5548590"/>
            <a:ext cx="17860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routes/board.js </a:t>
            </a:r>
            <a:endParaRPr lang="ko-KR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8663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021EE-9EC9-427B-9B68-A7027B90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55160-2B64-4B7A-AC79-48172C1A4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 startAt="4"/>
            </a:pPr>
            <a:r>
              <a:rPr lang="ko-KR" altLang="en-US" dirty="0"/>
              <a:t>삭제</a:t>
            </a:r>
            <a:r>
              <a:rPr lang="en-US" altLang="ko-KR" dirty="0"/>
              <a:t>/</a:t>
            </a:r>
            <a:r>
              <a:rPr lang="ko-KR" altLang="en-US" dirty="0"/>
              <a:t>수정 버튼 노출 제어 및 삭제 확인 알림 추가</a:t>
            </a:r>
            <a:endParaRPr lang="en-US" altLang="ko-KR" dirty="0"/>
          </a:p>
          <a:p>
            <a:pPr marL="857250" lvl="1" indent="-457200"/>
            <a:r>
              <a:rPr lang="ko-KR" altLang="en-US" sz="2000" dirty="0"/>
              <a:t>권한이 있는 메뉴만 활성화 하게 수정함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32F808-5F93-4746-B4E5-C08E593C0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73" y="1943824"/>
            <a:ext cx="5874619" cy="437042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posts.forEach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=&gt;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margin-left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:&lt;%=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 ? '30px' : '0'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view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post.parent_id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? '[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답글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]' : '' %&gt;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 -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&amp;&amp;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user.username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===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isAdmin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&amp;&amp;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user.username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=== '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admin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';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const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isAnon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post.author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=== 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익명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';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(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edit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ccc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/</a:t>
            </a:r>
            <a:b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5DEEBD9-D4FD-465F-801A-B7ABE62C7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004" y="1943824"/>
            <a:ext cx="5348788" cy="246221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||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isAnon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&amp;&amp;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isAdmin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))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confirm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정말 삭제하시겠습니까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?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style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: #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ccc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  )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li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})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ul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BB1385-327F-46B5-80F7-B9B36562260F}"/>
              </a:ext>
            </a:extLst>
          </p:cNvPr>
          <p:cNvSpPr/>
          <p:nvPr/>
        </p:nvSpPr>
        <p:spPr>
          <a:xfrm>
            <a:off x="9392716" y="3795424"/>
            <a:ext cx="1906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routes/</a:t>
            </a:r>
            <a:r>
              <a:rPr lang="en-US" altLang="ko-KR" dirty="0" err="1">
                <a:solidFill>
                  <a:srgbClr val="FFC000"/>
                </a:solidFill>
              </a:rPr>
              <a:t>board.ejs</a:t>
            </a:r>
            <a:r>
              <a:rPr lang="en-US" altLang="ko-KR" dirty="0">
                <a:solidFill>
                  <a:srgbClr val="FFC000"/>
                </a:solidFill>
              </a:rPr>
              <a:t> </a:t>
            </a:r>
            <a:endParaRPr lang="ko-KR" altLang="en-US" dirty="0">
              <a:solidFill>
                <a:srgbClr val="FFC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953271-9671-4657-A68B-DB23F915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379" y="4656556"/>
            <a:ext cx="2799147" cy="17376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302231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021EE-9EC9-427B-9B68-A7027B90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E55160-2B64-4B7A-AC79-48172C1A4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lang="ko-KR" altLang="en-US" dirty="0"/>
              <a:t>게시글 상세 페이지</a:t>
            </a:r>
            <a:r>
              <a:rPr lang="en-US" altLang="ko-KR" dirty="0"/>
              <a:t>(</a:t>
            </a:r>
            <a:r>
              <a:rPr lang="en-US" altLang="ko-KR" dirty="0" err="1"/>
              <a:t>detail.ejs</a:t>
            </a:r>
            <a:r>
              <a:rPr lang="en-US" altLang="ko-KR" dirty="0"/>
              <a:t>)</a:t>
            </a:r>
            <a:r>
              <a:rPr lang="ko-KR" altLang="en-US" dirty="0"/>
              <a:t>에서도 목록페이지와 동일하게 권한이 없는 사용자에게 수정</a:t>
            </a:r>
            <a:r>
              <a:rPr lang="en-US" altLang="ko-KR" dirty="0"/>
              <a:t>/</a:t>
            </a:r>
            <a:r>
              <a:rPr lang="ko-KR" altLang="en-US" dirty="0"/>
              <a:t>삭제 버튼이 비활성화되도록 기능 개선함</a:t>
            </a:r>
            <a:endParaRPr lang="en-US" altLang="ko-KR" dirty="0"/>
          </a:p>
          <a:p>
            <a:pPr marL="857250" lvl="1" indent="-457200"/>
            <a:r>
              <a:rPr lang="ko-KR" altLang="en-US" sz="2000" dirty="0"/>
              <a:t>권한이 없는 사용자</a:t>
            </a:r>
            <a:r>
              <a:rPr lang="en-US" altLang="ko-KR" sz="2000" dirty="0"/>
              <a:t>: [</a:t>
            </a:r>
            <a:r>
              <a:rPr lang="ko-KR" altLang="en-US" sz="2000" dirty="0"/>
              <a:t>수정</a:t>
            </a:r>
            <a:r>
              <a:rPr lang="en-US" altLang="ko-KR" sz="2000" dirty="0"/>
              <a:t>], [</a:t>
            </a:r>
            <a:r>
              <a:rPr lang="ko-KR" altLang="en-US" sz="2000" dirty="0"/>
              <a:t>삭제</a:t>
            </a:r>
            <a:r>
              <a:rPr lang="en-US" altLang="ko-KR" sz="2000" dirty="0"/>
              <a:t>] </a:t>
            </a:r>
            <a:r>
              <a:rPr lang="ko-KR" altLang="en-US" sz="2000" dirty="0"/>
              <a:t>메뉴 </a:t>
            </a:r>
            <a:r>
              <a:rPr lang="ko-KR" altLang="en-US" sz="2000" dirty="0" err="1"/>
              <a:t>블러</a:t>
            </a:r>
            <a:r>
              <a:rPr lang="en-US" altLang="ko-KR" sz="2000" dirty="0"/>
              <a:t>(blur)</a:t>
            </a:r>
            <a:r>
              <a:rPr lang="ko-KR" altLang="en-US" sz="2000" dirty="0"/>
              <a:t> 처리</a:t>
            </a:r>
            <a:endParaRPr lang="en-US" altLang="ko-KR" sz="2000" dirty="0"/>
          </a:p>
          <a:p>
            <a:pPr marL="857250" lvl="1" indent="-457200"/>
            <a:r>
              <a:rPr lang="en-US" altLang="ko-KR" sz="2000" dirty="0"/>
              <a:t>[</a:t>
            </a:r>
            <a:r>
              <a:rPr lang="ko-KR" altLang="en-US" sz="2000" dirty="0"/>
              <a:t>수정</a:t>
            </a:r>
            <a:r>
              <a:rPr lang="en-US" altLang="ko-KR" sz="2000" dirty="0"/>
              <a:t>],[</a:t>
            </a:r>
            <a:r>
              <a:rPr lang="ko-KR" altLang="en-US" sz="2000" dirty="0"/>
              <a:t>삭제</a:t>
            </a:r>
            <a:r>
              <a:rPr lang="en-US" altLang="ko-KR" sz="2000" dirty="0"/>
              <a:t>]</a:t>
            </a:r>
            <a:r>
              <a:rPr lang="ko-KR" altLang="en-US" sz="2000" dirty="0"/>
              <a:t>는 작성자 또는 익명</a:t>
            </a:r>
            <a:r>
              <a:rPr lang="en-US" altLang="ko-KR" sz="2000" dirty="0"/>
              <a:t>+ admin</a:t>
            </a:r>
            <a:r>
              <a:rPr lang="ko-KR" altLang="en-US" sz="2000" dirty="0"/>
              <a:t>일 때만 보이도록 수정</a:t>
            </a:r>
            <a:endParaRPr lang="en-US" altLang="ko-KR" sz="2000" dirty="0"/>
          </a:p>
          <a:p>
            <a:pPr marL="1257300" lvl="2" indent="-457200"/>
            <a:r>
              <a:rPr lang="en-US" altLang="ko-KR" sz="1800" dirty="0"/>
              <a:t>.disabled </a:t>
            </a:r>
            <a:r>
              <a:rPr lang="ko-KR" altLang="en-US" sz="1800" dirty="0"/>
              <a:t>클래스 작성</a:t>
            </a:r>
            <a:r>
              <a:rPr lang="en-US" altLang="ko-KR" sz="1800" dirty="0"/>
              <a:t>, </a:t>
            </a:r>
            <a:r>
              <a:rPr lang="ko-KR" altLang="en-US" sz="1800" dirty="0"/>
              <a:t>작성자 권한 판별</a:t>
            </a:r>
            <a:endParaRPr lang="en-US" altLang="ko-KR" sz="18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endParaRPr lang="en-US" altLang="ko-KR" sz="2000" dirty="0"/>
          </a:p>
          <a:p>
            <a:pPr marL="857250" lvl="1" indent="-457200"/>
            <a:r>
              <a:rPr lang="en-US" altLang="ko-KR" sz="2000" dirty="0" err="1"/>
              <a:t>board.ejs</a:t>
            </a:r>
            <a:r>
              <a:rPr lang="ko-KR" altLang="en-US" sz="2000" dirty="0"/>
              <a:t>에도 동일하게 적용함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B8441B-A6BA-433C-9FD4-33A551DF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556" y="3429000"/>
            <a:ext cx="2348564" cy="156966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disabled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{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color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6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#</a:t>
            </a:r>
            <a:r>
              <a:rPr kumimoji="0" lang="ko-KR" altLang="ko-KR" sz="16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 Unicode MS" panose="020B0604020202020204" pitchFamily="50" charset="-127"/>
                <a:ea typeface="JetBrains Mono"/>
              </a:rPr>
              <a:t>ccc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opacity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600" b="0" i="1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 panose="020B0604020202020204" pitchFamily="50" charset="-127"/>
                <a:ea typeface="JetBrains Mono"/>
              </a:rPr>
              <a:t>1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pointer-events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none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cursor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not-allowed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}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058692D-C1DB-44C7-B161-4338DE4C2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185" y="3035352"/>
            <a:ext cx="7085434" cy="28931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edit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disabled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수정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/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((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isAuthor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 ||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isAnon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&amp;&amp;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isAdmin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))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href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board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delete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/&lt;%= post.id %&gt;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onclick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 panose="020B0604020202020204" pitchFamily="50" charset="-127"/>
                <a:ea typeface="JetBrains Mono"/>
              </a:rPr>
              <a:t>confirm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(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정말 삭제하시겠습니까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?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'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;"&gt;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else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{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  &lt;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50" charset="-127"/>
                <a:ea typeface="JetBrains Mono"/>
              </a:rPr>
              <a:t>class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="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 panose="020B0604020202020204" pitchFamily="50" charset="-127"/>
                <a:ea typeface="JetBrains Mono"/>
              </a:rPr>
              <a:t>disabled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"&gt;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삭제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Arial Unicode MS" panose="020B0604020202020204" pitchFamily="50" charset="-127"/>
                <a:ea typeface="JetBrains Mono"/>
              </a:rPr>
              <a:t>span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 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75464"/>
                </a:solidFill>
                <a:effectLst/>
                <a:latin typeface="Arial Unicode MS" panose="020B0604020202020204" pitchFamily="50" charset="-127"/>
                <a:ea typeface="JetBrains Mono"/>
              </a:rPr>
              <a:t>&lt;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% } %&gt;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 panose="020B0604020202020204" pitchFamily="50" charset="-127"/>
                <a:ea typeface="JetBrains Mono"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880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D434A-E6CC-40B3-857A-D22249CF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기말과제 내용 설계</a:t>
            </a:r>
            <a:r>
              <a:rPr lang="en-US" altLang="ko-KR" dirty="0"/>
              <a:t>(Node.js + SQLite3)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24AFCF6-B3D7-4D6F-A871-57590577C4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943" y="1647824"/>
            <a:ext cx="3647412" cy="27636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C430DE3-6808-4F65-A22E-D172E759D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067" y="1647824"/>
            <a:ext cx="3362325" cy="19526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AB47D7-F37B-477D-B6E8-60230445A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817" y="1733548"/>
            <a:ext cx="3228975" cy="1781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45D5BA-F4D9-45E5-A59C-9C61269D232B}"/>
              </a:ext>
            </a:extLst>
          </p:cNvPr>
          <p:cNvSpPr txBox="1"/>
          <p:nvPr/>
        </p:nvSpPr>
        <p:spPr>
          <a:xfrm>
            <a:off x="1809549" y="467787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목록게시판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DA149-216C-40C0-BFD8-DE1CABBEA296}"/>
              </a:ext>
            </a:extLst>
          </p:cNvPr>
          <p:cNvSpPr txBox="1"/>
          <p:nvPr/>
        </p:nvSpPr>
        <p:spPr>
          <a:xfrm>
            <a:off x="5409398" y="3888606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권한이 없는 경우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B6DBA-C3C4-4071-9E76-EE5CEC2624F4}"/>
              </a:ext>
            </a:extLst>
          </p:cNvPr>
          <p:cNvSpPr txBox="1"/>
          <p:nvPr/>
        </p:nvSpPr>
        <p:spPr>
          <a:xfrm>
            <a:off x="8633861" y="3878981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권한이 있는 경우</a:t>
            </a:r>
          </a:p>
        </p:txBody>
      </p:sp>
    </p:spTree>
    <p:extLst>
      <p:ext uri="{BB962C8B-B14F-4D97-AF65-F5344CB8AC3E}">
        <p14:creationId xmlns:p14="http://schemas.microsoft.com/office/powerpoint/2010/main" val="4282347454"/>
      </p:ext>
    </p:extLst>
  </p:cSld>
  <p:clrMapOvr>
    <a:masterClrMapping/>
  </p:clrMapOvr>
</p:sld>
</file>

<file path=ppt/theme/theme1.xml><?xml version="1.0" encoding="utf-8"?>
<a:theme xmlns:a="http://schemas.openxmlformats.org/drawingml/2006/main" name="KISA">
  <a:themeElements>
    <a:clrScheme name="">
      <a:dk1>
        <a:srgbClr val="800000"/>
      </a:dk1>
      <a:lt1>
        <a:srgbClr val="000066"/>
      </a:lt1>
      <a:dk2>
        <a:srgbClr val="000000"/>
      </a:dk2>
      <a:lt2>
        <a:srgbClr val="333399"/>
      </a:lt2>
      <a:accent1>
        <a:srgbClr val="777777"/>
      </a:accent1>
      <a:accent2>
        <a:srgbClr val="0033CC"/>
      </a:accent2>
      <a:accent3>
        <a:srgbClr val="AAAAAA"/>
      </a:accent3>
      <a:accent4>
        <a:srgbClr val="000056"/>
      </a:accent4>
      <a:accent5>
        <a:srgbClr val="BDBDBD"/>
      </a:accent5>
      <a:accent6>
        <a:srgbClr val="002DB9"/>
      </a:accent6>
      <a:hlink>
        <a:srgbClr val="800000"/>
      </a:hlink>
      <a:folHlink>
        <a:srgbClr val="660066"/>
      </a:folHlink>
    </a:clrScheme>
    <a:fontScheme name="사용자 지정 1">
      <a:majorFont>
        <a:latin typeface="Tahoma"/>
        <a:ea typeface="HY헤드라인M"/>
        <a:cs typeface=""/>
      </a:majorFont>
      <a:minorFont>
        <a:latin typeface="Ebr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KISA 1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777777"/>
        </a:accent1>
        <a:accent2>
          <a:srgbClr val="0033CC"/>
        </a:accent2>
        <a:accent3>
          <a:srgbClr val="AAAAAA"/>
        </a:accent3>
        <a:accent4>
          <a:srgbClr val="DADADA"/>
        </a:accent4>
        <a:accent5>
          <a:srgbClr val="BDBDBD"/>
        </a:accent5>
        <a:accent6>
          <a:srgbClr val="002DB9"/>
        </a:accent6>
        <a:hlink>
          <a:srgbClr val="800000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ISA 2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ISA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ode.js 기초" id="{CB58C64B-D8BC-4033-B302-5D4887EFE161}" vid="{E0FE5D45-4E5E-42B0-BB47-2D0A1B329ED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강의자료 기본서식-공통 교과목</Template>
  <TotalTime>11219</TotalTime>
  <Words>11830</Words>
  <Application>Microsoft Office PowerPoint</Application>
  <PresentationFormat>와이드스크린</PresentationFormat>
  <Paragraphs>573</Paragraphs>
  <Slides>69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82" baseType="lpstr">
      <vt:lpstr>Arial Unicode MS</vt:lpstr>
      <vt:lpstr>굴림</vt:lpstr>
      <vt:lpstr>굴림체</vt:lpstr>
      <vt:lpstr>맑은 고딕</vt:lpstr>
      <vt:lpstr>Arial</vt:lpstr>
      <vt:lpstr>Courier New</vt:lpstr>
      <vt:lpstr>Ebrima</vt:lpstr>
      <vt:lpstr>Segoe UI Symbol</vt:lpstr>
      <vt:lpstr>Tahoma</vt:lpstr>
      <vt:lpstr>Times New Roman</vt:lpstr>
      <vt:lpstr>Univers Condensed</vt:lpstr>
      <vt:lpstr>Wingdings</vt:lpstr>
      <vt:lpstr>KISA</vt:lpstr>
      <vt:lpstr>2026 웹프로그래밍 기말 과제(간단한 쇼핑몰) </vt:lpstr>
      <vt:lpstr>요구사항 </vt:lpstr>
      <vt:lpstr>게시판 기능 설계-고객센터</vt:lpstr>
      <vt:lpstr>공지사항 메뉴 및 내용 보기 예시</vt:lpstr>
      <vt:lpstr>회원가입 및 개인정보 메뉴 구성 예</vt:lpstr>
      <vt:lpstr>기말과제 내용 설계(Node.js + SQLite3) 참고용 예시</vt:lpstr>
      <vt:lpstr>기말과제 내용 설계(Node.js + SQLite3)</vt:lpstr>
      <vt:lpstr>전체 구조 설명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쇼핑몰 동작 흐름 – https://localhost:3000 접속할 경우</vt:lpstr>
      <vt:lpstr>쇼핑몰 동작 흐름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  <vt:lpstr>기말과제 내용 설계(Node.js + SQLite3)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2021웹 프로그래밍 기말 과제</dc:title>
  <dc:creator>허석렬</dc:creator>
  <cp:lastModifiedBy>허석렬</cp:lastModifiedBy>
  <cp:revision>125</cp:revision>
  <dcterms:created xsi:type="dcterms:W3CDTF">2021-11-17T02:33:05Z</dcterms:created>
  <dcterms:modified xsi:type="dcterms:W3CDTF">2026-05-22T07:21:57Z</dcterms:modified>
</cp:coreProperties>
</file>