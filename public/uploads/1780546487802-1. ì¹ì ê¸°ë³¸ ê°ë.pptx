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41"/>
  </p:notesMasterIdLst>
  <p:sldIdLst>
    <p:sldId id="256" r:id="rId2"/>
    <p:sldId id="386" r:id="rId3"/>
    <p:sldId id="324" r:id="rId4"/>
    <p:sldId id="257" r:id="rId5"/>
    <p:sldId id="388" r:id="rId6"/>
    <p:sldId id="361" r:id="rId7"/>
    <p:sldId id="390" r:id="rId8"/>
    <p:sldId id="391" r:id="rId9"/>
    <p:sldId id="258" r:id="rId10"/>
    <p:sldId id="359" r:id="rId11"/>
    <p:sldId id="394" r:id="rId12"/>
    <p:sldId id="407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395" r:id="rId29"/>
    <p:sldId id="396" r:id="rId30"/>
    <p:sldId id="397" r:id="rId31"/>
    <p:sldId id="274" r:id="rId32"/>
    <p:sldId id="275" r:id="rId33"/>
    <p:sldId id="277" r:id="rId34"/>
    <p:sldId id="278" r:id="rId35"/>
    <p:sldId id="279" r:id="rId36"/>
    <p:sldId id="280" r:id="rId37"/>
    <p:sldId id="281" r:id="rId38"/>
    <p:sldId id="282" r:id="rId39"/>
    <p:sldId id="283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84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BB476-87BE-450D-8BA4-08251F86185B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33C7B-E8FB-464F-999B-A5F06F5683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89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95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7328" y="457200"/>
            <a:ext cx="12090400" cy="6324600"/>
            <a:chOff x="48" y="144"/>
            <a:chExt cx="5712" cy="4128"/>
          </a:xfrm>
        </p:grpSpPr>
        <p:sp>
          <p:nvSpPr>
            <p:cNvPr id="4099" name="AutoShape 3"/>
            <p:cNvSpPr>
              <a:spLocks noChangeArrowheads="1"/>
            </p:cNvSpPr>
            <p:nvPr userDrawn="1"/>
          </p:nvSpPr>
          <p:spPr bwMode="auto">
            <a:xfrm>
              <a:off x="48" y="144"/>
              <a:ext cx="5712" cy="4128"/>
            </a:xfrm>
            <a:prstGeom prst="roundRect">
              <a:avLst>
                <a:gd name="adj" fmla="val 770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0" name="Rectangle 4"/>
            <p:cNvSpPr>
              <a:spLocks noChangeArrowheads="1"/>
            </p:cNvSpPr>
            <p:nvPr userDrawn="1"/>
          </p:nvSpPr>
          <p:spPr bwMode="auto">
            <a:xfrm>
              <a:off x="4992" y="144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1" name="Rectangle 5"/>
            <p:cNvSpPr>
              <a:spLocks noChangeArrowheads="1"/>
            </p:cNvSpPr>
            <p:nvPr userDrawn="1"/>
          </p:nvSpPr>
          <p:spPr bwMode="auto">
            <a:xfrm>
              <a:off x="48" y="3648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</p:grp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ko-KR" sz="1400" b="1" i="1" dirty="0">
                <a:solidFill>
                  <a:srgbClr val="FFFFFF"/>
                </a:solidFill>
              </a:rPr>
              <a:t> </a:t>
            </a:r>
            <a:r>
              <a:rPr lang="ko-KR" altLang="en-US" sz="1400" b="1" i="1" dirty="0">
                <a:solidFill>
                  <a:srgbClr val="FFFFFF"/>
                </a:solidFill>
              </a:rPr>
              <a:t>웹 프로그래밍</a:t>
            </a:r>
            <a:endParaRPr lang="ko-KR" altLang="en-US" sz="1400" b="1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49600" y="3717032"/>
            <a:ext cx="6096000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 typeface="Wingdings" pitchFamily="2" charset="2"/>
              <a:buNone/>
              <a:defRPr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492896"/>
            <a:ext cx="9347200" cy="6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lnSpc>
                <a:spcPct val="80000"/>
              </a:lnSpc>
              <a:defRPr sz="4400" i="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2678544" y="3356992"/>
            <a:ext cx="73152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3333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10261600" y="457200"/>
            <a:ext cx="193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800"/>
          </a:p>
        </p:txBody>
      </p:sp>
      <p:pic>
        <p:nvPicPr>
          <p:cNvPr id="4112" name="Picture 16" descr="D:\usr\강의노트\부산대 로고\sanjinee_use02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" y="620688"/>
            <a:ext cx="1425635" cy="59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392" y="394802"/>
            <a:ext cx="11074400" cy="648072"/>
          </a:xfrm>
        </p:spPr>
        <p:txBody>
          <a:bodyPr/>
          <a:lstStyle>
            <a:lvl1pPr>
              <a:defRPr b="0" i="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700" b="0" i="0" baseline="0">
                <a:solidFill>
                  <a:schemeClr val="tx1"/>
                </a:solidFill>
              </a:defRPr>
            </a:lvl1pPr>
            <a:lvl2pPr>
              <a:defRPr sz="24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2pPr>
            <a:lvl3pPr>
              <a:defRPr sz="20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3pPr>
            <a:lvl4pPr>
              <a:defRPr sz="20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4pPr>
            <a:lvl5pPr>
              <a:defRPr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40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420889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2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2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500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471814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14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488488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0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759846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65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17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28187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65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064552" y="6218462"/>
            <a:ext cx="7565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2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18600" y="457200"/>
            <a:ext cx="2768600" cy="5562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12800" y="457200"/>
            <a:ext cx="8102600" cy="5562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54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457200"/>
            <a:ext cx="11074400" cy="762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914400" y="1371600"/>
            <a:ext cx="10668000" cy="46482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739" y="6193432"/>
            <a:ext cx="284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/>
            </a:lvl1pPr>
          </a:lstStyle>
          <a:p>
            <a:endParaRPr lang="ko-KR" altLang="en-US"/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273260" y="6218462"/>
            <a:ext cx="5478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38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08567" y="6342782"/>
            <a:ext cx="516541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35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2085257" y="63586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5735960" y="635952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08567" y="6342782"/>
            <a:ext cx="516541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76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16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83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743B9"/>
            </a:gs>
            <a:gs pos="100000">
              <a:srgbClr val="04D2E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ko-KR" altLang="en-US" sz="14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웹 프로그래밍       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150859" y="312860"/>
            <a:ext cx="11947061" cy="6428508"/>
          </a:xfrm>
          <a:prstGeom prst="roundRect">
            <a:avLst>
              <a:gd name="adj" fmla="val 7704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23392" y="386908"/>
            <a:ext cx="11074400" cy="648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089" name="Picture 17" descr="D:\usr\강의노트\부산대 로고\signature01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0" y="6309320"/>
            <a:ext cx="1920213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392" y="1124744"/>
            <a:ext cx="11130293" cy="504056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320469" y="6342782"/>
            <a:ext cx="1404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60" r:id="rId13"/>
    <p:sldLayoutId id="2147483661" r:id="rId14"/>
    <p:sldLayoutId id="2147483662" r:id="rId15"/>
    <p:sldLayoutId id="2147483676" r:id="rId16"/>
  </p:sldLayoutIdLst>
  <p:hf hdr="0" ftr="0" dt="0"/>
  <p:txStyles>
    <p:titleStyle>
      <a:lvl1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000" b="1" i="0">
          <a:solidFill>
            <a:srgbClr val="47309C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2pPr>
      <a:lvl3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3pPr>
      <a:lvl4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4pPr>
      <a:lvl5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5pPr>
      <a:lvl6pPr marL="4572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6pPr>
      <a:lvl7pPr marL="9144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7pPr>
      <a:lvl8pPr marL="13716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8pPr>
      <a:lvl9pPr marL="18288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q"/>
        <a:defRPr kumimoji="1" sz="2700" b="0" i="0" baseline="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umimoji="1" sz="2500" baseline="0">
          <a:solidFill>
            <a:schemeClr val="bg1"/>
          </a:solidFill>
          <a:latin typeface="+mn-lt"/>
          <a:ea typeface="맑은 고딕" panose="020B0503020000020004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FF5050"/>
        </a:buClr>
        <a:buSzPct val="80000"/>
        <a:buChar char="o"/>
        <a:defRPr kumimoji="1" sz="22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00FF"/>
        </a:buClr>
        <a:buSzPct val="100000"/>
        <a:buChar char="•"/>
        <a:defRPr kumimoji="1"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1800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altLang="ko-KR" dirty="0"/>
              <a:t>IT</a:t>
            </a:r>
            <a:r>
              <a:rPr lang="ko-KR" altLang="en-US" dirty="0"/>
              <a:t>응용공학과</a:t>
            </a:r>
            <a:endParaRPr lang="en-US" altLang="ko-KR" dirty="0"/>
          </a:p>
          <a:p>
            <a:r>
              <a:rPr lang="ko-KR" altLang="en-US" dirty="0"/>
              <a:t>허석렬</a:t>
            </a:r>
            <a:endParaRPr lang="en-US" altLang="ko-KR" dirty="0"/>
          </a:p>
          <a:p>
            <a:r>
              <a:rPr lang="en-US" altLang="ko-KR" dirty="0"/>
              <a:t>syheo@pusan.ac.kr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/>
              <a:t>1.</a:t>
            </a:r>
            <a:r>
              <a:rPr lang="ko-KR" altLang="en-US"/>
              <a:t>웹의 </a:t>
            </a:r>
            <a:r>
              <a:rPr lang="ko-KR" altLang="en-US" b="0" dirty="0"/>
              <a:t>기본개념</a:t>
            </a:r>
          </a:p>
        </p:txBody>
      </p:sp>
    </p:spTree>
    <p:extLst>
      <p:ext uri="{BB962C8B-B14F-4D97-AF65-F5344CB8AC3E}">
        <p14:creationId xmlns:p14="http://schemas.microsoft.com/office/powerpoint/2010/main" val="225043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웹의 기본 목적과 구성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23393" y="1124744"/>
            <a:ext cx="11074400" cy="4752528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2400" dirty="0"/>
              <a:t>웹의 기본 목적</a:t>
            </a:r>
            <a:endParaRPr lang="en-US" altLang="ko-KR" sz="2400" dirty="0"/>
          </a:p>
          <a:p>
            <a:pPr lvl="1"/>
            <a:r>
              <a:rPr lang="ko-KR" altLang="en-US" dirty="0"/>
              <a:t>다른 여러 컴퓨터에서 문서를 공유하거나 보는 목적</a:t>
            </a:r>
            <a:endParaRPr lang="en-US" altLang="ko-KR" dirty="0"/>
          </a:p>
          <a:p>
            <a:pPr lvl="1"/>
            <a:r>
              <a:rPr lang="ko-KR" altLang="en-US" dirty="0"/>
              <a:t>웹에서 다루는 문서를 웹 문서라고 부름</a:t>
            </a:r>
            <a:endParaRPr lang="en-US" altLang="ko-KR" dirty="0"/>
          </a:p>
          <a:p>
            <a:r>
              <a:rPr lang="ko-KR" altLang="en-US" sz="2400" dirty="0"/>
              <a:t>웹의 구조</a:t>
            </a:r>
            <a:endParaRPr lang="en-US" altLang="ko-KR" sz="2400" dirty="0"/>
          </a:p>
          <a:p>
            <a:pPr lvl="1"/>
            <a:r>
              <a:rPr lang="ko-KR" altLang="en-US" dirty="0"/>
              <a:t>인터넷을</a:t>
            </a:r>
            <a:r>
              <a:rPr lang="en-US" altLang="ko-KR" dirty="0"/>
              <a:t> </a:t>
            </a:r>
            <a:r>
              <a:rPr lang="ko-KR" altLang="en-US" dirty="0"/>
              <a:t>활용하여 거미줄처럼 연결된 정보 소통 망</a:t>
            </a:r>
            <a:r>
              <a:rPr lang="en-US" altLang="ko-KR" dirty="0"/>
              <a:t>, World Wide Web</a:t>
            </a:r>
          </a:p>
          <a:p>
            <a:pPr lvl="2"/>
            <a:r>
              <a:rPr lang="ko-KR" altLang="en-US" sz="1800" dirty="0"/>
              <a:t>웹 문서를 인터넷 상의 컴퓨터들끼리 주고 받는 네트워크 시스템</a:t>
            </a:r>
            <a:endParaRPr lang="en-US" altLang="ko-KR" sz="1800" dirty="0"/>
          </a:p>
          <a:p>
            <a:r>
              <a:rPr lang="ko-KR" altLang="en-US" sz="2400" dirty="0"/>
              <a:t>웹의 구성</a:t>
            </a:r>
            <a:endParaRPr lang="en-US" altLang="ko-KR" sz="2400" dirty="0"/>
          </a:p>
          <a:p>
            <a:pPr lvl="1"/>
            <a:r>
              <a:rPr lang="ko-KR" altLang="en-US" dirty="0"/>
              <a:t>웹 서버와 웹 클라이언트 컴퓨터들로 구성</a:t>
            </a:r>
            <a:endParaRPr lang="en-US" altLang="ko-KR" dirty="0"/>
          </a:p>
          <a:p>
            <a:pPr lvl="1"/>
            <a:r>
              <a:rPr lang="ko-KR" altLang="en-US" dirty="0"/>
              <a:t>웹 서버</a:t>
            </a:r>
            <a:endParaRPr lang="en-US" altLang="ko-KR" dirty="0"/>
          </a:p>
          <a:p>
            <a:pPr lvl="2"/>
            <a:r>
              <a:rPr lang="ko-KR" altLang="en-US" sz="1800" dirty="0"/>
              <a:t>웹 사이트를 탑재하는 컴퓨터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구글</a:t>
            </a:r>
            <a:r>
              <a:rPr lang="en-US" altLang="ko-KR" sz="1800" dirty="0"/>
              <a:t>(www.google.com), </a:t>
            </a:r>
            <a:r>
              <a:rPr lang="ko-KR" altLang="en-US" sz="1800" dirty="0" err="1"/>
              <a:t>네이버</a:t>
            </a:r>
            <a:r>
              <a:rPr lang="en-US" altLang="ko-KR" sz="1800" dirty="0"/>
              <a:t>(www.naver.com) </a:t>
            </a:r>
            <a:r>
              <a:rPr lang="ko-KR" altLang="en-US" sz="1800" dirty="0"/>
              <a:t>등</a:t>
            </a:r>
            <a:endParaRPr lang="en-US" altLang="ko-KR" sz="1800" dirty="0"/>
          </a:p>
          <a:p>
            <a:pPr lvl="2"/>
            <a:r>
              <a:rPr lang="ko-KR" altLang="en-US" sz="1800" dirty="0"/>
              <a:t>웹 문서</a:t>
            </a:r>
            <a:r>
              <a:rPr lang="en-US" altLang="ko-KR" sz="1800" dirty="0"/>
              <a:t>, </a:t>
            </a:r>
            <a:r>
              <a:rPr lang="ko-KR" altLang="en-US" sz="1800" dirty="0"/>
              <a:t>이미지</a:t>
            </a:r>
            <a:r>
              <a:rPr lang="en-US" altLang="ko-KR" sz="1800" dirty="0"/>
              <a:t>. </a:t>
            </a:r>
            <a:r>
              <a:rPr lang="ko-KR" altLang="en-US" sz="1800" dirty="0"/>
              <a:t>동영상 등의 데이터 저장 관리</a:t>
            </a:r>
            <a:endParaRPr lang="en-US" altLang="ko-KR" sz="1800" dirty="0"/>
          </a:p>
          <a:p>
            <a:pPr lvl="2"/>
            <a:r>
              <a:rPr lang="ko-KR" altLang="en-US" sz="1800" dirty="0"/>
              <a:t>웹 클라이언트의 요청을 받아 웹 문서 전송</a:t>
            </a:r>
            <a:endParaRPr lang="en-US" altLang="ko-KR" sz="1800" dirty="0"/>
          </a:p>
          <a:p>
            <a:pPr lvl="2"/>
            <a:r>
              <a:rPr lang="ko-KR" altLang="en-US" sz="1800" dirty="0"/>
              <a:t>웹 서버로 작동하도록 하는 소프트웨어 실행</a:t>
            </a:r>
            <a:endParaRPr lang="en-US" altLang="ko-KR" sz="1800" dirty="0"/>
          </a:p>
          <a:p>
            <a:pPr lvl="1"/>
            <a:r>
              <a:rPr lang="ko-KR" altLang="en-US" dirty="0"/>
              <a:t>웹 클라이언트</a:t>
            </a:r>
            <a:endParaRPr lang="en-US" altLang="ko-KR" dirty="0"/>
          </a:p>
          <a:p>
            <a:pPr lvl="2"/>
            <a:r>
              <a:rPr lang="ko-KR" altLang="en-US" sz="1800" dirty="0"/>
              <a:t>사용자 인터페이스 담당</a:t>
            </a:r>
            <a:endParaRPr lang="en-US" altLang="ko-KR" sz="1800" dirty="0"/>
          </a:p>
          <a:p>
            <a:pPr lvl="2"/>
            <a:r>
              <a:rPr lang="ko-KR" altLang="en-US" sz="1800" dirty="0"/>
              <a:t>웹 서버에 웹 문서를 요청하고 받아 사용자에게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771C1CB-B05E-4822-A6A7-129788E5A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45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웹 서버와 웹 클라이언트로 이루어진 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1BF0FA0-ED62-422C-9A84-F185E3AA7955}"/>
              </a:ext>
            </a:extLst>
          </p:cNvPr>
          <p:cNvGrpSpPr/>
          <p:nvPr/>
        </p:nvGrpSpPr>
        <p:grpSpPr>
          <a:xfrm>
            <a:off x="1775520" y="1268760"/>
            <a:ext cx="8856984" cy="5050422"/>
            <a:chOff x="2277421" y="1600687"/>
            <a:chExt cx="7638452" cy="4298248"/>
          </a:xfrm>
        </p:grpSpPr>
        <p:pic>
          <p:nvPicPr>
            <p:cNvPr id="59" name="Picture 5" descr="C:\Users\Kitae\AppData\Local\Microsoft\Windows\Temporary Internet Files\Content.IE5\PNJNQ2BA\lego-imac-led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8128" y="2060849"/>
              <a:ext cx="963830" cy="621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타원 93"/>
            <p:cNvSpPr/>
            <p:nvPr/>
          </p:nvSpPr>
          <p:spPr>
            <a:xfrm>
              <a:off x="3290963" y="2001278"/>
              <a:ext cx="838095" cy="85760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glow rad="228600">
                <a:schemeClr val="accent1">
                  <a:satMod val="175000"/>
                  <a:alpha val="40000"/>
                </a:schemeClr>
              </a:glow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연결선 28"/>
            <p:cNvCxnSpPr/>
            <p:nvPr/>
          </p:nvCxnSpPr>
          <p:spPr>
            <a:xfrm flipV="1">
              <a:off x="5701514" y="2546996"/>
              <a:ext cx="1" cy="43536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5332855" y="1600687"/>
              <a:ext cx="1027447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아마존 웹 서버</a:t>
              </a:r>
            </a:p>
          </p:txBody>
        </p:sp>
        <p:sp>
          <p:nvSpPr>
            <p:cNvPr id="100" name="tower"/>
            <p:cNvSpPr>
              <a:spLocks noEditPoints="1" noChangeArrowheads="1"/>
            </p:cNvSpPr>
            <p:nvPr/>
          </p:nvSpPr>
          <p:spPr bwMode="auto">
            <a:xfrm>
              <a:off x="5546281" y="1897593"/>
              <a:ext cx="385033" cy="680261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141" name="그룹 140"/>
            <p:cNvGrpSpPr/>
            <p:nvPr/>
          </p:nvGrpSpPr>
          <p:grpSpPr>
            <a:xfrm>
              <a:off x="4530666" y="1916312"/>
              <a:ext cx="1006545" cy="630682"/>
              <a:chOff x="2195736" y="1987967"/>
              <a:chExt cx="801735" cy="630682"/>
            </a:xfrm>
          </p:grpSpPr>
          <p:sp>
            <p:nvSpPr>
              <p:cNvPr id="142" name="순서도: 다중 문서 141"/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HTML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문서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</a:rPr>
                  <a:t> 동영상</a:t>
                </a:r>
              </a:p>
            </p:txBody>
          </p:sp>
          <p:sp>
            <p:nvSpPr>
              <p:cNvPr id="143" name="순서도: 자기 디스크 142"/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64" name="Picture 2" descr="C:\Users\com\AppData\Local\Microsoft\Windows\Temporary Internet Files\Content.IE5\U5C8W4ON\SHV-E300S_Nova-Black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3669" y="3779791"/>
              <a:ext cx="1518040" cy="10120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Users\Kitae\AppData\Local\Microsoft\Windows\Temporary Internet Files\Content.IE5\PNJNQ2BA\lego-imac-lede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044" y="4830736"/>
              <a:ext cx="963830" cy="621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구름 모양 설명선 13"/>
            <p:cNvSpPr/>
            <p:nvPr/>
          </p:nvSpPr>
          <p:spPr>
            <a:xfrm>
              <a:off x="3985041" y="2899231"/>
              <a:ext cx="4032208" cy="1780525"/>
            </a:xfrm>
            <a:prstGeom prst="cloudCallout">
              <a:avLst>
                <a:gd name="adj1" fmla="val -18864"/>
                <a:gd name="adj2" fmla="val 3302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</a:rPr>
                <a:t>인터넷</a:t>
              </a:r>
            </a:p>
          </p:txBody>
        </p:sp>
        <p:cxnSp>
          <p:nvCxnSpPr>
            <p:cNvPr id="17" name="직선 연결선 16"/>
            <p:cNvCxnSpPr>
              <a:endCxn id="83" idx="7"/>
            </p:cNvCxnSpPr>
            <p:nvPr/>
          </p:nvCxnSpPr>
          <p:spPr>
            <a:xfrm flipH="1" flipV="1">
              <a:off x="3785341" y="2784363"/>
              <a:ext cx="687432" cy="40257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 flipV="1">
              <a:off x="6928953" y="2489870"/>
              <a:ext cx="591647" cy="492492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6979781" y="4474443"/>
              <a:ext cx="244995" cy="53199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 flipV="1">
              <a:off x="7879879" y="2982364"/>
              <a:ext cx="636563" cy="40914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454797" y="1805526"/>
              <a:ext cx="593354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서버</a:t>
              </a:r>
            </a:p>
          </p:txBody>
        </p:sp>
        <p:pic>
          <p:nvPicPr>
            <p:cNvPr id="54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0498" y="4846971"/>
              <a:ext cx="360928" cy="371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3" name="직선 연결선 62"/>
            <p:cNvCxnSpPr/>
            <p:nvPr/>
          </p:nvCxnSpPr>
          <p:spPr>
            <a:xfrm flipH="1">
              <a:off x="3659569" y="3979351"/>
              <a:ext cx="372176" cy="10808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 flipH="1">
              <a:off x="4031745" y="4474442"/>
              <a:ext cx="657052" cy="342692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>
              <a:off x="6011920" y="4679755"/>
              <a:ext cx="1" cy="31546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7856963" y="4087435"/>
              <a:ext cx="659479" cy="29908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8365766" y="4797257"/>
              <a:ext cx="991503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클라이언트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055798" y="5357940"/>
              <a:ext cx="991503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클라이언트</a:t>
              </a:r>
            </a:p>
          </p:txBody>
        </p:sp>
        <p:sp>
          <p:nvSpPr>
            <p:cNvPr id="70" name="자유형 69"/>
            <p:cNvSpPr/>
            <p:nvPr/>
          </p:nvSpPr>
          <p:spPr>
            <a:xfrm>
              <a:off x="3920867" y="2404485"/>
              <a:ext cx="1669183" cy="2367815"/>
            </a:xfrm>
            <a:custGeom>
              <a:avLst/>
              <a:gdLst>
                <a:gd name="connsiteX0" fmla="*/ 0 w 1792161"/>
                <a:gd name="connsiteY0" fmla="*/ 2367815 h 2367815"/>
                <a:gd name="connsiteX1" fmla="*/ 1126156 w 1792161"/>
                <a:gd name="connsiteY1" fmla="*/ 1722923 h 2367815"/>
                <a:gd name="connsiteX2" fmla="*/ 1703672 w 1792161"/>
                <a:gd name="connsiteY2" fmla="*/ 895150 h 2367815"/>
                <a:gd name="connsiteX3" fmla="*/ 1780674 w 1792161"/>
                <a:gd name="connsiteY3" fmla="*/ 0 h 236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2161" h="2367815">
                  <a:moveTo>
                    <a:pt x="0" y="2367815"/>
                  </a:moveTo>
                  <a:cubicBezTo>
                    <a:pt x="421105" y="2168091"/>
                    <a:pt x="842211" y="1968367"/>
                    <a:pt x="1126156" y="1722923"/>
                  </a:cubicBezTo>
                  <a:cubicBezTo>
                    <a:pt x="1410101" y="1477479"/>
                    <a:pt x="1594586" y="1182304"/>
                    <a:pt x="1703672" y="895150"/>
                  </a:cubicBezTo>
                  <a:cubicBezTo>
                    <a:pt x="1812758" y="607996"/>
                    <a:pt x="1796716" y="303998"/>
                    <a:pt x="1780674" y="0"/>
                  </a:cubicBezTo>
                </a:path>
              </a:pathLst>
            </a:custGeom>
            <a:noFill/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자유형 70"/>
            <p:cNvSpPr/>
            <p:nvPr/>
          </p:nvSpPr>
          <p:spPr>
            <a:xfrm>
              <a:off x="6011920" y="3886739"/>
              <a:ext cx="2490572" cy="1231593"/>
            </a:xfrm>
            <a:custGeom>
              <a:avLst/>
              <a:gdLst>
                <a:gd name="connsiteX0" fmla="*/ 2608447 w 2608447"/>
                <a:gd name="connsiteY0" fmla="*/ 481300 h 1289822"/>
                <a:gd name="connsiteX1" fmla="*/ 1559293 w 2608447"/>
                <a:gd name="connsiteY1" fmla="*/ 28913 h 1289822"/>
                <a:gd name="connsiteX2" fmla="*/ 721895 w 2608447"/>
                <a:gd name="connsiteY2" fmla="*/ 115540 h 1289822"/>
                <a:gd name="connsiteX3" fmla="*/ 173255 w 2608447"/>
                <a:gd name="connsiteY3" fmla="*/ 683431 h 1289822"/>
                <a:gd name="connsiteX4" fmla="*/ 0 w 2608447"/>
                <a:gd name="connsiteY4" fmla="*/ 1289822 h 128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8447" h="1289822">
                  <a:moveTo>
                    <a:pt x="2608447" y="481300"/>
                  </a:moveTo>
                  <a:cubicBezTo>
                    <a:pt x="2241082" y="285586"/>
                    <a:pt x="1873718" y="89873"/>
                    <a:pt x="1559293" y="28913"/>
                  </a:cubicBezTo>
                  <a:cubicBezTo>
                    <a:pt x="1244868" y="-32047"/>
                    <a:pt x="952901" y="6454"/>
                    <a:pt x="721895" y="115540"/>
                  </a:cubicBezTo>
                  <a:cubicBezTo>
                    <a:pt x="490889" y="224626"/>
                    <a:pt x="293571" y="487717"/>
                    <a:pt x="173255" y="683431"/>
                  </a:cubicBezTo>
                  <a:cubicBezTo>
                    <a:pt x="52939" y="879145"/>
                    <a:pt x="25667" y="1188757"/>
                    <a:pt x="0" y="1289822"/>
                  </a:cubicBezTo>
                </a:path>
              </a:pathLst>
            </a:custGeom>
            <a:noFill/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자유형 71"/>
            <p:cNvSpPr/>
            <p:nvPr/>
          </p:nvSpPr>
          <p:spPr>
            <a:xfrm>
              <a:off x="5749667" y="2399844"/>
              <a:ext cx="1694362" cy="1006827"/>
            </a:xfrm>
            <a:custGeom>
              <a:avLst/>
              <a:gdLst>
                <a:gd name="connsiteX0" fmla="*/ 1713297 w 1713297"/>
                <a:gd name="connsiteY0" fmla="*/ 163629 h 733261"/>
                <a:gd name="connsiteX1" fmla="*/ 933651 w 1713297"/>
                <a:gd name="connsiteY1" fmla="*/ 731520 h 733261"/>
                <a:gd name="connsiteX2" fmla="*/ 0 w 1713297"/>
                <a:gd name="connsiteY2" fmla="*/ 0 h 73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13297" h="733261">
                  <a:moveTo>
                    <a:pt x="1713297" y="163629"/>
                  </a:moveTo>
                  <a:cubicBezTo>
                    <a:pt x="1466248" y="461210"/>
                    <a:pt x="1219200" y="758791"/>
                    <a:pt x="933651" y="731520"/>
                  </a:cubicBezTo>
                  <a:cubicBezTo>
                    <a:pt x="648102" y="704249"/>
                    <a:pt x="324051" y="352124"/>
                    <a:pt x="0" y="0"/>
                  </a:cubicBezTo>
                </a:path>
              </a:pathLst>
            </a:custGeom>
            <a:noFill/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6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6097" y="2120338"/>
              <a:ext cx="360928" cy="371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TextBox 86"/>
            <p:cNvSpPr txBox="1"/>
            <p:nvPr/>
          </p:nvSpPr>
          <p:spPr>
            <a:xfrm>
              <a:off x="6903668" y="1832835"/>
              <a:ext cx="991503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클라이언트</a:t>
              </a:r>
            </a:p>
          </p:txBody>
        </p:sp>
        <p:sp>
          <p:nvSpPr>
            <p:cNvPr id="83" name="tower"/>
            <p:cNvSpPr>
              <a:spLocks noEditPoints="1" noChangeArrowheads="1"/>
            </p:cNvSpPr>
            <p:nvPr/>
          </p:nvSpPr>
          <p:spPr bwMode="auto">
            <a:xfrm>
              <a:off x="3596925" y="2104103"/>
              <a:ext cx="385033" cy="680261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88" name="그룹 87"/>
            <p:cNvGrpSpPr/>
            <p:nvPr/>
          </p:nvGrpSpPr>
          <p:grpSpPr>
            <a:xfrm>
              <a:off x="2559784" y="2188634"/>
              <a:ext cx="1006545" cy="630682"/>
              <a:chOff x="2195736" y="1987967"/>
              <a:chExt cx="801735" cy="630682"/>
            </a:xfrm>
          </p:grpSpPr>
          <p:sp>
            <p:nvSpPr>
              <p:cNvPr id="76" name="순서도: 다중 문서 75"/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HTML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문서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</a:rPr>
                  <a:t> 동영상</a:t>
                </a:r>
              </a:p>
            </p:txBody>
          </p:sp>
          <p:sp>
            <p:nvSpPr>
              <p:cNvPr id="84" name="순서도: 자기 디스크 83"/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9" name="TextBox 108"/>
            <p:cNvSpPr txBox="1"/>
            <p:nvPr/>
          </p:nvSpPr>
          <p:spPr>
            <a:xfrm>
              <a:off x="8915865" y="2198012"/>
              <a:ext cx="593354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서버</a:t>
              </a:r>
            </a:p>
          </p:txBody>
        </p:sp>
        <p:sp>
          <p:nvSpPr>
            <p:cNvPr id="110" name="tower"/>
            <p:cNvSpPr>
              <a:spLocks noEditPoints="1" noChangeArrowheads="1"/>
            </p:cNvSpPr>
            <p:nvPr/>
          </p:nvSpPr>
          <p:spPr bwMode="auto">
            <a:xfrm>
              <a:off x="8502493" y="2433092"/>
              <a:ext cx="385033" cy="680261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127087" y="3465345"/>
              <a:ext cx="593354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서버</a:t>
              </a:r>
            </a:p>
          </p:txBody>
        </p:sp>
        <p:sp>
          <p:nvSpPr>
            <p:cNvPr id="115" name="tower"/>
            <p:cNvSpPr>
              <a:spLocks noEditPoints="1" noChangeArrowheads="1"/>
            </p:cNvSpPr>
            <p:nvPr/>
          </p:nvSpPr>
          <p:spPr bwMode="auto">
            <a:xfrm>
              <a:off x="3269215" y="3763922"/>
              <a:ext cx="385033" cy="680261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79394" y="4883327"/>
              <a:ext cx="894730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구글</a:t>
              </a:r>
              <a:r>
                <a:rPr lang="ko-KR" altLang="en-US" sz="1200" b="1" dirty="0"/>
                <a:t> 웹 서버</a:t>
              </a:r>
            </a:p>
          </p:txBody>
        </p:sp>
        <p:sp>
          <p:nvSpPr>
            <p:cNvPr id="120" name="tower"/>
            <p:cNvSpPr>
              <a:spLocks noEditPoints="1" noChangeArrowheads="1"/>
            </p:cNvSpPr>
            <p:nvPr/>
          </p:nvSpPr>
          <p:spPr bwMode="auto">
            <a:xfrm>
              <a:off x="5819403" y="5218674"/>
              <a:ext cx="385033" cy="680261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340733" y="4872111"/>
              <a:ext cx="593354" cy="235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웹 서버</a:t>
              </a:r>
            </a:p>
          </p:txBody>
        </p:sp>
        <p:sp>
          <p:nvSpPr>
            <p:cNvPr id="125" name="tower"/>
            <p:cNvSpPr>
              <a:spLocks noEditPoints="1" noChangeArrowheads="1"/>
            </p:cNvSpPr>
            <p:nvPr/>
          </p:nvSpPr>
          <p:spPr bwMode="auto">
            <a:xfrm>
              <a:off x="7031096" y="5043478"/>
              <a:ext cx="385033" cy="680261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2277421" y="3793329"/>
              <a:ext cx="1006545" cy="630682"/>
              <a:chOff x="2195736" y="1987967"/>
              <a:chExt cx="801735" cy="630682"/>
            </a:xfrm>
          </p:grpSpPr>
          <p:sp>
            <p:nvSpPr>
              <p:cNvPr id="130" name="순서도: 다중 문서 129"/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HTML </a:t>
                </a:r>
                <a:r>
                  <a:rPr lang="ko-KR" altLang="en-US" sz="900" b="1" dirty="0">
                    <a:solidFill>
                      <a:schemeClr val="tx1"/>
                    </a:solidFill>
                  </a:rPr>
                  <a:t>문서</a:t>
                </a:r>
                <a:r>
                  <a:rPr lang="en-US" altLang="ko-KR" sz="9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90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900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</a:rPr>
                  <a:t> 동영상</a:t>
                </a:r>
              </a:p>
            </p:txBody>
          </p:sp>
          <p:sp>
            <p:nvSpPr>
              <p:cNvPr id="131" name="순서도: 자기 디스크 130"/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2" name="그룹 131"/>
            <p:cNvGrpSpPr/>
            <p:nvPr/>
          </p:nvGrpSpPr>
          <p:grpSpPr>
            <a:xfrm>
              <a:off x="4812858" y="5268252"/>
              <a:ext cx="1006545" cy="630682"/>
              <a:chOff x="2195736" y="1987967"/>
              <a:chExt cx="801735" cy="630682"/>
            </a:xfrm>
          </p:grpSpPr>
          <p:sp>
            <p:nvSpPr>
              <p:cNvPr id="133" name="순서도: 다중 문서 132"/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HTML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문서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</a:rPr>
                  <a:t> 동영상</a:t>
                </a:r>
              </a:p>
            </p:txBody>
          </p:sp>
          <p:sp>
            <p:nvSpPr>
              <p:cNvPr id="134" name="순서도: 자기 디스크 133"/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5" name="그룹 134"/>
            <p:cNvGrpSpPr/>
            <p:nvPr/>
          </p:nvGrpSpPr>
          <p:grpSpPr>
            <a:xfrm>
              <a:off x="7451731" y="5068266"/>
              <a:ext cx="1006545" cy="630682"/>
              <a:chOff x="2195736" y="1987967"/>
              <a:chExt cx="801735" cy="630682"/>
            </a:xfrm>
          </p:grpSpPr>
          <p:sp>
            <p:nvSpPr>
              <p:cNvPr id="136" name="순서도: 다중 문서 135"/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HTML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문서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</a:rPr>
                  <a:t> 동영상</a:t>
                </a:r>
              </a:p>
            </p:txBody>
          </p:sp>
          <p:sp>
            <p:nvSpPr>
              <p:cNvPr id="137" name="순서도: 자기 디스크 136"/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8" name="그룹 137"/>
            <p:cNvGrpSpPr/>
            <p:nvPr/>
          </p:nvGrpSpPr>
          <p:grpSpPr>
            <a:xfrm>
              <a:off x="8909328" y="2523756"/>
              <a:ext cx="1006545" cy="630682"/>
              <a:chOff x="2195736" y="1987967"/>
              <a:chExt cx="801735" cy="630682"/>
            </a:xfrm>
          </p:grpSpPr>
          <p:sp>
            <p:nvSpPr>
              <p:cNvPr id="139" name="순서도: 다중 문서 138"/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HTML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문서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</a:rPr>
                  <a:t> 동영상</a:t>
                </a:r>
              </a:p>
            </p:txBody>
          </p:sp>
          <p:sp>
            <p:nvSpPr>
              <p:cNvPr id="140" name="순서도: 자기 디스크 139"/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6328" y="4831189"/>
              <a:ext cx="695256" cy="465548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1939" y="3889971"/>
              <a:ext cx="457879" cy="737452"/>
            </a:xfrm>
            <a:prstGeom prst="rect">
              <a:avLst/>
            </a:prstGeom>
          </p:spPr>
        </p:pic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2052" y="2069960"/>
              <a:ext cx="695256" cy="465548"/>
            </a:xfrm>
            <a:prstGeom prst="rect">
              <a:avLst/>
            </a:prstGeom>
          </p:spPr>
        </p:pic>
      </p:grpSp>
      <p:sp>
        <p:nvSpPr>
          <p:cNvPr id="60" name="슬라이드 번호 개체 틀 3">
            <a:extLst>
              <a:ext uri="{FF2B5EF4-FFF2-40B4-BE49-F238E27FC236}">
                <a16:creationId xmlns:a16="http://schemas.microsoft.com/office/drawing/2014/main" id="{BD38B488-CD53-4E23-8119-106E8637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402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서버와 웹 클라이언트의 동작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9416" y="980728"/>
            <a:ext cx="10729192" cy="5040560"/>
          </a:xfrm>
        </p:spPr>
        <p:txBody>
          <a:bodyPr/>
          <a:lstStyle/>
          <a:p>
            <a:r>
              <a:rPr lang="en-US" altLang="ko-KR" dirty="0"/>
              <a:t>WWW </a:t>
            </a:r>
            <a:r>
              <a:rPr lang="ko-KR" altLang="en-US" dirty="0"/>
              <a:t>혹은 </a:t>
            </a:r>
            <a:r>
              <a:rPr lang="ko-KR" altLang="en-US" dirty="0" err="1"/>
              <a:t>웹서비스는</a:t>
            </a:r>
            <a:r>
              <a:rPr lang="ko-KR" altLang="en-US" dirty="0"/>
              <a:t> </a:t>
            </a:r>
            <a:r>
              <a:rPr lang="en-US" altLang="ko-KR" dirty="0"/>
              <a:t>Client-Server </a:t>
            </a:r>
            <a:r>
              <a:rPr lang="ko-KR" altLang="en-US" dirty="0"/>
              <a:t>구조를 따름</a:t>
            </a:r>
            <a:endParaRPr lang="en-US" altLang="ko-KR" dirty="0"/>
          </a:p>
          <a:p>
            <a:pPr lvl="1"/>
            <a:r>
              <a:rPr lang="ko-KR" altLang="en-US" dirty="0"/>
              <a:t>웹 </a:t>
            </a:r>
            <a:r>
              <a:rPr lang="en-US" altLang="ko-KR" dirty="0"/>
              <a:t>client</a:t>
            </a:r>
            <a:r>
              <a:rPr lang="ko-KR" altLang="en-US" dirty="0"/>
              <a:t>는 </a:t>
            </a:r>
            <a:r>
              <a:rPr lang="ko-KR" altLang="en-US" dirty="0" err="1"/>
              <a:t>웹서버에게</a:t>
            </a:r>
            <a:r>
              <a:rPr lang="ko-KR" altLang="en-US" dirty="0"/>
              <a:t> </a:t>
            </a:r>
            <a:r>
              <a:rPr lang="en-US" altLang="ko-KR" dirty="0"/>
              <a:t>WWW</a:t>
            </a:r>
            <a:r>
              <a:rPr lang="ko-KR" altLang="en-US" dirty="0"/>
              <a:t>웹 문서를 요청하면 </a:t>
            </a:r>
            <a:r>
              <a:rPr lang="ko-KR" altLang="en-US" dirty="0" err="1"/>
              <a:t>웹서버는</a:t>
            </a:r>
            <a:r>
              <a:rPr lang="ko-KR" altLang="en-US" dirty="0"/>
              <a:t> 해당</a:t>
            </a:r>
            <a:r>
              <a:rPr lang="en-US" altLang="ko-KR" dirty="0"/>
              <a:t>(URL)</a:t>
            </a:r>
            <a:r>
              <a:rPr lang="ko-KR" altLang="en-US" dirty="0"/>
              <a:t> </a:t>
            </a:r>
            <a:r>
              <a:rPr lang="ko-KR" altLang="en-US" dirty="0" err="1"/>
              <a:t>웹문서로</a:t>
            </a:r>
            <a:r>
              <a:rPr lang="ko-KR" altLang="en-US" dirty="0"/>
              <a:t> 응답</a:t>
            </a:r>
            <a:endParaRPr lang="en-US" altLang="ko-KR" dirty="0"/>
          </a:p>
          <a:p>
            <a:pPr lvl="1"/>
            <a:r>
              <a:rPr lang="ko-KR" altLang="en-US" dirty="0"/>
              <a:t>웹 </a:t>
            </a:r>
            <a:r>
              <a:rPr lang="en-US" altLang="ko-KR" dirty="0"/>
              <a:t>client</a:t>
            </a:r>
            <a:r>
              <a:rPr lang="ko-KR" altLang="en-US" dirty="0"/>
              <a:t>는 여러 </a:t>
            </a:r>
            <a:r>
              <a:rPr lang="ko-KR" altLang="en-US" dirty="0" err="1"/>
              <a:t>웹서버와</a:t>
            </a:r>
            <a:r>
              <a:rPr lang="ko-KR" altLang="en-US" dirty="0"/>
              <a:t> 동시에 통신을 수행가능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56904" y="6237882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웹</a:t>
            </a:r>
            <a:r>
              <a:rPr lang="en-US" altLang="ko-KR" dirty="0"/>
              <a:t> </a:t>
            </a:r>
            <a:r>
              <a:rPr lang="ko-KR" altLang="en-US" dirty="0"/>
              <a:t>서비스 구조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9E74B2A-5622-447A-97A1-9BC0BD2D634F}"/>
              </a:ext>
            </a:extLst>
          </p:cNvPr>
          <p:cNvGrpSpPr/>
          <p:nvPr/>
        </p:nvGrpSpPr>
        <p:grpSpPr>
          <a:xfrm>
            <a:off x="2999656" y="3054336"/>
            <a:ext cx="6912768" cy="3039520"/>
            <a:chOff x="2907704" y="2932131"/>
            <a:chExt cx="6912768" cy="3039520"/>
          </a:xfrm>
        </p:grpSpPr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414151DF-765E-4263-A495-497474296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4713" y="2932131"/>
              <a:ext cx="659229" cy="678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319696-A6A6-4467-BE8C-9464835B61F3}"/>
                </a:ext>
              </a:extLst>
            </p:cNvPr>
            <p:cNvSpPr txBox="1"/>
            <p:nvPr/>
          </p:nvSpPr>
          <p:spPr>
            <a:xfrm>
              <a:off x="3699792" y="5633097"/>
              <a:ext cx="1841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prstClr val="black"/>
                  </a:solidFill>
                  <a:latin typeface="맑은 고딕"/>
                </a:rPr>
                <a:t>웹 클라이언트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80D776F-1F51-49E7-A759-5D0DE72EC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7704" y="3688881"/>
              <a:ext cx="2633248" cy="1800200"/>
            </a:xfrm>
            <a:prstGeom prst="rect">
              <a:avLst/>
            </a:prstGeom>
          </p:spPr>
        </p:pic>
        <p:sp>
          <p:nvSpPr>
            <p:cNvPr id="10" name="tower">
              <a:extLst>
                <a:ext uri="{FF2B5EF4-FFF2-40B4-BE49-F238E27FC236}">
                  <a16:creationId xmlns:a16="http://schemas.microsoft.com/office/drawing/2014/main" id="{AD638367-0645-4F76-9781-38339A88FB7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7541522" y="3642197"/>
              <a:ext cx="1105872" cy="1548862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  <a:latin typeface="맑은 고딕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50F99EE-F192-4E83-951B-EF19771A324D}"/>
                </a:ext>
              </a:extLst>
            </p:cNvPr>
            <p:cNvGrpSpPr/>
            <p:nvPr/>
          </p:nvGrpSpPr>
          <p:grpSpPr>
            <a:xfrm>
              <a:off x="8472264" y="3760890"/>
              <a:ext cx="1348208" cy="1311476"/>
              <a:chOff x="2195736" y="1987967"/>
              <a:chExt cx="801735" cy="630682"/>
            </a:xfrm>
          </p:grpSpPr>
          <p:sp>
            <p:nvSpPr>
              <p:cNvPr id="12" name="순서도: 다중 문서 11">
                <a:extLst>
                  <a:ext uri="{FF2B5EF4-FFF2-40B4-BE49-F238E27FC236}">
                    <a16:creationId xmlns:a16="http://schemas.microsoft.com/office/drawing/2014/main" id="{D0CC02B3-E172-4BCF-A980-8B4C57C00B79}"/>
                  </a:ext>
                </a:extLst>
              </p:cNvPr>
              <p:cNvSpPr/>
              <p:nvPr/>
            </p:nvSpPr>
            <p:spPr>
              <a:xfrm>
                <a:off x="2285576" y="2090017"/>
                <a:ext cx="711895" cy="466145"/>
              </a:xfrm>
              <a:prstGeom prst="flowChartMultidocument">
                <a:avLst/>
              </a:prstGeom>
              <a:noFill/>
              <a:ln w="12700" cap="flat" cmpd="sng" algn="ctr">
                <a:solidFill>
                  <a:srgbClr val="D8B25C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HTML 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문서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이미지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,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 동영상</a:t>
                </a:r>
              </a:p>
            </p:txBody>
          </p:sp>
          <p:sp>
            <p:nvSpPr>
              <p:cNvPr id="13" name="순서도: 자기 디스크 12">
                <a:extLst>
                  <a:ext uri="{FF2B5EF4-FFF2-40B4-BE49-F238E27FC236}">
                    <a16:creationId xmlns:a16="http://schemas.microsoft.com/office/drawing/2014/main" id="{2CC0C3D5-1C9F-4175-BBDE-66518FEEC4EA}"/>
                  </a:ext>
                </a:extLst>
              </p:cNvPr>
              <p:cNvSpPr/>
              <p:nvPr/>
            </p:nvSpPr>
            <p:spPr>
              <a:xfrm>
                <a:off x="2195736" y="1987967"/>
                <a:ext cx="801735" cy="630682"/>
              </a:xfrm>
              <a:prstGeom prst="flowChartMagneticDisk">
                <a:avLst/>
              </a:prstGeom>
              <a:noFill/>
              <a:ln w="12700" cap="flat" cmpd="sng" algn="ctr">
                <a:solidFill>
                  <a:srgbClr val="94B6D2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4" name="자유형 11">
              <a:extLst>
                <a:ext uri="{FF2B5EF4-FFF2-40B4-BE49-F238E27FC236}">
                  <a16:creationId xmlns:a16="http://schemas.microsoft.com/office/drawing/2014/main" id="{17033627-EBA1-4DE0-B08F-7691F26E6A2D}"/>
                </a:ext>
              </a:extLst>
            </p:cNvPr>
            <p:cNvSpPr/>
            <p:nvPr/>
          </p:nvSpPr>
          <p:spPr>
            <a:xfrm>
              <a:off x="4344305" y="3528737"/>
              <a:ext cx="3180170" cy="473655"/>
            </a:xfrm>
            <a:custGeom>
              <a:avLst/>
              <a:gdLst>
                <a:gd name="connsiteX0" fmla="*/ 0 w 3180170"/>
                <a:gd name="connsiteY0" fmla="*/ 473655 h 473655"/>
                <a:gd name="connsiteX1" fmla="*/ 1537487 w 3180170"/>
                <a:gd name="connsiteY1" fmla="*/ 271 h 473655"/>
                <a:gd name="connsiteX2" fmla="*/ 3180170 w 3180170"/>
                <a:gd name="connsiteY2" fmla="*/ 404872 h 473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0170" h="473655">
                  <a:moveTo>
                    <a:pt x="0" y="473655"/>
                  </a:moveTo>
                  <a:cubicBezTo>
                    <a:pt x="503729" y="242695"/>
                    <a:pt x="1007459" y="11735"/>
                    <a:pt x="1537487" y="271"/>
                  </a:cubicBezTo>
                  <a:cubicBezTo>
                    <a:pt x="2067515" y="-11193"/>
                    <a:pt x="3017655" y="343507"/>
                    <a:pt x="3180170" y="404872"/>
                  </a:cubicBezTo>
                </a:path>
              </a:pathLst>
            </a:custGeom>
            <a:noFill/>
            <a:ln w="76200" cap="flat" cmpd="sng" algn="ctr">
              <a:solidFill>
                <a:srgbClr val="00B05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5B7948-4074-420D-AF59-90C6AFB58D03}"/>
                </a:ext>
              </a:extLst>
            </p:cNvPr>
            <p:cNvSpPr txBox="1"/>
            <p:nvPr/>
          </p:nvSpPr>
          <p:spPr>
            <a:xfrm>
              <a:off x="5183223" y="3170047"/>
              <a:ext cx="1207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prstClr val="black"/>
                  </a:solidFill>
                  <a:latin typeface="맑은 고딕"/>
                </a:rPr>
                <a:t>웹 문서 요청</a:t>
              </a:r>
            </a:p>
          </p:txBody>
        </p:sp>
        <p:sp>
          <p:nvSpPr>
            <p:cNvPr id="16" name="자유형 13">
              <a:extLst>
                <a:ext uri="{FF2B5EF4-FFF2-40B4-BE49-F238E27FC236}">
                  <a16:creationId xmlns:a16="http://schemas.microsoft.com/office/drawing/2014/main" id="{7552CD32-8333-4648-ACFE-52CBF43C8943}"/>
                </a:ext>
              </a:extLst>
            </p:cNvPr>
            <p:cNvSpPr/>
            <p:nvPr/>
          </p:nvSpPr>
          <p:spPr>
            <a:xfrm>
              <a:off x="5473144" y="3820201"/>
              <a:ext cx="2091791" cy="380446"/>
            </a:xfrm>
            <a:custGeom>
              <a:avLst/>
              <a:gdLst>
                <a:gd name="connsiteX0" fmla="*/ 2091791 w 2091791"/>
                <a:gd name="connsiteY0" fmla="*/ 380446 h 380446"/>
                <a:gd name="connsiteX1" fmla="*/ 849664 w 2091791"/>
                <a:gd name="connsiteY1" fmla="*/ 120 h 380446"/>
                <a:gd name="connsiteX2" fmla="*/ 0 w 2091791"/>
                <a:gd name="connsiteY2" fmla="*/ 348078 h 38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1791" h="380446">
                  <a:moveTo>
                    <a:pt x="2091791" y="380446"/>
                  </a:moveTo>
                  <a:cubicBezTo>
                    <a:pt x="1645043" y="192980"/>
                    <a:pt x="1198296" y="5515"/>
                    <a:pt x="849664" y="120"/>
                  </a:cubicBezTo>
                  <a:cubicBezTo>
                    <a:pt x="501032" y="-5275"/>
                    <a:pt x="250516" y="171401"/>
                    <a:pt x="0" y="348078"/>
                  </a:cubicBezTo>
                </a:path>
              </a:pathLst>
            </a:custGeom>
            <a:noFill/>
            <a:ln w="76200" cap="flat" cmpd="sng" algn="ctr">
              <a:solidFill>
                <a:srgbClr val="00B05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CE2AC5-8221-42B4-BA7E-64772AD056EF}"/>
                </a:ext>
              </a:extLst>
            </p:cNvPr>
            <p:cNvSpPr txBox="1"/>
            <p:nvPr/>
          </p:nvSpPr>
          <p:spPr>
            <a:xfrm>
              <a:off x="6062601" y="4036502"/>
              <a:ext cx="1207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prstClr val="black"/>
                  </a:solidFill>
                  <a:latin typeface="맑은 고딕"/>
                </a:rPr>
                <a:t>웹 문서 전송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E04473-A247-484F-A458-3E1C9D5FD3F9}"/>
                </a:ext>
              </a:extLst>
            </p:cNvPr>
            <p:cNvSpPr txBox="1"/>
            <p:nvPr/>
          </p:nvSpPr>
          <p:spPr>
            <a:xfrm>
              <a:off x="7588224" y="5633097"/>
              <a:ext cx="11726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prstClr val="black"/>
                  </a:solidFill>
                  <a:latin typeface="맑은 고딕"/>
                </a:rPr>
                <a:t>웹 서버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15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인터넷과 웹은 다르다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567499" y="1042874"/>
            <a:ext cx="11130293" cy="5040560"/>
          </a:xfrm>
        </p:spPr>
        <p:txBody>
          <a:bodyPr>
            <a:normAutofit fontScale="47500" lnSpcReduction="20000"/>
          </a:bodyPr>
          <a:lstStyle/>
          <a:p>
            <a:r>
              <a:rPr lang="ko-KR" altLang="en-US" sz="4400" dirty="0"/>
              <a:t>인터넷</a:t>
            </a:r>
            <a:endParaRPr lang="en-US" altLang="ko-KR" sz="4400" dirty="0"/>
          </a:p>
          <a:p>
            <a:pPr lvl="1"/>
            <a:r>
              <a:rPr lang="ko-KR" altLang="en-US" sz="3600" dirty="0"/>
              <a:t>웹의 개념이 나오기 전부터 만들어진 컴퓨터 연결 네트워크</a:t>
            </a:r>
            <a:endParaRPr lang="en-US" altLang="ko-KR" sz="3600" dirty="0"/>
          </a:p>
          <a:p>
            <a:pPr lvl="2"/>
            <a:r>
              <a:rPr lang="en-US" altLang="ko-KR" sz="3300" dirty="0"/>
              <a:t>1969</a:t>
            </a:r>
            <a:r>
              <a:rPr lang="ko-KR" altLang="en-US" sz="3300" dirty="0"/>
              <a:t>년 미 국방성 고등 연구 계획국</a:t>
            </a:r>
            <a:r>
              <a:rPr lang="en-US" altLang="ko-KR" sz="3300" dirty="0"/>
              <a:t>(ARPA)</a:t>
            </a:r>
          </a:p>
          <a:p>
            <a:pPr lvl="2"/>
            <a:r>
              <a:rPr lang="ko-KR" altLang="en-US" sz="3300" dirty="0"/>
              <a:t>여러 대학들과 계약 업체 사이의 컴퓨터 연결</a:t>
            </a:r>
            <a:endParaRPr lang="en-US" altLang="ko-KR" sz="3300" dirty="0"/>
          </a:p>
          <a:p>
            <a:pPr lvl="1"/>
            <a:r>
              <a:rPr lang="ko-KR" altLang="en-US" sz="3600" dirty="0"/>
              <a:t>컴퓨터마다 고유한 주소</a:t>
            </a:r>
            <a:r>
              <a:rPr lang="en-US" altLang="ko-KR" sz="3600" dirty="0"/>
              <a:t>(IP </a:t>
            </a:r>
            <a:r>
              <a:rPr lang="ko-KR" altLang="en-US" sz="3600" dirty="0"/>
              <a:t>주소</a:t>
            </a:r>
            <a:r>
              <a:rPr lang="en-US" altLang="ko-KR" sz="3600" dirty="0"/>
              <a:t>, 113.198.80.208)</a:t>
            </a:r>
            <a:r>
              <a:rPr lang="ko-KR" altLang="en-US" sz="3600" dirty="0"/>
              <a:t>를 부여하여 컴퓨터 구분</a:t>
            </a:r>
            <a:r>
              <a:rPr lang="en-US" altLang="ko-KR" sz="3600" dirty="0"/>
              <a:t> </a:t>
            </a:r>
          </a:p>
          <a:p>
            <a:pPr lvl="1"/>
            <a:r>
              <a:rPr lang="ko-KR" altLang="en-US" sz="3600" dirty="0"/>
              <a:t>인터넷을 활용하는 응용 서비스 사례</a:t>
            </a:r>
            <a:endParaRPr lang="en-US" altLang="ko-KR" sz="3600" dirty="0"/>
          </a:p>
          <a:p>
            <a:pPr lvl="2"/>
            <a:r>
              <a:rPr lang="ko-KR" altLang="en-US" sz="3300" dirty="0"/>
              <a:t>전자우편</a:t>
            </a:r>
            <a:r>
              <a:rPr lang="en-US" altLang="ko-KR" sz="3300" dirty="0"/>
              <a:t>(e-mail) </a:t>
            </a:r>
          </a:p>
          <a:p>
            <a:pPr lvl="2"/>
            <a:r>
              <a:rPr lang="ko-KR" altLang="en-US" sz="3300" dirty="0"/>
              <a:t>뉴스</a:t>
            </a:r>
            <a:r>
              <a:rPr lang="en-US" altLang="ko-KR" sz="3300" dirty="0"/>
              <a:t>(news)</a:t>
            </a:r>
          </a:p>
          <a:p>
            <a:pPr lvl="2"/>
            <a:r>
              <a:rPr lang="ko-KR" altLang="en-US" sz="3300" dirty="0"/>
              <a:t>파일 전송</a:t>
            </a:r>
            <a:r>
              <a:rPr lang="en-US" altLang="ko-KR" sz="3300" dirty="0"/>
              <a:t>(ftp)</a:t>
            </a:r>
          </a:p>
          <a:p>
            <a:pPr lvl="2"/>
            <a:r>
              <a:rPr lang="ko-KR" altLang="en-US" sz="3300" dirty="0"/>
              <a:t>채팅</a:t>
            </a:r>
            <a:r>
              <a:rPr lang="en-US" altLang="ko-KR" sz="3300" dirty="0"/>
              <a:t>(Internet Relay Chat)</a:t>
            </a:r>
          </a:p>
          <a:p>
            <a:pPr lvl="2"/>
            <a:r>
              <a:rPr lang="ko-KR" altLang="en-US" sz="3300" dirty="0"/>
              <a:t>메신저</a:t>
            </a:r>
            <a:r>
              <a:rPr lang="en-US" altLang="ko-KR" sz="3300" dirty="0"/>
              <a:t>(Messenger)</a:t>
            </a:r>
          </a:p>
          <a:p>
            <a:pPr lvl="2"/>
            <a:r>
              <a:rPr lang="en-US" altLang="ko-KR" sz="3300" dirty="0"/>
              <a:t>P2P(Peer to Peer)</a:t>
            </a:r>
          </a:p>
          <a:p>
            <a:pPr lvl="2"/>
            <a:r>
              <a:rPr lang="ko-KR" altLang="en-US" sz="3300" dirty="0" err="1"/>
              <a:t>스트리밍</a:t>
            </a:r>
            <a:r>
              <a:rPr lang="ko-KR" altLang="en-US" sz="3300" dirty="0"/>
              <a:t> 서비스</a:t>
            </a:r>
            <a:r>
              <a:rPr lang="en-US" altLang="ko-KR" sz="3300" dirty="0"/>
              <a:t>(Streaming Service)</a:t>
            </a:r>
          </a:p>
          <a:p>
            <a:pPr lvl="2"/>
            <a:r>
              <a:rPr lang="ko-KR" altLang="en-US" sz="3300" dirty="0"/>
              <a:t>인터넷 전화기</a:t>
            </a:r>
            <a:r>
              <a:rPr lang="en-US" altLang="ko-KR" sz="3300" dirty="0"/>
              <a:t>(Internet Phone)</a:t>
            </a:r>
          </a:p>
          <a:p>
            <a:pPr lvl="2"/>
            <a:r>
              <a:rPr lang="ko-KR" altLang="en-US" sz="3300" b="1" dirty="0">
                <a:solidFill>
                  <a:srgbClr val="C00000"/>
                </a:solidFill>
              </a:rPr>
              <a:t>월드 </a:t>
            </a:r>
            <a:r>
              <a:rPr lang="ko-KR" altLang="en-US" sz="3300" b="1" dirty="0" err="1">
                <a:solidFill>
                  <a:srgbClr val="C00000"/>
                </a:solidFill>
              </a:rPr>
              <a:t>와이드</a:t>
            </a:r>
            <a:r>
              <a:rPr lang="ko-KR" altLang="en-US" sz="3300" b="1" dirty="0">
                <a:solidFill>
                  <a:srgbClr val="C00000"/>
                </a:solidFill>
              </a:rPr>
              <a:t> 웹</a:t>
            </a:r>
            <a:r>
              <a:rPr lang="en-US" altLang="ko-KR" sz="3300" b="1" dirty="0">
                <a:solidFill>
                  <a:srgbClr val="C00000"/>
                </a:solidFill>
              </a:rPr>
              <a:t>(World Wide Web)</a:t>
            </a:r>
          </a:p>
          <a:p>
            <a:r>
              <a:rPr lang="ko-KR" altLang="en-US" sz="4400" dirty="0"/>
              <a:t>월드 </a:t>
            </a:r>
            <a:r>
              <a:rPr lang="ko-KR" altLang="en-US" sz="4400" dirty="0" err="1"/>
              <a:t>와이드</a:t>
            </a:r>
            <a:r>
              <a:rPr lang="ko-KR" altLang="en-US" sz="4400" dirty="0"/>
              <a:t> 웹</a:t>
            </a:r>
            <a:r>
              <a:rPr lang="en-US" altLang="ko-KR" sz="4400" dirty="0"/>
              <a:t>, </a:t>
            </a:r>
            <a:r>
              <a:rPr lang="ko-KR" altLang="en-US" sz="4400" dirty="0"/>
              <a:t>웹</a:t>
            </a:r>
            <a:r>
              <a:rPr lang="en-US" altLang="ko-KR" sz="4400" dirty="0"/>
              <a:t>(WWW)</a:t>
            </a:r>
          </a:p>
          <a:p>
            <a:pPr lvl="1"/>
            <a:r>
              <a:rPr lang="ko-KR" altLang="en-US" sz="3600" dirty="0"/>
              <a:t>인터넷을 활용하는 응용 서비스 중의 하나</a:t>
            </a:r>
            <a:endParaRPr lang="en-US" altLang="ko-KR" sz="3600" dirty="0"/>
          </a:p>
          <a:p>
            <a:pPr lvl="1"/>
            <a:r>
              <a:rPr lang="ko-KR" altLang="en-US" sz="3600" dirty="0"/>
              <a:t>웹 서버와 웹 브라우저로 구성되는 정보 전달 및 공유 서비스</a:t>
            </a:r>
            <a:endParaRPr lang="en-US" altLang="ko-KR" sz="3600" dirty="0"/>
          </a:p>
          <a:p>
            <a:r>
              <a:rPr lang="ko-KR" altLang="en-US" sz="4400" dirty="0"/>
              <a:t>인터넷이 고속도로라면 웹은 고속도로 망을 이용한 물류 산업</a:t>
            </a:r>
            <a:endParaRPr lang="en-US" altLang="ko-KR" sz="4400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88CDF7F-C6DB-45C6-82C2-B303733BC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54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사이트 구축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>
          <a:xfrm>
            <a:off x="623392" y="990366"/>
            <a:ext cx="11130293" cy="5040560"/>
          </a:xfrm>
        </p:spPr>
        <p:txBody>
          <a:bodyPr/>
          <a:lstStyle/>
          <a:p>
            <a:r>
              <a:rPr lang="ko-KR" altLang="en-US" dirty="0"/>
              <a:t>웹 사이트 구축</a:t>
            </a:r>
            <a:endParaRPr lang="en-US" altLang="ko-KR" dirty="0"/>
          </a:p>
          <a:p>
            <a:pPr lvl="1"/>
            <a:r>
              <a:rPr lang="ko-KR" altLang="en-US" dirty="0"/>
              <a:t>웹 서버로 사용할 컴퓨터에 웹 서버 소프트웨어 설치</a:t>
            </a:r>
            <a:endParaRPr lang="en-US" altLang="ko-KR" dirty="0"/>
          </a:p>
          <a:p>
            <a:pPr lvl="1"/>
            <a:r>
              <a:rPr lang="ko-KR" altLang="en-US" dirty="0"/>
              <a:t>웹 페이지</a:t>
            </a:r>
            <a:r>
              <a:rPr lang="en-US" altLang="ko-KR" dirty="0"/>
              <a:t>, </a:t>
            </a:r>
            <a:r>
              <a:rPr lang="ko-KR" altLang="en-US" dirty="0"/>
              <a:t>동영상</a:t>
            </a:r>
            <a:r>
              <a:rPr lang="en-US" altLang="ko-KR" dirty="0"/>
              <a:t>, </a:t>
            </a:r>
            <a:r>
              <a:rPr lang="ko-KR" altLang="en-US" dirty="0"/>
              <a:t>이미지 저장</a:t>
            </a:r>
            <a:r>
              <a:rPr lang="en-US" altLang="ko-KR" dirty="0"/>
              <a:t>, </a:t>
            </a:r>
            <a:r>
              <a:rPr lang="ko-KR" altLang="en-US" dirty="0"/>
              <a:t>데이터베이스 설치</a:t>
            </a:r>
            <a:endParaRPr lang="en-US" altLang="ko-KR" dirty="0"/>
          </a:p>
          <a:p>
            <a:pPr lvl="1"/>
            <a:r>
              <a:rPr lang="ko-KR" altLang="en-US" dirty="0"/>
              <a:t>웹 서버 응용프로그램 개발 및 설치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6598711" y="2661961"/>
            <a:ext cx="4177810" cy="3505252"/>
          </a:xfrm>
          <a:prstGeom prst="roundRect">
            <a:avLst>
              <a:gd name="adj" fmla="val 1547"/>
            </a:avLst>
          </a:prstGeom>
          <a:solidFill>
            <a:srgbClr val="F5FA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6672064" y="3757408"/>
            <a:ext cx="1078255" cy="1226185"/>
          </a:xfrm>
          <a:prstGeom prst="roundRect">
            <a:avLst/>
          </a:prstGeom>
          <a:solidFill>
            <a:srgbClr val="FFD65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웹 서버</a:t>
            </a:r>
            <a:endParaRPr lang="en-US" altLang="ko-KR" sz="13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소프트웨어</a:t>
            </a:r>
            <a:r>
              <a:rPr lang="en-US" altLang="ko-KR" sz="1300" b="1" dirty="0">
                <a:solidFill>
                  <a:schemeClr val="tx1"/>
                </a:solidFill>
              </a:rPr>
              <a:t>(</a:t>
            </a:r>
            <a:r>
              <a:rPr lang="en-US" altLang="ko-KR" sz="1300" b="1" dirty="0" err="1">
                <a:solidFill>
                  <a:schemeClr val="tx1"/>
                </a:solidFill>
              </a:rPr>
              <a:t>HTTPd</a:t>
            </a:r>
            <a:r>
              <a:rPr lang="en-US" altLang="ko-KR" sz="1300" b="1" dirty="0">
                <a:solidFill>
                  <a:schemeClr val="tx1"/>
                </a:solidFill>
              </a:rPr>
              <a:t>)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8165390" y="3612617"/>
            <a:ext cx="798076" cy="4768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44" name="AutoShape 52"/>
          <p:cNvSpPr>
            <a:spLocks noChangeArrowheads="1"/>
          </p:cNvSpPr>
          <p:nvPr/>
        </p:nvSpPr>
        <p:spPr bwMode="auto">
          <a:xfrm>
            <a:off x="9581126" y="5039388"/>
            <a:ext cx="848618" cy="695637"/>
          </a:xfrm>
          <a:prstGeom prst="flowChartMultidocument">
            <a:avLst/>
          </a:prstGeom>
          <a:noFill/>
          <a:ln w="9525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dirty="0">
                <a:latin typeface="+mj-lt"/>
              </a:rPr>
              <a:t>HTML </a:t>
            </a:r>
            <a:r>
              <a:rPr lang="ko-KR" altLang="en-US" sz="1100" dirty="0">
                <a:latin typeface="+mj-lt"/>
              </a:rPr>
              <a:t>문서</a:t>
            </a:r>
            <a:r>
              <a:rPr lang="en-US" altLang="ko-KR" sz="1100" dirty="0">
                <a:latin typeface="+mj-lt"/>
              </a:rPr>
              <a:t>, </a:t>
            </a:r>
          </a:p>
          <a:p>
            <a:pPr algn="ctr"/>
            <a:r>
              <a:rPr lang="ko-KR" altLang="en-US" sz="1100" dirty="0">
                <a:latin typeface="+mj-lt"/>
              </a:rPr>
              <a:t>이미지</a:t>
            </a:r>
            <a:r>
              <a:rPr lang="en-US" altLang="ko-KR" sz="1100" dirty="0">
                <a:latin typeface="+mj-lt"/>
              </a:rPr>
              <a:t>,</a:t>
            </a:r>
          </a:p>
          <a:p>
            <a:pPr algn="ctr"/>
            <a:r>
              <a:rPr lang="ko-KR" altLang="en-US" sz="1100" dirty="0">
                <a:latin typeface="+mj-lt"/>
              </a:rPr>
              <a:t>동영상 등</a:t>
            </a:r>
          </a:p>
        </p:txBody>
      </p:sp>
      <p:sp>
        <p:nvSpPr>
          <p:cNvPr id="46" name="순서도: 자기 디스크 45"/>
          <p:cNvSpPr/>
          <p:nvPr/>
        </p:nvSpPr>
        <p:spPr>
          <a:xfrm>
            <a:off x="9581126" y="3851042"/>
            <a:ext cx="995836" cy="919683"/>
          </a:xfrm>
          <a:prstGeom prst="flowChartMagneticDisk">
            <a:avLst/>
          </a:prstGeom>
          <a:solidFill>
            <a:srgbClr val="53D2FF"/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DATABASE</a:t>
            </a:r>
            <a:endParaRPr lang="ko-KR" altLang="en-US" sz="1200" dirty="0"/>
          </a:p>
        </p:txBody>
      </p:sp>
      <p:sp>
        <p:nvSpPr>
          <p:cNvPr id="49" name="타원 48"/>
          <p:cNvSpPr/>
          <p:nvPr/>
        </p:nvSpPr>
        <p:spPr>
          <a:xfrm>
            <a:off x="8165390" y="4191693"/>
            <a:ext cx="798076" cy="4768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회원관리</a:t>
            </a:r>
          </a:p>
        </p:txBody>
      </p:sp>
      <p:sp>
        <p:nvSpPr>
          <p:cNvPr id="51" name="타원 50"/>
          <p:cNvSpPr/>
          <p:nvPr/>
        </p:nvSpPr>
        <p:spPr>
          <a:xfrm>
            <a:off x="8165390" y="4804786"/>
            <a:ext cx="798076" cy="4768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주문</a:t>
            </a:r>
          </a:p>
        </p:txBody>
      </p:sp>
      <p:sp>
        <p:nvSpPr>
          <p:cNvPr id="52" name="타원 51"/>
          <p:cNvSpPr/>
          <p:nvPr/>
        </p:nvSpPr>
        <p:spPr>
          <a:xfrm>
            <a:off x="8165390" y="5417878"/>
            <a:ext cx="798076" cy="4768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지도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7643164" y="2727061"/>
            <a:ext cx="17410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웹 서버 응용프로그램</a:t>
            </a:r>
          </a:p>
        </p:txBody>
      </p:sp>
      <p:cxnSp>
        <p:nvCxnSpPr>
          <p:cNvPr id="59" name="직선 화살표 연결선 58"/>
          <p:cNvCxnSpPr>
            <a:cxnSpLocks/>
            <a:stCxn id="42" idx="3"/>
            <a:endCxn id="43" idx="2"/>
          </p:cNvCxnSpPr>
          <p:nvPr/>
        </p:nvCxnSpPr>
        <p:spPr>
          <a:xfrm flipV="1">
            <a:off x="7750319" y="3851042"/>
            <a:ext cx="415071" cy="51945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cxnSpLocks/>
            <a:stCxn id="42" idx="3"/>
            <a:endCxn id="49" idx="2"/>
          </p:cNvCxnSpPr>
          <p:nvPr/>
        </p:nvCxnSpPr>
        <p:spPr>
          <a:xfrm>
            <a:off x="7750319" y="4370501"/>
            <a:ext cx="415071" cy="5961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cxnSpLocks/>
            <a:stCxn id="42" idx="3"/>
            <a:endCxn id="51" idx="2"/>
          </p:cNvCxnSpPr>
          <p:nvPr/>
        </p:nvCxnSpPr>
        <p:spPr>
          <a:xfrm>
            <a:off x="7750319" y="4370501"/>
            <a:ext cx="415071" cy="67271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cxnSpLocks/>
            <a:stCxn id="42" idx="3"/>
            <a:endCxn id="52" idx="2"/>
          </p:cNvCxnSpPr>
          <p:nvPr/>
        </p:nvCxnSpPr>
        <p:spPr>
          <a:xfrm>
            <a:off x="7750319" y="4370501"/>
            <a:ext cx="415071" cy="128580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46" idx="2"/>
          </p:cNvCxnSpPr>
          <p:nvPr/>
        </p:nvCxnSpPr>
        <p:spPr>
          <a:xfrm>
            <a:off x="8963466" y="3851042"/>
            <a:ext cx="617660" cy="4598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51" idx="6"/>
            <a:endCxn id="44" idx="1"/>
          </p:cNvCxnSpPr>
          <p:nvPr/>
        </p:nvCxnSpPr>
        <p:spPr>
          <a:xfrm>
            <a:off x="8963466" y="5043210"/>
            <a:ext cx="617660" cy="343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52" idx="6"/>
            <a:endCxn id="46" idx="2"/>
          </p:cNvCxnSpPr>
          <p:nvPr/>
        </p:nvCxnSpPr>
        <p:spPr>
          <a:xfrm flipV="1">
            <a:off x="8963466" y="4310884"/>
            <a:ext cx="617660" cy="13454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49" idx="6"/>
            <a:endCxn id="44" idx="1"/>
          </p:cNvCxnSpPr>
          <p:nvPr/>
        </p:nvCxnSpPr>
        <p:spPr>
          <a:xfrm>
            <a:off x="8963466" y="4430118"/>
            <a:ext cx="617660" cy="957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49" idx="6"/>
            <a:endCxn id="46" idx="2"/>
          </p:cNvCxnSpPr>
          <p:nvPr/>
        </p:nvCxnSpPr>
        <p:spPr>
          <a:xfrm flipV="1">
            <a:off x="8963466" y="4310884"/>
            <a:ext cx="617660" cy="1192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2" descr="http://files.idg.co.kr/itworld/image/2014/08/surface-pro-3-stock-100268912-primary_id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91744" y="3927997"/>
            <a:ext cx="1572264" cy="135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모서리가 둥근 직사각형 70"/>
          <p:cNvSpPr/>
          <p:nvPr/>
        </p:nvSpPr>
        <p:spPr>
          <a:xfrm>
            <a:off x="4914479" y="3927997"/>
            <a:ext cx="835614" cy="781824"/>
          </a:xfrm>
          <a:prstGeom prst="roundRect">
            <a:avLst/>
          </a:prstGeom>
          <a:solidFill>
            <a:srgbClr val="FFD65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웹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브라우저</a:t>
            </a:r>
          </a:p>
        </p:txBody>
      </p:sp>
      <p:cxnSp>
        <p:nvCxnSpPr>
          <p:cNvPr id="72" name="직선 화살표 연결선 71"/>
          <p:cNvCxnSpPr>
            <a:cxnSpLocks/>
          </p:cNvCxnSpPr>
          <p:nvPr/>
        </p:nvCxnSpPr>
        <p:spPr>
          <a:xfrm flipV="1">
            <a:off x="5819978" y="4131675"/>
            <a:ext cx="974568" cy="16831"/>
          </a:xfrm>
          <a:prstGeom prst="straightConnector1">
            <a:avLst/>
          </a:prstGeom>
          <a:ln w="381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cxnSpLocks/>
          </p:cNvCxnSpPr>
          <p:nvPr/>
        </p:nvCxnSpPr>
        <p:spPr>
          <a:xfrm>
            <a:off x="5794569" y="4484638"/>
            <a:ext cx="949503" cy="22132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5857036" y="3834022"/>
            <a:ext cx="5939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요청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5819978" y="4544255"/>
            <a:ext cx="5939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전송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6598710" y="5864034"/>
            <a:ext cx="129749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웹 서버 컴퓨터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248693" y="5400318"/>
            <a:ext cx="1501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웹 클라이언트</a:t>
            </a:r>
          </a:p>
        </p:txBody>
      </p:sp>
      <p:sp>
        <p:nvSpPr>
          <p:cNvPr id="78" name="타원 77"/>
          <p:cNvSpPr/>
          <p:nvPr/>
        </p:nvSpPr>
        <p:spPr>
          <a:xfrm>
            <a:off x="8142586" y="3033630"/>
            <a:ext cx="798076" cy="4768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로그인</a:t>
            </a:r>
          </a:p>
        </p:txBody>
      </p:sp>
      <p:cxnSp>
        <p:nvCxnSpPr>
          <p:cNvPr id="79" name="직선 화살표 연결선 78"/>
          <p:cNvCxnSpPr>
            <a:cxnSpLocks/>
            <a:endCxn id="78" idx="2"/>
          </p:cNvCxnSpPr>
          <p:nvPr/>
        </p:nvCxnSpPr>
        <p:spPr>
          <a:xfrm flipV="1">
            <a:off x="7768071" y="3272055"/>
            <a:ext cx="374515" cy="109844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78" idx="6"/>
            <a:endCxn id="46" idx="2"/>
          </p:cNvCxnSpPr>
          <p:nvPr/>
        </p:nvCxnSpPr>
        <p:spPr>
          <a:xfrm>
            <a:off x="8940662" y="3272055"/>
            <a:ext cx="640464" cy="10388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8142586" y="6186199"/>
            <a:ext cx="11153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웹 사이트</a:t>
            </a:r>
          </a:p>
        </p:txBody>
      </p:sp>
      <p:sp>
        <p:nvSpPr>
          <p:cNvPr id="36" name="슬라이드 번호 개체 틀 3">
            <a:extLst>
              <a:ext uri="{FF2B5EF4-FFF2-40B4-BE49-F238E27FC236}">
                <a16:creationId xmlns:a16="http://schemas.microsoft.com/office/drawing/2014/main" id="{A4FED9F2-6EE1-48A3-81E2-C53013849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636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웹 서버 소프트웨어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 서버 소프트웨어 기능</a:t>
            </a:r>
            <a:endParaRPr lang="en-US" altLang="ko-KR" dirty="0"/>
          </a:p>
          <a:p>
            <a:pPr lvl="1"/>
            <a:r>
              <a:rPr lang="ko-KR" altLang="en-US" dirty="0"/>
              <a:t>웹 브라우저로부터 요청</a:t>
            </a:r>
            <a:r>
              <a:rPr lang="en-US" altLang="ko-KR" dirty="0"/>
              <a:t>(</a:t>
            </a:r>
            <a:r>
              <a:rPr lang="ko-KR" altLang="en-US" dirty="0"/>
              <a:t>웹 문서</a:t>
            </a:r>
            <a:r>
              <a:rPr lang="en-US" altLang="ko-KR" dirty="0"/>
              <a:t> </a:t>
            </a:r>
            <a:r>
              <a:rPr lang="ko-KR" altLang="en-US" dirty="0"/>
              <a:t>혹은 검색</a:t>
            </a:r>
            <a:r>
              <a:rPr lang="en-US" altLang="ko-KR" dirty="0"/>
              <a:t>)</a:t>
            </a:r>
            <a:r>
              <a:rPr lang="ko-KR" altLang="en-US" dirty="0"/>
              <a:t> 해석</a:t>
            </a:r>
            <a:endParaRPr lang="en-US" altLang="ko-KR" dirty="0"/>
          </a:p>
          <a:p>
            <a:pPr lvl="1"/>
            <a:r>
              <a:rPr lang="ko-KR" altLang="en-US" dirty="0"/>
              <a:t>필요한 웹 서버 응용프로그램 작동시키기</a:t>
            </a:r>
            <a:endParaRPr lang="en-US" altLang="ko-KR" dirty="0"/>
          </a:p>
          <a:p>
            <a:pPr lvl="1"/>
            <a:r>
              <a:rPr lang="ko-KR" altLang="en-US" dirty="0"/>
              <a:t>웹 서버 응용프로그램의 실행 결과를 웹 브라우저로 전송</a:t>
            </a:r>
            <a:endParaRPr lang="en-US" altLang="ko-KR" dirty="0"/>
          </a:p>
          <a:p>
            <a:r>
              <a:rPr lang="ko-KR" altLang="en-US" dirty="0"/>
              <a:t>웹 서버 소프트웨어 종류</a:t>
            </a:r>
            <a:endParaRPr lang="en-US" altLang="ko-KR" dirty="0"/>
          </a:p>
          <a:p>
            <a:pPr lvl="1"/>
            <a:r>
              <a:rPr lang="en-US" altLang="ko-KR" dirty="0"/>
              <a:t>Apache </a:t>
            </a:r>
            <a:r>
              <a:rPr lang="ko-KR" altLang="en-US" dirty="0"/>
              <a:t>사에서 만든 </a:t>
            </a:r>
            <a:r>
              <a:rPr lang="en-US" altLang="ko-KR" dirty="0"/>
              <a:t>Apache</a:t>
            </a:r>
            <a:endParaRPr lang="ko-KR" altLang="en-US" dirty="0"/>
          </a:p>
          <a:p>
            <a:pPr lvl="1"/>
            <a:r>
              <a:rPr lang="ko-KR" altLang="en-US" dirty="0"/>
              <a:t>마이크로소프트 사에서 만들고 </a:t>
            </a:r>
            <a:r>
              <a:rPr lang="en-US" altLang="ko-KR" dirty="0"/>
              <a:t>Windows NT</a:t>
            </a:r>
            <a:r>
              <a:rPr lang="ko-KR" altLang="en-US" dirty="0"/>
              <a:t>에서만 실행되는 </a:t>
            </a:r>
            <a:r>
              <a:rPr lang="en-US" altLang="ko-KR" dirty="0"/>
              <a:t>IIS</a:t>
            </a:r>
            <a:endParaRPr lang="ko-KR" altLang="en-US" dirty="0"/>
          </a:p>
          <a:p>
            <a:pPr lvl="1"/>
            <a:r>
              <a:rPr lang="en-US" altLang="ko-KR" dirty="0"/>
              <a:t>NGINX </a:t>
            </a:r>
            <a:r>
              <a:rPr lang="ko-KR" altLang="en-US" dirty="0"/>
              <a:t>사에서 만든 </a:t>
            </a:r>
            <a:r>
              <a:rPr lang="en-US" altLang="ko-KR" dirty="0" err="1"/>
              <a:t>nginx</a:t>
            </a:r>
            <a:endParaRPr lang="ko-KR" altLang="en-US" dirty="0"/>
          </a:p>
          <a:p>
            <a:pPr lvl="1"/>
            <a:r>
              <a:rPr lang="ko-KR" altLang="en-US" dirty="0" err="1"/>
              <a:t>구글에서</a:t>
            </a:r>
            <a:r>
              <a:rPr lang="ko-KR" altLang="en-US" dirty="0"/>
              <a:t> 만들고 </a:t>
            </a:r>
            <a:r>
              <a:rPr lang="ko-KR" altLang="en-US" dirty="0" err="1"/>
              <a:t>구글</a:t>
            </a:r>
            <a:r>
              <a:rPr lang="ko-KR" altLang="en-US" dirty="0"/>
              <a:t> 사이트에서 실행되는 </a:t>
            </a:r>
            <a:r>
              <a:rPr lang="en-US" altLang="ko-KR" dirty="0"/>
              <a:t>GWS(Google Web Server)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91E1FC1-0E84-4336-B008-ABEED03D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서버 응용프로그램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 사이트의 기능을 수행하는 서버 측 소프트웨어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검색 사이트 </a:t>
            </a:r>
            <a:r>
              <a:rPr lang="en-US" altLang="ko-KR" dirty="0"/>
              <a:t>– </a:t>
            </a:r>
            <a:r>
              <a:rPr lang="ko-KR" altLang="en-US" dirty="0"/>
              <a:t>검색 웹 서버 응용프로그램 필요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번역 사이트 </a:t>
            </a:r>
            <a:r>
              <a:rPr lang="en-US" altLang="ko-KR" dirty="0"/>
              <a:t>– </a:t>
            </a:r>
            <a:r>
              <a:rPr lang="ko-KR" altLang="en-US" dirty="0"/>
              <a:t>번역 웹 서버 응용프로그램 필요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회원 관리 사이트 </a:t>
            </a:r>
            <a:r>
              <a:rPr lang="en-US" altLang="ko-KR" dirty="0"/>
              <a:t>– </a:t>
            </a:r>
            <a:r>
              <a:rPr lang="ko-KR" altLang="en-US" dirty="0"/>
              <a:t>회원 관리 웹 서버 응용프로그램 필요</a:t>
            </a:r>
          </a:p>
          <a:p>
            <a:r>
              <a:rPr lang="ko-KR" altLang="en-US" dirty="0"/>
              <a:t>웹 서버 응용프로그램 개발 언어</a:t>
            </a:r>
            <a:endParaRPr lang="en-US" altLang="ko-KR" dirty="0"/>
          </a:p>
          <a:p>
            <a:pPr lvl="1"/>
            <a:r>
              <a:rPr lang="ko-KR" altLang="en-US" dirty="0" err="1"/>
              <a:t>서버용</a:t>
            </a:r>
            <a:r>
              <a:rPr lang="ko-KR" altLang="en-US" dirty="0"/>
              <a:t> 자바스크립트</a:t>
            </a:r>
            <a:r>
              <a:rPr lang="en-US" altLang="ko-KR" dirty="0"/>
              <a:t>(Node.js)-</a:t>
            </a:r>
            <a:r>
              <a:rPr lang="ko-KR" altLang="en-US" dirty="0"/>
              <a:t>자바스크립트는 클라이언트 개발에 사용</a:t>
            </a:r>
            <a:endParaRPr lang="en-US" altLang="ko-KR" dirty="0"/>
          </a:p>
          <a:p>
            <a:pPr lvl="1"/>
            <a:r>
              <a:rPr lang="en-US" altLang="ko-KR" dirty="0"/>
              <a:t>JSP(Java Server Page) – Java</a:t>
            </a:r>
            <a:r>
              <a:rPr lang="ko-KR" altLang="en-US" dirty="0"/>
              <a:t>의 스크립트 언어</a:t>
            </a:r>
            <a:endParaRPr lang="en-US" altLang="ko-KR" dirty="0"/>
          </a:p>
          <a:p>
            <a:pPr lvl="1"/>
            <a:r>
              <a:rPr lang="en-US" altLang="ko-KR" dirty="0"/>
              <a:t>Java – </a:t>
            </a:r>
            <a:r>
              <a:rPr lang="ko-KR" altLang="en-US" dirty="0"/>
              <a:t>자바</a:t>
            </a:r>
            <a:r>
              <a:rPr lang="en-US" altLang="ko-KR" dirty="0"/>
              <a:t> </a:t>
            </a:r>
            <a:r>
              <a:rPr lang="ko-KR" altLang="en-US" dirty="0" err="1"/>
              <a:t>서블릿</a:t>
            </a:r>
            <a:endParaRPr lang="en-US" altLang="ko-KR" dirty="0"/>
          </a:p>
          <a:p>
            <a:pPr lvl="1"/>
            <a:r>
              <a:rPr lang="en-US" altLang="ko-KR" dirty="0"/>
              <a:t>C/C++</a:t>
            </a:r>
          </a:p>
          <a:p>
            <a:pPr lvl="1"/>
            <a:r>
              <a:rPr lang="en-US" altLang="ko-KR" dirty="0"/>
              <a:t>PHP, Perl, Python </a:t>
            </a:r>
            <a:r>
              <a:rPr lang="ko-KR" altLang="en-US" dirty="0"/>
              <a:t>등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D4A755C-4B72-4235-A4FE-64ED49BFB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46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브라우저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웹 클라이언트는 웹 브라우저로 구현된다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웹 브라우저는 </a:t>
            </a:r>
            <a:r>
              <a:rPr lang="en-US" altLang="ko-KR" sz="2400" dirty="0"/>
              <a:t>HTTP, FTP, SMTP</a:t>
            </a:r>
            <a:r>
              <a:rPr lang="ko-KR" altLang="en-US" sz="2400" dirty="0"/>
              <a:t>등의 인터넷 응용 프로토콜을 사용하여 </a:t>
            </a:r>
            <a:r>
              <a:rPr lang="ko-KR" altLang="en-US" sz="2400" dirty="0" err="1"/>
              <a:t>웹서버로부터</a:t>
            </a:r>
            <a:r>
              <a:rPr lang="ko-KR" altLang="en-US" sz="2400" dirty="0"/>
              <a:t> </a:t>
            </a:r>
            <a:r>
              <a:rPr lang="en-US" altLang="ko-KR" sz="2400" dirty="0"/>
              <a:t>WWW </a:t>
            </a:r>
            <a:r>
              <a:rPr lang="ko-KR" altLang="en-US" sz="2400" dirty="0"/>
              <a:t>문서</a:t>
            </a:r>
            <a:r>
              <a:rPr lang="en-US" altLang="ko-KR" sz="2400" dirty="0"/>
              <a:t>(HTML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를 가져오고</a:t>
            </a:r>
            <a:r>
              <a:rPr lang="en-US" altLang="ko-KR" sz="2400" dirty="0"/>
              <a:t>, </a:t>
            </a:r>
            <a:r>
              <a:rPr lang="ko-KR" altLang="en-US" sz="2400" dirty="0"/>
              <a:t>자바스크립트 등의 프로그래밍 기법</a:t>
            </a:r>
            <a:r>
              <a:rPr lang="en-US" altLang="ko-KR" sz="2400" dirty="0"/>
              <a:t>(</a:t>
            </a:r>
            <a:r>
              <a:rPr lang="ko-KR" altLang="en-US" sz="2400" dirty="0"/>
              <a:t>또는 해석기</a:t>
            </a:r>
            <a:r>
              <a:rPr lang="en-US" altLang="ko-KR" sz="2400" dirty="0"/>
              <a:t>)</a:t>
            </a:r>
            <a:r>
              <a:rPr lang="ko-KR" altLang="en-US" sz="2400" dirty="0"/>
              <a:t>을</a:t>
            </a:r>
            <a:r>
              <a:rPr lang="en-US" altLang="ko-KR" sz="2400" dirty="0"/>
              <a:t> </a:t>
            </a:r>
            <a:r>
              <a:rPr lang="ko-KR" altLang="en-US" sz="2400" dirty="0"/>
              <a:t>사용하여 사용자의 화면에 해당 결과물을 출력해 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3435688"/>
            <a:ext cx="7704856" cy="2657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342726" y="594928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웹 브라우저</a:t>
            </a:r>
          </a:p>
        </p:txBody>
      </p:sp>
    </p:spTree>
    <p:extLst>
      <p:ext uri="{BB962C8B-B14F-4D97-AF65-F5344CB8AC3E}">
        <p14:creationId xmlns:p14="http://schemas.microsoft.com/office/powerpoint/2010/main" val="1874197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2" name="제목 1"/>
          <p:cNvSpPr txBox="1">
            <a:spLocks/>
          </p:cNvSpPr>
          <p:nvPr/>
        </p:nvSpPr>
        <p:spPr>
          <a:xfrm>
            <a:off x="5944969" y="212071"/>
            <a:ext cx="3818384" cy="752128"/>
          </a:xfrm>
          <a:prstGeom prst="rect">
            <a:avLst/>
          </a:prstGeom>
        </p:spPr>
        <p:txBody>
          <a:bodyPr/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웹 브라우저의 역사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135561" y="476672"/>
            <a:ext cx="7534565" cy="6050252"/>
            <a:chOff x="611560" y="476672"/>
            <a:chExt cx="7534565" cy="6050252"/>
          </a:xfrm>
        </p:grpSpPr>
        <p:cxnSp>
          <p:nvCxnSpPr>
            <p:cNvPr id="99" name="직선 연결선 98"/>
            <p:cNvCxnSpPr/>
            <p:nvPr/>
          </p:nvCxnSpPr>
          <p:spPr>
            <a:xfrm>
              <a:off x="1075280" y="6040518"/>
              <a:ext cx="70598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>
              <a:stCxn id="45" idx="3"/>
            </p:cNvCxnSpPr>
            <p:nvPr/>
          </p:nvCxnSpPr>
          <p:spPr>
            <a:xfrm flipV="1">
              <a:off x="1104003" y="5421422"/>
              <a:ext cx="7031135" cy="105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>
              <a:stCxn id="42" idx="3"/>
            </p:cNvCxnSpPr>
            <p:nvPr/>
          </p:nvCxnSpPr>
          <p:spPr>
            <a:xfrm flipV="1">
              <a:off x="1104003" y="4711318"/>
              <a:ext cx="7031135" cy="97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>
              <a:stCxn id="38" idx="3"/>
            </p:cNvCxnSpPr>
            <p:nvPr/>
          </p:nvCxnSpPr>
          <p:spPr>
            <a:xfrm flipV="1">
              <a:off x="1104003" y="4276038"/>
              <a:ext cx="7031135" cy="38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>
              <a:stCxn id="34" idx="3"/>
            </p:cNvCxnSpPr>
            <p:nvPr/>
          </p:nvCxnSpPr>
          <p:spPr>
            <a:xfrm flipV="1">
              <a:off x="1104003" y="3467738"/>
              <a:ext cx="7031135" cy="200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>
              <a:stCxn id="32" idx="3"/>
            </p:cNvCxnSpPr>
            <p:nvPr/>
          </p:nvCxnSpPr>
          <p:spPr>
            <a:xfrm flipV="1">
              <a:off x="1104003" y="2757820"/>
              <a:ext cx="7021684" cy="149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>
              <a:stCxn id="27" idx="3"/>
            </p:cNvCxnSpPr>
            <p:nvPr/>
          </p:nvCxnSpPr>
          <p:spPr>
            <a:xfrm flipV="1">
              <a:off x="1104003" y="2358506"/>
              <a:ext cx="7021684" cy="170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>
              <a:stCxn id="21" idx="3"/>
            </p:cNvCxnSpPr>
            <p:nvPr/>
          </p:nvCxnSpPr>
          <p:spPr>
            <a:xfrm>
              <a:off x="1104003" y="1956379"/>
              <a:ext cx="7021684" cy="2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>
              <a:cxnSpLocks/>
              <a:stCxn id="13" idx="3"/>
            </p:cNvCxnSpPr>
            <p:nvPr/>
          </p:nvCxnSpPr>
          <p:spPr>
            <a:xfrm>
              <a:off x="1104003" y="1540201"/>
              <a:ext cx="7021684" cy="48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/>
            <p:cNvCxnSpPr/>
            <p:nvPr/>
          </p:nvCxnSpPr>
          <p:spPr>
            <a:xfrm>
              <a:off x="1075280" y="494198"/>
              <a:ext cx="3074" cy="603114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11560" y="476672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1990</a:t>
              </a:r>
              <a:endParaRPr lang="ko-KR" altLang="en-US" sz="11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21767" y="508572"/>
              <a:ext cx="1346751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WORLDWIDEWEB</a:t>
              </a:r>
              <a:endParaRPr lang="ko-KR" altLang="en-US" sz="11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91917" y="980728"/>
              <a:ext cx="603642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Nexus</a:t>
              </a:r>
              <a:endParaRPr lang="ko-KR" altLang="en-US" sz="1100" dirty="0"/>
            </a:p>
          </p:txBody>
        </p:sp>
        <p:cxnSp>
          <p:nvCxnSpPr>
            <p:cNvPr id="12" name="직선 화살표 연결선 11"/>
            <p:cNvCxnSpPr>
              <a:stCxn id="8" idx="2"/>
              <a:endCxn id="10" idx="0"/>
            </p:cNvCxnSpPr>
            <p:nvPr/>
          </p:nvCxnSpPr>
          <p:spPr>
            <a:xfrm flipH="1">
              <a:off x="1793738" y="798013"/>
              <a:ext cx="1405" cy="182715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611560" y="1409396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1993</a:t>
              </a:r>
              <a:endParaRPr lang="ko-KR" altLang="en-US" sz="11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92536" y="1356385"/>
              <a:ext cx="702196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Mosaic</a:t>
              </a:r>
              <a:endParaRPr lang="ko-KR" altLang="en-US" sz="11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1560" y="182557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1994</a:t>
              </a:r>
              <a:endParaRPr lang="ko-KR" altLang="en-US" sz="11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05716" y="1830231"/>
              <a:ext cx="1479922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Netscape Navigator</a:t>
              </a:r>
              <a:endParaRPr lang="ko-KR" altLang="en-US" sz="1100" dirty="0"/>
            </a:p>
          </p:txBody>
        </p:sp>
        <p:cxnSp>
          <p:nvCxnSpPr>
            <p:cNvPr id="24" name="직선 화살표 연결선 23"/>
            <p:cNvCxnSpPr>
              <a:stCxn id="14" idx="2"/>
              <a:endCxn id="22" idx="0"/>
            </p:cNvCxnSpPr>
            <p:nvPr/>
          </p:nvCxnSpPr>
          <p:spPr>
            <a:xfrm>
              <a:off x="2843634" y="1645826"/>
              <a:ext cx="2043" cy="184405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11560" y="2244780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1995</a:t>
              </a:r>
              <a:endParaRPr lang="ko-KR" altLang="en-US" sz="11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782725" y="2226181"/>
              <a:ext cx="1276488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Internet Explorer</a:t>
              </a:r>
              <a:endParaRPr lang="ko-KR" altLang="en-US" sz="11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11560" y="2641960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1996</a:t>
              </a:r>
              <a:endParaRPr lang="ko-KR" altLang="en-US" sz="11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56774" y="2592027"/>
              <a:ext cx="605323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Opera</a:t>
              </a:r>
              <a:endParaRPr lang="ko-KR" altLang="en-US" sz="11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11560" y="3356992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1998</a:t>
              </a:r>
              <a:endParaRPr lang="ko-KR" altLang="en-US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70442" y="3356992"/>
              <a:ext cx="1944215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Netscape Communicator</a:t>
              </a:r>
              <a:endParaRPr lang="ko-KR" altLang="en-US" sz="1100" dirty="0"/>
            </a:p>
          </p:txBody>
        </p:sp>
        <p:cxnSp>
          <p:nvCxnSpPr>
            <p:cNvPr id="37" name="직선 화살표 연결선 36"/>
            <p:cNvCxnSpPr>
              <a:stCxn id="22" idx="2"/>
              <a:endCxn id="35" idx="0"/>
            </p:cNvCxnSpPr>
            <p:nvPr/>
          </p:nvCxnSpPr>
          <p:spPr>
            <a:xfrm flipH="1">
              <a:off x="2842550" y="2119672"/>
              <a:ext cx="3127" cy="1237320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611560" y="4149080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2002</a:t>
              </a:r>
              <a:endParaRPr lang="ko-KR" altLang="en-US" sz="11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270838" y="4155472"/>
              <a:ext cx="1143352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Mozilla Firefox</a:t>
              </a:r>
              <a:endParaRPr lang="ko-KR" altLang="en-US" sz="1100" dirty="0"/>
            </a:p>
          </p:txBody>
        </p:sp>
        <p:cxnSp>
          <p:nvCxnSpPr>
            <p:cNvPr id="41" name="직선 화살표 연결선 40"/>
            <p:cNvCxnSpPr>
              <a:stCxn id="35" idx="2"/>
              <a:endCxn id="39" idx="0"/>
            </p:cNvCxnSpPr>
            <p:nvPr/>
          </p:nvCxnSpPr>
          <p:spPr>
            <a:xfrm flipH="1">
              <a:off x="2842514" y="3646433"/>
              <a:ext cx="36" cy="509039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11560" y="4590238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2003</a:t>
              </a:r>
              <a:endParaRPr lang="ko-KR" altLang="en-US" sz="11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27376" y="4564044"/>
              <a:ext cx="564991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Safari</a:t>
              </a:r>
              <a:endParaRPr lang="ko-KR" altLang="en-US" sz="11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1560" y="5301208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2008</a:t>
              </a:r>
              <a:endParaRPr lang="ko-KR" altLang="en-US" sz="11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328991" y="5254442"/>
              <a:ext cx="716290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Chrome</a:t>
              </a:r>
              <a:endParaRPr lang="ko-KR" altLang="en-US" sz="11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11560" y="5899833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2015</a:t>
              </a:r>
              <a:endParaRPr lang="ko-KR" altLang="en-US" sz="11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830112" y="5896972"/>
              <a:ext cx="1181715" cy="2894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Microsoft Edge</a:t>
              </a:r>
              <a:endParaRPr lang="ko-KR" altLang="en-US" sz="1100" dirty="0"/>
            </a:p>
          </p:txBody>
        </p:sp>
        <p:cxnSp>
          <p:nvCxnSpPr>
            <p:cNvPr id="51" name="직선 화살표 연결선 50"/>
            <p:cNvCxnSpPr>
              <a:stCxn id="28" idx="2"/>
              <a:endCxn id="49" idx="0"/>
            </p:cNvCxnSpPr>
            <p:nvPr/>
          </p:nvCxnSpPr>
          <p:spPr>
            <a:xfrm>
              <a:off x="4420969" y="2515622"/>
              <a:ext cx="1" cy="3381350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>
              <a:stCxn id="39" idx="2"/>
            </p:cNvCxnSpPr>
            <p:nvPr/>
          </p:nvCxnSpPr>
          <p:spPr>
            <a:xfrm>
              <a:off x="2842514" y="4444913"/>
              <a:ext cx="0" cy="2080431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>
              <a:stCxn id="33" idx="2"/>
            </p:cNvCxnSpPr>
            <p:nvPr/>
          </p:nvCxnSpPr>
          <p:spPr>
            <a:xfrm flipH="1">
              <a:off x="5554717" y="2881468"/>
              <a:ext cx="4719" cy="3645456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44" idx="2"/>
            </p:cNvCxnSpPr>
            <p:nvPr/>
          </p:nvCxnSpPr>
          <p:spPr>
            <a:xfrm flipH="1">
              <a:off x="6591552" y="4853485"/>
              <a:ext cx="18320" cy="1645437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>
              <a:stCxn id="46" idx="2"/>
            </p:cNvCxnSpPr>
            <p:nvPr/>
          </p:nvCxnSpPr>
          <p:spPr>
            <a:xfrm>
              <a:off x="7687136" y="5543883"/>
              <a:ext cx="0" cy="981461"/>
            </a:xfrm>
            <a:prstGeom prst="straightConnector1">
              <a:avLst/>
            </a:prstGeom>
            <a:ln w="28575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98" name="Picture 2" descr="C:\Users\com\Desktop\icon175x17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8909" y="4941168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C:\Users\com\Desktop\opera-15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4818" y="2358505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5" descr="C:\Users\com\Desktop\539-safari-box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9552" y="4293096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C:\Users\com\Desktop\ie9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8104" y="1988840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7" descr="C:\Users\com\Desktop\unnamed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4398" y="3897080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4" name="Picture 8" descr="C:\Users\com\Desktop\netscape_navigator_by_onlyouniverse-d4s0fhu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8120" y="155679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9" descr="C:\Users\com\Desktop\Microsoft-Edge-Browser-logo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650" y="5589240"/>
              <a:ext cx="521960" cy="391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3" name="직선 화살표 연결선 122"/>
            <p:cNvCxnSpPr>
              <a:stCxn id="49" idx="2"/>
            </p:cNvCxnSpPr>
            <p:nvPr/>
          </p:nvCxnSpPr>
          <p:spPr>
            <a:xfrm flipH="1">
              <a:off x="4420969" y="6186413"/>
              <a:ext cx="1" cy="338931"/>
            </a:xfrm>
            <a:prstGeom prst="straightConnector1">
              <a:avLst/>
            </a:prstGeom>
            <a:ln w="28575">
              <a:solidFill>
                <a:schemeClr val="accent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611560" y="6237312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2022</a:t>
              </a:r>
              <a:endParaRPr lang="ko-KR" altLang="en-US" sz="1100" dirty="0"/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1086267" y="6381328"/>
              <a:ext cx="70598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슬라이드 번호 개체 틀 3">
            <a:extLst>
              <a:ext uri="{FF2B5EF4-FFF2-40B4-BE49-F238E27FC236}">
                <a16:creationId xmlns:a16="http://schemas.microsoft.com/office/drawing/2014/main" id="{47C4B743-CA89-4F31-AA92-0DEFF68475B1}"/>
              </a:ext>
            </a:extLst>
          </p:cNvPr>
          <p:cNvSpPr txBox="1">
            <a:spLocks/>
          </p:cNvSpPr>
          <p:nvPr/>
        </p:nvSpPr>
        <p:spPr>
          <a:xfrm>
            <a:off x="10578159" y="6218462"/>
            <a:ext cx="1206473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BEDD84E-25D4-4983-8AA1-2863C96F08D9}" type="slidenum">
              <a:rPr lang="ko-KR" altLang="en-US" sz="1200" smtClean="0"/>
              <a:pPr algn="r"/>
              <a:t>10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6169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문서와 전자 문서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23392" y="1124744"/>
            <a:ext cx="11130293" cy="5112568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400" dirty="0"/>
              <a:t>전자 문서</a:t>
            </a:r>
            <a:endParaRPr lang="en-US" altLang="ko-KR" sz="2400" dirty="0"/>
          </a:p>
          <a:p>
            <a:pPr lvl="1"/>
            <a:r>
              <a:rPr lang="ko-KR" altLang="en-US" sz="1900" dirty="0"/>
              <a:t>워드나 한글</a:t>
            </a:r>
            <a:r>
              <a:rPr lang="en-US" altLang="ko-KR" sz="1900" dirty="0"/>
              <a:t>, </a:t>
            </a:r>
            <a:r>
              <a:rPr lang="ko-KR" altLang="en-US" sz="1900" dirty="0"/>
              <a:t>메모장 등으로 작성하고 볼 수 있는 문서</a:t>
            </a:r>
            <a:endParaRPr lang="en-US" altLang="ko-KR" sz="1900" dirty="0"/>
          </a:p>
          <a:p>
            <a:pPr lvl="1"/>
            <a:r>
              <a:rPr lang="ko-KR" altLang="en-US" sz="1900" dirty="0"/>
              <a:t>하나의 문서는 보통 하나의 파일로 저장</a:t>
            </a:r>
            <a:endParaRPr lang="en-US" altLang="ko-KR" sz="1700" dirty="0"/>
          </a:p>
          <a:p>
            <a:pPr lvl="2"/>
            <a:r>
              <a:rPr lang="ko-KR" altLang="en-US" sz="1600" dirty="0"/>
              <a:t>페이지 별로 파일에 저장하지 않음</a:t>
            </a:r>
            <a:endParaRPr lang="en-US" altLang="ko-KR" sz="1600" dirty="0"/>
          </a:p>
          <a:p>
            <a:pPr lvl="2"/>
            <a:r>
              <a:rPr lang="ko-KR" altLang="en-US" sz="1600" dirty="0"/>
              <a:t>텍스트 본문</a:t>
            </a:r>
            <a:r>
              <a:rPr lang="en-US" altLang="ko-KR" sz="1600" dirty="0"/>
              <a:t>, </a:t>
            </a:r>
            <a:r>
              <a:rPr lang="ko-KR" altLang="en-US" sz="1600" dirty="0"/>
              <a:t>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오디오</a:t>
            </a:r>
            <a:r>
              <a:rPr lang="en-US" altLang="ko-KR" sz="1600" dirty="0"/>
              <a:t>, </a:t>
            </a:r>
            <a:r>
              <a:rPr lang="ko-KR" altLang="en-US" sz="1600" dirty="0"/>
              <a:t>비디오 등을 모두 문서 내에 직접 저장</a:t>
            </a:r>
            <a:endParaRPr lang="en-US" altLang="ko-KR" sz="1600" dirty="0"/>
          </a:p>
          <a:p>
            <a:r>
              <a:rPr lang="ko-KR" altLang="en-US" sz="2400" dirty="0"/>
              <a:t>웹 문서</a:t>
            </a:r>
            <a:endParaRPr lang="en-US" altLang="ko-KR" sz="2400" dirty="0"/>
          </a:p>
          <a:p>
            <a:pPr lvl="1"/>
            <a:r>
              <a:rPr lang="en-US" altLang="ko-KR" sz="1900" dirty="0"/>
              <a:t>HTML </a:t>
            </a:r>
            <a:r>
              <a:rPr lang="ko-KR" altLang="en-US" sz="1900" dirty="0"/>
              <a:t>언어로 작성</a:t>
            </a:r>
            <a:r>
              <a:rPr lang="en-US" altLang="ko-KR" sz="1900" dirty="0"/>
              <a:t>/</a:t>
            </a:r>
            <a:r>
              <a:rPr lang="ko-KR" altLang="en-US" sz="1900" dirty="0"/>
              <a:t>웹 브라우저로 보기</a:t>
            </a:r>
            <a:endParaRPr lang="en-US" altLang="ko-KR" sz="1900" dirty="0"/>
          </a:p>
          <a:p>
            <a:pPr lvl="1"/>
            <a:r>
              <a:rPr lang="ko-KR" altLang="en-US" sz="1900" dirty="0"/>
              <a:t>웹 문서는 페이지 단위로 파일에 분할하여 저장</a:t>
            </a:r>
            <a:endParaRPr lang="en-US" altLang="ko-KR" sz="1900" dirty="0"/>
          </a:p>
          <a:p>
            <a:pPr lvl="2"/>
            <a:r>
              <a:rPr lang="ko-KR" altLang="en-US" sz="1600" dirty="0"/>
              <a:t>페이지 마다 하나의 파일에 나누어 작성되고 저장 </a:t>
            </a:r>
            <a:r>
              <a:rPr lang="en-US" altLang="ko-KR" sz="1600" dirty="0"/>
              <a:t>– </a:t>
            </a:r>
            <a:r>
              <a:rPr lang="ko-KR" altLang="en-US" sz="1600" dirty="0"/>
              <a:t>웹 페이지</a:t>
            </a:r>
            <a:endParaRPr lang="en-US" altLang="ko-KR" sz="1600" dirty="0"/>
          </a:p>
          <a:p>
            <a:pPr lvl="2"/>
            <a:r>
              <a:rPr lang="ko-KR" altLang="en-US" sz="1600" dirty="0"/>
              <a:t>각 페이지는 하이퍼링크로 연결</a:t>
            </a:r>
            <a:endParaRPr lang="en-US" altLang="ko-KR" sz="1600" dirty="0"/>
          </a:p>
          <a:p>
            <a:pPr lvl="1"/>
            <a:r>
              <a:rPr lang="ko-KR" altLang="en-US" sz="1900" dirty="0"/>
              <a:t>웹 페이지</a:t>
            </a:r>
            <a:endParaRPr lang="en-US" altLang="ko-KR" sz="1900" dirty="0"/>
          </a:p>
          <a:p>
            <a:pPr lvl="2"/>
            <a:r>
              <a:rPr lang="ko-KR" altLang="en-US" sz="1600" dirty="0"/>
              <a:t>텍스트</a:t>
            </a:r>
            <a:r>
              <a:rPr lang="en-US" altLang="ko-KR" sz="1600" dirty="0"/>
              <a:t> </a:t>
            </a:r>
            <a:r>
              <a:rPr lang="ko-KR" altLang="en-US" sz="1600" dirty="0"/>
              <a:t>만 저장 </a:t>
            </a:r>
            <a:r>
              <a:rPr lang="en-US" altLang="ko-KR" sz="1600" dirty="0"/>
              <a:t>- </a:t>
            </a:r>
            <a:r>
              <a:rPr lang="ko-KR" altLang="en-US" sz="1600" dirty="0"/>
              <a:t>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그래픽</a:t>
            </a:r>
            <a:r>
              <a:rPr lang="en-US" altLang="ko-KR" sz="1600" dirty="0"/>
              <a:t>, </a:t>
            </a:r>
            <a:r>
              <a:rPr lang="ko-KR" altLang="en-US" sz="1600" dirty="0"/>
              <a:t>동영상 등은 별도의 파일로 저장</a:t>
            </a:r>
            <a:endParaRPr lang="en-US" altLang="ko-KR" sz="1600" dirty="0"/>
          </a:p>
          <a:p>
            <a:pPr lvl="2"/>
            <a:r>
              <a:rPr lang="ko-KR" altLang="en-US" sz="1600" dirty="0"/>
              <a:t>웹 페이지에 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그래픽</a:t>
            </a:r>
            <a:r>
              <a:rPr lang="en-US" altLang="ko-KR" sz="1600" dirty="0"/>
              <a:t>, </a:t>
            </a:r>
            <a:r>
              <a:rPr lang="ko-KR" altLang="en-US" sz="1600" dirty="0"/>
              <a:t>동영상 파일의 이름으로 연결</a:t>
            </a:r>
            <a:endParaRPr lang="en-US" altLang="ko-KR" sz="1600" dirty="0"/>
          </a:p>
          <a:p>
            <a:pPr lvl="1"/>
            <a:r>
              <a:rPr lang="ko-KR" altLang="en-US" sz="1900" dirty="0"/>
              <a:t>웹 페이지들의 연결</a:t>
            </a:r>
            <a:endParaRPr lang="en-US" altLang="ko-KR" sz="1900" dirty="0"/>
          </a:p>
          <a:p>
            <a:pPr lvl="2"/>
            <a:r>
              <a:rPr lang="ko-KR" altLang="en-US" sz="1600" dirty="0"/>
              <a:t>하이퍼링크</a:t>
            </a:r>
            <a:r>
              <a:rPr lang="en-US" altLang="ko-KR" sz="1600" dirty="0"/>
              <a:t>(hyperlink) – </a:t>
            </a:r>
            <a:r>
              <a:rPr lang="ko-KR" altLang="en-US" sz="1600" dirty="0"/>
              <a:t>다른</a:t>
            </a:r>
            <a:r>
              <a:rPr lang="en-US" altLang="ko-KR" sz="1600" dirty="0"/>
              <a:t> </a:t>
            </a:r>
            <a:r>
              <a:rPr lang="ko-KR" altLang="en-US" sz="1600" dirty="0"/>
              <a:t>웹 페이지의 주소를 가진 텍스트 정보</a:t>
            </a:r>
            <a:endParaRPr lang="en-US" altLang="ko-KR" sz="1600" dirty="0"/>
          </a:p>
          <a:p>
            <a:pPr lvl="2"/>
            <a:r>
              <a:rPr lang="ko-KR" altLang="en-US" sz="1600" dirty="0"/>
              <a:t>웹 페이지들은 하이퍼링크로 상호 연결됨</a:t>
            </a:r>
            <a:endParaRPr lang="en-US" altLang="ko-KR" sz="1600" dirty="0"/>
          </a:p>
          <a:p>
            <a:pPr lvl="1"/>
            <a:r>
              <a:rPr lang="ko-KR" altLang="en-US" sz="1900" dirty="0"/>
              <a:t>웹 문서를 읽는 순서는 사용자가 결정</a:t>
            </a:r>
            <a:r>
              <a:rPr lang="en-US" altLang="ko-KR" sz="1900" dirty="0"/>
              <a:t> </a:t>
            </a:r>
          </a:p>
          <a:p>
            <a:pPr lvl="2"/>
            <a:r>
              <a:rPr lang="ko-KR" altLang="en-US" sz="1600" dirty="0"/>
              <a:t>웹 문서는 사용자가 하이퍼링크를 따라 웹 페이지 선택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내비게이션</a:t>
            </a:r>
            <a:endParaRPr lang="en-US" altLang="ko-KR" sz="1600" dirty="0"/>
          </a:p>
          <a:p>
            <a:pPr lvl="2"/>
            <a:r>
              <a:rPr lang="ko-KR" altLang="en-US" sz="1600" dirty="0"/>
              <a:t>전자 문서는 문서를 만드는 사람이 결정</a:t>
            </a:r>
            <a:endParaRPr lang="en-US" altLang="ko-KR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BA05BC1-0BBC-43A8-A1CA-1DB2FBA25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181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465FD-6FD6-422E-8861-50AF90214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4E1A68-AE44-433A-9005-9D4916813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5" y="266846"/>
            <a:ext cx="7882219" cy="65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85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WWW </a:t>
            </a:r>
            <a:r>
              <a:rPr lang="ko-KR" altLang="en-US" dirty="0"/>
              <a:t>문서는 크게 다음 </a:t>
            </a:r>
            <a:r>
              <a:rPr lang="en-US" altLang="ko-KR" dirty="0"/>
              <a:t>3</a:t>
            </a:r>
            <a:r>
              <a:rPr lang="ko-KR" altLang="en-US" dirty="0"/>
              <a:t>가지로 구분된다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정적</a:t>
            </a:r>
            <a:r>
              <a:rPr lang="en-US" altLang="ko-KR" dirty="0"/>
              <a:t>(static) </a:t>
            </a:r>
            <a:r>
              <a:rPr lang="ko-KR" altLang="en-US" dirty="0"/>
              <a:t>문서</a:t>
            </a:r>
            <a:r>
              <a:rPr lang="en-US" altLang="ko-KR" dirty="0"/>
              <a:t>: </a:t>
            </a:r>
            <a:r>
              <a:rPr lang="ko-KR" altLang="en-US" dirty="0"/>
              <a:t>예</a:t>
            </a:r>
            <a:r>
              <a:rPr lang="en-US" altLang="ko-KR" dirty="0"/>
              <a:t>) HTML </a:t>
            </a:r>
          </a:p>
          <a:p>
            <a:pPr lvl="1"/>
            <a:r>
              <a:rPr lang="ko-KR" altLang="en-US" dirty="0" err="1"/>
              <a:t>서버측</a:t>
            </a:r>
            <a:r>
              <a:rPr lang="en-US" altLang="ko-KR" dirty="0"/>
              <a:t>(server-side) </a:t>
            </a:r>
            <a:r>
              <a:rPr lang="ko-KR" altLang="en-US" dirty="0"/>
              <a:t>동적</a:t>
            </a:r>
            <a:r>
              <a:rPr lang="en-US" altLang="ko-KR" dirty="0"/>
              <a:t>(dynamic) </a:t>
            </a:r>
            <a:r>
              <a:rPr lang="ko-KR" altLang="en-US" dirty="0"/>
              <a:t>문서</a:t>
            </a:r>
            <a:r>
              <a:rPr lang="en-US" altLang="ko-KR" dirty="0"/>
              <a:t>: </a:t>
            </a:r>
            <a:r>
              <a:rPr lang="ko-KR" altLang="en-US" dirty="0"/>
              <a:t>예</a:t>
            </a:r>
            <a:r>
              <a:rPr lang="en-US" altLang="ko-KR" dirty="0"/>
              <a:t>) JSP, ASP, PHP, CGI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ko-KR" altLang="en-US" dirty="0" err="1"/>
              <a:t>클라이언트측</a:t>
            </a:r>
            <a:r>
              <a:rPr lang="en-US" altLang="ko-KR" dirty="0"/>
              <a:t>(client-side) </a:t>
            </a:r>
            <a:r>
              <a:rPr lang="ko-KR" altLang="en-US" dirty="0"/>
              <a:t>동적 문서</a:t>
            </a:r>
            <a:r>
              <a:rPr lang="en-US" altLang="ko-KR" dirty="0"/>
              <a:t>: </a:t>
            </a:r>
            <a:r>
              <a:rPr lang="ko-KR" altLang="en-US" dirty="0"/>
              <a:t>예</a:t>
            </a:r>
            <a:r>
              <a:rPr lang="en-US" altLang="ko-KR" dirty="0"/>
              <a:t>) JavaScript,  CSS, </a:t>
            </a:r>
            <a:r>
              <a:rPr lang="ko-KR" altLang="en-US" dirty="0"/>
              <a:t>자바 애플릿</a:t>
            </a:r>
            <a:r>
              <a:rPr lang="en-US" altLang="ko-KR" dirty="0"/>
              <a:t>(applet)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위 </a:t>
            </a:r>
            <a:r>
              <a:rPr lang="ko-KR" altLang="en-US" dirty="0" err="1"/>
              <a:t>웹문서는</a:t>
            </a:r>
            <a:r>
              <a:rPr lang="ko-KR" altLang="en-US" dirty="0"/>
              <a:t> 문서 내용의</a:t>
            </a:r>
            <a:endParaRPr lang="en-US" altLang="ko-KR" dirty="0"/>
          </a:p>
          <a:p>
            <a:pPr lvl="1"/>
            <a:r>
              <a:rPr lang="ko-KR" altLang="en-US" dirty="0"/>
              <a:t>변경 여부에 따라 </a:t>
            </a:r>
            <a:r>
              <a:rPr lang="ko-KR" altLang="en-US" dirty="0" err="1"/>
              <a:t>정적문서와</a:t>
            </a:r>
            <a:r>
              <a:rPr lang="ko-KR" altLang="en-US" dirty="0"/>
              <a:t> </a:t>
            </a:r>
            <a:r>
              <a:rPr lang="ko-KR" altLang="en-US" dirty="0" err="1"/>
              <a:t>동적문서로</a:t>
            </a:r>
            <a:r>
              <a:rPr lang="ko-KR" altLang="en-US" dirty="0"/>
              <a:t> 나뉘고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 err="1"/>
              <a:t>동적문서의</a:t>
            </a:r>
            <a:r>
              <a:rPr lang="ko-KR" altLang="en-US" dirty="0"/>
              <a:t> 경우 최종적으로 문서의 내용이 결정되는 위치에 따라 </a:t>
            </a:r>
            <a:r>
              <a:rPr lang="ko-KR" altLang="en-US" dirty="0" err="1"/>
              <a:t>서버측</a:t>
            </a:r>
            <a:r>
              <a:rPr lang="ko-KR" altLang="en-US" dirty="0"/>
              <a:t> 동적 문서와 </a:t>
            </a:r>
            <a:r>
              <a:rPr lang="ko-KR" altLang="en-US" dirty="0" err="1"/>
              <a:t>클라이언트측</a:t>
            </a:r>
            <a:r>
              <a:rPr lang="ko-KR" altLang="en-US" dirty="0"/>
              <a:t> </a:t>
            </a:r>
            <a:r>
              <a:rPr lang="ko-KR" altLang="en-US" dirty="0" err="1"/>
              <a:t>동적문서로</a:t>
            </a:r>
            <a:r>
              <a:rPr lang="ko-KR" altLang="en-US" dirty="0"/>
              <a:t> 구분된다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WWW </a:t>
            </a:r>
            <a:r>
              <a:rPr lang="ko-KR" altLang="en-US" dirty="0"/>
              <a:t>문서의 종류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555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WWW </a:t>
            </a:r>
            <a:r>
              <a:rPr lang="ko-KR" altLang="en-US" dirty="0"/>
              <a:t>문서의 종류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847529" y="1196752"/>
            <a:ext cx="8347853" cy="4896544"/>
            <a:chOff x="373544" y="1124744"/>
            <a:chExt cx="8347853" cy="489654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544" y="1124744"/>
              <a:ext cx="8347853" cy="4896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" name="직선 연결선 5"/>
            <p:cNvCxnSpPr/>
            <p:nvPr/>
          </p:nvCxnSpPr>
          <p:spPr bwMode="auto">
            <a:xfrm>
              <a:off x="393864" y="1155224"/>
              <a:ext cx="823090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21634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</a:t>
            </a:r>
            <a:r>
              <a:rPr lang="ko-KR" altLang="en-US" dirty="0" err="1"/>
              <a:t>웹문서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서버에 있는 문서가 변경되지 않고 클라이언트에게 전달되고 그대로 </a:t>
            </a:r>
            <a:r>
              <a:rPr lang="ko-KR" altLang="en-US" dirty="0" err="1"/>
              <a:t>웹브라우저</a:t>
            </a:r>
            <a:r>
              <a:rPr lang="ko-KR" altLang="en-US" dirty="0"/>
              <a:t> 화면에 출력된다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024" y="2636912"/>
            <a:ext cx="5831687" cy="326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2841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서버측</a:t>
            </a:r>
            <a:r>
              <a:rPr lang="ko-KR" altLang="en-US" dirty="0"/>
              <a:t> </a:t>
            </a:r>
            <a:r>
              <a:rPr lang="ko-KR" altLang="en-US" dirty="0" err="1"/>
              <a:t>동적문서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클라이언트의 요청</a:t>
            </a:r>
            <a:r>
              <a:rPr lang="en-US" altLang="ko-KR" dirty="0"/>
              <a:t>(request) </a:t>
            </a:r>
            <a:r>
              <a:rPr lang="ko-KR" altLang="en-US" dirty="0"/>
              <a:t>메시지가 도착하면 서버에서 별도의 프로그램 또는 스크립트를 실행하여 </a:t>
            </a:r>
            <a:r>
              <a:rPr lang="ko-KR" altLang="en-US" dirty="0" err="1"/>
              <a:t>웹문서를</a:t>
            </a:r>
            <a:r>
              <a:rPr lang="ko-KR" altLang="en-US" dirty="0"/>
              <a:t> 생성한다</a:t>
            </a:r>
            <a:endParaRPr lang="en-US" altLang="ko-KR" dirty="0"/>
          </a:p>
          <a:p>
            <a:pPr lvl="1"/>
            <a:r>
              <a:rPr lang="ko-KR" altLang="en-US" dirty="0"/>
              <a:t>동적 문서의 경우 </a:t>
            </a:r>
            <a:r>
              <a:rPr lang="en-US" altLang="ko-KR" dirty="0"/>
              <a:t>client</a:t>
            </a:r>
            <a:r>
              <a:rPr lang="ko-KR" altLang="en-US" dirty="0"/>
              <a:t>가 접속하는 시간마다 다른 </a:t>
            </a:r>
            <a:r>
              <a:rPr lang="ko-KR" altLang="en-US" dirty="0" err="1"/>
              <a:t>웹문서가</a:t>
            </a:r>
            <a:r>
              <a:rPr lang="ko-KR" altLang="en-US" dirty="0"/>
              <a:t> 생성될 수 있다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방문자 수 프로그램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ASP(Active Server Page) </a:t>
            </a:r>
            <a:r>
              <a:rPr lang="ko-KR" altLang="en-US" dirty="0"/>
              <a:t>및 </a:t>
            </a:r>
            <a:r>
              <a:rPr lang="en-US" altLang="ko-KR" dirty="0"/>
              <a:t>JSP(Java Server Page)</a:t>
            </a:r>
            <a:r>
              <a:rPr lang="ko-KR" altLang="en-US" dirty="0"/>
              <a:t>에서 </a:t>
            </a:r>
            <a:r>
              <a:rPr lang="en-US" altLang="ko-KR" dirty="0"/>
              <a:t>‘Server Page’</a:t>
            </a:r>
            <a:r>
              <a:rPr lang="ko-KR" altLang="en-US" dirty="0"/>
              <a:t>는 </a:t>
            </a:r>
            <a:r>
              <a:rPr lang="en-US" altLang="ko-KR" dirty="0"/>
              <a:t>‘</a:t>
            </a:r>
            <a:r>
              <a:rPr lang="ko-KR" altLang="en-US" dirty="0"/>
              <a:t>서버에서 </a:t>
            </a:r>
            <a:r>
              <a:rPr lang="ko-KR" altLang="en-US" dirty="0" err="1"/>
              <a:t>웹문서를</a:t>
            </a:r>
            <a:r>
              <a:rPr lang="ko-KR" altLang="en-US" dirty="0"/>
              <a:t> 생성</a:t>
            </a:r>
            <a:r>
              <a:rPr lang="en-US" altLang="ko-KR" dirty="0"/>
              <a:t>’</a:t>
            </a:r>
            <a:r>
              <a:rPr lang="ko-KR" altLang="en-US" dirty="0"/>
              <a:t>한다는 의미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78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서버측</a:t>
            </a:r>
            <a:r>
              <a:rPr lang="ko-KR" altLang="en-US" dirty="0"/>
              <a:t> </a:t>
            </a:r>
            <a:r>
              <a:rPr lang="ko-KR" altLang="en-US" dirty="0" err="1"/>
              <a:t>동적문서</a:t>
            </a:r>
            <a:r>
              <a:rPr lang="en-US" altLang="ko-KR" dirty="0"/>
              <a:t>(</a:t>
            </a:r>
            <a:r>
              <a:rPr lang="ko-KR" altLang="en-US" dirty="0"/>
              <a:t>프로그램 사용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웹서버는</a:t>
            </a:r>
            <a:r>
              <a:rPr lang="ko-KR" altLang="en-US" dirty="0"/>
              <a:t> 프로그램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:CGI)</a:t>
            </a:r>
            <a:r>
              <a:rPr lang="ko-KR" altLang="en-US" dirty="0"/>
              <a:t>을 실행시켜 </a:t>
            </a:r>
            <a:r>
              <a:rPr lang="ko-KR" altLang="en-US" dirty="0" err="1"/>
              <a:t>웹문서를</a:t>
            </a:r>
            <a:r>
              <a:rPr lang="ko-KR" altLang="en-US" dirty="0"/>
              <a:t> 생성하고 생성된 문서를 </a:t>
            </a:r>
            <a:r>
              <a:rPr lang="en-US" altLang="ko-KR" dirty="0"/>
              <a:t>client</a:t>
            </a:r>
            <a:r>
              <a:rPr lang="ko-KR" altLang="en-US" dirty="0"/>
              <a:t>에게 전송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6" y="2348880"/>
            <a:ext cx="6457727" cy="376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7797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서버측</a:t>
            </a:r>
            <a:r>
              <a:rPr lang="ko-KR" altLang="en-US" dirty="0"/>
              <a:t> </a:t>
            </a:r>
            <a:r>
              <a:rPr lang="ko-KR" altLang="en-US" dirty="0" err="1"/>
              <a:t>동적문서</a:t>
            </a:r>
            <a:r>
              <a:rPr lang="en-US" altLang="ko-KR" dirty="0"/>
              <a:t>(</a:t>
            </a:r>
            <a:r>
              <a:rPr lang="ko-KR" altLang="en-US" dirty="0"/>
              <a:t>스크립트 사용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83432" y="1066731"/>
            <a:ext cx="10369152" cy="5040560"/>
          </a:xfrm>
        </p:spPr>
        <p:txBody>
          <a:bodyPr/>
          <a:lstStyle/>
          <a:p>
            <a:r>
              <a:rPr lang="ko-KR" altLang="en-US" dirty="0" err="1"/>
              <a:t>서버측에서</a:t>
            </a:r>
            <a:r>
              <a:rPr lang="ko-KR" altLang="en-US" dirty="0"/>
              <a:t> 스크립트를 실행하여 </a:t>
            </a:r>
            <a:r>
              <a:rPr lang="ko-KR" altLang="en-US" dirty="0" err="1"/>
              <a:t>웹문서를</a:t>
            </a:r>
            <a:r>
              <a:rPr lang="ko-KR" altLang="en-US" dirty="0"/>
              <a:t> 생성하고 이것을 </a:t>
            </a:r>
            <a:r>
              <a:rPr lang="en-US" altLang="ko-KR" dirty="0"/>
              <a:t>client</a:t>
            </a:r>
            <a:r>
              <a:rPr lang="ko-KR" altLang="en-US" dirty="0"/>
              <a:t>에게 전송</a:t>
            </a:r>
            <a:r>
              <a:rPr lang="en-US" altLang="ko-KR" dirty="0"/>
              <a:t>(ASP, JSP, PHP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서버측</a:t>
            </a:r>
            <a:r>
              <a:rPr lang="ko-KR" altLang="en-US" dirty="0"/>
              <a:t> 스크립트언어는 </a:t>
            </a:r>
            <a:r>
              <a:rPr lang="ko-KR" altLang="en-US" dirty="0" err="1"/>
              <a:t>웹프로그래밍</a:t>
            </a:r>
            <a:r>
              <a:rPr lang="ko-KR" altLang="en-US" dirty="0"/>
              <a:t> 언어에 따라 달라질 수 있음</a:t>
            </a:r>
            <a:r>
              <a:rPr lang="en-US" altLang="ko-KR" dirty="0"/>
              <a:t>(ASP: VB Script, JSP: JavaScript)</a:t>
            </a:r>
          </a:p>
          <a:p>
            <a:pPr lvl="1"/>
            <a:r>
              <a:rPr lang="en-US" altLang="ko-KR" dirty="0"/>
              <a:t>CGI</a:t>
            </a:r>
            <a:r>
              <a:rPr lang="ko-KR" altLang="en-US" dirty="0"/>
              <a:t>는 서버에 부담을 많이 줌</a:t>
            </a:r>
            <a:r>
              <a:rPr lang="en-US" altLang="ko-KR" dirty="0"/>
              <a:t>: ASP, JSP</a:t>
            </a:r>
            <a:r>
              <a:rPr lang="ko-KR" altLang="en-US" dirty="0"/>
              <a:t>는 </a:t>
            </a:r>
            <a:r>
              <a:rPr lang="en-US" altLang="ko-KR" dirty="0"/>
              <a:t>CGI</a:t>
            </a:r>
            <a:r>
              <a:rPr lang="ko-KR" altLang="en-US" dirty="0"/>
              <a:t>의 단점을 해결하기 위해 개발됨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66" y="2132857"/>
            <a:ext cx="5998071" cy="240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4138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클라이언트측</a:t>
            </a:r>
            <a:r>
              <a:rPr lang="ko-KR" altLang="en-US" dirty="0"/>
              <a:t> </a:t>
            </a:r>
            <a:r>
              <a:rPr lang="ko-KR" altLang="en-US" dirty="0" err="1"/>
              <a:t>동적문서</a:t>
            </a:r>
            <a:r>
              <a:rPr lang="en-US" altLang="ko-KR" dirty="0"/>
              <a:t>(</a:t>
            </a:r>
            <a:r>
              <a:rPr lang="ko-KR" altLang="en-US" dirty="0"/>
              <a:t>프로그램 실행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클라이언트의 요청에 의해 </a:t>
            </a:r>
            <a:r>
              <a:rPr lang="ko-KR" altLang="en-US" dirty="0" err="1"/>
              <a:t>웹서버는</a:t>
            </a:r>
            <a:r>
              <a:rPr lang="ko-KR" altLang="en-US" dirty="0"/>
              <a:t> </a:t>
            </a:r>
            <a:r>
              <a:rPr lang="en-US" altLang="ko-KR" dirty="0"/>
              <a:t>Applet </a:t>
            </a:r>
            <a:r>
              <a:rPr lang="ko-KR" altLang="en-US" dirty="0"/>
              <a:t>등의 </a:t>
            </a:r>
            <a:r>
              <a:rPr lang="en-US" altLang="ko-KR" dirty="0"/>
              <a:t>‘</a:t>
            </a:r>
            <a:r>
              <a:rPr lang="ko-KR" altLang="en-US" dirty="0"/>
              <a:t>프로그램</a:t>
            </a:r>
            <a:r>
              <a:rPr lang="en-US" altLang="ko-KR" dirty="0"/>
              <a:t>’</a:t>
            </a:r>
            <a:r>
              <a:rPr lang="ko-KR" altLang="en-US" dirty="0"/>
              <a:t>을 전송하고</a:t>
            </a:r>
            <a:r>
              <a:rPr lang="en-US" altLang="ko-KR" dirty="0"/>
              <a:t>, </a:t>
            </a:r>
            <a:r>
              <a:rPr lang="ko-KR" altLang="en-US" dirty="0"/>
              <a:t>해당 프로그램이 클라이언트 측에서 실행되어 결과가 출력됨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2420888"/>
            <a:ext cx="7370986" cy="3415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1351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클라이언트측</a:t>
            </a:r>
            <a:r>
              <a:rPr lang="ko-KR" altLang="en-US" dirty="0"/>
              <a:t> </a:t>
            </a:r>
            <a:r>
              <a:rPr lang="ko-KR" altLang="en-US" dirty="0" err="1"/>
              <a:t>동적문서</a:t>
            </a:r>
            <a:r>
              <a:rPr lang="en-US" altLang="ko-KR" dirty="0"/>
              <a:t>(</a:t>
            </a:r>
            <a:r>
              <a:rPr lang="ko-KR" altLang="en-US" dirty="0"/>
              <a:t>스크립트 사용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9416" y="1124744"/>
            <a:ext cx="10369152" cy="5040560"/>
          </a:xfrm>
        </p:spPr>
        <p:txBody>
          <a:bodyPr/>
          <a:lstStyle/>
          <a:p>
            <a:r>
              <a:rPr lang="ko-KR" altLang="en-US" dirty="0"/>
              <a:t>클라이언트 요청에 의해서 </a:t>
            </a:r>
            <a:r>
              <a:rPr lang="ko-KR" altLang="en-US" dirty="0" err="1"/>
              <a:t>웹서버는</a:t>
            </a:r>
            <a:r>
              <a:rPr lang="ko-KR" altLang="en-US" dirty="0"/>
              <a:t> 스크립트를 전송하고 클라이언트는 해당 스크립트를 실행하여 </a:t>
            </a:r>
            <a:r>
              <a:rPr lang="ko-KR" altLang="en-US" dirty="0" err="1"/>
              <a:t>웹문서를</a:t>
            </a:r>
            <a:r>
              <a:rPr lang="ko-KR" altLang="en-US" dirty="0"/>
              <a:t> 화면에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2636913"/>
            <a:ext cx="7832179" cy="3302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204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브라우저와 웹 서버 사이의 통신</a:t>
            </a:r>
            <a:r>
              <a:rPr lang="en-US" altLang="ko-KR" dirty="0"/>
              <a:t>: HTTP </a:t>
            </a:r>
            <a:r>
              <a:rPr lang="ko-KR" altLang="en-US" dirty="0"/>
              <a:t>프로토콜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웹문서는</a:t>
            </a:r>
            <a:r>
              <a:rPr lang="ko-KR" altLang="en-US" dirty="0"/>
              <a:t> 클라이언트와 </a:t>
            </a:r>
            <a:r>
              <a:rPr lang="ko-KR" altLang="en-US" dirty="0" err="1"/>
              <a:t>서버사이에</a:t>
            </a:r>
            <a:r>
              <a:rPr lang="ko-KR" altLang="en-US" dirty="0"/>
              <a:t>  </a:t>
            </a:r>
            <a:r>
              <a:rPr lang="en-US" altLang="ko-KR" dirty="0"/>
              <a:t>HTTP </a:t>
            </a:r>
            <a:r>
              <a:rPr lang="ko-KR" altLang="en-US" dirty="0"/>
              <a:t>프로토콜을 사용하여 전달된다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클라이언트는 </a:t>
            </a:r>
            <a:r>
              <a:rPr lang="en-US" altLang="ko-KR" dirty="0"/>
              <a:t>request(</a:t>
            </a:r>
            <a:r>
              <a:rPr lang="ko-KR" altLang="en-US" dirty="0"/>
              <a:t>요청</a:t>
            </a:r>
            <a:r>
              <a:rPr lang="en-US" altLang="ko-KR" dirty="0"/>
              <a:t>) </a:t>
            </a:r>
            <a:r>
              <a:rPr lang="ko-KR" altLang="en-US" dirty="0"/>
              <a:t>메시지를 통해 </a:t>
            </a:r>
            <a:r>
              <a:rPr lang="ko-KR" altLang="en-US" dirty="0" err="1"/>
              <a:t>웹문서를</a:t>
            </a:r>
            <a:r>
              <a:rPr lang="ko-KR" altLang="en-US" dirty="0"/>
              <a:t> 요청하고 서버는 </a:t>
            </a:r>
            <a:r>
              <a:rPr lang="en-US" altLang="ko-KR" dirty="0"/>
              <a:t>response(</a:t>
            </a:r>
            <a:r>
              <a:rPr lang="ko-KR" altLang="en-US" dirty="0"/>
              <a:t>응답</a:t>
            </a:r>
            <a:r>
              <a:rPr lang="en-US" altLang="ko-KR" dirty="0"/>
              <a:t>) </a:t>
            </a:r>
            <a:r>
              <a:rPr lang="ko-KR" altLang="en-US" dirty="0"/>
              <a:t>메시지를 통해 해당 </a:t>
            </a:r>
            <a:r>
              <a:rPr lang="ko-KR" altLang="en-US" dirty="0" err="1"/>
              <a:t>웹문서를</a:t>
            </a:r>
            <a:r>
              <a:rPr lang="ko-KR" altLang="en-US" dirty="0"/>
              <a:t> 전달한다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3375912"/>
            <a:ext cx="7122567" cy="286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885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메시지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772817"/>
            <a:ext cx="7872263" cy="392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0797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메시지 헤더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Request line</a:t>
            </a:r>
            <a:r>
              <a:rPr lang="ko-KR" altLang="en-US" dirty="0"/>
              <a:t>의 </a:t>
            </a:r>
            <a:endParaRPr lang="en-US" altLang="ko-KR" dirty="0"/>
          </a:p>
          <a:p>
            <a:pPr lvl="1"/>
            <a:r>
              <a:rPr lang="en-US" altLang="ko-KR" dirty="0"/>
              <a:t>URL</a:t>
            </a:r>
            <a:r>
              <a:rPr lang="ko-KR" altLang="en-US" dirty="0"/>
              <a:t>은 서버에 있는 웹문서의 주소를 나타냄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3600" dirty="0"/>
          </a:p>
          <a:p>
            <a:pPr lvl="1"/>
            <a:r>
              <a:rPr lang="en-US" altLang="ko-KR" spc="-100" dirty="0"/>
              <a:t>Request type</a:t>
            </a:r>
            <a:r>
              <a:rPr lang="ko-KR" altLang="en-US" spc="-100" dirty="0"/>
              <a:t>은 </a:t>
            </a:r>
            <a:r>
              <a:rPr lang="en-US" altLang="ko-KR" spc="-100" dirty="0"/>
              <a:t>Method(HTTP </a:t>
            </a:r>
            <a:r>
              <a:rPr lang="ko-KR" altLang="en-US" spc="-100" dirty="0"/>
              <a:t>요청 패킷의 종류 및 역할을 정의</a:t>
            </a:r>
            <a:r>
              <a:rPr lang="en-US" altLang="ko-KR" spc="-100" dirty="0"/>
              <a:t>)</a:t>
            </a:r>
            <a:r>
              <a:rPr lang="ko-KR" altLang="en-US" spc="-100" dirty="0"/>
              <a:t>를 나타냄 </a:t>
            </a:r>
            <a:endParaRPr lang="en-US" altLang="ko-KR" spc="-1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23</a:t>
            </a:fld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928" y="1108783"/>
            <a:ext cx="5402939" cy="220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14F81362-6A93-4104-8586-3D276623BB20}"/>
              </a:ext>
            </a:extLst>
          </p:cNvPr>
          <p:cNvGrpSpPr/>
          <p:nvPr/>
        </p:nvGrpSpPr>
        <p:grpSpPr>
          <a:xfrm>
            <a:off x="1703513" y="4149080"/>
            <a:ext cx="7632848" cy="1368152"/>
            <a:chOff x="733622" y="1713242"/>
            <a:chExt cx="7654801" cy="1600200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1073494-F8ED-4A16-8C99-7B9019527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622" y="1713242"/>
              <a:ext cx="7654801" cy="160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53CA2D3D-2DE8-4B96-8C65-DCFC2F4C0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48" y="2796010"/>
              <a:ext cx="7286377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ko-KR" sz="2400" b="1" dirty="0">
                  <a:solidFill>
                    <a:srgbClr val="0070C0"/>
                  </a:solidFill>
                  <a:latin typeface="Times New Roman" pitchFamily="18" charset="0"/>
                </a:rPr>
                <a:t>http://</a:t>
              </a:r>
              <a:r>
                <a:rPr lang="en-US" altLang="ko-KR" sz="2400" b="1" dirty="0">
                  <a:solidFill>
                    <a:srgbClr val="C00000"/>
                  </a:solidFill>
                  <a:latin typeface="Times New Roman" pitchFamily="18" charset="0"/>
                </a:rPr>
                <a:t>www.oracle.com</a:t>
              </a:r>
              <a:r>
                <a:rPr lang="en-US" altLang="ko-KR" sz="2400" b="1" dirty="0">
                  <a:solidFill>
                    <a:srgbClr val="00B050"/>
                  </a:solidFill>
                  <a:latin typeface="Times New Roman" pitchFamily="18" charset="0"/>
                </a:rPr>
                <a:t>:80</a:t>
              </a:r>
              <a:r>
                <a:rPr lang="en-US" altLang="ko-KR" sz="2400" b="1" dirty="0">
                  <a:solidFill>
                    <a:srgbClr val="7030A0"/>
                  </a:solidFill>
                  <a:latin typeface="Times New Roman" pitchFamily="18" charset="0"/>
                </a:rPr>
                <a:t>/technetwork/java/</a:t>
              </a:r>
              <a:r>
                <a:rPr lang="en-US" altLang="ko-KR" sz="2400" b="1" dirty="0">
                  <a:solidFill>
                    <a:srgbClr val="00B0F0"/>
                  </a:solidFill>
                  <a:latin typeface="Times New Roman" pitchFamily="18" charset="0"/>
                </a:rPr>
                <a:t>index.html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19F86A50-D235-4948-8EB7-4E6F7BA16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148" y="1981797"/>
              <a:ext cx="9028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400" b="1" dirty="0">
                  <a:latin typeface="+mj-lt"/>
                </a:rPr>
                <a:t>프로토콜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DB5703A0-1C42-4E9B-B621-B6F7DCFCE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3917" y="1981797"/>
              <a:ext cx="9028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400" b="1">
                  <a:latin typeface="+mj-lt"/>
                </a:rPr>
                <a:t>서버주소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7F3E257A-55A8-4D2B-9150-442782582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3568" y="1874075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400" b="1" dirty="0">
                  <a:latin typeface="+mj-lt"/>
                </a:rPr>
                <a:t>TCP/IP</a:t>
              </a:r>
            </a:p>
            <a:p>
              <a:pPr algn="ctr"/>
              <a:r>
                <a:rPr lang="ko-KR" altLang="en-US" sz="1400" b="1" dirty="0">
                  <a:latin typeface="+mj-lt"/>
                </a:rPr>
                <a:t>포트번호</a:t>
              </a:r>
            </a:p>
          </p:txBody>
        </p:sp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4CAA802C-860C-4F92-A09E-2AEEC449B3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79989" y="2554090"/>
              <a:ext cx="152400" cy="457200"/>
            </a:xfrm>
            <a:prstGeom prst="leftBracket">
              <a:avLst>
                <a:gd name="adj" fmla="val 25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00">
                <a:latin typeface="+mj-lt"/>
              </a:endParaRPr>
            </a:p>
          </p:txBody>
        </p:sp>
        <p:sp>
          <p:nvSpPr>
            <p:cNvPr id="13" name="AutoShape 11">
              <a:extLst>
                <a:ext uri="{FF2B5EF4-FFF2-40B4-BE49-F238E27FC236}">
                  <a16:creationId xmlns:a16="http://schemas.microsoft.com/office/drawing/2014/main" id="{2FB4C44E-187B-4BB0-8083-1BA49E0ADF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829123" y="1753990"/>
              <a:ext cx="152400" cy="2057400"/>
            </a:xfrm>
            <a:prstGeom prst="leftBracket">
              <a:avLst>
                <a:gd name="adj" fmla="val 1125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00">
                <a:latin typeface="+mj-lt"/>
              </a:endParaRPr>
            </a:p>
          </p:txBody>
        </p:sp>
        <p:sp>
          <p:nvSpPr>
            <p:cNvPr id="14" name="AutoShape 12">
              <a:extLst>
                <a:ext uri="{FF2B5EF4-FFF2-40B4-BE49-F238E27FC236}">
                  <a16:creationId xmlns:a16="http://schemas.microsoft.com/office/drawing/2014/main" id="{63E6208D-1C50-4A48-86B7-AE30ADF8A8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106044" y="2668390"/>
              <a:ext cx="152400" cy="228600"/>
            </a:xfrm>
            <a:prstGeom prst="leftBracket">
              <a:avLst>
                <a:gd name="adj" fmla="val 125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00">
                <a:latin typeface="+mj-lt"/>
              </a:endParaRPr>
            </a:p>
          </p:txBody>
        </p:sp>
        <p:sp>
          <p:nvSpPr>
            <p:cNvPr id="15" name="AutoShape 13">
              <a:extLst>
                <a:ext uri="{FF2B5EF4-FFF2-40B4-BE49-F238E27FC236}">
                  <a16:creationId xmlns:a16="http://schemas.microsoft.com/office/drawing/2014/main" id="{F0EF0F0B-272C-4243-A4BF-E64B0CF972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482257" y="1571571"/>
              <a:ext cx="153744" cy="2397759"/>
            </a:xfrm>
            <a:prstGeom prst="leftBracket">
              <a:avLst>
                <a:gd name="adj" fmla="val 25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00">
                <a:latin typeface="+mj-lt"/>
              </a:endParaRPr>
            </a:p>
          </p:txBody>
        </p:sp>
        <p:sp>
          <p:nvSpPr>
            <p:cNvPr id="16" name="AutoShape 14">
              <a:extLst>
                <a:ext uri="{FF2B5EF4-FFF2-40B4-BE49-F238E27FC236}">
                  <a16:creationId xmlns:a16="http://schemas.microsoft.com/office/drawing/2014/main" id="{D771FE73-10DA-4952-9F15-8174AE19DF9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375407" y="2135330"/>
              <a:ext cx="140835" cy="1283153"/>
            </a:xfrm>
            <a:prstGeom prst="leftBracket">
              <a:avLst>
                <a:gd name="adj" fmla="val 133333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00">
                <a:latin typeface="+mj-lt"/>
              </a:endParaRPr>
            </a:p>
          </p:txBody>
        </p:sp>
        <p:cxnSp>
          <p:nvCxnSpPr>
            <p:cNvPr id="17" name="AutoShape 15">
              <a:extLst>
                <a:ext uri="{FF2B5EF4-FFF2-40B4-BE49-F238E27FC236}">
                  <a16:creationId xmlns:a16="http://schemas.microsoft.com/office/drawing/2014/main" id="{25C09FC2-2092-4251-88F3-2B85A29371B0}"/>
                </a:ext>
              </a:extLst>
            </p:cNvPr>
            <p:cNvCxnSpPr>
              <a:cxnSpLocks noChangeShapeType="1"/>
              <a:stCxn id="9" idx="2"/>
              <a:endCxn id="12" idx="1"/>
            </p:cNvCxnSpPr>
            <p:nvPr/>
          </p:nvCxnSpPr>
          <p:spPr bwMode="auto">
            <a:xfrm rot="5400000">
              <a:off x="1080414" y="2465350"/>
              <a:ext cx="416916" cy="65365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6">
              <a:extLst>
                <a:ext uri="{FF2B5EF4-FFF2-40B4-BE49-F238E27FC236}">
                  <a16:creationId xmlns:a16="http://schemas.microsoft.com/office/drawing/2014/main" id="{9FF5690B-FB33-4A16-BBAE-50D37EF362C0}"/>
                </a:ext>
              </a:extLst>
            </p:cNvPr>
            <p:cNvCxnSpPr>
              <a:cxnSpLocks noChangeShapeType="1"/>
              <a:stCxn id="10" idx="2"/>
              <a:endCxn id="13" idx="1"/>
            </p:cNvCxnSpPr>
            <p:nvPr/>
          </p:nvCxnSpPr>
          <p:spPr bwMode="auto">
            <a:xfrm rot="5400000">
              <a:off x="2696865" y="2498032"/>
              <a:ext cx="416916" cy="12700"/>
            </a:xfrm>
            <a:prstGeom prst="curvedConnector5">
              <a:avLst>
                <a:gd name="adj1" fmla="val 54831"/>
                <a:gd name="adj2" fmla="val 54370"/>
                <a:gd name="adj3" fmla="val 45169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17">
              <a:extLst>
                <a:ext uri="{FF2B5EF4-FFF2-40B4-BE49-F238E27FC236}">
                  <a16:creationId xmlns:a16="http://schemas.microsoft.com/office/drawing/2014/main" id="{1F14DE0F-EE75-4DF4-B7C5-97FAFCFC0135}"/>
                </a:ext>
              </a:extLst>
            </p:cNvPr>
            <p:cNvCxnSpPr>
              <a:cxnSpLocks noChangeShapeType="1"/>
              <a:stCxn id="11" idx="2"/>
              <a:endCxn id="14" idx="1"/>
            </p:cNvCxnSpPr>
            <p:nvPr/>
          </p:nvCxnSpPr>
          <p:spPr bwMode="auto">
            <a:xfrm rot="5400000">
              <a:off x="4034012" y="2545527"/>
              <a:ext cx="309195" cy="12730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184533EF-4506-4D3D-BC25-E5CC81DCB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4625" y="198179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400" b="1" dirty="0">
                  <a:latin typeface="+mj-lt"/>
                </a:rPr>
                <a:t>경로명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967D0D8C-2CC7-48A8-978F-CA268ACEE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4418" y="1859906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400" b="1" dirty="0" err="1">
                  <a:latin typeface="+mj-lt"/>
                </a:rPr>
                <a:t>웹페이지</a:t>
              </a:r>
              <a:endParaRPr lang="en-US" altLang="ko-KR" sz="1400" b="1" dirty="0">
                <a:latin typeface="+mj-lt"/>
              </a:endParaRPr>
            </a:p>
            <a:p>
              <a:r>
                <a:rPr lang="ko-KR" altLang="en-US" sz="1400" b="1" dirty="0">
                  <a:latin typeface="+mj-lt"/>
                </a:rPr>
                <a:t>파일이름</a:t>
              </a:r>
            </a:p>
          </p:txBody>
        </p:sp>
        <p:cxnSp>
          <p:nvCxnSpPr>
            <p:cNvPr id="22" name="AutoShape 20">
              <a:extLst>
                <a:ext uri="{FF2B5EF4-FFF2-40B4-BE49-F238E27FC236}">
                  <a16:creationId xmlns:a16="http://schemas.microsoft.com/office/drawing/2014/main" id="{A6ABECD0-5E51-49E3-B3AD-267282F9190B}"/>
                </a:ext>
              </a:extLst>
            </p:cNvPr>
            <p:cNvCxnSpPr>
              <a:cxnSpLocks noChangeShapeType="1"/>
              <a:stCxn id="20" idx="2"/>
              <a:endCxn id="15" idx="1"/>
            </p:cNvCxnSpPr>
            <p:nvPr/>
          </p:nvCxnSpPr>
          <p:spPr bwMode="auto">
            <a:xfrm rot="5400000">
              <a:off x="5370694" y="2478009"/>
              <a:ext cx="404005" cy="27134"/>
            </a:xfrm>
            <a:prstGeom prst="curvedConnector5">
              <a:avLst>
                <a:gd name="adj1" fmla="val 56583"/>
                <a:gd name="adj2" fmla="val 22245"/>
                <a:gd name="adj3" fmla="val 43417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21">
              <a:extLst>
                <a:ext uri="{FF2B5EF4-FFF2-40B4-BE49-F238E27FC236}">
                  <a16:creationId xmlns:a16="http://schemas.microsoft.com/office/drawing/2014/main" id="{049359E0-07F4-462D-8218-51C1DD7AB521}"/>
                </a:ext>
              </a:extLst>
            </p:cNvPr>
            <p:cNvCxnSpPr>
              <a:cxnSpLocks noChangeShapeType="1"/>
              <a:stCxn id="21" idx="2"/>
              <a:endCxn id="16" idx="1"/>
            </p:cNvCxnSpPr>
            <p:nvPr/>
          </p:nvCxnSpPr>
          <p:spPr bwMode="auto">
            <a:xfrm rot="5400000">
              <a:off x="7284143" y="2544807"/>
              <a:ext cx="323363" cy="12700"/>
            </a:xfrm>
            <a:prstGeom prst="curvedConnector5">
              <a:avLst>
                <a:gd name="adj1" fmla="val 70695"/>
                <a:gd name="adj2" fmla="val -295646"/>
                <a:gd name="adj3" fmla="val 29305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37493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 Request(Method)</a:t>
            </a:r>
            <a:r>
              <a:rPr lang="ko-KR" altLang="en-US" dirty="0"/>
              <a:t>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9627650" y="6202178"/>
            <a:ext cx="2133600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628800"/>
            <a:ext cx="8352928" cy="383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7898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 Response(Status Code)</a:t>
            </a:r>
            <a:r>
              <a:rPr lang="ko-KR" altLang="en-US" dirty="0"/>
              <a:t> 종류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764" y="1196753"/>
            <a:ext cx="8764860" cy="454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134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</a:t>
            </a:r>
            <a:r>
              <a:rPr lang="ko-KR" altLang="en-US" dirty="0"/>
              <a:t>통신 예제</a:t>
            </a:r>
            <a:r>
              <a:rPr lang="en-US" altLang="ko-KR" dirty="0"/>
              <a:t>(GET Method)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636" y="1196752"/>
            <a:ext cx="7482805" cy="50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8532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</a:t>
            </a:r>
            <a:r>
              <a:rPr lang="ko-KR" altLang="en-US" dirty="0"/>
              <a:t>통신 예제</a:t>
            </a:r>
            <a:r>
              <a:rPr lang="en-US" altLang="ko-KR" dirty="0"/>
              <a:t>(POST Method)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27</a:t>
            </a:fld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684" y="980728"/>
            <a:ext cx="6982733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4430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웹의 시작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Tim Berners-Lee</a:t>
            </a:r>
            <a:r>
              <a:rPr lang="ko-KR" altLang="en-US" dirty="0"/>
              <a:t>의 아이디어에서 시작</a:t>
            </a:r>
          </a:p>
          <a:p>
            <a:pPr lvl="1"/>
            <a:r>
              <a:rPr lang="en-US" altLang="ko-KR" dirty="0"/>
              <a:t>1989</a:t>
            </a:r>
            <a:r>
              <a:rPr lang="ko-KR" altLang="en-US" dirty="0"/>
              <a:t>년 웹 개념 제안</a:t>
            </a:r>
            <a:endParaRPr lang="en-US" altLang="ko-KR" dirty="0"/>
          </a:p>
          <a:p>
            <a:pPr lvl="1"/>
            <a:r>
              <a:rPr lang="en-US" altLang="ko-KR" dirty="0"/>
              <a:t>1990</a:t>
            </a:r>
            <a:r>
              <a:rPr lang="ko-KR" altLang="en-US" dirty="0"/>
              <a:t>년 </a:t>
            </a:r>
            <a:r>
              <a:rPr lang="en-US" altLang="ko-KR" dirty="0" err="1"/>
              <a:t>WorldWideWeb</a:t>
            </a:r>
            <a:r>
              <a:rPr lang="en-US" altLang="ko-KR" dirty="0"/>
              <a:t> </a:t>
            </a:r>
            <a:r>
              <a:rPr lang="ko-KR" altLang="en-US" dirty="0"/>
              <a:t>프로젝트 시작</a:t>
            </a:r>
            <a:endParaRPr lang="en-US" altLang="ko-KR" dirty="0"/>
          </a:p>
          <a:p>
            <a:pPr lvl="2"/>
            <a:r>
              <a:rPr lang="ko-KR" altLang="en-US" dirty="0"/>
              <a:t>서버</a:t>
            </a:r>
            <a:r>
              <a:rPr lang="en-US" altLang="ko-KR" dirty="0"/>
              <a:t>-</a:t>
            </a:r>
            <a:r>
              <a:rPr lang="ko-KR" altLang="en-US" dirty="0"/>
              <a:t>클라이언트로 동작하는 </a:t>
            </a:r>
            <a:r>
              <a:rPr lang="en-US" altLang="ko-KR" dirty="0"/>
              <a:t>HTTP </a:t>
            </a:r>
            <a:r>
              <a:rPr lang="ko-KR" altLang="en-US" dirty="0"/>
              <a:t>모델 창시</a:t>
            </a:r>
            <a:endParaRPr lang="en-US" altLang="ko-KR" dirty="0"/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언어 개발</a:t>
            </a:r>
            <a:r>
              <a:rPr lang="en-US" altLang="ko-KR" dirty="0"/>
              <a:t>, </a:t>
            </a:r>
            <a:r>
              <a:rPr lang="ko-KR" altLang="en-US" dirty="0"/>
              <a:t>하이퍼링크 개념 구현</a:t>
            </a:r>
            <a:endParaRPr lang="en-US" altLang="ko-KR" dirty="0"/>
          </a:p>
          <a:p>
            <a:pPr lvl="2"/>
            <a:r>
              <a:rPr lang="ko-KR" altLang="en-US" dirty="0"/>
              <a:t>세계 최초의 웹 서버와 웹 브라우저 개발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1B831A4-3751-4998-B007-F963F60FB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012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웹의 성공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400" dirty="0"/>
              <a:t>만들기 쉬운 웹 문서</a:t>
            </a:r>
            <a:endParaRPr lang="en-US" altLang="ko-KR" sz="2400" dirty="0"/>
          </a:p>
          <a:p>
            <a:pPr lvl="1"/>
            <a:r>
              <a:rPr lang="ko-KR" altLang="en-US" sz="2200" dirty="0"/>
              <a:t>사용하기 쉬운 </a:t>
            </a:r>
            <a:r>
              <a:rPr lang="en-US" altLang="ko-KR" sz="2200" dirty="0"/>
              <a:t>HTML </a:t>
            </a:r>
            <a:r>
              <a:rPr lang="ko-KR" altLang="en-US" sz="2200" dirty="0"/>
              <a:t>태그 언어</a:t>
            </a:r>
            <a:r>
              <a:rPr lang="en-US" altLang="ko-KR" sz="2200" dirty="0"/>
              <a:t>, </a:t>
            </a:r>
            <a:r>
              <a:rPr lang="ko-KR" altLang="en-US" sz="2200" dirty="0"/>
              <a:t>단순하고 직관적</a:t>
            </a:r>
            <a:endParaRPr lang="en-US" altLang="ko-KR" sz="2200" dirty="0"/>
          </a:p>
          <a:p>
            <a:pPr lvl="1"/>
            <a:r>
              <a:rPr lang="en-US" altLang="ko-KR" sz="2200" dirty="0"/>
              <a:t>HTML </a:t>
            </a:r>
            <a:r>
              <a:rPr lang="ko-KR" altLang="en-US" sz="2200" dirty="0"/>
              <a:t>태그의 웹 페이지는 텍스트 문서</a:t>
            </a:r>
            <a:endParaRPr lang="en-US" altLang="ko-KR" sz="2200" dirty="0"/>
          </a:p>
          <a:p>
            <a:pPr lvl="1"/>
            <a:r>
              <a:rPr lang="ko-KR" altLang="en-US" sz="2200" dirty="0"/>
              <a:t>아무 텍스트 편집기로 편집 가능</a:t>
            </a:r>
            <a:endParaRPr lang="en-US" altLang="ko-KR" sz="2200" dirty="0"/>
          </a:p>
          <a:p>
            <a:r>
              <a:rPr lang="ko-KR" altLang="en-US" sz="2400" dirty="0"/>
              <a:t>효율적인 </a:t>
            </a:r>
            <a:r>
              <a:rPr lang="en-US" altLang="ko-KR" sz="2400" dirty="0"/>
              <a:t>HTTP </a:t>
            </a:r>
            <a:r>
              <a:rPr lang="ko-KR" altLang="en-US" sz="2400" dirty="0"/>
              <a:t>통신</a:t>
            </a:r>
            <a:endParaRPr lang="en-US" altLang="ko-KR" sz="2400" dirty="0"/>
          </a:p>
          <a:p>
            <a:pPr lvl="1"/>
            <a:r>
              <a:rPr lang="ko-KR" altLang="en-US" sz="2200" dirty="0"/>
              <a:t>웹 브라우저가 웹 페이지를 모두 전송 받고 나면 웹 서버와의 접속을 끊는 방식</a:t>
            </a:r>
            <a:endParaRPr lang="en-US" altLang="ko-KR" sz="2200" dirty="0"/>
          </a:p>
          <a:p>
            <a:pPr lvl="1"/>
            <a:r>
              <a:rPr lang="ko-KR" altLang="en-US" sz="2200" dirty="0"/>
              <a:t>웹 서버에 많은 웹 브라우저의 동시 접속에 따른 낮은 부담</a:t>
            </a:r>
            <a:endParaRPr lang="en-US" altLang="ko-KR" sz="2200" dirty="0"/>
          </a:p>
          <a:p>
            <a:r>
              <a:rPr lang="ko-KR" altLang="en-US" sz="2400" dirty="0"/>
              <a:t>웹 서버와 웹 브라우저의 작업 분담</a:t>
            </a:r>
            <a:endParaRPr lang="en-US" altLang="ko-KR" sz="2400" dirty="0"/>
          </a:p>
          <a:p>
            <a:pPr lvl="1"/>
            <a:r>
              <a:rPr lang="ko-KR" altLang="en-US" sz="2200" dirty="0"/>
              <a:t>웹 서버는 웹 브라우저로부터 요청 받은 자원 전송 담당</a:t>
            </a:r>
            <a:endParaRPr lang="en-US" altLang="ko-KR" sz="2200" dirty="0"/>
          </a:p>
          <a:p>
            <a:pPr lvl="1"/>
            <a:r>
              <a:rPr lang="ko-KR" altLang="en-US" sz="2200" dirty="0"/>
              <a:t>웹 문서를 출력하는 것은 브라우저의 몫</a:t>
            </a:r>
            <a:endParaRPr lang="en-US" altLang="ko-KR" sz="2200" dirty="0"/>
          </a:p>
          <a:p>
            <a:pPr lvl="1"/>
            <a:r>
              <a:rPr lang="ko-KR" altLang="en-US" sz="2200" dirty="0"/>
              <a:t>웹 서버의 낮은 부하로 많은 동시 </a:t>
            </a:r>
            <a:r>
              <a:rPr lang="ko-KR" altLang="en-US" sz="2200" dirty="0" err="1"/>
              <a:t>접속자</a:t>
            </a:r>
            <a:r>
              <a:rPr lang="ko-KR" altLang="en-US" sz="2200" dirty="0"/>
              <a:t> 지원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43A2043-4C1D-43E4-8588-613F293AE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8724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모든 곳에 웹이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웹은 오늘날 정보 통신의 기본 플랫폼</a:t>
            </a:r>
            <a:endParaRPr lang="en-US" altLang="ko-KR" dirty="0"/>
          </a:p>
          <a:p>
            <a:r>
              <a:rPr lang="ko-KR" altLang="en-US" dirty="0"/>
              <a:t>다양한 기기에 웹 서버 설치</a:t>
            </a:r>
            <a:endParaRPr lang="en-US" altLang="ko-KR" dirty="0"/>
          </a:p>
          <a:p>
            <a:pPr lvl="1"/>
            <a:r>
              <a:rPr lang="en-US" altLang="ko-KR" dirty="0"/>
              <a:t>TV, </a:t>
            </a:r>
            <a:r>
              <a:rPr lang="ko-KR" altLang="en-US" dirty="0" err="1"/>
              <a:t>셋톱</a:t>
            </a:r>
            <a:r>
              <a:rPr lang="en-US" altLang="ko-KR" dirty="0"/>
              <a:t>, </a:t>
            </a:r>
            <a:r>
              <a:rPr lang="ko-KR" altLang="en-US" dirty="0"/>
              <a:t>로봇</a:t>
            </a:r>
            <a:r>
              <a:rPr lang="en-US" altLang="ko-KR" dirty="0"/>
              <a:t>, </a:t>
            </a:r>
            <a:r>
              <a:rPr lang="ko-KR" altLang="en-US" dirty="0"/>
              <a:t>장난감</a:t>
            </a:r>
            <a:r>
              <a:rPr lang="en-US" altLang="ko-KR" dirty="0"/>
              <a:t>, </a:t>
            </a:r>
            <a:r>
              <a:rPr lang="ko-KR" altLang="en-US" dirty="0"/>
              <a:t>무선 공유기 등</a:t>
            </a:r>
            <a:endParaRPr lang="en-US" altLang="ko-KR" dirty="0"/>
          </a:p>
          <a:p>
            <a:r>
              <a:rPr lang="ko-KR" altLang="en-US" dirty="0"/>
              <a:t>웹은 장치를 제어하는 쉬운 방법</a:t>
            </a:r>
            <a:endParaRPr lang="en-US" altLang="ko-KR" dirty="0"/>
          </a:p>
          <a:p>
            <a:pPr lvl="1"/>
            <a:r>
              <a:rPr lang="ko-KR" altLang="en-US" dirty="0"/>
              <a:t>무선 공유기 사례</a:t>
            </a:r>
            <a:endParaRPr lang="en-US" altLang="ko-KR" dirty="0"/>
          </a:p>
          <a:p>
            <a:pPr lvl="2"/>
            <a:r>
              <a:rPr lang="ko-KR" altLang="en-US" sz="2200" dirty="0"/>
              <a:t>무선 공유기에는 키보드와 스크린 없음</a:t>
            </a:r>
            <a:endParaRPr lang="en-US" altLang="ko-KR" sz="2200" dirty="0"/>
          </a:p>
          <a:p>
            <a:pPr lvl="2"/>
            <a:r>
              <a:rPr lang="ko-KR" altLang="en-US" sz="2200" dirty="0"/>
              <a:t>무선 공유기에 웹 서버 설치</a:t>
            </a:r>
            <a:endParaRPr lang="en-US" altLang="ko-KR" sz="2200" dirty="0"/>
          </a:p>
          <a:p>
            <a:pPr lvl="2"/>
            <a:r>
              <a:rPr lang="ko-KR" altLang="en-US" sz="2200" dirty="0"/>
              <a:t>아무 브라우저를 이용하여 무선 공유기의 웹 서버와 접속</a:t>
            </a:r>
            <a:endParaRPr lang="en-US" altLang="ko-KR" sz="2200" dirty="0"/>
          </a:p>
          <a:p>
            <a:pPr lvl="2"/>
            <a:r>
              <a:rPr lang="ko-KR" altLang="en-US" sz="2200" dirty="0"/>
              <a:t>브라우저를 이용하여 무선 공유기 내의 설정 관리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E9131DF-D74E-4FE3-96AA-CA9C60221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206473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2823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마크업</a:t>
            </a:r>
            <a:r>
              <a:rPr lang="ko-KR" altLang="en-US" dirty="0"/>
              <a:t> 언어</a:t>
            </a:r>
            <a:r>
              <a:rPr lang="en-US" altLang="ko-KR" dirty="0"/>
              <a:t>-</a:t>
            </a:r>
            <a:r>
              <a:rPr lang="ko-KR" altLang="en-US" dirty="0"/>
              <a:t>웹 문서 제작을 위한 언어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SGML(Standard Generalized Markup Language</a:t>
            </a:r>
          </a:p>
          <a:p>
            <a:pPr lvl="1"/>
            <a:r>
              <a:rPr lang="en-US" altLang="ko-KR" dirty="0"/>
              <a:t>1986</a:t>
            </a:r>
            <a:r>
              <a:rPr lang="ko-KR" altLang="en-US" dirty="0"/>
              <a:t>년 </a:t>
            </a:r>
            <a:r>
              <a:rPr lang="en-US" altLang="ko-KR" dirty="0"/>
              <a:t>ISO</a:t>
            </a:r>
            <a:r>
              <a:rPr lang="ko-KR" altLang="en-US" dirty="0"/>
              <a:t>에서 제정한 문서 처리 표준으로 프로그래밍 언어는 아님</a:t>
            </a:r>
            <a:endParaRPr lang="en-US" altLang="ko-KR" dirty="0"/>
          </a:p>
          <a:p>
            <a:r>
              <a:rPr lang="en-US" altLang="ko-KR" dirty="0"/>
              <a:t>HTML(Hyper Text Markup Language)</a:t>
            </a:r>
          </a:p>
          <a:p>
            <a:pPr lvl="1"/>
            <a:r>
              <a:rPr lang="en-US" altLang="ko-KR" dirty="0"/>
              <a:t>1989</a:t>
            </a:r>
            <a:r>
              <a:rPr lang="ko-KR" altLang="en-US" dirty="0"/>
              <a:t>년 </a:t>
            </a:r>
            <a:r>
              <a:rPr lang="en-US" altLang="ko-KR" dirty="0"/>
              <a:t>CERN</a:t>
            </a:r>
            <a:r>
              <a:rPr lang="ko-KR" altLang="en-US" dirty="0"/>
              <a:t>에 근무하는 </a:t>
            </a:r>
            <a:r>
              <a:rPr lang="en-US" altLang="ko-KR" dirty="0"/>
              <a:t>“</a:t>
            </a:r>
            <a:r>
              <a:rPr lang="ko-KR" altLang="en-US" dirty="0"/>
              <a:t>팀 </a:t>
            </a:r>
            <a:r>
              <a:rPr lang="ko-KR" altLang="en-US" dirty="0" err="1"/>
              <a:t>버너스</a:t>
            </a:r>
            <a:r>
              <a:rPr lang="ko-KR" altLang="en-US" dirty="0"/>
              <a:t> 리</a:t>
            </a:r>
            <a:r>
              <a:rPr lang="en-US" altLang="ko-KR" dirty="0"/>
              <a:t>”</a:t>
            </a:r>
            <a:r>
              <a:rPr lang="ko-KR" altLang="en-US" dirty="0"/>
              <a:t>가 개발</a:t>
            </a:r>
            <a:endParaRPr lang="en-US" altLang="ko-KR" dirty="0"/>
          </a:p>
          <a:p>
            <a:pPr lvl="1"/>
            <a:r>
              <a:rPr lang="ko-KR" altLang="en-US" dirty="0"/>
              <a:t>웹에서 사용하는 표준언어</a:t>
            </a:r>
            <a:r>
              <a:rPr lang="en-US" altLang="ko-KR" dirty="0"/>
              <a:t>(HTML 5.0</a:t>
            </a:r>
            <a:r>
              <a:rPr lang="ko-KR" altLang="en-US" dirty="0"/>
              <a:t>이 최신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XML(</a:t>
            </a:r>
            <a:r>
              <a:rPr lang="en-US" altLang="ko-KR" dirty="0" err="1"/>
              <a:t>eXtensible</a:t>
            </a:r>
            <a:r>
              <a:rPr lang="en-US" altLang="ko-KR" dirty="0"/>
              <a:t> Markup Language)</a:t>
            </a:r>
          </a:p>
          <a:p>
            <a:pPr lvl="1"/>
            <a:r>
              <a:rPr lang="en-US" altLang="ko-KR" dirty="0"/>
              <a:t>1996</a:t>
            </a:r>
            <a:r>
              <a:rPr lang="ko-KR" altLang="en-US" dirty="0"/>
              <a:t>년 </a:t>
            </a:r>
            <a:r>
              <a:rPr lang="en-US" altLang="ko-KR" dirty="0"/>
              <a:t>W3C</a:t>
            </a:r>
            <a:r>
              <a:rPr lang="ko-KR" altLang="en-US" dirty="0"/>
              <a:t>에서 제안한 </a:t>
            </a:r>
            <a:r>
              <a:rPr lang="en-US" altLang="ko-KR" dirty="0"/>
              <a:t>SGML</a:t>
            </a:r>
            <a:r>
              <a:rPr lang="ko-KR" altLang="en-US" dirty="0"/>
              <a:t>과 </a:t>
            </a:r>
            <a:r>
              <a:rPr lang="en-US" altLang="ko-KR" dirty="0"/>
              <a:t>HTML</a:t>
            </a:r>
            <a:r>
              <a:rPr lang="ko-KR" altLang="en-US" dirty="0"/>
              <a:t>의 장점을 수용해서 만든 언어</a:t>
            </a:r>
            <a:endParaRPr lang="en-US" altLang="ko-KR" dirty="0"/>
          </a:p>
          <a:p>
            <a:r>
              <a:rPr lang="en-US" altLang="ko-KR" dirty="0"/>
              <a:t>XHTML(Extensible Hypertext Markup Language)</a:t>
            </a:r>
          </a:p>
          <a:p>
            <a:pPr lvl="1"/>
            <a:r>
              <a:rPr lang="en-US" altLang="ko-KR" dirty="0"/>
              <a:t>HTML+XML(XML </a:t>
            </a:r>
            <a:r>
              <a:rPr lang="ko-KR" altLang="en-US" dirty="0"/>
              <a:t>기반의 </a:t>
            </a:r>
            <a:r>
              <a:rPr lang="en-US" altLang="ko-KR" dirty="0"/>
              <a:t>HTML)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1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문서제작 언어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762" y="1124745"/>
            <a:ext cx="8780734" cy="466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 bwMode="auto">
          <a:xfrm>
            <a:off x="1807772" y="1186813"/>
            <a:ext cx="871296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50298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스마트 시대의 웹 프로그래밍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95400" y="1042874"/>
            <a:ext cx="11233248" cy="555408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q"/>
              <a:defRPr kumimoji="1" sz="2700" b="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kumimoji="1" sz="2400" baseline="0">
                <a:solidFill>
                  <a:schemeClr val="bg1"/>
                </a:solidFill>
                <a:latin typeface="Microsoft YaHei" panose="020B0503020204020204" pitchFamily="34" charset="-122"/>
                <a:ea typeface="맑은 고딕" panose="020B0503020000020004" pitchFamily="50" charset="-127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80000"/>
              <a:buChar char="o"/>
              <a:defRPr kumimoji="1" sz="2000" baseline="0">
                <a:solidFill>
                  <a:schemeClr val="bg1"/>
                </a:solidFill>
                <a:latin typeface="Microsoft YaHei" panose="020B0503020204020204" pitchFamily="34" charset="-122"/>
                <a:ea typeface="맑은 고딕" panose="020B0503020000020004" pitchFamily="50" charset="-127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•"/>
              <a:defRPr kumimoji="1" sz="2000" baseline="0">
                <a:solidFill>
                  <a:schemeClr val="bg1"/>
                </a:solidFill>
                <a:latin typeface="Microsoft YaHei" panose="020B0503020204020204" pitchFamily="34" charset="-122"/>
                <a:ea typeface="맑은 고딕" panose="020B0503020000020004" pitchFamily="50" charset="-127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00FF99"/>
              </a:buClr>
              <a:buSzPct val="100000"/>
              <a:buFont typeface="Wingdings" pitchFamily="2" charset="2"/>
              <a:buChar char="ü"/>
              <a:defRPr kumimoji="1" sz="2000" baseline="0">
                <a:solidFill>
                  <a:schemeClr val="bg1"/>
                </a:solidFill>
                <a:latin typeface="Microsoft YaHei" panose="020B0503020204020204" pitchFamily="34" charset="-122"/>
                <a:ea typeface="맑은 고딕" panose="020B0503020000020004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00FF99"/>
              </a:buClr>
              <a:buSzPct val="100000"/>
              <a:buFont typeface="Wingdings" pitchFamily="2" charset="2"/>
              <a:buChar char="ü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00FF99"/>
              </a:buClr>
              <a:buSzPct val="100000"/>
              <a:buFont typeface="Wingdings" pitchFamily="2" charset="2"/>
              <a:buChar char="ü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00FF99"/>
              </a:buClr>
              <a:buSzPct val="100000"/>
              <a:buFont typeface="Wingdings" pitchFamily="2" charset="2"/>
              <a:buChar char="ü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00FF99"/>
              </a:buClr>
              <a:buSzPct val="100000"/>
              <a:buFont typeface="Wingdings" pitchFamily="2" charset="2"/>
              <a:buChar char="ü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lvl="0">
              <a:buClr>
                <a:srgbClr val="0033CC"/>
              </a:buClr>
            </a:pPr>
            <a:r>
              <a:rPr lang="ko-KR" altLang="en-US" kern="0" dirty="0">
                <a:solidFill>
                  <a:prstClr val="black"/>
                </a:solidFill>
              </a:rPr>
              <a:t>웹 프로그램의 현재와 미래</a:t>
            </a:r>
            <a:endParaRPr lang="en-US" altLang="ko-KR" sz="2400" kern="0" dirty="0">
              <a:solidFill>
                <a:prstClr val="black"/>
              </a:solidFill>
            </a:endParaRPr>
          </a:p>
          <a:p>
            <a:pPr marL="504000" lvl="1">
              <a:spcBef>
                <a:spcPts val="0"/>
              </a:spcBef>
            </a:pPr>
            <a:r>
              <a:rPr lang="ko-KR" altLang="en-US" sz="2000" kern="0" spc="-100" dirty="0"/>
              <a:t>인터넷이 널리 사용되기 시작한 </a:t>
            </a:r>
            <a:r>
              <a:rPr lang="en-US" altLang="ko-KR" sz="2000" kern="0" spc="-100" dirty="0"/>
              <a:t>1990</a:t>
            </a:r>
            <a:r>
              <a:rPr lang="ko-KR" altLang="en-US" sz="2000" kern="0" spc="-100" dirty="0"/>
              <a:t>년대 후반부터 지금까지 많은 기술변화</a:t>
            </a:r>
            <a:endParaRPr lang="en-US" altLang="ko-KR" sz="2000" kern="0" spc="-100" dirty="0"/>
          </a:p>
          <a:p>
            <a:pPr marL="504000" lvl="1">
              <a:spcBef>
                <a:spcPts val="0"/>
              </a:spcBef>
            </a:pPr>
            <a:r>
              <a:rPr lang="en-US" altLang="ko-KR" sz="2000" kern="0" spc="-100" dirty="0"/>
              <a:t>2000</a:t>
            </a:r>
            <a:r>
              <a:rPr lang="ko-KR" altLang="en-US" sz="2000" kern="0" spc="-100" dirty="0"/>
              <a:t>년대 중반 </a:t>
            </a:r>
            <a:r>
              <a:rPr lang="en-US" altLang="ko-KR" sz="2000" kern="0" spc="-100" dirty="0"/>
              <a:t>Ajax </a:t>
            </a:r>
            <a:r>
              <a:rPr lang="ko-KR" altLang="en-US" sz="2000" kern="0" spc="-100" dirty="0"/>
              <a:t>로 대표되는 웹</a:t>
            </a:r>
            <a:r>
              <a:rPr lang="en-US" altLang="ko-KR" sz="2000" kern="0" spc="-100" dirty="0"/>
              <a:t>2.0 </a:t>
            </a:r>
            <a:r>
              <a:rPr lang="ko-KR" altLang="en-US" sz="2000" kern="0" spc="-100" dirty="0"/>
              <a:t>기술과 </a:t>
            </a:r>
            <a:r>
              <a:rPr lang="ko-KR" altLang="en-US" sz="2000" kern="0" spc="-100" dirty="0" err="1"/>
              <a:t>시멘틱</a:t>
            </a:r>
            <a:r>
              <a:rPr lang="ko-KR" altLang="en-US" sz="2000" kern="0" spc="-100" dirty="0"/>
              <a:t> 웹 등 차세대 웹 프로그램 기술 등장</a:t>
            </a:r>
            <a:endParaRPr lang="en-US" altLang="ko-KR" sz="2000" kern="0" spc="-100" dirty="0"/>
          </a:p>
          <a:p>
            <a:pPr marL="504000" lvl="1">
              <a:spcBef>
                <a:spcPts val="0"/>
              </a:spcBef>
            </a:pPr>
            <a:r>
              <a:rPr lang="en-US" altLang="ko-KR" sz="2000" kern="0" spc="-100" dirty="0"/>
              <a:t>2010</a:t>
            </a:r>
            <a:r>
              <a:rPr lang="ko-KR" altLang="en-US" sz="2000" kern="0" spc="-100" dirty="0"/>
              <a:t>년대에 들어서서 스마트폰과 </a:t>
            </a:r>
            <a:r>
              <a:rPr lang="ko-KR" altLang="en-US" sz="2000" kern="0" spc="-100" dirty="0" err="1"/>
              <a:t>태블릿</a:t>
            </a:r>
            <a:r>
              <a:rPr lang="ko-KR" altLang="en-US" sz="2000" kern="0" spc="-100" dirty="0"/>
              <a:t> 등 개인용 컴퓨팅 환경의 보급 확산으로 새로운 기술 주목</a:t>
            </a:r>
            <a:endParaRPr lang="en-US" altLang="ko-KR" sz="2000" kern="0" spc="-100" dirty="0"/>
          </a:p>
          <a:p>
            <a:pPr marL="504000" lvl="1">
              <a:spcBef>
                <a:spcPts val="0"/>
              </a:spcBef>
            </a:pPr>
            <a:r>
              <a:rPr lang="en-US" altLang="ko-KR" sz="2000" kern="0" spc="-100" dirty="0"/>
              <a:t>WOA(Web Oriented Architecture)</a:t>
            </a:r>
            <a:r>
              <a:rPr lang="ko-KR" altLang="en-US" sz="2000" kern="0" spc="-100" dirty="0"/>
              <a:t>가 확산되고 효과적인 프로그램 개발을 위한 프레임워크 보편화</a:t>
            </a:r>
            <a:endParaRPr lang="en-US" altLang="ko-KR" sz="2000" kern="0" spc="-100" dirty="0"/>
          </a:p>
          <a:p>
            <a:pPr marL="266700" lvl="1" indent="0">
              <a:buNone/>
            </a:pPr>
            <a:endParaRPr lang="en-US" altLang="ko-KR" kern="0" dirty="0"/>
          </a:p>
          <a:p>
            <a:pPr marL="266700" lvl="1" indent="0">
              <a:buNone/>
            </a:pPr>
            <a:endParaRPr lang="en-US" altLang="ko-KR" kern="0" dirty="0"/>
          </a:p>
          <a:p>
            <a:pPr marL="266700" lvl="1" indent="0">
              <a:buNone/>
            </a:pPr>
            <a:endParaRPr lang="en-US" altLang="ko-KR" kern="0" dirty="0"/>
          </a:p>
          <a:p>
            <a:pPr marL="266700" lvl="1" indent="0">
              <a:buNone/>
            </a:pPr>
            <a:endParaRPr lang="en-US" altLang="ko-KR" kern="0" dirty="0"/>
          </a:p>
          <a:p>
            <a:pPr marL="266700" lvl="1" indent="0">
              <a:buNone/>
            </a:pPr>
            <a:endParaRPr lang="en-US" altLang="ko-KR" kern="0" dirty="0"/>
          </a:p>
          <a:p>
            <a:pPr marL="266700" lvl="1" indent="0">
              <a:buNone/>
            </a:pPr>
            <a:endParaRPr lang="en-US" altLang="ko-KR" kern="0" dirty="0"/>
          </a:p>
          <a:p>
            <a:pPr>
              <a:buClr>
                <a:schemeClr val="bg1">
                  <a:lumMod val="50000"/>
                </a:schemeClr>
              </a:buClr>
            </a:pPr>
            <a:endParaRPr lang="en-US" altLang="ko-KR" sz="1200" kern="0" dirty="0"/>
          </a:p>
          <a:p>
            <a:pPr marL="0" indent="0">
              <a:buClr>
                <a:schemeClr val="bg1">
                  <a:lumMod val="50000"/>
                </a:schemeClr>
              </a:buClr>
              <a:buNone/>
            </a:pPr>
            <a:endParaRPr lang="en-US" altLang="ko-KR" kern="0" dirty="0"/>
          </a:p>
          <a:p>
            <a:pPr>
              <a:buClr>
                <a:schemeClr val="bg1">
                  <a:lumMod val="50000"/>
                </a:schemeClr>
              </a:buClr>
            </a:pPr>
            <a:endParaRPr lang="en-US" altLang="ko-KR" kern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686" y="2758247"/>
            <a:ext cx="6533602" cy="390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558336" y="594928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웹 발전지도</a:t>
            </a:r>
          </a:p>
        </p:txBody>
      </p:sp>
    </p:spTree>
    <p:extLst>
      <p:ext uri="{BB962C8B-B14F-4D97-AF65-F5344CB8AC3E}">
        <p14:creationId xmlns:p14="http://schemas.microsoft.com/office/powerpoint/2010/main" val="3205248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2.0</a:t>
            </a:r>
            <a:r>
              <a:rPr lang="ko-KR" altLang="en-US" dirty="0"/>
              <a:t>과 웹 </a:t>
            </a:r>
            <a:r>
              <a:rPr lang="en-US" altLang="ko-KR" dirty="0"/>
              <a:t>3.0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prstClr val="black"/>
                </a:solidFill>
              </a:rPr>
              <a:t>웹 </a:t>
            </a:r>
            <a:r>
              <a:rPr lang="en-US" altLang="ko-KR" dirty="0">
                <a:solidFill>
                  <a:prstClr val="black"/>
                </a:solidFill>
              </a:rPr>
              <a:t>2.0</a:t>
            </a:r>
          </a:p>
          <a:p>
            <a:pPr marL="504825" lvl="1">
              <a:spcAft>
                <a:spcPts val="400"/>
              </a:spcAft>
            </a:pPr>
            <a:r>
              <a:rPr lang="en-US" altLang="ko-KR" dirty="0">
                <a:solidFill>
                  <a:prstClr val="black"/>
                </a:solidFill>
              </a:rPr>
              <a:t>2004</a:t>
            </a:r>
            <a:r>
              <a:rPr lang="ko-KR" altLang="en-US" dirty="0">
                <a:solidFill>
                  <a:prstClr val="black"/>
                </a:solidFill>
              </a:rPr>
              <a:t>년 처음 등장</a:t>
            </a:r>
            <a:endParaRPr lang="en-US" altLang="ko-KR" dirty="0">
              <a:solidFill>
                <a:prstClr val="black"/>
              </a:solidFill>
            </a:endParaRPr>
          </a:p>
          <a:p>
            <a:pPr marL="504825" lvl="1">
              <a:spcAft>
                <a:spcPts val="400"/>
              </a:spcAft>
            </a:pPr>
            <a:r>
              <a:rPr lang="ko-KR" altLang="en-US" dirty="0" err="1">
                <a:solidFill>
                  <a:prstClr val="black"/>
                </a:solidFill>
              </a:rPr>
              <a:t>플랫폼으로서의</a:t>
            </a:r>
            <a:r>
              <a:rPr lang="ko-KR" altLang="en-US" dirty="0">
                <a:solidFill>
                  <a:prstClr val="black"/>
                </a:solidFill>
              </a:rPr>
              <a:t> 웹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프로그램처럼 쓸 수 있는 웹 사이트</a:t>
            </a:r>
            <a:endParaRPr lang="en-US" altLang="ko-KR" dirty="0">
              <a:solidFill>
                <a:prstClr val="black"/>
              </a:solidFill>
            </a:endParaRPr>
          </a:p>
          <a:p>
            <a:pPr marL="504825" lvl="1">
              <a:spcAft>
                <a:spcPts val="400"/>
              </a:spcAft>
            </a:pPr>
            <a:r>
              <a:rPr lang="ko-KR" altLang="en-US" dirty="0">
                <a:solidFill>
                  <a:prstClr val="black"/>
                </a:solidFill>
              </a:rPr>
              <a:t>개방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공유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참여의 세 가지 특징을 가짐</a:t>
            </a:r>
            <a:endParaRPr lang="en-US" altLang="ko-KR" dirty="0">
              <a:solidFill>
                <a:prstClr val="black"/>
              </a:solidFill>
            </a:endParaRPr>
          </a:p>
          <a:p>
            <a:pPr marL="904875" lvl="2">
              <a:spcAft>
                <a:spcPts val="400"/>
              </a:spcAft>
            </a:pPr>
            <a:r>
              <a:rPr lang="ko-KR" altLang="en-US" dirty="0">
                <a:solidFill>
                  <a:prstClr val="black"/>
                </a:solidFill>
              </a:rPr>
              <a:t>예</a:t>
            </a:r>
            <a:r>
              <a:rPr lang="en-US" altLang="ko-KR" dirty="0">
                <a:solidFill>
                  <a:prstClr val="black"/>
                </a:solidFill>
              </a:rPr>
              <a:t>) </a:t>
            </a:r>
            <a:r>
              <a:rPr lang="ko-KR" altLang="en-US" dirty="0">
                <a:solidFill>
                  <a:prstClr val="black"/>
                </a:solidFill>
              </a:rPr>
              <a:t>게시판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댓글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블로그</a:t>
            </a:r>
            <a:r>
              <a:rPr lang="en-US" altLang="ko-KR" dirty="0">
                <a:solidFill>
                  <a:prstClr val="black"/>
                </a:solidFill>
              </a:rPr>
              <a:t>, UCC, </a:t>
            </a:r>
            <a:r>
              <a:rPr lang="ko-KR" altLang="en-US" dirty="0">
                <a:solidFill>
                  <a:prstClr val="black"/>
                </a:solidFill>
              </a:rPr>
              <a:t>위키피디아 등</a:t>
            </a:r>
            <a:endParaRPr lang="en-US" altLang="ko-KR" dirty="0">
              <a:solidFill>
                <a:prstClr val="black"/>
              </a:solidFill>
            </a:endParaRPr>
          </a:p>
          <a:p>
            <a:pPr marL="504825" lvl="1">
              <a:spcAft>
                <a:spcPts val="400"/>
              </a:spcAft>
            </a:pPr>
            <a:r>
              <a:rPr lang="ko-KR" altLang="en-US" dirty="0">
                <a:solidFill>
                  <a:prstClr val="black"/>
                </a:solidFill>
              </a:rPr>
              <a:t>대표기술</a:t>
            </a:r>
            <a:endParaRPr lang="en-US" altLang="ko-KR" dirty="0">
              <a:solidFill>
                <a:prstClr val="black"/>
              </a:solidFill>
            </a:endParaRPr>
          </a:p>
          <a:p>
            <a:pPr marL="904875" lvl="2">
              <a:spcAft>
                <a:spcPts val="400"/>
              </a:spcAft>
            </a:pPr>
            <a:r>
              <a:rPr lang="ko-KR" altLang="en-US" dirty="0">
                <a:solidFill>
                  <a:prstClr val="black"/>
                </a:solidFill>
              </a:rPr>
              <a:t>웹 표준</a:t>
            </a:r>
            <a:r>
              <a:rPr lang="en-US" altLang="ko-KR" dirty="0">
                <a:solidFill>
                  <a:prstClr val="black"/>
                </a:solidFill>
              </a:rPr>
              <a:t>, CSS, XHTML</a:t>
            </a:r>
          </a:p>
          <a:p>
            <a:pPr marL="904875" lvl="2">
              <a:spcAft>
                <a:spcPts val="400"/>
              </a:spcAft>
            </a:pPr>
            <a:r>
              <a:rPr lang="en-US" altLang="ko-KR" dirty="0">
                <a:solidFill>
                  <a:prstClr val="black"/>
                </a:solidFill>
              </a:rPr>
              <a:t>Ajax</a:t>
            </a:r>
            <a:r>
              <a:rPr lang="ko-KR" altLang="en-US" dirty="0">
                <a:solidFill>
                  <a:prstClr val="black"/>
                </a:solidFill>
              </a:rPr>
              <a:t>와 같은 비동기식 웹 애플리케이션 기법</a:t>
            </a:r>
            <a:endParaRPr lang="en-US" altLang="ko-KR" dirty="0">
              <a:solidFill>
                <a:prstClr val="black"/>
              </a:solidFill>
            </a:endParaRPr>
          </a:p>
          <a:p>
            <a:pPr marL="904875" lvl="2">
              <a:spcAft>
                <a:spcPts val="400"/>
              </a:spcAft>
            </a:pPr>
            <a:r>
              <a:rPr lang="en-US" altLang="ko-KR" dirty="0">
                <a:solidFill>
                  <a:prstClr val="black"/>
                </a:solidFill>
              </a:rPr>
              <a:t>REST, XML, SOAP </a:t>
            </a:r>
            <a:r>
              <a:rPr lang="ko-KR" altLang="en-US" dirty="0">
                <a:solidFill>
                  <a:prstClr val="black"/>
                </a:solidFill>
              </a:rPr>
              <a:t>형태의 웹 서비스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30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9376" y="548680"/>
            <a:ext cx="11161240" cy="5669782"/>
          </a:xfrm>
        </p:spPr>
        <p:txBody>
          <a:bodyPr/>
          <a:lstStyle/>
          <a:p>
            <a:r>
              <a:rPr lang="ko-KR" altLang="en-US" sz="2800" dirty="0">
                <a:solidFill>
                  <a:prstClr val="black"/>
                </a:solidFill>
              </a:rPr>
              <a:t>웹 </a:t>
            </a:r>
            <a:r>
              <a:rPr lang="en-US" altLang="ko-KR" sz="2800" dirty="0">
                <a:solidFill>
                  <a:prstClr val="black"/>
                </a:solidFill>
              </a:rPr>
              <a:t>3.0</a:t>
            </a:r>
          </a:p>
          <a:p>
            <a:pPr marL="504825" lvl="1">
              <a:spcAft>
                <a:spcPts val="400"/>
              </a:spcAft>
            </a:pPr>
            <a:r>
              <a:rPr lang="en-US" altLang="ko-KR" sz="2200" dirty="0">
                <a:solidFill>
                  <a:prstClr val="black"/>
                </a:solidFill>
              </a:rPr>
              <a:t>2010</a:t>
            </a:r>
            <a:r>
              <a:rPr lang="ko-KR" altLang="en-US" sz="2200" dirty="0">
                <a:solidFill>
                  <a:prstClr val="black"/>
                </a:solidFill>
              </a:rPr>
              <a:t>년 등장</a:t>
            </a:r>
            <a:endParaRPr lang="en-US" altLang="ko-KR" sz="2200" dirty="0">
              <a:solidFill>
                <a:prstClr val="black"/>
              </a:solidFill>
            </a:endParaRPr>
          </a:p>
          <a:p>
            <a:pPr marL="504825" lvl="1">
              <a:spcAft>
                <a:spcPts val="400"/>
              </a:spcAft>
            </a:pPr>
            <a:r>
              <a:rPr lang="ko-KR" altLang="en-US" sz="2200" dirty="0">
                <a:solidFill>
                  <a:prstClr val="black"/>
                </a:solidFill>
              </a:rPr>
              <a:t>컴퓨터가 정보자원의 뜻을 이해하고 논리적 추론 까지 가능한 </a:t>
            </a:r>
            <a:r>
              <a:rPr lang="ko-KR" altLang="en-US" sz="2200" b="1" dirty="0" err="1">
                <a:solidFill>
                  <a:srgbClr val="C00000"/>
                </a:solidFill>
              </a:rPr>
              <a:t>시멘틱</a:t>
            </a:r>
            <a:r>
              <a:rPr lang="ko-KR" altLang="en-US" sz="2200" b="1" dirty="0">
                <a:solidFill>
                  <a:srgbClr val="C00000"/>
                </a:solidFill>
              </a:rPr>
              <a:t> 웹</a:t>
            </a:r>
            <a:r>
              <a:rPr lang="ko-KR" altLang="en-US" sz="2200" dirty="0">
                <a:solidFill>
                  <a:prstClr val="black"/>
                </a:solidFill>
              </a:rPr>
              <a:t> 개념 등장</a:t>
            </a:r>
            <a:r>
              <a:rPr lang="en-US" altLang="ko-KR" sz="2200" dirty="0">
                <a:solidFill>
                  <a:prstClr val="black"/>
                </a:solidFill>
              </a:rPr>
              <a:t>.</a:t>
            </a:r>
          </a:p>
          <a:p>
            <a:pPr marL="504825" lvl="1">
              <a:spcAft>
                <a:spcPts val="400"/>
              </a:spcAft>
            </a:pPr>
            <a:r>
              <a:rPr lang="ko-KR" altLang="en-US" sz="2200" dirty="0">
                <a:solidFill>
                  <a:prstClr val="black"/>
                </a:solidFill>
              </a:rPr>
              <a:t>속도와 플랫폼 변화</a:t>
            </a:r>
            <a:endParaRPr lang="en-US" altLang="ko-KR" sz="2200" dirty="0">
              <a:solidFill>
                <a:prstClr val="black"/>
              </a:solidFill>
            </a:endParaRPr>
          </a:p>
          <a:p>
            <a:pPr marL="628650" lvl="2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prstClr val="black"/>
                </a:solidFill>
              </a:rPr>
              <a:t>10Mbps ~ 1Gbps </a:t>
            </a:r>
            <a:r>
              <a:rPr lang="ko-KR" altLang="en-US" sz="1600" dirty="0">
                <a:solidFill>
                  <a:prstClr val="black"/>
                </a:solidFill>
              </a:rPr>
              <a:t>의 초고속 인터넷 환경과 </a:t>
            </a:r>
            <a:r>
              <a:rPr lang="en-US" altLang="ko-KR" sz="1600" dirty="0">
                <a:solidFill>
                  <a:prstClr val="black"/>
                </a:solidFill>
              </a:rPr>
              <a:t>4G LTE </a:t>
            </a:r>
            <a:r>
              <a:rPr lang="ko-KR" altLang="en-US" sz="1600" dirty="0">
                <a:solidFill>
                  <a:prstClr val="black"/>
                </a:solidFill>
              </a:rPr>
              <a:t>등 초고속 무선 인터넷 서비스 보급</a:t>
            </a:r>
            <a:endParaRPr lang="en-US" altLang="ko-KR" sz="1600" dirty="0">
              <a:solidFill>
                <a:prstClr val="black"/>
              </a:solidFill>
            </a:endParaRPr>
          </a:p>
          <a:p>
            <a:pPr marL="628650" lvl="2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인터넷 사용장치가 </a:t>
            </a:r>
            <a:r>
              <a:rPr lang="en-US" altLang="ko-KR" sz="1600" dirty="0">
                <a:solidFill>
                  <a:prstClr val="black"/>
                </a:solidFill>
              </a:rPr>
              <a:t>PC → </a:t>
            </a:r>
            <a:r>
              <a:rPr lang="ko-KR" altLang="en-US" sz="1600" dirty="0" err="1">
                <a:solidFill>
                  <a:prstClr val="black"/>
                </a:solidFill>
              </a:rPr>
              <a:t>스마트폰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 err="1">
                <a:solidFill>
                  <a:prstClr val="black"/>
                </a:solidFill>
              </a:rPr>
              <a:t>태블릿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스마트</a:t>
            </a:r>
            <a:r>
              <a:rPr lang="en-US" altLang="ko-KR" sz="1600" dirty="0">
                <a:solidFill>
                  <a:prstClr val="black"/>
                </a:solidFill>
              </a:rPr>
              <a:t>TV </a:t>
            </a:r>
            <a:r>
              <a:rPr lang="ko-KR" altLang="en-US" sz="1600" dirty="0">
                <a:solidFill>
                  <a:prstClr val="black"/>
                </a:solidFill>
              </a:rPr>
              <a:t>등으로 급격히 변화</a:t>
            </a:r>
            <a:endParaRPr lang="en-US" altLang="ko-KR" sz="1600" dirty="0">
              <a:solidFill>
                <a:prstClr val="black"/>
              </a:solidFill>
            </a:endParaRPr>
          </a:p>
          <a:p>
            <a:pPr marL="504825" lvl="1">
              <a:spcAft>
                <a:spcPts val="400"/>
              </a:spcAft>
            </a:pPr>
            <a:r>
              <a:rPr lang="ko-KR" altLang="en-US" sz="2200" dirty="0">
                <a:solidFill>
                  <a:prstClr val="black"/>
                </a:solidFill>
              </a:rPr>
              <a:t>똑똑한 데이터와 인공지능의 향상</a:t>
            </a:r>
            <a:endParaRPr lang="en-US" altLang="ko-KR" sz="2200" dirty="0">
              <a:solidFill>
                <a:prstClr val="black"/>
              </a:solidFill>
            </a:endParaRPr>
          </a:p>
          <a:p>
            <a:pPr marL="628650" lvl="2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</a:rPr>
              <a:t>컴퓨터가 정보자원의 뜻을 이해하고 논리적 추론 까지 가능한 차세대 지능형 웹 기술</a:t>
            </a:r>
            <a:endParaRPr lang="en-US" altLang="ko-KR" sz="1600" dirty="0">
              <a:solidFill>
                <a:prstClr val="black"/>
              </a:solidFill>
            </a:endParaRPr>
          </a:p>
          <a:p>
            <a:pPr marL="628650" lvl="2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prstClr val="black"/>
                </a:solidFill>
              </a:rPr>
              <a:t>구글</a:t>
            </a:r>
            <a:r>
              <a:rPr lang="ko-KR" altLang="en-US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 err="1">
                <a:solidFill>
                  <a:prstClr val="black"/>
                </a:solidFill>
              </a:rPr>
              <a:t>나우</a:t>
            </a:r>
            <a:r>
              <a:rPr lang="en-US" altLang="ko-KR" sz="1600" dirty="0">
                <a:solidFill>
                  <a:prstClr val="black"/>
                </a:solidFill>
              </a:rPr>
              <a:t>(Google Now), </a:t>
            </a:r>
            <a:r>
              <a:rPr lang="ko-KR" altLang="en-US" sz="1600" dirty="0">
                <a:solidFill>
                  <a:prstClr val="black"/>
                </a:solidFill>
              </a:rPr>
              <a:t>애플 시리</a:t>
            </a:r>
            <a:r>
              <a:rPr lang="en-US" altLang="ko-KR" sz="1600" dirty="0">
                <a:solidFill>
                  <a:prstClr val="black"/>
                </a:solidFill>
              </a:rPr>
              <a:t>(Siri) </a:t>
            </a:r>
            <a:r>
              <a:rPr lang="ko-KR" altLang="en-US" sz="1600" dirty="0">
                <a:solidFill>
                  <a:prstClr val="black"/>
                </a:solidFill>
              </a:rPr>
              <a:t>등 사용자의 상황이나 질문의 의도에 따라 지능화된 서비스 제공</a:t>
            </a:r>
            <a:endParaRPr lang="en-US" altLang="ko-KR" sz="1600" dirty="0">
              <a:solidFill>
                <a:prstClr val="black"/>
              </a:solidFill>
            </a:endParaRPr>
          </a:p>
          <a:p>
            <a:pPr marL="504825" lvl="1">
              <a:spcAft>
                <a:spcPts val="400"/>
              </a:spcAft>
            </a:pPr>
            <a:r>
              <a:rPr lang="ko-KR" altLang="en-US" sz="2200" dirty="0">
                <a:solidFill>
                  <a:prstClr val="black"/>
                </a:solidFill>
              </a:rPr>
              <a:t>애플리케이션의 진화</a:t>
            </a:r>
            <a:endParaRPr lang="en-US" altLang="ko-KR" sz="2200" dirty="0">
              <a:solidFill>
                <a:prstClr val="black"/>
              </a:solidFill>
            </a:endParaRPr>
          </a:p>
          <a:p>
            <a:pPr marL="628650" lvl="2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600" dirty="0"/>
              <a:t>웹 </a:t>
            </a:r>
            <a:r>
              <a:rPr lang="en-US" altLang="ko-KR" sz="1600" dirty="0"/>
              <a:t>2.0</a:t>
            </a:r>
            <a:r>
              <a:rPr lang="ko-KR" altLang="en-US" sz="1600" dirty="0"/>
              <a:t>에서 시도되었던 </a:t>
            </a:r>
            <a:r>
              <a:rPr lang="en-US" altLang="ko-KR" sz="1600" dirty="0"/>
              <a:t>open API, SOA </a:t>
            </a:r>
            <a:r>
              <a:rPr lang="ko-KR" altLang="en-US" sz="1600" dirty="0"/>
              <a:t>등이 새로운 플랫폼 등장으로 더욱 발전</a:t>
            </a:r>
            <a:endParaRPr lang="en-US" altLang="ko-KR" sz="1600" dirty="0"/>
          </a:p>
          <a:p>
            <a:pPr marL="628650" lvl="2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메쉬업은</a:t>
            </a:r>
            <a:r>
              <a:rPr lang="ko-KR" altLang="en-US" sz="1600" dirty="0"/>
              <a:t> 컴포넌트화된 애플리케이션의 부분을 조합해 개인이나 그룹의 용도에 맞게 여러 서비스 장치를 사용하는 사용자들이 손쉽게 자신만의 </a:t>
            </a:r>
            <a:r>
              <a:rPr lang="ko-KR" altLang="en-US" sz="1600" dirty="0" err="1"/>
              <a:t>콘텐츠나</a:t>
            </a:r>
            <a:r>
              <a:rPr lang="ko-KR" altLang="en-US" sz="1600" dirty="0"/>
              <a:t> 정보를 구성할 수 있도록 해줌</a:t>
            </a:r>
            <a:r>
              <a:rPr lang="en-US" altLang="ko-KR" sz="1600" dirty="0"/>
              <a:t>.</a:t>
            </a:r>
          </a:p>
          <a:p>
            <a:pPr marL="47625" lvl="1" indent="0">
              <a:buClr>
                <a:srgbClr val="4F81BD"/>
              </a:buClr>
              <a:buNone/>
            </a:pPr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624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5400" y="404117"/>
            <a:ext cx="8305800" cy="648072"/>
          </a:xfrm>
        </p:spPr>
        <p:txBody>
          <a:bodyPr/>
          <a:lstStyle/>
          <a:p>
            <a:r>
              <a:rPr lang="en-US" altLang="ko-KR" dirty="0"/>
              <a:t>WOA(Web Oriented Architecture)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accent2"/>
              </a:buClr>
              <a:buSzPct val="90000"/>
              <a:buFont typeface="Wingdings" pitchFamily="2" charset="2"/>
              <a:buChar char="q"/>
            </a:pPr>
            <a:r>
              <a:rPr lang="ko-KR" altLang="en-US" sz="2000" dirty="0">
                <a:solidFill>
                  <a:prstClr val="black"/>
                </a:solidFill>
              </a:rPr>
              <a:t>기존 </a:t>
            </a:r>
            <a:r>
              <a:rPr lang="en-US" altLang="ko-KR" sz="2000" dirty="0">
                <a:solidFill>
                  <a:prstClr val="black"/>
                </a:solidFill>
              </a:rPr>
              <a:t>PC </a:t>
            </a:r>
            <a:r>
              <a:rPr lang="ko-KR" altLang="en-US" sz="2000" dirty="0">
                <a:solidFill>
                  <a:prstClr val="black"/>
                </a:solidFill>
              </a:rPr>
              <a:t>중심의 사용자 환경에서 </a:t>
            </a:r>
            <a:r>
              <a:rPr lang="ko-KR" altLang="en-US" sz="2000" dirty="0" err="1">
                <a:solidFill>
                  <a:prstClr val="black"/>
                </a:solidFill>
              </a:rPr>
              <a:t>스마트폰</a:t>
            </a:r>
            <a:r>
              <a:rPr lang="en-US" altLang="ko-KR" sz="2000" dirty="0">
                <a:solidFill>
                  <a:prstClr val="black"/>
                </a:solidFill>
              </a:rPr>
              <a:t>, </a:t>
            </a:r>
            <a:r>
              <a:rPr lang="ko-KR" altLang="en-US" sz="2000" dirty="0" err="1">
                <a:solidFill>
                  <a:prstClr val="black"/>
                </a:solidFill>
              </a:rPr>
              <a:t>태블릿</a:t>
            </a:r>
            <a:r>
              <a:rPr lang="en-US" altLang="ko-KR" sz="2000" dirty="0">
                <a:solidFill>
                  <a:prstClr val="black"/>
                </a:solidFill>
              </a:rPr>
              <a:t>, </a:t>
            </a:r>
            <a:r>
              <a:rPr lang="ko-KR" altLang="en-US" sz="2000" dirty="0">
                <a:solidFill>
                  <a:prstClr val="black"/>
                </a:solidFill>
              </a:rPr>
              <a:t>스마트</a:t>
            </a:r>
            <a:r>
              <a:rPr lang="en-US" altLang="ko-KR" sz="2000" dirty="0">
                <a:solidFill>
                  <a:prstClr val="black"/>
                </a:solidFill>
              </a:rPr>
              <a:t>TV, </a:t>
            </a:r>
            <a:r>
              <a:rPr lang="ko-KR" altLang="en-US" sz="2000" dirty="0" err="1">
                <a:solidFill>
                  <a:prstClr val="black"/>
                </a:solidFill>
              </a:rPr>
              <a:t>스마트카</a:t>
            </a:r>
            <a:r>
              <a:rPr lang="ko-KR" altLang="en-US" sz="2000" dirty="0">
                <a:solidFill>
                  <a:prstClr val="black"/>
                </a:solidFill>
              </a:rPr>
              <a:t> 등 새로운 기기들이 출현</a:t>
            </a:r>
            <a:endParaRPr lang="en-US" altLang="ko-KR" sz="2000" dirty="0">
              <a:solidFill>
                <a:prstClr val="black"/>
              </a:solidFill>
            </a:endParaRPr>
          </a:p>
          <a:p>
            <a:pPr marL="342900" lvl="1" indent="-342900">
              <a:buClr>
                <a:schemeClr val="accent2"/>
              </a:buClr>
              <a:buSzPct val="90000"/>
              <a:buFont typeface="Wingdings" pitchFamily="2" charset="2"/>
              <a:buChar char="q"/>
            </a:pPr>
            <a:r>
              <a:rPr lang="ko-KR" altLang="en-US" sz="2000" dirty="0">
                <a:solidFill>
                  <a:prstClr val="black"/>
                </a:solidFill>
              </a:rPr>
              <a:t>한 사람이 여러 기기를 통해 동일한 서비스와 정보로의 접근이 필요해짐</a:t>
            </a:r>
            <a:r>
              <a:rPr lang="en-US" altLang="ko-KR" sz="2000" dirty="0">
                <a:solidFill>
                  <a:prstClr val="black"/>
                </a:solidFill>
              </a:rPr>
              <a:t>. </a:t>
            </a:r>
          </a:p>
          <a:p>
            <a:pPr marL="342900" lvl="1" indent="-342900">
              <a:buClr>
                <a:schemeClr val="accent2"/>
              </a:buClr>
              <a:buSzPct val="90000"/>
              <a:buFont typeface="Wingdings" pitchFamily="2" charset="2"/>
              <a:buChar char="q"/>
            </a:pPr>
            <a:r>
              <a:rPr lang="ko-KR" altLang="en-US" sz="2000" dirty="0">
                <a:solidFill>
                  <a:prstClr val="black"/>
                </a:solidFill>
              </a:rPr>
              <a:t>즉 여러 기기 간의 끊어짐이 없는</a:t>
            </a:r>
            <a:r>
              <a:rPr lang="en-US" altLang="ko-KR" sz="2000" dirty="0">
                <a:solidFill>
                  <a:prstClr val="black"/>
                </a:solidFill>
              </a:rPr>
              <a:t>(Seamless) </a:t>
            </a:r>
            <a:r>
              <a:rPr lang="ko-KR" altLang="en-US" sz="2000" dirty="0">
                <a:solidFill>
                  <a:prstClr val="black"/>
                </a:solidFill>
              </a:rPr>
              <a:t>서비스가 요구되면서 </a:t>
            </a:r>
            <a:r>
              <a:rPr lang="en-US" altLang="ko-KR" sz="2000" dirty="0">
                <a:solidFill>
                  <a:prstClr val="black"/>
                </a:solidFill>
              </a:rPr>
              <a:t>One Source Multi Use </a:t>
            </a:r>
            <a:r>
              <a:rPr lang="ko-KR" altLang="en-US" sz="2000" dirty="0">
                <a:solidFill>
                  <a:prstClr val="black"/>
                </a:solidFill>
              </a:rPr>
              <a:t>를 위한 </a:t>
            </a:r>
            <a:r>
              <a:rPr lang="en-US" altLang="ko-KR" sz="2000" dirty="0">
                <a:solidFill>
                  <a:prstClr val="black"/>
                </a:solidFill>
              </a:rPr>
              <a:t>N-Screen </a:t>
            </a:r>
            <a:r>
              <a:rPr lang="ko-KR" altLang="en-US" sz="2000" dirty="0">
                <a:solidFill>
                  <a:prstClr val="black"/>
                </a:solidFill>
              </a:rPr>
              <a:t>혹은 </a:t>
            </a:r>
            <a:r>
              <a:rPr lang="en-US" altLang="ko-KR" sz="2000" dirty="0">
                <a:solidFill>
                  <a:prstClr val="black"/>
                </a:solidFill>
              </a:rPr>
              <a:t>N-Device </a:t>
            </a:r>
            <a:r>
              <a:rPr lang="ko-KR" altLang="en-US" sz="2000" dirty="0">
                <a:solidFill>
                  <a:prstClr val="black"/>
                </a:solidFill>
              </a:rPr>
              <a:t>서비스가 요구 증대</a:t>
            </a:r>
            <a:r>
              <a:rPr lang="en-US" altLang="ko-KR" sz="2000" dirty="0">
                <a:solidFill>
                  <a:prstClr val="black"/>
                </a:solidFill>
              </a:rPr>
              <a:t>. </a:t>
            </a:r>
          </a:p>
          <a:p>
            <a:pPr marL="342900" lvl="1" indent="-342900">
              <a:buClr>
                <a:schemeClr val="accent2"/>
              </a:buClr>
              <a:buSzPct val="90000"/>
              <a:buFont typeface="Wingdings" pitchFamily="2" charset="2"/>
              <a:buChar char="q"/>
            </a:pPr>
            <a:r>
              <a:rPr lang="ko-KR" altLang="en-US" sz="2000" dirty="0">
                <a:solidFill>
                  <a:prstClr val="black"/>
                </a:solidFill>
              </a:rPr>
              <a:t>이러한 요구사항 해결을 위해 다음과 같은 기술들이 급성장 하고 있음</a:t>
            </a:r>
            <a:r>
              <a:rPr lang="en-US" altLang="ko-KR" sz="2000" dirty="0">
                <a:solidFill>
                  <a:prstClr val="black"/>
                </a:solidFill>
              </a:rPr>
              <a:t>.</a:t>
            </a:r>
          </a:p>
          <a:p>
            <a:pPr marL="619125" lvl="2" indent="-171450"/>
            <a:r>
              <a:rPr lang="ko-KR" altLang="en-US" sz="1800" dirty="0">
                <a:solidFill>
                  <a:prstClr val="black"/>
                </a:solidFill>
              </a:rPr>
              <a:t>하드웨어 인프라적인 측면 </a:t>
            </a:r>
            <a:r>
              <a:rPr lang="en-US" altLang="ko-KR" sz="1800" dirty="0">
                <a:solidFill>
                  <a:prstClr val="black"/>
                </a:solidFill>
              </a:rPr>
              <a:t>:</a:t>
            </a:r>
            <a:r>
              <a:rPr lang="ko-KR" altLang="en-US" sz="1800" dirty="0">
                <a:solidFill>
                  <a:prstClr val="black"/>
                </a:solidFill>
              </a:rPr>
              <a:t> </a:t>
            </a:r>
            <a:r>
              <a:rPr lang="ko-KR" altLang="en-US" sz="1800" dirty="0" err="1">
                <a:solidFill>
                  <a:prstClr val="black"/>
                </a:solidFill>
              </a:rPr>
              <a:t>클라우드라고</a:t>
            </a:r>
            <a:r>
              <a:rPr lang="ko-KR" altLang="en-US" sz="1800" dirty="0">
                <a:solidFill>
                  <a:prstClr val="black"/>
                </a:solidFill>
              </a:rPr>
              <a:t> 불리는 대규모의 공용 컴퓨팅 서비스</a:t>
            </a:r>
            <a:r>
              <a:rPr lang="en-US" altLang="ko-KR" sz="1800" dirty="0">
                <a:solidFill>
                  <a:prstClr val="black"/>
                </a:solidFill>
              </a:rPr>
              <a:t>, </a:t>
            </a:r>
            <a:r>
              <a:rPr lang="ko-KR" altLang="en-US" sz="1800" dirty="0">
                <a:solidFill>
                  <a:prstClr val="black"/>
                </a:solidFill>
              </a:rPr>
              <a:t>가상화 </a:t>
            </a:r>
            <a:r>
              <a:rPr lang="en-US" altLang="ko-KR" sz="1800" dirty="0">
                <a:solidFill>
                  <a:prstClr val="black"/>
                </a:solidFill>
              </a:rPr>
              <a:t>SW </a:t>
            </a:r>
            <a:r>
              <a:rPr lang="ko-KR" altLang="en-US" sz="1800" dirty="0">
                <a:solidFill>
                  <a:prstClr val="black"/>
                </a:solidFill>
              </a:rPr>
              <a:t>포함</a:t>
            </a:r>
            <a:r>
              <a:rPr lang="en-US" altLang="ko-KR" sz="1800" dirty="0">
                <a:solidFill>
                  <a:prstClr val="black"/>
                </a:solidFill>
              </a:rPr>
              <a:t>.</a:t>
            </a:r>
          </a:p>
          <a:p>
            <a:pPr marL="619125" lvl="2" indent="-171450"/>
            <a:r>
              <a:rPr lang="ko-KR" altLang="en-US" sz="1800" dirty="0">
                <a:solidFill>
                  <a:prstClr val="black"/>
                </a:solidFill>
              </a:rPr>
              <a:t>소프트웨어적인 측면 </a:t>
            </a:r>
            <a:r>
              <a:rPr lang="en-US" altLang="ko-KR" sz="1800" dirty="0">
                <a:solidFill>
                  <a:prstClr val="black"/>
                </a:solidFill>
              </a:rPr>
              <a:t>: WOA</a:t>
            </a:r>
          </a:p>
          <a:p>
            <a:pPr marL="209550"/>
            <a:r>
              <a:rPr lang="ko-KR" altLang="en-US" sz="2000" dirty="0">
                <a:solidFill>
                  <a:prstClr val="black"/>
                </a:solidFill>
              </a:rPr>
              <a:t>기존 </a:t>
            </a:r>
            <a:r>
              <a:rPr lang="en-US" altLang="ko-KR" sz="2000" dirty="0">
                <a:solidFill>
                  <a:prstClr val="black"/>
                </a:solidFill>
              </a:rPr>
              <a:t>SOAP(Simple Object Access Protocol) </a:t>
            </a:r>
            <a:r>
              <a:rPr lang="ko-KR" altLang="en-US" sz="2000" dirty="0">
                <a:solidFill>
                  <a:prstClr val="black"/>
                </a:solidFill>
              </a:rPr>
              <a:t>기반의 </a:t>
            </a:r>
            <a:r>
              <a:rPr lang="en-US" altLang="ko-KR" sz="2000" dirty="0">
                <a:solidFill>
                  <a:prstClr val="black"/>
                </a:solidFill>
              </a:rPr>
              <a:t>SOA(Service Oriented  Architecture) </a:t>
            </a:r>
            <a:r>
              <a:rPr lang="ko-KR" altLang="en-US" sz="2000" dirty="0">
                <a:solidFill>
                  <a:prstClr val="black"/>
                </a:solidFill>
              </a:rPr>
              <a:t>에서</a:t>
            </a:r>
            <a:r>
              <a:rPr lang="en-US" altLang="ko-KR" sz="2000" dirty="0">
                <a:solidFill>
                  <a:prstClr val="black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REST(Representational State Transfer) </a:t>
            </a:r>
            <a:r>
              <a:rPr lang="ko-KR" altLang="en-US" sz="2000" b="1" dirty="0">
                <a:solidFill>
                  <a:srgbClr val="C00000"/>
                </a:solidFill>
              </a:rPr>
              <a:t>기반의 경량 웹 서비스 모델 발전</a:t>
            </a:r>
            <a:r>
              <a:rPr lang="en-US" altLang="ko-KR" sz="2000" b="1" dirty="0">
                <a:solidFill>
                  <a:srgbClr val="C00000"/>
                </a:solidFill>
              </a:rPr>
              <a:t>.</a:t>
            </a:r>
          </a:p>
          <a:p>
            <a:pPr marL="209550"/>
            <a:r>
              <a:rPr lang="en-US" altLang="ko-KR" sz="2000" dirty="0"/>
              <a:t>Restful </a:t>
            </a:r>
            <a:r>
              <a:rPr lang="ko-KR" altLang="en-US" sz="2000" dirty="0"/>
              <a:t>웹 서비스는 </a:t>
            </a:r>
            <a:r>
              <a:rPr lang="en-US" altLang="ko-KR" sz="2000" dirty="0"/>
              <a:t>JAX-RS(JSR-311)</a:t>
            </a:r>
            <a:r>
              <a:rPr lang="ko-KR" altLang="en-US" sz="2000" dirty="0"/>
              <a:t>로 자바 규격에 공식적으로 포함됨</a:t>
            </a:r>
            <a:r>
              <a:rPr lang="en-US" altLang="ko-KR" sz="2000" dirty="0"/>
              <a:t>.</a:t>
            </a:r>
          </a:p>
          <a:p>
            <a:pPr marL="209550"/>
            <a:r>
              <a:rPr lang="en-US" altLang="ko-KR" sz="2000" dirty="0"/>
              <a:t>WOA</a:t>
            </a:r>
            <a:r>
              <a:rPr lang="ko-KR" altLang="en-US" sz="2000" dirty="0"/>
              <a:t>는 웹을 중심으로 전체 시스템 아키텍처를 설계해 나가는 기술임</a:t>
            </a:r>
            <a:r>
              <a:rPr lang="en-US" altLang="ko-KR" sz="2400" dirty="0"/>
              <a:t>.</a:t>
            </a:r>
          </a:p>
          <a:p>
            <a:pPr marL="342900" lvl="1" indent="-342900">
              <a:buClr>
                <a:schemeClr val="accent2"/>
              </a:buClr>
              <a:buSzPct val="90000"/>
              <a:buFont typeface="Wingdings" pitchFamily="2" charset="2"/>
              <a:buChar char="q"/>
            </a:pP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197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프레임워크</a:t>
            </a:r>
            <a:r>
              <a:rPr lang="en-US" altLang="ko-KR" dirty="0"/>
              <a:t>(Framework)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>
                <a:solidFill>
                  <a:prstClr val="black"/>
                </a:solidFill>
              </a:rPr>
              <a:t>일반적인 개발의 문제점</a:t>
            </a:r>
            <a:endParaRPr lang="en-US" altLang="ko-KR" sz="2400" dirty="0">
              <a:solidFill>
                <a:prstClr val="black"/>
              </a:solidFill>
            </a:endParaRPr>
          </a:p>
          <a:p>
            <a:pPr lvl="1"/>
            <a:r>
              <a:rPr lang="ko-KR" altLang="en-US" sz="2000" dirty="0">
                <a:solidFill>
                  <a:prstClr val="black"/>
                </a:solidFill>
              </a:rPr>
              <a:t>프로그램의 규모 확대 </a:t>
            </a:r>
            <a:r>
              <a:rPr lang="en-US" altLang="ko-KR" sz="2000" dirty="0">
                <a:solidFill>
                  <a:prstClr val="black"/>
                </a:solidFill>
              </a:rPr>
              <a:t>-&gt; </a:t>
            </a:r>
            <a:r>
              <a:rPr lang="ko-KR" altLang="en-US" sz="2000" dirty="0">
                <a:solidFill>
                  <a:prstClr val="black"/>
                </a:solidFill>
              </a:rPr>
              <a:t>높은 생산성</a:t>
            </a:r>
            <a:r>
              <a:rPr lang="en-US" altLang="ko-KR" sz="2000" dirty="0">
                <a:solidFill>
                  <a:prstClr val="black"/>
                </a:solidFill>
              </a:rPr>
              <a:t>, </a:t>
            </a:r>
            <a:r>
              <a:rPr lang="ko-KR" altLang="en-US" sz="2000" dirty="0">
                <a:solidFill>
                  <a:prstClr val="black"/>
                </a:solidFill>
              </a:rPr>
              <a:t>쉬운 유지 보수</a:t>
            </a:r>
            <a:r>
              <a:rPr lang="en-US" altLang="ko-KR" sz="2000" dirty="0">
                <a:solidFill>
                  <a:prstClr val="black"/>
                </a:solidFill>
              </a:rPr>
              <a:t>, </a:t>
            </a:r>
            <a:r>
              <a:rPr lang="ko-KR" altLang="en-US" sz="2000" dirty="0">
                <a:solidFill>
                  <a:prstClr val="black"/>
                </a:solidFill>
              </a:rPr>
              <a:t>기능의 변경이 확장이 용이한 개발 기술 필요</a:t>
            </a:r>
            <a:endParaRPr lang="en-US" altLang="ko-KR" sz="2000" dirty="0">
              <a:solidFill>
                <a:prstClr val="black"/>
              </a:solidFill>
            </a:endParaRPr>
          </a:p>
          <a:p>
            <a:pPr lvl="1"/>
            <a:r>
              <a:rPr lang="ko-KR" altLang="en-US" sz="2000" spc="-100" dirty="0">
                <a:solidFill>
                  <a:prstClr val="black"/>
                </a:solidFill>
              </a:rPr>
              <a:t>개발방법론</a:t>
            </a:r>
            <a:r>
              <a:rPr lang="en-US" altLang="ko-KR" sz="2000" spc="-100" dirty="0">
                <a:solidFill>
                  <a:prstClr val="black"/>
                </a:solidFill>
              </a:rPr>
              <a:t>, </a:t>
            </a:r>
            <a:r>
              <a:rPr lang="ko-KR" altLang="en-US" sz="2000" spc="-100" dirty="0">
                <a:solidFill>
                  <a:prstClr val="black"/>
                </a:solidFill>
              </a:rPr>
              <a:t>소프트웨어 디자인 패턴</a:t>
            </a:r>
            <a:r>
              <a:rPr lang="en-US" altLang="ko-KR" sz="2000" spc="-100" dirty="0">
                <a:solidFill>
                  <a:prstClr val="black"/>
                </a:solidFill>
              </a:rPr>
              <a:t>, </a:t>
            </a:r>
            <a:r>
              <a:rPr lang="ko-KR" altLang="en-US" sz="2000" spc="-100" dirty="0" err="1">
                <a:solidFill>
                  <a:prstClr val="black"/>
                </a:solidFill>
              </a:rPr>
              <a:t>리팩토링</a:t>
            </a:r>
            <a:r>
              <a:rPr lang="en-US" altLang="ko-KR" sz="2000" spc="-100" dirty="0">
                <a:solidFill>
                  <a:prstClr val="black"/>
                </a:solidFill>
              </a:rPr>
              <a:t>, </a:t>
            </a:r>
            <a:r>
              <a:rPr lang="ko-KR" altLang="en-US" sz="2000" spc="-100" dirty="0">
                <a:solidFill>
                  <a:prstClr val="black"/>
                </a:solidFill>
              </a:rPr>
              <a:t>프레임워크 등 소프트웨어 공학적 기술 등장</a:t>
            </a:r>
            <a:endParaRPr lang="en-US" altLang="ko-KR" sz="2000" spc="-100" dirty="0">
              <a:solidFill>
                <a:prstClr val="black"/>
              </a:solidFill>
            </a:endParaRPr>
          </a:p>
          <a:p>
            <a:r>
              <a:rPr lang="ko-KR" altLang="en-US" sz="2400" spc="-100" dirty="0">
                <a:solidFill>
                  <a:prstClr val="black"/>
                </a:solidFill>
              </a:rPr>
              <a:t>프레임워크</a:t>
            </a:r>
            <a:r>
              <a:rPr lang="en-US" altLang="ko-KR" sz="2400" spc="-100" dirty="0">
                <a:solidFill>
                  <a:prstClr val="black"/>
                </a:solidFill>
              </a:rPr>
              <a:t>(Framework)</a:t>
            </a:r>
            <a:r>
              <a:rPr lang="ko-KR" altLang="en-US" sz="2400" spc="-100" dirty="0">
                <a:solidFill>
                  <a:prstClr val="black"/>
                </a:solidFill>
              </a:rPr>
              <a:t>는 무언가를 만들기 위한 틀</a:t>
            </a:r>
            <a:r>
              <a:rPr lang="en-US" altLang="ko-KR" sz="2400" spc="-1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2400" spc="-100" dirty="0">
                <a:solidFill>
                  <a:prstClr val="black"/>
                </a:solidFill>
              </a:rPr>
              <a:t>소프트웨어적으로는 목적에 맞게 잘 설계된 구조와 미리 구현된 라이브러리가 포함된 소프트웨어 형태</a:t>
            </a:r>
            <a:r>
              <a:rPr lang="en-US" altLang="ko-KR" sz="2400" spc="-1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2400" spc="-100" dirty="0">
                <a:solidFill>
                  <a:srgbClr val="C00000"/>
                </a:solidFill>
              </a:rPr>
              <a:t>프레임워크를 사용하면 정해진 규격에 따라 프로그램 구조를 만들어야 하며</a:t>
            </a:r>
            <a:r>
              <a:rPr lang="en-US" altLang="ko-KR" sz="2400" spc="-100" dirty="0">
                <a:solidFill>
                  <a:srgbClr val="C00000"/>
                </a:solidFill>
              </a:rPr>
              <a:t>, </a:t>
            </a:r>
            <a:r>
              <a:rPr lang="ko-KR" altLang="en-US" sz="2400" spc="-100" dirty="0">
                <a:solidFill>
                  <a:srgbClr val="C00000"/>
                </a:solidFill>
              </a:rPr>
              <a:t>개발자가  신경 쓰거나 처리해야 할 많은 일과 이벤트 관리는 프레임워크를 통해 처리</a:t>
            </a:r>
            <a:endParaRPr lang="en-US" altLang="ko-KR" sz="2400" spc="-100" dirty="0">
              <a:solidFill>
                <a:prstClr val="black"/>
              </a:solidFill>
            </a:endParaRPr>
          </a:p>
          <a:p>
            <a:r>
              <a:rPr lang="ko-KR" altLang="en-US" sz="2400" spc="-100" dirty="0">
                <a:solidFill>
                  <a:prstClr val="black"/>
                </a:solidFill>
              </a:rPr>
              <a:t>여러 유틸리티 라이브러리도 제공하기 때문에 개발자는 비교적 적은 노력으로도 고품질의 소프트웨어</a:t>
            </a:r>
            <a:r>
              <a:rPr lang="en-US" altLang="ko-KR" sz="2400" spc="-100" dirty="0">
                <a:solidFill>
                  <a:prstClr val="black"/>
                </a:solidFill>
              </a:rPr>
              <a:t> </a:t>
            </a:r>
            <a:r>
              <a:rPr lang="ko-KR" altLang="en-US" sz="2400" spc="-100" dirty="0">
                <a:solidFill>
                  <a:prstClr val="black"/>
                </a:solidFill>
              </a:rPr>
              <a:t>개발이 가능해짐</a:t>
            </a:r>
            <a:r>
              <a:rPr lang="en-US" altLang="ko-KR" sz="2400" spc="-1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925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프레임워크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339" y="1038837"/>
            <a:ext cx="11130293" cy="5040560"/>
          </a:xfrm>
        </p:spPr>
        <p:txBody>
          <a:bodyPr/>
          <a:lstStyle/>
          <a:p>
            <a:r>
              <a:rPr lang="ko-KR" altLang="en-US" sz="2300" dirty="0">
                <a:solidFill>
                  <a:prstClr val="black"/>
                </a:solidFill>
              </a:rPr>
              <a:t>프론트</a:t>
            </a:r>
            <a:r>
              <a:rPr lang="en-US" altLang="ko-KR" sz="2300" dirty="0">
                <a:solidFill>
                  <a:prstClr val="black"/>
                </a:solidFill>
              </a:rPr>
              <a:t>: </a:t>
            </a:r>
            <a:r>
              <a:rPr lang="ko-KR" altLang="en-US" sz="2300" dirty="0" err="1">
                <a:solidFill>
                  <a:prstClr val="black"/>
                </a:solidFill>
              </a:rPr>
              <a:t>리액트</a:t>
            </a:r>
            <a:r>
              <a:rPr lang="en-US" altLang="ko-KR" sz="2300" dirty="0">
                <a:solidFill>
                  <a:prstClr val="black"/>
                </a:solidFill>
              </a:rPr>
              <a:t>(React), </a:t>
            </a:r>
            <a:r>
              <a:rPr lang="ko-KR" altLang="en-US" sz="2300" dirty="0" err="1">
                <a:solidFill>
                  <a:prstClr val="black"/>
                </a:solidFill>
              </a:rPr>
              <a:t>앵귤러</a:t>
            </a:r>
            <a:r>
              <a:rPr lang="en-US" altLang="ko-KR" sz="2300" dirty="0">
                <a:solidFill>
                  <a:prstClr val="black"/>
                </a:solidFill>
              </a:rPr>
              <a:t>(Angular), </a:t>
            </a:r>
            <a:r>
              <a:rPr lang="ko-KR" altLang="en-US" sz="2300" dirty="0">
                <a:solidFill>
                  <a:prstClr val="black"/>
                </a:solidFill>
              </a:rPr>
              <a:t>뷰</a:t>
            </a:r>
            <a:r>
              <a:rPr lang="en-US" altLang="ko-KR" sz="2300" dirty="0">
                <a:solidFill>
                  <a:prstClr val="black"/>
                </a:solidFill>
              </a:rPr>
              <a:t>(Vue.js) </a:t>
            </a:r>
          </a:p>
          <a:p>
            <a:endParaRPr lang="en-US" altLang="ko-KR" sz="2300" dirty="0">
              <a:solidFill>
                <a:prstClr val="black"/>
              </a:solidFill>
            </a:endParaRPr>
          </a:p>
          <a:p>
            <a:pPr lvl="1"/>
            <a:endParaRPr lang="en-US" altLang="ko-KR" sz="2000" dirty="0">
              <a:solidFill>
                <a:prstClr val="black"/>
              </a:solidFill>
            </a:endParaRPr>
          </a:p>
          <a:p>
            <a:pPr lvl="1"/>
            <a:endParaRPr lang="en-US" altLang="ko-KR" sz="2000" dirty="0">
              <a:solidFill>
                <a:prstClr val="black"/>
              </a:solidFill>
            </a:endParaRPr>
          </a:p>
          <a:p>
            <a:pPr lvl="1"/>
            <a:endParaRPr lang="en-US" altLang="ko-KR" sz="2000" dirty="0">
              <a:solidFill>
                <a:prstClr val="black"/>
              </a:solidFill>
            </a:endParaRPr>
          </a:p>
          <a:p>
            <a:pPr lvl="1"/>
            <a:endParaRPr lang="en-US" altLang="ko-KR" sz="2000" dirty="0">
              <a:solidFill>
                <a:prstClr val="black"/>
              </a:solidFill>
            </a:endParaRPr>
          </a:p>
          <a:p>
            <a:pPr lvl="1"/>
            <a:endParaRPr lang="en-US" altLang="ko-KR" sz="2000" dirty="0">
              <a:solidFill>
                <a:prstClr val="black"/>
              </a:solidFill>
            </a:endParaRPr>
          </a:p>
          <a:p>
            <a:r>
              <a:rPr lang="ko-KR" altLang="en-US" sz="2300" dirty="0" err="1">
                <a:solidFill>
                  <a:prstClr val="black"/>
                </a:solidFill>
              </a:rPr>
              <a:t>백엔드</a:t>
            </a:r>
            <a:r>
              <a:rPr lang="en-US" altLang="ko-KR" sz="2300" dirty="0">
                <a:solidFill>
                  <a:prstClr val="black"/>
                </a:solidFill>
              </a:rPr>
              <a:t>: </a:t>
            </a:r>
            <a:r>
              <a:rPr lang="ko-KR" altLang="en-US" sz="2300" dirty="0">
                <a:solidFill>
                  <a:prstClr val="black"/>
                </a:solidFill>
              </a:rPr>
              <a:t>스프링</a:t>
            </a:r>
            <a:r>
              <a:rPr lang="en-US" altLang="ko-KR" sz="2300" dirty="0">
                <a:solidFill>
                  <a:prstClr val="black"/>
                </a:solidFill>
              </a:rPr>
              <a:t>(Spring), </a:t>
            </a:r>
            <a:r>
              <a:rPr lang="ko-KR" altLang="en-US" sz="2300" dirty="0">
                <a:solidFill>
                  <a:prstClr val="black"/>
                </a:solidFill>
              </a:rPr>
              <a:t>스프링 부트</a:t>
            </a:r>
            <a:r>
              <a:rPr lang="en-US" altLang="ko-KR" sz="2300" dirty="0">
                <a:solidFill>
                  <a:prstClr val="black"/>
                </a:solidFill>
              </a:rPr>
              <a:t>, </a:t>
            </a:r>
            <a:r>
              <a:rPr lang="ko-KR" altLang="en-US" sz="2300" dirty="0">
                <a:solidFill>
                  <a:prstClr val="black"/>
                </a:solidFill>
              </a:rPr>
              <a:t>장고</a:t>
            </a:r>
            <a:r>
              <a:rPr lang="en-US" altLang="ko-KR" sz="2300" dirty="0">
                <a:solidFill>
                  <a:prstClr val="black"/>
                </a:solidFill>
              </a:rPr>
              <a:t>(Django), </a:t>
            </a:r>
            <a:r>
              <a:rPr lang="ko-KR" altLang="en-US" sz="2300" dirty="0">
                <a:solidFill>
                  <a:prstClr val="black"/>
                </a:solidFill>
              </a:rPr>
              <a:t>노드</a:t>
            </a:r>
            <a:r>
              <a:rPr lang="en-US" altLang="ko-KR" sz="2300" dirty="0">
                <a:solidFill>
                  <a:prstClr val="black"/>
                </a:solidFill>
              </a:rPr>
              <a:t>(Node.js)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56DFC7-0079-48A0-A601-FF8026A5C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1541562"/>
            <a:ext cx="5340516" cy="19442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BE958E7-F945-4830-98AD-7CB5A4E16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7" y="4258162"/>
            <a:ext cx="6868985" cy="246527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FE08F-308E-4E18-BB7E-83C3B6FB7355}"/>
              </a:ext>
            </a:extLst>
          </p:cNvPr>
          <p:cNvSpPr/>
          <p:nvPr/>
        </p:nvSpPr>
        <p:spPr bwMode="auto">
          <a:xfrm>
            <a:off x="3719736" y="1556792"/>
            <a:ext cx="1080120" cy="200099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342A1AC-97BE-427B-836C-EF0D15F9CCDA}"/>
              </a:ext>
            </a:extLst>
          </p:cNvPr>
          <p:cNvSpPr/>
          <p:nvPr/>
        </p:nvSpPr>
        <p:spPr bwMode="auto">
          <a:xfrm>
            <a:off x="2063553" y="4490300"/>
            <a:ext cx="7128792" cy="117094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316B572-5356-4757-92EA-CE465C4AA80E}"/>
              </a:ext>
            </a:extLst>
          </p:cNvPr>
          <p:cNvSpPr/>
          <p:nvPr/>
        </p:nvSpPr>
        <p:spPr bwMode="auto">
          <a:xfrm>
            <a:off x="2045224" y="6196096"/>
            <a:ext cx="7147122" cy="482604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7303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프로그램의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현재는 웹의 전성기임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애플의 </a:t>
            </a:r>
            <a:r>
              <a:rPr lang="ko-KR" altLang="en-US" sz="2400" dirty="0" err="1"/>
              <a:t>아이폰에서</a:t>
            </a:r>
            <a:r>
              <a:rPr lang="ko-KR" altLang="en-US" sz="2400" dirty="0"/>
              <a:t> 시작된 </a:t>
            </a:r>
            <a:r>
              <a:rPr lang="ko-KR" altLang="en-US" sz="2400" dirty="0" err="1"/>
              <a:t>스마트폰</a:t>
            </a:r>
            <a:r>
              <a:rPr lang="ko-KR" altLang="en-US" sz="2400" dirty="0"/>
              <a:t> 열풍은 기존 컴퓨터 사용 패턴을 변화시킴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전통적인 </a:t>
            </a:r>
            <a:r>
              <a:rPr lang="en-US" altLang="ko-KR" sz="2400" dirty="0"/>
              <a:t>PC </a:t>
            </a:r>
            <a:r>
              <a:rPr lang="ko-KR" altLang="en-US" sz="2400" dirty="0"/>
              <a:t>시장의 변화 </a:t>
            </a:r>
            <a:r>
              <a:rPr lang="en-US" altLang="ko-KR" sz="2400" dirty="0"/>
              <a:t>-&gt; </a:t>
            </a:r>
            <a:r>
              <a:rPr lang="ko-KR" altLang="en-US" sz="2400" dirty="0"/>
              <a:t>대규모 </a:t>
            </a:r>
            <a:r>
              <a:rPr lang="en-US" altLang="ko-KR" sz="2400" dirty="0"/>
              <a:t>PC </a:t>
            </a:r>
            <a:r>
              <a:rPr lang="ko-KR" altLang="en-US" sz="2400" dirty="0"/>
              <a:t>제조업체인 </a:t>
            </a:r>
            <a:r>
              <a:rPr lang="en-US" altLang="ko-KR" sz="2400" dirty="0"/>
              <a:t>DELL </a:t>
            </a:r>
            <a:r>
              <a:rPr lang="ko-KR" altLang="en-US" sz="2400" dirty="0"/>
              <a:t>상장 폐지 </a:t>
            </a:r>
            <a:r>
              <a:rPr lang="en-US" altLang="ko-KR" sz="2400" dirty="0"/>
              <a:t>-&gt; MS </a:t>
            </a:r>
            <a:r>
              <a:rPr lang="ko-KR" altLang="en-US" sz="2400" dirty="0"/>
              <a:t>시장 지배력 약화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상당수의 </a:t>
            </a:r>
            <a:r>
              <a:rPr lang="en-US" altLang="ko-KR" sz="2400" dirty="0"/>
              <a:t>PC</a:t>
            </a:r>
            <a:r>
              <a:rPr lang="ko-KR" altLang="en-US" sz="2400" dirty="0"/>
              <a:t>소프트웨어들이 설치 형에서 웹 형태로 전환됨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더 많은 스마트 기기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안드로이드</a:t>
            </a:r>
            <a:r>
              <a:rPr lang="en-US" altLang="ko-KR" sz="2400" dirty="0"/>
              <a:t>, iOS, </a:t>
            </a:r>
            <a:r>
              <a:rPr lang="ko-KR" altLang="en-US" sz="2400" dirty="0"/>
              <a:t>웹 </a:t>
            </a:r>
            <a:r>
              <a:rPr lang="en-US" altLang="ko-KR" sz="2400" dirty="0"/>
              <a:t>OS </a:t>
            </a:r>
            <a:r>
              <a:rPr lang="ko-KR" altLang="en-US" sz="2400" dirty="0"/>
              <a:t>등 새로운 </a:t>
            </a:r>
            <a:r>
              <a:rPr lang="ko-KR" altLang="en-US" sz="2400" dirty="0" err="1"/>
              <a:t>모바일</a:t>
            </a:r>
            <a:r>
              <a:rPr lang="ko-KR" altLang="en-US" sz="2400" dirty="0"/>
              <a:t> 운영체제의 성장과 함께 고속의 무선 인터넷을 기반으로 한 소프트웨어 발전이 가속화될 전망</a:t>
            </a:r>
            <a:r>
              <a:rPr lang="en-US" altLang="ko-KR" sz="2400" dirty="0"/>
              <a:t>.</a:t>
            </a:r>
          </a:p>
          <a:p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16823"/>
      </p:ext>
    </p:extLst>
  </p:cSld>
  <p:clrMapOvr>
    <a:masterClrMapping/>
  </p:clrMapOvr>
</p:sld>
</file>

<file path=ppt/theme/theme1.xml><?xml version="1.0" encoding="utf-8"?>
<a:theme xmlns:a="http://schemas.openxmlformats.org/drawingml/2006/main" name="KISA">
  <a:themeElements>
    <a:clrScheme name="">
      <a:dk1>
        <a:srgbClr val="800000"/>
      </a:dk1>
      <a:lt1>
        <a:srgbClr val="000066"/>
      </a:lt1>
      <a:dk2>
        <a:srgbClr val="000000"/>
      </a:dk2>
      <a:lt2>
        <a:srgbClr val="333399"/>
      </a:lt2>
      <a:accent1>
        <a:srgbClr val="777777"/>
      </a:accent1>
      <a:accent2>
        <a:srgbClr val="0033CC"/>
      </a:accent2>
      <a:accent3>
        <a:srgbClr val="AAAAAA"/>
      </a:accent3>
      <a:accent4>
        <a:srgbClr val="000056"/>
      </a:accent4>
      <a:accent5>
        <a:srgbClr val="BDBDBD"/>
      </a:accent5>
      <a:accent6>
        <a:srgbClr val="002DB9"/>
      </a:accent6>
      <a:hlink>
        <a:srgbClr val="800000"/>
      </a:hlink>
      <a:folHlink>
        <a:srgbClr val="660066"/>
      </a:folHlink>
    </a:clrScheme>
    <a:fontScheme name="사용자 지정 1">
      <a:majorFont>
        <a:latin typeface="Tahoma"/>
        <a:ea typeface="HY헤드라인M"/>
        <a:cs typeface=""/>
      </a:majorFont>
      <a:minorFont>
        <a:latin typeface="Ebr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KISA 1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777777"/>
        </a:accent1>
        <a:accent2>
          <a:srgbClr val="0033CC"/>
        </a:accent2>
        <a:accent3>
          <a:srgbClr val="AAAAAA"/>
        </a:accent3>
        <a:accent4>
          <a:srgbClr val="DADADA"/>
        </a:accent4>
        <a:accent5>
          <a:srgbClr val="BDBDBD"/>
        </a:accent5>
        <a:accent6>
          <a:srgbClr val="002DB9"/>
        </a:accent6>
        <a:hlink>
          <a:srgbClr val="800000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ISA 2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ISA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강의자료 기본서식-허석렬</Template>
  <TotalTime>6976</TotalTime>
  <Words>2127</Words>
  <Application>Microsoft Office PowerPoint</Application>
  <PresentationFormat>와이드스크린</PresentationFormat>
  <Paragraphs>385</Paragraphs>
  <Slides>39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9" baseType="lpstr">
      <vt:lpstr>HY헤드라인M</vt:lpstr>
      <vt:lpstr>Microsoft YaHei</vt:lpstr>
      <vt:lpstr>굴림</vt:lpstr>
      <vt:lpstr>맑은 고딕</vt:lpstr>
      <vt:lpstr>Arial</vt:lpstr>
      <vt:lpstr>Ebrima</vt:lpstr>
      <vt:lpstr>Tahoma</vt:lpstr>
      <vt:lpstr>Times New Roman</vt:lpstr>
      <vt:lpstr>Wingdings</vt:lpstr>
      <vt:lpstr>KISA</vt:lpstr>
      <vt:lpstr>1.웹의 기본개념</vt:lpstr>
      <vt:lpstr>웹의 기본 목적과 구성</vt:lpstr>
      <vt:lpstr>웹 서버와 웹 클라이언트로 이루어진 웹</vt:lpstr>
      <vt:lpstr>웹 서버와 웹 클라이언트의 동작</vt:lpstr>
      <vt:lpstr>인터넷과 웹은 다르다</vt:lpstr>
      <vt:lpstr>웹 사이트 구축</vt:lpstr>
      <vt:lpstr>웹 서버 소프트웨어</vt:lpstr>
      <vt:lpstr>웹 서버 응용프로그램</vt:lpstr>
      <vt:lpstr>웹 브라우저</vt:lpstr>
      <vt:lpstr>PowerPoint 프레젠테이션</vt:lpstr>
      <vt:lpstr>웹 문서와 전자 문서</vt:lpstr>
      <vt:lpstr>PowerPoint 프레젠테이션</vt:lpstr>
      <vt:lpstr>WWW 문서의 종류</vt:lpstr>
      <vt:lpstr>WWW 문서의 종류 </vt:lpstr>
      <vt:lpstr>정적 웹문서</vt:lpstr>
      <vt:lpstr>서버측 동적문서</vt:lpstr>
      <vt:lpstr>서버측 동적문서(프로그램 사용)</vt:lpstr>
      <vt:lpstr>서버측 동적문서(스크립트 사용)</vt:lpstr>
      <vt:lpstr>클라이언트측 동적문서(프로그램 실행)</vt:lpstr>
      <vt:lpstr>클라이언트측 동적문서(스크립트 사용)</vt:lpstr>
      <vt:lpstr>웹 브라우저와 웹 서버 사이의 통신: HTTP 프로토콜</vt:lpstr>
      <vt:lpstr>HTTP 메시지 구조</vt:lpstr>
      <vt:lpstr>HTTP 메시지 헤더</vt:lpstr>
      <vt:lpstr>HTTP Request(Method) 종류</vt:lpstr>
      <vt:lpstr>HTTP Response(Status Code) 종류</vt:lpstr>
      <vt:lpstr>HTTP통신 예제(GET Method)</vt:lpstr>
      <vt:lpstr>HTTP통신 예제(POST Method)</vt:lpstr>
      <vt:lpstr>웹의 시작</vt:lpstr>
      <vt:lpstr>웹의 성공</vt:lpstr>
      <vt:lpstr>모든 곳에 웹이 있다.</vt:lpstr>
      <vt:lpstr>마크업 언어-웹 문서 제작을 위한 언어</vt:lpstr>
      <vt:lpstr>웹 문서제작 언어</vt:lpstr>
      <vt:lpstr>스마트 시대의 웹 프로그래밍</vt:lpstr>
      <vt:lpstr>웹2.0과 웹 3.0</vt:lpstr>
      <vt:lpstr>PowerPoint 프레젠테이션</vt:lpstr>
      <vt:lpstr>WOA(Web Oriented Architecture)</vt:lpstr>
      <vt:lpstr>프레임워크(Framework)</vt:lpstr>
      <vt:lpstr>프레임워크(계속)</vt:lpstr>
      <vt:lpstr>웹 프로그램의 미래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 프로그래밍 개요</dc:title>
  <dc:creator>Microsoft Corporation</dc:creator>
  <cp:lastModifiedBy>허석렬</cp:lastModifiedBy>
  <cp:revision>49</cp:revision>
  <dcterms:created xsi:type="dcterms:W3CDTF">2006-10-05T04:04:58Z</dcterms:created>
  <dcterms:modified xsi:type="dcterms:W3CDTF">2025-04-02T00:45:41Z</dcterms:modified>
</cp:coreProperties>
</file>